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30"/>
  </p:notesMasterIdLst>
  <p:sldIdLst>
    <p:sldId id="259" r:id="rId2"/>
    <p:sldId id="260" r:id="rId3"/>
    <p:sldId id="258" r:id="rId4"/>
    <p:sldId id="283" r:id="rId5"/>
    <p:sldId id="284" r:id="rId6"/>
    <p:sldId id="285" r:id="rId7"/>
    <p:sldId id="286" r:id="rId8"/>
    <p:sldId id="287" r:id="rId9"/>
    <p:sldId id="288" r:id="rId10"/>
    <p:sldId id="289" r:id="rId11"/>
    <p:sldId id="290" r:id="rId12"/>
    <p:sldId id="291" r:id="rId13"/>
    <p:sldId id="292" r:id="rId14"/>
    <p:sldId id="293" r:id="rId15"/>
    <p:sldId id="295" r:id="rId16"/>
    <p:sldId id="268" r:id="rId17"/>
    <p:sldId id="267" r:id="rId18"/>
    <p:sldId id="270" r:id="rId19"/>
    <p:sldId id="296" r:id="rId20"/>
    <p:sldId id="273" r:id="rId21"/>
    <p:sldId id="275" r:id="rId22"/>
    <p:sldId id="276" r:id="rId23"/>
    <p:sldId id="278" r:id="rId24"/>
    <p:sldId id="279" r:id="rId25"/>
    <p:sldId id="280" r:id="rId26"/>
    <p:sldId id="265" r:id="rId27"/>
    <p:sldId id="266" r:id="rId28"/>
    <p:sldId id="28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614" autoAdjust="0"/>
  </p:normalViewPr>
  <p:slideViewPr>
    <p:cSldViewPr snapToGrid="0">
      <p:cViewPr varScale="1">
        <p:scale>
          <a:sx n="68" d="100"/>
          <a:sy n="68" d="100"/>
        </p:scale>
        <p:origin x="126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C6E629-D911-4790-9994-BA0128CF7338}" type="datetimeFigureOut">
              <a:rPr lang="fr-FR" smtClean="0"/>
              <a:t>27/08/2025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514F1-C4FE-45A3-933F-2251FDB89284}" type="slidenum">
              <a:rPr lang="fr-FR" smtClean="0"/>
              <a:t>‹#›</a:t>
            </a:fld>
            <a:endParaRPr lang="fr-FR"/>
          </a:p>
        </p:txBody>
      </p:sp>
    </p:spTree>
    <p:extLst>
      <p:ext uri="{BB962C8B-B14F-4D97-AF65-F5344CB8AC3E}">
        <p14:creationId xmlns:p14="http://schemas.microsoft.com/office/powerpoint/2010/main" val="404925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google.com/url?sa=E&amp;q=https%3A%2F%2Fvertexaisearch.cloud.google.com%2Fgrounding-api-redirect%2FAUZIYQFt0VewYnCFykcS1PQDExXaD09NwR1jE3uvDsYEt68OsqFtWY7g1urejUQFpaoj0OVHsIokGyIffdYzq4a_Iw87qZWXz8sCnhb-BgjIP6Z9MyUG0Yn0ymydSiznyflZjlv8O7r3ixauxTtyhxgUqxp1umBIAkI2YRSF5eT8ggYDpHP85e4H_w2U00Lh8z36_AI6RlM%3D"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En cybersécurité, le Machine Learning est particulièrement utile pour </a:t>
            </a:r>
            <a:r>
              <a:rPr lang="fr-FR" b="1" dirty="0"/>
              <a:t>détecter des anomalies</a:t>
            </a:r>
            <a:r>
              <a:rPr lang="fr-FR" dirty="0"/>
              <a:t>, </a:t>
            </a:r>
            <a:r>
              <a:rPr lang="fr-FR" b="1" dirty="0"/>
              <a:t>anticiper des attaques</a:t>
            </a:r>
            <a:r>
              <a:rPr lang="fr-FR" dirty="0"/>
              <a:t> et </a:t>
            </a:r>
            <a:r>
              <a:rPr lang="fr-FR" b="1" dirty="0"/>
              <a:t>réagir plus rapidement</a:t>
            </a:r>
            <a:r>
              <a:rPr lang="fr-FR" dirty="0"/>
              <a:t> que les approches traditionnelles.</a:t>
            </a:r>
          </a:p>
          <a:p>
            <a:r>
              <a:rPr lang="fr-FR" dirty="0"/>
              <a:t>La </a:t>
            </a:r>
            <a:r>
              <a:rPr lang="fr-FR" b="1" dirty="0"/>
              <a:t>cybersécurité</a:t>
            </a:r>
            <a:r>
              <a:rPr lang="fr-FR" dirty="0"/>
              <a:t> est l’ensemble des pratiques, technologies, processus et mesures mis en place pour </a:t>
            </a:r>
            <a:r>
              <a:rPr lang="fr-FR" b="1" dirty="0"/>
              <a:t>protéger les systèmes informatiques, les réseaux, les programmes et les données</a:t>
            </a:r>
            <a:r>
              <a:rPr lang="fr-FR" dirty="0"/>
              <a:t> contre :</a:t>
            </a:r>
          </a:p>
          <a:p>
            <a:r>
              <a:rPr lang="fr-FR" dirty="0"/>
              <a:t>les accès non autorisés,</a:t>
            </a:r>
          </a:p>
          <a:p>
            <a:r>
              <a:rPr lang="fr-FR" dirty="0"/>
              <a:t>les attaques malveillantes,</a:t>
            </a:r>
          </a:p>
          <a:p>
            <a:r>
              <a:rPr lang="fr-FR" dirty="0"/>
              <a:t>les dommages,</a:t>
            </a:r>
          </a:p>
          <a:p>
            <a:r>
              <a:rPr lang="fr-FR" dirty="0"/>
              <a:t>les perturbations ou vols d’informations.</a:t>
            </a:r>
          </a:p>
          <a:p>
            <a:r>
              <a:rPr lang="fr-FR" dirty="0"/>
              <a:t>Elle vise à garantir trois grands principes fondamentaux (souvent appelés </a:t>
            </a:r>
            <a:r>
              <a:rPr lang="fr-FR" b="1" dirty="0"/>
              <a:t>CIA </a:t>
            </a:r>
            <a:r>
              <a:rPr lang="fr-FR" b="1" dirty="0" err="1"/>
              <a:t>Triad</a:t>
            </a:r>
            <a:r>
              <a:rPr lang="fr-FR" dirty="0"/>
              <a:t>) :</a:t>
            </a:r>
          </a:p>
          <a:p>
            <a:r>
              <a:rPr lang="fr-FR" b="1" dirty="0"/>
              <a:t>Confidentialité</a:t>
            </a:r>
            <a:r>
              <a:rPr lang="fr-FR" dirty="0"/>
              <a:t> ,</a:t>
            </a:r>
            <a:r>
              <a:rPr lang="fr-FR" b="1" dirty="0"/>
              <a:t>Intégrité,</a:t>
            </a:r>
            <a:r>
              <a:rPr lang="fr-FR" dirty="0"/>
              <a:t> </a:t>
            </a:r>
            <a:r>
              <a:rPr lang="fr-FR" b="1" dirty="0"/>
              <a:t>Disponibilité</a:t>
            </a:r>
            <a:r>
              <a:rPr lang="fr-FR" dirty="0"/>
              <a:t> </a:t>
            </a:r>
          </a:p>
          <a:p>
            <a:endParaRPr lang="fr-FR" dirty="0"/>
          </a:p>
        </p:txBody>
      </p:sp>
      <p:sp>
        <p:nvSpPr>
          <p:cNvPr id="4" name="Slide Number Placeholder 3"/>
          <p:cNvSpPr>
            <a:spLocks noGrp="1"/>
          </p:cNvSpPr>
          <p:nvPr>
            <p:ph type="sldNum" sz="quarter" idx="5"/>
          </p:nvPr>
        </p:nvSpPr>
        <p:spPr/>
        <p:txBody>
          <a:bodyPr/>
          <a:lstStyle/>
          <a:p>
            <a:fld id="{725514F1-C4FE-45A3-933F-2251FDB89284}" type="slidenum">
              <a:rPr lang="fr-FR" smtClean="0"/>
              <a:t>4</a:t>
            </a:fld>
            <a:endParaRPr lang="fr-FR"/>
          </a:p>
        </p:txBody>
      </p:sp>
    </p:spTree>
    <p:extLst>
      <p:ext uri="{BB962C8B-B14F-4D97-AF65-F5344CB8AC3E}">
        <p14:creationId xmlns:p14="http://schemas.microsoft.com/office/powerpoint/2010/main" val="461703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modèle apprend à partir d’un jeu de données étiqueté (par exemple, des e-mails marqués comme </a:t>
            </a:r>
            <a:r>
              <a:rPr lang="fr-FR" i="1" dirty="0"/>
              <a:t>spam</a:t>
            </a:r>
            <a:r>
              <a:rPr lang="fr-FR" dirty="0"/>
              <a:t> ou </a:t>
            </a:r>
            <a:r>
              <a:rPr lang="fr-FR" i="1" dirty="0"/>
              <a:t>non spam</a:t>
            </a:r>
            <a:r>
              <a:rPr lang="fr-FR" dirty="0"/>
              <a:t>) afin de prédire de nouvelles données.</a:t>
            </a:r>
          </a:p>
          <a:p>
            <a:r>
              <a:rPr lang="fr-FR" sz="1200" b="0" i="0" kern="1200" dirty="0">
                <a:solidFill>
                  <a:schemeClr val="tx1"/>
                </a:solidFill>
                <a:effectLst/>
                <a:latin typeface="+mn-lt"/>
                <a:ea typeface="+mn-ea"/>
                <a:cs typeface="+mn-cs"/>
              </a:rPr>
              <a:t>Dans l'apprentissage supervisé, on a deux types d'algorithmes :</a:t>
            </a:r>
          </a:p>
          <a:p>
            <a:r>
              <a:rPr lang="fr-FR" sz="1200" b="0" i="0" kern="1200" dirty="0">
                <a:solidFill>
                  <a:schemeClr val="tx1"/>
                </a:solidFill>
                <a:effectLst/>
                <a:latin typeface="+mn-lt"/>
                <a:ea typeface="+mn-ea"/>
                <a:cs typeface="+mn-cs"/>
              </a:rPr>
              <a:t>Les algorithmes de </a:t>
            </a:r>
            <a:r>
              <a:rPr lang="fr-FR" sz="1200" b="1" i="0" kern="1200" dirty="0">
                <a:solidFill>
                  <a:schemeClr val="tx1"/>
                </a:solidFill>
                <a:effectLst/>
                <a:latin typeface="+mn-lt"/>
                <a:ea typeface="+mn-ea"/>
                <a:cs typeface="+mn-cs"/>
              </a:rPr>
              <a:t>régression</a:t>
            </a:r>
            <a:r>
              <a:rPr lang="fr-FR" sz="1200" b="0" i="0" kern="1200" dirty="0">
                <a:solidFill>
                  <a:schemeClr val="tx1"/>
                </a:solidFill>
                <a:effectLst/>
                <a:latin typeface="+mn-lt"/>
                <a:ea typeface="+mn-ea"/>
                <a:cs typeface="+mn-cs"/>
              </a:rPr>
              <a:t>, qui cherchent à prédire une valeur continue, une quantité.</a:t>
            </a:r>
          </a:p>
          <a:p>
            <a:r>
              <a:rPr lang="fr-FR" sz="1200" b="0" i="0" kern="1200" dirty="0">
                <a:solidFill>
                  <a:schemeClr val="tx1"/>
                </a:solidFill>
                <a:effectLst/>
                <a:latin typeface="+mn-lt"/>
                <a:ea typeface="+mn-ea"/>
                <a:cs typeface="+mn-cs"/>
              </a:rPr>
              <a:t>Les algorithmes de </a:t>
            </a:r>
            <a:r>
              <a:rPr lang="fr-FR" sz="1200" b="1" i="0" kern="1200" dirty="0">
                <a:solidFill>
                  <a:schemeClr val="tx1"/>
                </a:solidFill>
                <a:effectLst/>
                <a:latin typeface="+mn-lt"/>
                <a:ea typeface="+mn-ea"/>
                <a:cs typeface="+mn-cs"/>
              </a:rPr>
              <a:t>classification</a:t>
            </a:r>
            <a:r>
              <a:rPr lang="fr-FR" sz="1200" b="0" i="0" kern="1200" dirty="0">
                <a:solidFill>
                  <a:schemeClr val="tx1"/>
                </a:solidFill>
                <a:effectLst/>
                <a:latin typeface="+mn-lt"/>
                <a:ea typeface="+mn-ea"/>
                <a:cs typeface="+mn-cs"/>
              </a:rPr>
              <a:t>, qui cherchent à prédire une classe/catégorie.</a:t>
            </a:r>
          </a:p>
          <a:p>
            <a:endParaRPr lang="fr-FR" dirty="0"/>
          </a:p>
        </p:txBody>
      </p:sp>
      <p:sp>
        <p:nvSpPr>
          <p:cNvPr id="4" name="Slide Number Placeholder 3"/>
          <p:cNvSpPr>
            <a:spLocks noGrp="1"/>
          </p:cNvSpPr>
          <p:nvPr>
            <p:ph type="sldNum" sz="quarter" idx="5"/>
          </p:nvPr>
        </p:nvSpPr>
        <p:spPr/>
        <p:txBody>
          <a:bodyPr/>
          <a:lstStyle/>
          <a:p>
            <a:fld id="{725514F1-C4FE-45A3-933F-2251FDB89284}" type="slidenum">
              <a:rPr lang="fr-FR" smtClean="0"/>
              <a:t>5</a:t>
            </a:fld>
            <a:endParaRPr lang="fr-FR"/>
          </a:p>
        </p:txBody>
      </p:sp>
    </p:spTree>
    <p:extLst>
      <p:ext uri="{BB962C8B-B14F-4D97-AF65-F5344CB8AC3E}">
        <p14:creationId xmlns:p14="http://schemas.microsoft.com/office/powerpoint/2010/main" val="3654708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système découvre par lui-même des structures cachées dans des données non étiquetées (exemple : regrouper des utilisateurs selon leurs comportements en ligne).</a:t>
            </a:r>
          </a:p>
          <a:p>
            <a:r>
              <a:rPr lang="fr-FR" sz="1200" b="0" i="0" kern="1200" dirty="0">
                <a:solidFill>
                  <a:schemeClr val="tx1"/>
                </a:solidFill>
                <a:effectLst/>
                <a:latin typeface="+mn-lt"/>
                <a:ea typeface="+mn-ea"/>
                <a:cs typeface="+mn-cs"/>
              </a:rPr>
              <a:t>EXEMPLE: dans un contexte d'une étude de comportement d’achat d'un groupe de clients, les personnes qui achètent tel produit ont également tendance à acheter un autre produit spécifique.</a:t>
            </a:r>
          </a:p>
          <a:p>
            <a:r>
              <a:rPr lang="fr-FR" sz="1200" b="1" i="0" kern="1200" dirty="0">
                <a:solidFill>
                  <a:schemeClr val="tx1"/>
                </a:solidFill>
                <a:effectLst/>
                <a:latin typeface="+mn-lt"/>
                <a:ea typeface="+mn-ea"/>
                <a:cs typeface="+mn-cs"/>
              </a:rPr>
              <a:t>Regroupement :</a:t>
            </a:r>
            <a:r>
              <a:rPr lang="fr-FR" sz="1200" b="0" i="0" kern="1200" dirty="0">
                <a:solidFill>
                  <a:schemeClr val="tx1"/>
                </a:solidFill>
                <a:effectLst/>
                <a:latin typeface="+mn-lt"/>
                <a:ea typeface="+mn-ea"/>
                <a:cs typeface="+mn-cs"/>
              </a:rPr>
              <a:t> un problème où on veut découvrir les groupements inhérents aux données, comme le regroupement des clients par le comportement d’achat.</a:t>
            </a:r>
          </a:p>
          <a:p>
            <a:r>
              <a:rPr lang="fr-FR" sz="1200" b="1" i="0" kern="1200" dirty="0">
                <a:solidFill>
                  <a:schemeClr val="tx1"/>
                </a:solidFill>
                <a:effectLst/>
                <a:latin typeface="+mn-lt"/>
                <a:ea typeface="+mn-ea"/>
                <a:cs typeface="+mn-cs"/>
              </a:rPr>
              <a:t>La réduction de dimension :</a:t>
            </a:r>
            <a:r>
              <a:rPr lang="fr-FR" sz="1200" b="0" i="0" kern="1200" dirty="0">
                <a:solidFill>
                  <a:schemeClr val="tx1"/>
                </a:solidFill>
                <a:effectLst/>
                <a:latin typeface="+mn-lt"/>
                <a:ea typeface="+mn-ea"/>
                <a:cs typeface="+mn-cs"/>
              </a:rPr>
              <a:t> on vise à réduire le nombre de variables à prendre en compte dans l’analyse.</a:t>
            </a:r>
          </a:p>
        </p:txBody>
      </p:sp>
      <p:sp>
        <p:nvSpPr>
          <p:cNvPr id="4" name="Slide Number Placeholder 3"/>
          <p:cNvSpPr>
            <a:spLocks noGrp="1"/>
          </p:cNvSpPr>
          <p:nvPr>
            <p:ph type="sldNum" sz="quarter" idx="5"/>
          </p:nvPr>
        </p:nvSpPr>
        <p:spPr/>
        <p:txBody>
          <a:bodyPr/>
          <a:lstStyle/>
          <a:p>
            <a:fld id="{725514F1-C4FE-45A3-933F-2251FDB89284}" type="slidenum">
              <a:rPr lang="fr-FR" smtClean="0"/>
              <a:t>6</a:t>
            </a:fld>
            <a:endParaRPr lang="fr-FR"/>
          </a:p>
        </p:txBody>
      </p:sp>
    </p:spTree>
    <p:extLst>
      <p:ext uri="{BB962C8B-B14F-4D97-AF65-F5344CB8AC3E}">
        <p14:creationId xmlns:p14="http://schemas.microsoft.com/office/powerpoint/2010/main" val="173366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Cette méthode permet aux machines et aux agents de déterminer automatiquement le comportement idéal dans un contexte spécifique pour maximiser ses performances. Une simple rétroaction de récompense, connue sous le nom de signal de renforcement, est nécessaire pour que l’agent apprenne quelle action est la meilleure.</a:t>
            </a:r>
          </a:p>
          <a:p>
            <a:r>
              <a:rPr lang="fr-FR" dirty="0"/>
              <a:t>Un centre SOC doit détecter rapidement les intrusions réseau (ex. scans, malwares, tentatives de phishing)</a:t>
            </a:r>
          </a:p>
          <a:p>
            <a:r>
              <a:rPr lang="fr-FR" b="1" dirty="0"/>
              <a:t>Agent (IA)</a:t>
            </a:r>
            <a:r>
              <a:rPr lang="fr-FR" dirty="0"/>
              <a:t> : Un modèle RL qui apprend à classer les événements réseau (alerte ou activité normale).</a:t>
            </a:r>
          </a:p>
          <a:p>
            <a:r>
              <a:rPr lang="fr-FR" b="1" dirty="0"/>
              <a:t>Environnement</a:t>
            </a:r>
            <a:r>
              <a:rPr lang="fr-FR" dirty="0"/>
              <a:t> : Les flux de logs du SIEM (ex. Splunk, ELK, </a:t>
            </a:r>
            <a:r>
              <a:rPr lang="fr-FR" dirty="0" err="1"/>
              <a:t>QRadar</a:t>
            </a:r>
            <a:r>
              <a:rPr lang="fr-FR" dirty="0"/>
              <a:t>).</a:t>
            </a:r>
          </a:p>
          <a:p>
            <a:r>
              <a:rPr lang="fr-FR" b="1" dirty="0"/>
              <a:t>Action</a:t>
            </a:r>
            <a:r>
              <a:rPr lang="fr-FR" dirty="0"/>
              <a:t> : Signaler une alerte, ignorer ou mettre en attente pour analyse.</a:t>
            </a:r>
          </a:p>
          <a:p>
            <a:endParaRPr lang="fr-FR" dirty="0"/>
          </a:p>
          <a:p>
            <a:r>
              <a:rPr lang="fr-FR" dirty="0"/>
              <a:t>Le système apprend progressivement à </a:t>
            </a:r>
            <a:r>
              <a:rPr lang="fr-FR" b="1" dirty="0"/>
              <a:t>réduire les faux positifs</a:t>
            </a:r>
            <a:r>
              <a:rPr lang="fr-FR" dirty="0"/>
              <a:t> et à </a:t>
            </a:r>
            <a:r>
              <a:rPr lang="fr-FR" b="1" dirty="0"/>
              <a:t>prioriser les vraies attaques</a:t>
            </a:r>
            <a:r>
              <a:rPr lang="fr-FR" dirty="0"/>
              <a:t>, soulageant les analystes SOC.</a:t>
            </a:r>
          </a:p>
        </p:txBody>
      </p:sp>
      <p:sp>
        <p:nvSpPr>
          <p:cNvPr id="4" name="Slide Number Placeholder 3"/>
          <p:cNvSpPr>
            <a:spLocks noGrp="1"/>
          </p:cNvSpPr>
          <p:nvPr>
            <p:ph type="sldNum" sz="quarter" idx="5"/>
          </p:nvPr>
        </p:nvSpPr>
        <p:spPr/>
        <p:txBody>
          <a:bodyPr/>
          <a:lstStyle/>
          <a:p>
            <a:fld id="{725514F1-C4FE-45A3-933F-2251FDB89284}" type="slidenum">
              <a:rPr lang="fr-FR" smtClean="0"/>
              <a:t>7</a:t>
            </a:fld>
            <a:endParaRPr lang="fr-FR"/>
          </a:p>
        </p:txBody>
      </p:sp>
    </p:spTree>
    <p:extLst>
      <p:ext uri="{BB962C8B-B14F-4D97-AF65-F5344CB8AC3E}">
        <p14:creationId xmlns:p14="http://schemas.microsoft.com/office/powerpoint/2010/main" val="4056705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Exemple : détection de tentatives de phishing sophistiquées ou de logiciels malveillants encore inconnus (</a:t>
            </a:r>
            <a:r>
              <a:rPr lang="fr-FR" i="1" dirty="0" err="1"/>
              <a:t>zero-day</a:t>
            </a:r>
            <a:r>
              <a:rPr lang="fr-FR" dirty="0"/>
              <a:t>).</a:t>
            </a:r>
          </a:p>
        </p:txBody>
      </p:sp>
      <p:sp>
        <p:nvSpPr>
          <p:cNvPr id="4" name="Slide Number Placeholder 3"/>
          <p:cNvSpPr>
            <a:spLocks noGrp="1"/>
          </p:cNvSpPr>
          <p:nvPr>
            <p:ph type="sldNum" sz="quarter" idx="5"/>
          </p:nvPr>
        </p:nvSpPr>
        <p:spPr/>
        <p:txBody>
          <a:bodyPr/>
          <a:lstStyle/>
          <a:p>
            <a:fld id="{725514F1-C4FE-45A3-933F-2251FDB89284}" type="slidenum">
              <a:rPr lang="fr-FR" smtClean="0"/>
              <a:t>9</a:t>
            </a:fld>
            <a:endParaRPr lang="fr-FR"/>
          </a:p>
        </p:txBody>
      </p:sp>
    </p:spTree>
    <p:extLst>
      <p:ext uri="{BB962C8B-B14F-4D97-AF65-F5344CB8AC3E}">
        <p14:creationId xmlns:p14="http://schemas.microsoft.com/office/powerpoint/2010/main" val="2339368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 autre atout essentiel de l’IA en cybersécurité est sa capacité à réduire considérablement la charge de travail des équipes de sécurité. Les analystes SOC sont souvent submergés par un flot continu d’alertes, dont une grande partie s’avère être des </a:t>
            </a:r>
            <a:r>
              <a:rPr lang="fr-FR" b="1" dirty="0"/>
              <a:t>faux positifs</a:t>
            </a:r>
            <a:r>
              <a:rPr lang="fr-FR" dirty="0"/>
              <a:t>.</a:t>
            </a:r>
          </a:p>
        </p:txBody>
      </p:sp>
      <p:sp>
        <p:nvSpPr>
          <p:cNvPr id="4" name="Slide Number Placeholder 3"/>
          <p:cNvSpPr>
            <a:spLocks noGrp="1"/>
          </p:cNvSpPr>
          <p:nvPr>
            <p:ph type="sldNum" sz="quarter" idx="5"/>
          </p:nvPr>
        </p:nvSpPr>
        <p:spPr/>
        <p:txBody>
          <a:bodyPr/>
          <a:lstStyle/>
          <a:p>
            <a:fld id="{725514F1-C4FE-45A3-933F-2251FDB89284}" type="slidenum">
              <a:rPr lang="fr-FR" smtClean="0"/>
              <a:t>12</a:t>
            </a:fld>
            <a:endParaRPr lang="fr-FR"/>
          </a:p>
        </p:txBody>
      </p:sp>
    </p:spTree>
    <p:extLst>
      <p:ext uri="{BB962C8B-B14F-4D97-AF65-F5344CB8AC3E}">
        <p14:creationId xmlns:p14="http://schemas.microsoft.com/office/powerpoint/2010/main" val="3158958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Le </a:t>
            </a:r>
            <a:r>
              <a:rPr lang="fr-FR" sz="1200" b="1" i="0" kern="1200" dirty="0" err="1">
                <a:solidFill>
                  <a:schemeClr val="tx1"/>
                </a:solidFill>
                <a:effectLst/>
                <a:latin typeface="+mn-lt"/>
                <a:ea typeface="+mn-ea"/>
                <a:cs typeface="+mn-cs"/>
              </a:rPr>
              <a:t>red</a:t>
            </a:r>
            <a:r>
              <a:rPr lang="fr-FR" sz="1200" b="1" i="0" kern="1200" dirty="0">
                <a:solidFill>
                  <a:schemeClr val="tx1"/>
                </a:solidFill>
                <a:effectLst/>
                <a:latin typeface="+mn-lt"/>
                <a:ea typeface="+mn-ea"/>
                <a:cs typeface="+mn-cs"/>
              </a:rPr>
              <a:t> teaming IA</a:t>
            </a:r>
            <a:r>
              <a:rPr lang="fr-FR" sz="1200" b="0" i="0" kern="1200" dirty="0">
                <a:solidFill>
                  <a:schemeClr val="tx1"/>
                </a:solidFill>
                <a:effectLst/>
                <a:latin typeface="+mn-lt"/>
                <a:ea typeface="+mn-ea"/>
                <a:cs typeface="+mn-cs"/>
              </a:rPr>
              <a:t> est une approche de test </a:t>
            </a:r>
            <a:r>
              <a:rPr lang="fr-FR" sz="1200" b="0" i="0" kern="1200" dirty="0" err="1">
                <a:solidFill>
                  <a:schemeClr val="tx1"/>
                </a:solidFill>
                <a:effectLst/>
                <a:latin typeface="+mn-lt"/>
                <a:ea typeface="+mn-ea"/>
                <a:cs typeface="+mn-cs"/>
              </a:rPr>
              <a:t>adversarial</a:t>
            </a:r>
            <a:r>
              <a:rPr lang="fr-FR" sz="1200" b="0" i="0" kern="1200" dirty="0">
                <a:solidFill>
                  <a:schemeClr val="tx1"/>
                </a:solidFill>
                <a:effectLst/>
                <a:latin typeface="+mn-lt"/>
                <a:ea typeface="+mn-ea"/>
                <a:cs typeface="+mn-cs"/>
              </a:rPr>
              <a:t> utilisée pour évaluer la sécurité et les performances des systèmes d'IA générative dans des conditions d'attaque simulées.</a:t>
            </a:r>
          </a:p>
          <a:p>
            <a:r>
              <a:rPr lang="fr-FR" sz="1200" b="0" i="0" kern="1200" dirty="0">
                <a:solidFill>
                  <a:schemeClr val="tx1"/>
                </a:solidFill>
                <a:effectLst/>
                <a:latin typeface="+mn-lt"/>
                <a:ea typeface="+mn-ea"/>
                <a:cs typeface="+mn-cs"/>
              </a:rPr>
              <a:t>L'IA est utilisée non seulement par les professionnels de la sécurité pour renforcer les défenses, mais aussi par les cybercriminels pour élaborer des attaques plus sophistiquées et automatisées.</a:t>
            </a:r>
          </a:p>
          <a:p>
            <a:r>
              <a:rPr lang="fr-FR" sz="1200" b="1" i="0" kern="1200" dirty="0">
                <a:solidFill>
                  <a:schemeClr val="tx1"/>
                </a:solidFill>
                <a:effectLst/>
                <a:latin typeface="+mn-lt"/>
                <a:ea typeface="+mn-ea"/>
                <a:cs typeface="+mn-cs"/>
              </a:rPr>
              <a:t>Automatisation des attaques par IA</a:t>
            </a:r>
            <a:r>
              <a:rPr lang="fr-FR" sz="1200" b="0" i="0" kern="1200" dirty="0">
                <a:solidFill>
                  <a:schemeClr val="tx1"/>
                </a:solidFill>
                <a:effectLst/>
                <a:latin typeface="+mn-lt"/>
                <a:ea typeface="+mn-ea"/>
                <a:cs typeface="+mn-cs"/>
              </a:rPr>
              <a:t>: Les cybercriminels exploitent des algorithmes d'apprentissage automatique pour </a:t>
            </a:r>
            <a:r>
              <a:rPr lang="fr-FR" sz="1200" b="1" i="0" kern="1200" dirty="0">
                <a:solidFill>
                  <a:schemeClr val="tx1"/>
                </a:solidFill>
                <a:effectLst/>
                <a:latin typeface="+mn-lt"/>
                <a:ea typeface="+mn-ea"/>
                <a:cs typeface="+mn-cs"/>
              </a:rPr>
              <a:t>automatiser le processus de création de sites de phishing</a:t>
            </a:r>
            <a:r>
              <a:rPr lang="fr-FR"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i="0" kern="1200" dirty="0">
                <a:solidFill>
                  <a:schemeClr val="tx1"/>
                </a:solidFill>
                <a:effectLst/>
                <a:latin typeface="+mn-lt"/>
                <a:ea typeface="+mn-ea"/>
                <a:cs typeface="+mn-cs"/>
              </a:rPr>
              <a:t>Sophistication des Attaques</a:t>
            </a:r>
            <a:r>
              <a:rPr lang="fr-FR" sz="1200" b="0" i="0" kern="1200" dirty="0">
                <a:solidFill>
                  <a:schemeClr val="tx1"/>
                </a:solidFill>
                <a:effectLst/>
                <a:latin typeface="+mn-lt"/>
                <a:ea typeface="+mn-ea"/>
                <a:cs typeface="+mn-cs"/>
              </a:rPr>
              <a:t>:  l'IA permet aux cybercriminels d'adapter leurs attaques en fonction des données collectées sur leurs cibles potentielles. </a:t>
            </a:r>
            <a:r>
              <a:rPr lang="fr-FR" sz="1200" b="1" i="0" kern="1200" dirty="0">
                <a:solidFill>
                  <a:schemeClr val="tx1"/>
                </a:solidFill>
                <a:effectLst/>
                <a:latin typeface="+mn-lt"/>
                <a:ea typeface="+mn-ea"/>
                <a:cs typeface="+mn-cs"/>
              </a:rPr>
              <a:t>En analysant les comportements en ligne et les données personnelles accessibles, les attaquants peuvent personnaliser les emails de phishing pour les rendre plus convaincants,</a:t>
            </a:r>
          </a:p>
          <a:p>
            <a:r>
              <a:rPr lang="fr-FR" sz="1200" b="1" i="0" kern="1200" dirty="0">
                <a:solidFill>
                  <a:schemeClr val="tx1"/>
                </a:solidFill>
                <a:effectLst/>
                <a:latin typeface="+mn-lt"/>
                <a:ea typeface="+mn-ea"/>
                <a:cs typeface="+mn-cs"/>
              </a:rPr>
              <a:t>Défis pour la Détection et la Prévention</a:t>
            </a:r>
            <a:endParaRPr lang="fr-FR" sz="1200" b="0" i="0" kern="1200" dirty="0">
              <a:solidFill>
                <a:schemeClr val="tx1"/>
              </a:solidFill>
              <a:effectLst/>
              <a:latin typeface="+mn-lt"/>
              <a:ea typeface="+mn-ea"/>
              <a:cs typeface="+mn-cs"/>
            </a:endParaRPr>
          </a:p>
          <a:p>
            <a:r>
              <a:rPr lang="fr-FR" sz="1200" b="0" i="0" kern="1200" dirty="0">
                <a:solidFill>
                  <a:schemeClr val="tx1"/>
                </a:solidFill>
                <a:effectLst/>
                <a:latin typeface="+mn-lt"/>
                <a:ea typeface="+mn-ea"/>
                <a:cs typeface="+mn-cs"/>
              </a:rPr>
              <a:t>La capacité des cybercriminels à générer rapidement et efficacement des campagnes malveillantes grâce à l'IA pose de sérieux défis pour les systèmes traditionnels de détection et de prévention des menaces.</a:t>
            </a:r>
            <a:endParaRPr lang="fr-FR" dirty="0"/>
          </a:p>
          <a:p>
            <a:r>
              <a:rPr lang="fr-FR" dirty="0"/>
              <a:t>l’intelligence artificielle n’est ni intrinsèquement bonne ni mauvaise : elle est neutre. Tout dépend de l’usage que l’on en fait. Entre les mains des professionnels de la cybersécurité, elle devient un bouclier protecteur ; entre les mains des attaquants, elle se transforme en une arme redoutable</a:t>
            </a:r>
          </a:p>
          <a:p>
            <a:endParaRPr lang="fr-FR" dirty="0"/>
          </a:p>
        </p:txBody>
      </p:sp>
      <p:sp>
        <p:nvSpPr>
          <p:cNvPr id="4" name="Slide Number Placeholder 3"/>
          <p:cNvSpPr>
            <a:spLocks noGrp="1"/>
          </p:cNvSpPr>
          <p:nvPr>
            <p:ph type="sldNum" sz="quarter" idx="5"/>
          </p:nvPr>
        </p:nvSpPr>
        <p:spPr/>
        <p:txBody>
          <a:bodyPr/>
          <a:lstStyle/>
          <a:p>
            <a:fld id="{725514F1-C4FE-45A3-933F-2251FDB89284}" type="slidenum">
              <a:rPr lang="fr-FR" smtClean="0"/>
              <a:t>13</a:t>
            </a:fld>
            <a:endParaRPr lang="fr-FR"/>
          </a:p>
        </p:txBody>
      </p:sp>
    </p:spTree>
    <p:extLst>
      <p:ext uri="{BB962C8B-B14F-4D97-AF65-F5344CB8AC3E}">
        <p14:creationId xmlns:p14="http://schemas.microsoft.com/office/powerpoint/2010/main" val="3502980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Exemple concret : Détournement de </a:t>
            </a:r>
            <a:r>
              <a:rPr lang="fr-FR" b="1" dirty="0" err="1"/>
              <a:t>chatbot</a:t>
            </a:r>
            <a:r>
              <a:rPr lang="fr-FR" b="1" dirty="0"/>
              <a:t> bancaire</a:t>
            </a:r>
          </a:p>
          <a:p>
            <a:r>
              <a:rPr lang="fr-FR" dirty="0"/>
              <a:t>Imaginons une banque qui met en place un </a:t>
            </a:r>
            <a:r>
              <a:rPr lang="fr-FR" b="1" dirty="0" err="1"/>
              <a:t>chatbot</a:t>
            </a:r>
            <a:r>
              <a:rPr lang="fr-FR" b="1" dirty="0"/>
              <a:t> basé sur l’IA</a:t>
            </a:r>
            <a:r>
              <a:rPr lang="fr-FR" dirty="0"/>
              <a:t> pour aider ses clients à gérer leurs comptes (consulter le solde, bloquer une carte, obtenir des conseils financiers, etc.).</a:t>
            </a:r>
          </a:p>
          <a:p>
            <a:r>
              <a:rPr lang="fr-FR" dirty="0"/>
              <a:t>Normalement, ce </a:t>
            </a:r>
            <a:r>
              <a:rPr lang="fr-FR" dirty="0" err="1"/>
              <a:t>chatbot</a:t>
            </a:r>
            <a:r>
              <a:rPr lang="fr-FR" dirty="0"/>
              <a:t> est doté de </a:t>
            </a:r>
            <a:r>
              <a:rPr lang="fr-FR" b="1" dirty="0"/>
              <a:t>garde-fous techniques</a:t>
            </a:r>
            <a:r>
              <a:rPr lang="fr-FR" dirty="0"/>
              <a:t> pour éviter qu’il ne fournisse des informations sensibles ou qu’il ne génère de contenu malveillant.</a:t>
            </a:r>
          </a:p>
          <a:p>
            <a:r>
              <a:rPr lang="fr-FR" dirty="0"/>
              <a:t>Cependant, un attaquant parvient à utiliser une technique appelée </a:t>
            </a:r>
            <a:r>
              <a:rPr lang="fr-FR" b="1" dirty="0"/>
              <a:t>prompt injection</a:t>
            </a:r>
            <a:r>
              <a:rPr lang="fr-FR" dirty="0"/>
              <a:t>. Par un enchaînement astucieux de requêtes, il trompe le modèle et réussit à lui faire :</a:t>
            </a:r>
          </a:p>
          <a:p>
            <a:r>
              <a:rPr lang="fr-FR" dirty="0"/>
              <a:t>Générer de </a:t>
            </a:r>
            <a:r>
              <a:rPr lang="fr-FR" b="1" dirty="0"/>
              <a:t>fausses instructions de virement</a:t>
            </a:r>
            <a:r>
              <a:rPr lang="fr-FR" dirty="0"/>
              <a:t> qui ressemblent à de vraies recommandations de la banque.</a:t>
            </a:r>
          </a:p>
          <a:p>
            <a:r>
              <a:rPr lang="fr-FR" dirty="0"/>
              <a:t>Fournir du </a:t>
            </a:r>
            <a:r>
              <a:rPr lang="fr-FR" b="1" dirty="0"/>
              <a:t>code malveillant</a:t>
            </a:r>
            <a:r>
              <a:rPr lang="fr-FR" dirty="0"/>
              <a:t> ou des liens frauduleux sous couvert d’"outils utiles".</a:t>
            </a:r>
          </a:p>
          <a:p>
            <a:r>
              <a:rPr lang="fr-FR" dirty="0"/>
              <a:t>Donner des </a:t>
            </a:r>
            <a:r>
              <a:rPr lang="fr-FR" b="1" dirty="0"/>
              <a:t>conseils financiers biaisés</a:t>
            </a:r>
            <a:r>
              <a:rPr lang="fr-FR" dirty="0"/>
              <a:t> qui, s’ils étaient suivis, pourraient causer des pertes aux clients.</a:t>
            </a:r>
          </a:p>
          <a:p>
            <a:r>
              <a:rPr lang="fr-FR" dirty="0"/>
              <a:t>Résultat :</a:t>
            </a:r>
          </a:p>
          <a:p>
            <a:r>
              <a:rPr lang="fr-FR" dirty="0"/>
              <a:t>Les clients qui font confiance au </a:t>
            </a:r>
            <a:r>
              <a:rPr lang="fr-FR" dirty="0" err="1"/>
              <a:t>chatbot</a:t>
            </a:r>
            <a:r>
              <a:rPr lang="fr-FR" dirty="0"/>
              <a:t> se retrouvent exposés à des escroqueries.</a:t>
            </a:r>
          </a:p>
          <a:p>
            <a:r>
              <a:rPr lang="fr-FR" dirty="0"/>
              <a:t>La réputation de la banque est mise en danger, car elle est tenue responsable des réponses de son propre outil IA.</a:t>
            </a:r>
          </a:p>
          <a:p>
            <a:endParaRPr lang="fr-FR" dirty="0"/>
          </a:p>
        </p:txBody>
      </p:sp>
      <p:sp>
        <p:nvSpPr>
          <p:cNvPr id="4" name="Slide Number Placeholder 3"/>
          <p:cNvSpPr>
            <a:spLocks noGrp="1"/>
          </p:cNvSpPr>
          <p:nvPr>
            <p:ph type="sldNum" sz="quarter" idx="5"/>
          </p:nvPr>
        </p:nvSpPr>
        <p:spPr/>
        <p:txBody>
          <a:bodyPr/>
          <a:lstStyle/>
          <a:p>
            <a:fld id="{725514F1-C4FE-45A3-933F-2251FDB89284}" type="slidenum">
              <a:rPr lang="fr-FR" smtClean="0"/>
              <a:t>14</a:t>
            </a:fld>
            <a:endParaRPr lang="fr-FR"/>
          </a:p>
        </p:txBody>
      </p:sp>
    </p:spTree>
    <p:extLst>
      <p:ext uri="{BB962C8B-B14F-4D97-AF65-F5344CB8AC3E}">
        <p14:creationId xmlns:p14="http://schemas.microsoft.com/office/powerpoint/2010/main" val="163899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Une grande entreprise hospitalière met en place un </a:t>
            </a:r>
            <a:r>
              <a:rPr lang="fr-FR" b="1" dirty="0" err="1"/>
              <a:t>chatbot</a:t>
            </a:r>
            <a:r>
              <a:rPr lang="fr-FR" b="1" dirty="0"/>
              <a:t> interne basé sur l’IA avec architecture RAG (</a:t>
            </a:r>
            <a:r>
              <a:rPr lang="fr-FR" b="1" dirty="0" err="1"/>
              <a:t>Retrieval-Augmented</a:t>
            </a:r>
            <a:r>
              <a:rPr lang="fr-FR" b="1" dirty="0"/>
              <a:t> </a:t>
            </a:r>
            <a:r>
              <a:rPr lang="fr-FR" b="1" dirty="0" err="1"/>
              <a:t>Generation</a:t>
            </a:r>
            <a:r>
              <a:rPr lang="fr-FR" b="1" dirty="0"/>
              <a:t>)</a:t>
            </a:r>
            <a:r>
              <a:rPr lang="fr-FR" dirty="0"/>
              <a:t> pour aider son personnel à accéder rapidement aux dossiers patients, aux protocoles médicaux et aux réglementations internes.</a:t>
            </a:r>
          </a:p>
          <a:p>
            <a:r>
              <a:rPr lang="fr-FR" dirty="0"/>
              <a:t>Le problème survient lorsque :</a:t>
            </a:r>
          </a:p>
          <a:p>
            <a:r>
              <a:rPr lang="fr-FR" dirty="0"/>
              <a:t>La </a:t>
            </a:r>
            <a:r>
              <a:rPr lang="fr-FR" b="1" dirty="0"/>
              <a:t>base de connaissances</a:t>
            </a:r>
            <a:r>
              <a:rPr lang="fr-FR" dirty="0"/>
              <a:t> n’a pas été correctement </a:t>
            </a:r>
            <a:r>
              <a:rPr lang="fr-FR" b="1" dirty="0"/>
              <a:t>anonymisée</a:t>
            </a:r>
            <a:r>
              <a:rPr lang="fr-FR" dirty="0"/>
              <a:t>. Certains documents internes contiennent encore des </a:t>
            </a:r>
            <a:r>
              <a:rPr lang="fr-FR" b="1" dirty="0"/>
              <a:t>noms de patients, diagnostics, résultats d’examens</a:t>
            </a:r>
            <a:r>
              <a:rPr lang="fr-FR" dirty="0"/>
              <a:t>.</a:t>
            </a:r>
          </a:p>
          <a:p>
            <a:r>
              <a:rPr lang="fr-FR" dirty="0"/>
              <a:t>Un employé pose une question anodine comme : </a:t>
            </a:r>
            <a:r>
              <a:rPr lang="fr-FR" i="1" dirty="0"/>
              <a:t>« Donne-moi un exemple de rapport médical type »</a:t>
            </a:r>
            <a:r>
              <a:rPr lang="fr-FR" dirty="0"/>
              <a:t>.</a:t>
            </a:r>
          </a:p>
          <a:p>
            <a:r>
              <a:rPr lang="fr-FR" dirty="0"/>
              <a:t>Le </a:t>
            </a:r>
            <a:r>
              <a:rPr lang="fr-FR" dirty="0" err="1"/>
              <a:t>chatbot</a:t>
            </a:r>
            <a:r>
              <a:rPr lang="fr-FR" dirty="0"/>
              <a:t>, en allant chercher dans la base, génère une réponse contenant </a:t>
            </a:r>
            <a:r>
              <a:rPr lang="fr-FR" b="1" dirty="0"/>
              <a:t>de vraies informations personnelles</a:t>
            </a:r>
            <a:r>
              <a:rPr lang="fr-FR" dirty="0"/>
              <a:t> :</a:t>
            </a:r>
          </a:p>
          <a:p>
            <a:pPr lvl="1"/>
            <a:r>
              <a:rPr lang="fr-FR" dirty="0"/>
              <a:t>« Rapport de Mme Dupont, 45 ans, atteinte de diabète de type 2, consultation du 12 mars 2025 ».</a:t>
            </a:r>
          </a:p>
          <a:p>
            <a:r>
              <a:rPr lang="fr-FR" dirty="0"/>
              <a:t>👉 Résultat : une </a:t>
            </a:r>
            <a:r>
              <a:rPr lang="fr-FR" b="1" dirty="0"/>
              <a:t>fuite de données médicales sensibles</a:t>
            </a:r>
            <a:r>
              <a:rPr lang="fr-FR" dirty="0"/>
              <a:t> involontaire, qui viole le </a:t>
            </a:r>
            <a:r>
              <a:rPr lang="fr-FR" b="1" dirty="0"/>
              <a:t>RGPD</a:t>
            </a:r>
            <a:r>
              <a:rPr lang="fr-FR" dirty="0"/>
              <a:t> et la réglementation sur le secret médical.</a:t>
            </a:r>
            <a:br>
              <a:rPr lang="fr-FR" dirty="0"/>
            </a:br>
            <a:r>
              <a:rPr lang="fr-FR" dirty="0"/>
              <a:t>👉 Impact : responsabilité juridique de l’hôpital, atteinte à la confiance des patients, et risque d’amende.</a:t>
            </a:r>
          </a:p>
          <a:p>
            <a:r>
              <a:rPr lang="fr-FR" dirty="0"/>
              <a:t>🔎 </a:t>
            </a:r>
            <a:r>
              <a:rPr lang="fr-FR" b="1" dirty="0"/>
              <a:t>Cas réel proche</a:t>
            </a:r>
            <a:r>
              <a:rPr lang="fr-FR" dirty="0"/>
              <a:t> : En 2023, Samsung a connu un incident similaire lorsque des employés ont utilisé </a:t>
            </a:r>
            <a:r>
              <a:rPr lang="fr-FR" b="1" dirty="0" err="1"/>
              <a:t>ChatGPT</a:t>
            </a:r>
            <a:r>
              <a:rPr lang="fr-FR" dirty="0"/>
              <a:t> pour résoudre des problèmes de code. Par inadvertance, ils ont collé du </a:t>
            </a:r>
            <a:r>
              <a:rPr lang="fr-FR" b="1" dirty="0"/>
              <a:t>code propriétaire sensible</a:t>
            </a:r>
            <a:r>
              <a:rPr lang="fr-FR" dirty="0"/>
              <a:t> dans l’outil, qui est ensuite devenu une donnée d’entraînement pour le modèle. Résultat : </a:t>
            </a:r>
            <a:r>
              <a:rPr lang="fr-FR" b="1" dirty="0"/>
              <a:t>fuite de secrets industriels</a:t>
            </a:r>
            <a:r>
              <a:rPr lang="fr-FR" dirty="0"/>
              <a:t>.</a:t>
            </a:r>
          </a:p>
          <a:p>
            <a:endParaRPr lang="fr-FR" dirty="0"/>
          </a:p>
        </p:txBody>
      </p:sp>
      <p:sp>
        <p:nvSpPr>
          <p:cNvPr id="4" name="Slide Number Placeholder 3"/>
          <p:cNvSpPr>
            <a:spLocks noGrp="1"/>
          </p:cNvSpPr>
          <p:nvPr>
            <p:ph type="sldNum" sz="quarter" idx="5"/>
          </p:nvPr>
        </p:nvSpPr>
        <p:spPr/>
        <p:txBody>
          <a:bodyPr/>
          <a:lstStyle/>
          <a:p>
            <a:fld id="{725514F1-C4FE-45A3-933F-2251FDB89284}" type="slidenum">
              <a:rPr lang="fr-FR" smtClean="0"/>
              <a:t>15</a:t>
            </a:fld>
            <a:endParaRPr lang="fr-FR"/>
          </a:p>
        </p:txBody>
      </p:sp>
    </p:spTree>
    <p:extLst>
      <p:ext uri="{BB962C8B-B14F-4D97-AF65-F5344CB8AC3E}">
        <p14:creationId xmlns:p14="http://schemas.microsoft.com/office/powerpoint/2010/main" val="1784552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des attaques de phishing et d'ingénierie sociale plus personnalisées et convaincantes grâce aux IA génératives, des </a:t>
            </a:r>
            <a:r>
              <a:rPr lang="fr-FR" sz="1200" b="0" i="0" kern="1200" dirty="0" err="1">
                <a:solidFill>
                  <a:schemeClr val="tx1"/>
                </a:solidFill>
                <a:effectLst/>
                <a:latin typeface="+mn-lt"/>
                <a:ea typeface="+mn-ea"/>
                <a:cs typeface="+mn-cs"/>
              </a:rPr>
              <a:t>deepfakes</a:t>
            </a:r>
            <a:r>
              <a:rPr lang="fr-FR" sz="1200" b="0" i="0" kern="1200" dirty="0">
                <a:solidFill>
                  <a:schemeClr val="tx1"/>
                </a:solidFill>
                <a:effectLst/>
                <a:latin typeface="+mn-lt"/>
                <a:ea typeface="+mn-ea"/>
                <a:cs typeface="+mn-cs"/>
              </a:rPr>
              <a:t> sophistiqués pour l'usurpation d'identité et la fraude, l'automatisation et l'accélération des attaques, ainsi que la compromission des modèles d'IA via l'empoisonnement de données. Ces outils IA permettent aussi aux cybercriminels de créer de fausses identités et des contenus frauduleux plus facilement. </a:t>
            </a:r>
          </a:p>
          <a:p>
            <a:endParaRPr lang="fr-FR" dirty="0"/>
          </a:p>
        </p:txBody>
      </p:sp>
      <p:sp>
        <p:nvSpPr>
          <p:cNvPr id="4" name="Slide Number Placeholder 3"/>
          <p:cNvSpPr>
            <a:spLocks noGrp="1"/>
          </p:cNvSpPr>
          <p:nvPr>
            <p:ph type="sldNum" sz="quarter" idx="5"/>
          </p:nvPr>
        </p:nvSpPr>
        <p:spPr/>
        <p:txBody>
          <a:bodyPr/>
          <a:lstStyle/>
          <a:p>
            <a:fld id="{725514F1-C4FE-45A3-933F-2251FDB89284}" type="slidenum">
              <a:rPr lang="fr-FR" smtClean="0"/>
              <a:t>16</a:t>
            </a:fld>
            <a:endParaRPr lang="fr-FR"/>
          </a:p>
        </p:txBody>
      </p:sp>
    </p:spTree>
    <p:extLst>
      <p:ext uri="{BB962C8B-B14F-4D97-AF65-F5344CB8AC3E}">
        <p14:creationId xmlns:p14="http://schemas.microsoft.com/office/powerpoint/2010/main" val="1704792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Idée</a:t>
            </a:r>
            <a:r>
              <a:rPr lang="fr-FR" dirty="0"/>
              <a:t> : Utiliser l’IA générative pour créer de fausses vidéos, voix ou images indiscernables du réel.</a:t>
            </a:r>
          </a:p>
          <a:p>
            <a:r>
              <a:rPr lang="fr-FR" b="1" dirty="0"/>
              <a:t>Cas pratique</a:t>
            </a:r>
            <a:r>
              <a:rPr lang="fr-FR" dirty="0"/>
              <a:t> :</a:t>
            </a:r>
          </a:p>
          <a:p>
            <a:r>
              <a:rPr lang="fr-FR" dirty="0"/>
              <a:t>Un attaquant imite la voix du directeur financier et appelle le service comptabilité pour demander un virement urgent → </a:t>
            </a:r>
            <a:r>
              <a:rPr lang="fr-FR" b="1" dirty="0"/>
              <a:t>fraude au président assistée par IA</a:t>
            </a:r>
            <a:r>
              <a:rPr lang="fr-FR" dirty="0"/>
              <a:t>.</a:t>
            </a:r>
          </a:p>
          <a:p>
            <a:r>
              <a:rPr lang="fr-FR" dirty="0"/>
              <a:t>Création de fausses vidéos compromettantes de responsables politiques pour influencer une élection.</a:t>
            </a:r>
          </a:p>
          <a:p>
            <a:r>
              <a:rPr lang="fr-FR" b="1" dirty="0"/>
              <a:t>Phishing et </a:t>
            </a:r>
            <a:r>
              <a:rPr lang="fr-FR" b="1" dirty="0" err="1"/>
              <a:t>spear</a:t>
            </a:r>
            <a:r>
              <a:rPr lang="fr-FR" b="1" dirty="0"/>
              <a:t>-phishing automatisés</a:t>
            </a:r>
          </a:p>
          <a:p>
            <a:r>
              <a:rPr lang="fr-FR" b="1" dirty="0"/>
              <a:t>Idée</a:t>
            </a:r>
            <a:r>
              <a:rPr lang="fr-FR" dirty="0"/>
              <a:t> : L’IA rédige des emails trompeurs personnalisés sans fautes de langue.</a:t>
            </a:r>
          </a:p>
          <a:p>
            <a:r>
              <a:rPr lang="fr-FR" b="1" dirty="0"/>
              <a:t>Cas pratique</a:t>
            </a:r>
            <a:r>
              <a:rPr lang="fr-FR" dirty="0"/>
              <a:t> :</a:t>
            </a:r>
          </a:p>
          <a:p>
            <a:pPr lvl="1"/>
            <a:r>
              <a:rPr lang="fr-FR" dirty="0"/>
              <a:t>Un modèle d’IA génère des mails ciblés après avoir collecté les infos publiques d’un employé LinkedIn → plus crédibles que les anciennes campagnes.</a:t>
            </a:r>
          </a:p>
          <a:p>
            <a:pPr lvl="1"/>
            <a:r>
              <a:rPr lang="fr-FR" dirty="0" err="1"/>
              <a:t>Chatbots</a:t>
            </a:r>
            <a:r>
              <a:rPr lang="fr-FR" dirty="0"/>
              <a:t> malveillants simulant une assistance IT interne qui demandent des identifiants.</a:t>
            </a:r>
          </a:p>
          <a:p>
            <a:r>
              <a:rPr lang="fr-FR" b="1" dirty="0"/>
              <a:t>Idée</a:t>
            </a:r>
            <a:r>
              <a:rPr lang="fr-FR" dirty="0"/>
              <a:t> : Malware utilisant l’apprentissage automatique pour s’adapter aux défenses.</a:t>
            </a:r>
          </a:p>
          <a:p>
            <a:r>
              <a:rPr lang="fr-FR" b="1" dirty="0"/>
              <a:t>Cas pratique</a:t>
            </a:r>
            <a:r>
              <a:rPr lang="fr-FR" dirty="0"/>
              <a:t> :</a:t>
            </a:r>
          </a:p>
          <a:p>
            <a:r>
              <a:rPr lang="fr-FR" dirty="0"/>
              <a:t>Un ransomware qui change automatiquement ses signatures pour échapper aux antivirus.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kern="1200" dirty="0">
                <a:solidFill>
                  <a:schemeClr val="tx1"/>
                </a:solidFill>
                <a:effectLst/>
                <a:latin typeface="+mn-lt"/>
                <a:ea typeface="+mn-ea"/>
                <a:cs typeface="+mn-cs"/>
              </a:rPr>
              <a:t>Grâce à l'IA, les pirates peuvent créer des courriels d'hameçonnage </a:t>
            </a:r>
            <a:r>
              <a:rPr lang="fr-FR" sz="1200" b="0" i="0" kern="1200" dirty="0" err="1">
                <a:solidFill>
                  <a:schemeClr val="tx1"/>
                </a:solidFill>
                <a:effectLst/>
                <a:latin typeface="+mn-lt"/>
                <a:ea typeface="+mn-ea"/>
                <a:cs typeface="+mn-cs"/>
              </a:rPr>
              <a:t>ultra-réalistes</a:t>
            </a:r>
            <a:r>
              <a:rPr lang="fr-FR" sz="1200" b="0" i="0" kern="1200" dirty="0">
                <a:solidFill>
                  <a:schemeClr val="tx1"/>
                </a:solidFill>
                <a:effectLst/>
                <a:latin typeface="+mn-lt"/>
                <a:ea typeface="+mn-ea"/>
                <a:cs typeface="+mn-cs"/>
              </a:rPr>
              <a:t> en analysant les informations disponibles sur les réseaux sociaux et d'autres sources publiques.[</a:t>
            </a:r>
            <a:r>
              <a:rPr lang="fr-FR" sz="1200" b="0" i="0" u="none" strike="noStrike" kern="1200" dirty="0">
                <a:solidFill>
                  <a:schemeClr val="tx1"/>
                </a:solidFill>
                <a:effectLst/>
                <a:latin typeface="+mn-lt"/>
                <a:ea typeface="+mn-ea"/>
                <a:cs typeface="+mn-cs"/>
                <a:hlinkClick r:id="rId3"/>
              </a:rPr>
              <a:t>1</a:t>
            </a:r>
            <a:r>
              <a:rPr lang="fr-FR" sz="1200" b="0" i="0" kern="1200" dirty="0">
                <a:solidFill>
                  <a:schemeClr val="tx1"/>
                </a:solidFill>
                <a:effectLst/>
                <a:latin typeface="+mn-lt"/>
                <a:ea typeface="+mn-ea"/>
                <a:cs typeface="+mn-cs"/>
              </a:rPr>
              <a:t>] Ces messages, qui semblent provenir de contacts de confiance</a:t>
            </a:r>
            <a:endParaRPr lang="en-US" dirty="0"/>
          </a:p>
          <a:p>
            <a:r>
              <a:rPr lang="fr-FR" sz="1200" b="0" i="0" kern="1200" dirty="0">
                <a:solidFill>
                  <a:schemeClr val="tx1"/>
                </a:solidFill>
                <a:effectLst/>
                <a:latin typeface="+mn-lt"/>
                <a:ea typeface="+mn-ea"/>
                <a:cs typeface="+mn-cs"/>
              </a:rPr>
              <a:t>Les logiciels malveillants assistés par l'IA peuvent désormais modifier leur propre code en temps réel pour échapper aux systèmes de détection traditionnels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Les dangers de l’IA touchent </a:t>
            </a:r>
            <a:r>
              <a:rPr lang="fr-FR" b="1" dirty="0"/>
              <a:t>l’individu</a:t>
            </a:r>
            <a:r>
              <a:rPr lang="fr-FR" dirty="0"/>
              <a:t> (vie privée, emploi), </a:t>
            </a:r>
            <a:r>
              <a:rPr lang="fr-FR" b="1" dirty="0"/>
              <a:t>la société</a:t>
            </a:r>
            <a:r>
              <a:rPr lang="fr-FR" dirty="0"/>
              <a:t> (démocratie, inégalités) et </a:t>
            </a:r>
            <a:r>
              <a:rPr lang="fr-FR" b="1" dirty="0"/>
              <a:t>le monde</a:t>
            </a:r>
            <a:r>
              <a:rPr lang="fr-FR" dirty="0"/>
              <a:t> (sécurité, équilibre des puissances).</a:t>
            </a:r>
          </a:p>
          <a:p>
            <a:endParaRPr lang="fr-FR" dirty="0"/>
          </a:p>
        </p:txBody>
      </p:sp>
      <p:sp>
        <p:nvSpPr>
          <p:cNvPr id="4" name="Slide Number Placeholder 3"/>
          <p:cNvSpPr>
            <a:spLocks noGrp="1"/>
          </p:cNvSpPr>
          <p:nvPr>
            <p:ph type="sldNum" sz="quarter" idx="5"/>
          </p:nvPr>
        </p:nvSpPr>
        <p:spPr/>
        <p:txBody>
          <a:bodyPr/>
          <a:lstStyle/>
          <a:p>
            <a:fld id="{725514F1-C4FE-45A3-933F-2251FDB89284}" type="slidenum">
              <a:rPr lang="fr-FR" smtClean="0"/>
              <a:t>18</a:t>
            </a:fld>
            <a:endParaRPr lang="fr-FR"/>
          </a:p>
        </p:txBody>
      </p:sp>
    </p:spTree>
    <p:extLst>
      <p:ext uri="{BB962C8B-B14F-4D97-AF65-F5344CB8AC3E}">
        <p14:creationId xmlns:p14="http://schemas.microsoft.com/office/powerpoint/2010/main" val="4006651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EC14C-E736-B4C0-886B-3909B7F38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B38AD-37F6-3160-C9F9-686190DED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56BD9-C107-51EC-73F7-4AABB87F11FD}"/>
              </a:ext>
            </a:extLst>
          </p:cNvPr>
          <p:cNvSpPr>
            <a:spLocks noGrp="1"/>
          </p:cNvSpPr>
          <p:nvPr>
            <p:ph type="body" idx="1"/>
          </p:nvPr>
        </p:nvSpPr>
        <p:spPr/>
        <p:txBody>
          <a:bodyPr/>
          <a:lstStyle/>
          <a:p>
            <a:r>
              <a:rPr lang="fr-FR" dirty="0"/>
              <a:t>L’IA offre un avantage opérationnel énorme, mais elle introduit aussi des </a:t>
            </a:r>
            <a:r>
              <a:rPr lang="fr-FR" b="1" dirty="0"/>
              <a:t>risques éthiques, stratégiques et sécuritaires</a:t>
            </a:r>
            <a:r>
              <a:rPr lang="fr-FR" dirty="0"/>
              <a:t> : perte de contrôle, escalade accidentelle, désinformation, cybermenaces et vulnérabilités techniques.</a:t>
            </a:r>
          </a:p>
        </p:txBody>
      </p:sp>
      <p:sp>
        <p:nvSpPr>
          <p:cNvPr id="4" name="Slide Number Placeholder 3">
            <a:extLst>
              <a:ext uri="{FF2B5EF4-FFF2-40B4-BE49-F238E27FC236}">
                <a16:creationId xmlns:a16="http://schemas.microsoft.com/office/drawing/2014/main" id="{3FB0D1A4-A866-7A69-90D8-E0C871A0A604}"/>
              </a:ext>
            </a:extLst>
          </p:cNvPr>
          <p:cNvSpPr>
            <a:spLocks noGrp="1"/>
          </p:cNvSpPr>
          <p:nvPr>
            <p:ph type="sldNum" sz="quarter" idx="5"/>
          </p:nvPr>
        </p:nvSpPr>
        <p:spPr/>
        <p:txBody>
          <a:bodyPr/>
          <a:lstStyle/>
          <a:p>
            <a:fld id="{725514F1-C4FE-45A3-933F-2251FDB89284}" type="slidenum">
              <a:rPr lang="fr-FR" smtClean="0"/>
              <a:t>19</a:t>
            </a:fld>
            <a:endParaRPr lang="fr-FR"/>
          </a:p>
        </p:txBody>
      </p:sp>
    </p:spTree>
    <p:extLst>
      <p:ext uri="{BB962C8B-B14F-4D97-AF65-F5344CB8AC3E}">
        <p14:creationId xmlns:p14="http://schemas.microsoft.com/office/powerpoint/2010/main" val="1654547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Malgré son potentiel immense, l’intelligence artificielle en cybersécurité fait face à de nombreux </a:t>
            </a:r>
            <a:r>
              <a:rPr lang="fr-FR" b="1" dirty="0"/>
              <a:t>défis et limites</a:t>
            </a:r>
            <a:r>
              <a:rPr lang="fr-FR" dirty="0"/>
              <a:t> qui freinent son adoption et son efficacité.</a:t>
            </a:r>
          </a:p>
        </p:txBody>
      </p:sp>
      <p:sp>
        <p:nvSpPr>
          <p:cNvPr id="4" name="Slide Number Placeholder 3"/>
          <p:cNvSpPr>
            <a:spLocks noGrp="1"/>
          </p:cNvSpPr>
          <p:nvPr>
            <p:ph type="sldNum" sz="quarter" idx="5"/>
          </p:nvPr>
        </p:nvSpPr>
        <p:spPr/>
        <p:txBody>
          <a:bodyPr/>
          <a:lstStyle/>
          <a:p>
            <a:fld id="{725514F1-C4FE-45A3-933F-2251FDB89284}" type="slidenum">
              <a:rPr lang="fr-FR" smtClean="0"/>
              <a:t>20</a:t>
            </a:fld>
            <a:endParaRPr lang="fr-FR"/>
          </a:p>
        </p:txBody>
      </p:sp>
    </p:spTree>
    <p:extLst>
      <p:ext uri="{BB962C8B-B14F-4D97-AF65-F5344CB8AC3E}">
        <p14:creationId xmlns:p14="http://schemas.microsoft.com/office/powerpoint/2010/main" val="915057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l’IA n’est pas une solution parfaite, mais un </a:t>
            </a:r>
            <a:r>
              <a:rPr lang="fr-FR" b="1" dirty="0"/>
              <a:t>outil prometteur</a:t>
            </a:r>
            <a:r>
              <a:rPr lang="fr-FR" dirty="0"/>
              <a:t> qui doit être utilisé avec prudence et renforcé par l’expertise humaine.</a:t>
            </a:r>
          </a:p>
        </p:txBody>
      </p:sp>
      <p:sp>
        <p:nvSpPr>
          <p:cNvPr id="4" name="Slide Number Placeholder 3"/>
          <p:cNvSpPr>
            <a:spLocks noGrp="1"/>
          </p:cNvSpPr>
          <p:nvPr>
            <p:ph type="sldNum" sz="quarter" idx="5"/>
          </p:nvPr>
        </p:nvSpPr>
        <p:spPr/>
        <p:txBody>
          <a:bodyPr/>
          <a:lstStyle/>
          <a:p>
            <a:fld id="{725514F1-C4FE-45A3-933F-2251FDB89284}" type="slidenum">
              <a:rPr lang="fr-FR" smtClean="0"/>
              <a:t>22</a:t>
            </a:fld>
            <a:endParaRPr lang="fr-FR"/>
          </a:p>
        </p:txBody>
      </p:sp>
    </p:spTree>
    <p:extLst>
      <p:ext uri="{BB962C8B-B14F-4D97-AF65-F5344CB8AC3E}">
        <p14:creationId xmlns:p14="http://schemas.microsoft.com/office/powerpoint/2010/main" val="539168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fr-FR" sz="1200" b="0" i="0" kern="1200" dirty="0">
                <a:solidFill>
                  <a:schemeClr val="tx1"/>
                </a:solidFill>
                <a:effectLst/>
                <a:latin typeface="+mn-lt"/>
                <a:ea typeface="+mn-ea"/>
                <a:cs typeface="+mn-cs"/>
              </a:rPr>
              <a:t>comment, d’un côté, l’IA contribue à la cybersécurité ? Et, comment par ailleurs, elle fournit aux hackers des moyens de pirater les systèmes ?</a:t>
            </a:r>
          </a:p>
          <a:p>
            <a:pPr fontAlgn="base"/>
            <a:r>
              <a:rPr lang="fr-FR" sz="1200" b="0" i="0" kern="1200" dirty="0">
                <a:solidFill>
                  <a:schemeClr val="tx1"/>
                </a:solidFill>
                <a:effectLst/>
                <a:latin typeface="+mn-lt"/>
                <a:ea typeface="+mn-ea"/>
                <a:cs typeface="+mn-cs"/>
              </a:rPr>
              <a:t>Les moyens sont multiples :</a:t>
            </a:r>
          </a:p>
          <a:p>
            <a:pPr fontAlgn="base"/>
            <a:r>
              <a:rPr lang="fr-FR" sz="1200" b="0" i="0" kern="1200" dirty="0">
                <a:solidFill>
                  <a:schemeClr val="tx1"/>
                </a:solidFill>
                <a:effectLst/>
                <a:latin typeface="+mn-lt"/>
                <a:ea typeface="+mn-ea"/>
                <a:cs typeface="+mn-cs"/>
              </a:rPr>
              <a:t>détection des anomalies et des comportements suspects ;</a:t>
            </a:r>
          </a:p>
          <a:p>
            <a:pPr fontAlgn="base"/>
            <a:r>
              <a:rPr lang="fr-FR" sz="1200" b="0" i="0" kern="1200" dirty="0">
                <a:solidFill>
                  <a:schemeClr val="tx1"/>
                </a:solidFill>
                <a:effectLst/>
                <a:latin typeface="+mn-lt"/>
                <a:ea typeface="+mn-ea"/>
                <a:cs typeface="+mn-cs"/>
              </a:rPr>
              <a:t>analyse des menaces et automatisation de la réponse aux menaces, par exemple par la mise en quarantaine d’un ordinateur infecté ou la fermeture d’une connexion réseau suspecte ;</a:t>
            </a:r>
          </a:p>
          <a:p>
            <a:pPr fontAlgn="base"/>
            <a:r>
              <a:rPr lang="fr-FR" sz="1200" b="0" i="0" kern="1200" dirty="0">
                <a:solidFill>
                  <a:schemeClr val="tx1"/>
                </a:solidFill>
                <a:effectLst/>
                <a:latin typeface="+mn-lt"/>
                <a:ea typeface="+mn-ea"/>
                <a:cs typeface="+mn-cs"/>
              </a:rPr>
              <a:t>prévision des menaces ;</a:t>
            </a:r>
          </a:p>
          <a:p>
            <a:pPr fontAlgn="base"/>
            <a:r>
              <a:rPr lang="fr-FR" sz="1200" b="0" i="0" kern="1200" dirty="0">
                <a:solidFill>
                  <a:schemeClr val="tx1"/>
                </a:solidFill>
                <a:effectLst/>
                <a:latin typeface="+mn-lt"/>
                <a:ea typeface="+mn-ea"/>
                <a:cs typeface="+mn-cs"/>
              </a:rPr>
              <a:t>analyse et automatisation de la conformité aux réglementations et normes de sécurité en vigueur.</a:t>
            </a:r>
          </a:p>
          <a:p>
            <a:br>
              <a:rPr lang="fr-FR" dirty="0"/>
            </a:br>
            <a:endParaRPr lang="fr-FR" dirty="0"/>
          </a:p>
        </p:txBody>
      </p:sp>
      <p:sp>
        <p:nvSpPr>
          <p:cNvPr id="4" name="Slide Number Placeholder 3"/>
          <p:cNvSpPr>
            <a:spLocks noGrp="1"/>
          </p:cNvSpPr>
          <p:nvPr>
            <p:ph type="sldNum" sz="quarter" idx="5"/>
          </p:nvPr>
        </p:nvSpPr>
        <p:spPr/>
        <p:txBody>
          <a:bodyPr/>
          <a:lstStyle/>
          <a:p>
            <a:fld id="{725514F1-C4FE-45A3-933F-2251FDB89284}" type="slidenum">
              <a:rPr lang="fr-FR" smtClean="0"/>
              <a:t>26</a:t>
            </a:fld>
            <a:endParaRPr lang="fr-FR"/>
          </a:p>
        </p:txBody>
      </p:sp>
    </p:spTree>
    <p:extLst>
      <p:ext uri="{BB962C8B-B14F-4D97-AF65-F5344CB8AC3E}">
        <p14:creationId xmlns:p14="http://schemas.microsoft.com/office/powerpoint/2010/main" val="2300119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endParaRPr lang="fr-FR"/>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56C15529-6386-4BD9-9180-8EBC622499B0}" type="slidenum">
              <a:rPr lang="fr-FR" smtClean="0"/>
              <a:t>‹#›</a:t>
            </a:fld>
            <a:endParaRPr lang="fr-F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1404186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1327070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C15529-6386-4BD9-9180-8EBC622499B0}" type="slidenum">
              <a:rPr lang="fr-FR" smtClean="0"/>
              <a:t>‹#›</a:t>
            </a:fld>
            <a:endParaRPr lang="fr-F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47233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4123309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849115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1955976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4239869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2571970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3826909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1546069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C15529-6386-4BD9-9180-8EBC622499B0}" type="slidenum">
              <a:rPr lang="fr-FR" smtClean="0"/>
              <a:t>‹#›</a:t>
            </a:fld>
            <a:endParaRPr lang="fr-FR"/>
          </a:p>
        </p:txBody>
      </p:sp>
    </p:spTree>
    <p:extLst>
      <p:ext uri="{BB962C8B-B14F-4D97-AF65-F5344CB8AC3E}">
        <p14:creationId xmlns:p14="http://schemas.microsoft.com/office/powerpoint/2010/main" val="2859444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3992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073376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endParaRPr lang="fr-F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fr-F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56C15529-6386-4BD9-9180-8EBC622499B0}" type="slidenum">
              <a:rPr lang="fr-FR" smtClean="0"/>
              <a:t>‹#›</a:t>
            </a:fld>
            <a:endParaRPr lang="fr-FR"/>
          </a:p>
        </p:txBody>
      </p:sp>
    </p:spTree>
    <p:extLst>
      <p:ext uri="{BB962C8B-B14F-4D97-AF65-F5344CB8AC3E}">
        <p14:creationId xmlns:p14="http://schemas.microsoft.com/office/powerpoint/2010/main" val="749997239"/>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Lst>
  <p:hf hd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free-powerpoint-templates-design.com/"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041938">
              <a:alpha val="80000"/>
            </a:srgbClr>
          </a:solidFill>
          <a:ln/>
        </p:spPr>
      </p:sp>
      <p:sp>
        <p:nvSpPr>
          <p:cNvPr id="4" name="Text 1"/>
          <p:cNvSpPr/>
          <p:nvPr/>
        </p:nvSpPr>
        <p:spPr>
          <a:xfrm>
            <a:off x="719832" y="750218"/>
            <a:ext cx="10752336" cy="1928218"/>
          </a:xfrm>
          <a:prstGeom prst="rect">
            <a:avLst/>
          </a:prstGeom>
          <a:noFill/>
          <a:ln/>
        </p:spPr>
        <p:txBody>
          <a:bodyPr wrap="square" lIns="0" tIns="0" rIns="0" bIns="0" rtlCol="0" anchor="t"/>
          <a:lstStyle/>
          <a:p>
            <a:pPr algn="ctr">
              <a:lnSpc>
                <a:spcPts val="5041"/>
              </a:lnSpc>
            </a:pPr>
            <a:r>
              <a:rPr lang="en-US" sz="4042" dirty="0">
                <a:solidFill>
                  <a:srgbClr val="609DFF"/>
                </a:solidFill>
                <a:latin typeface="Merriweather" pitchFamily="34" charset="0"/>
                <a:ea typeface="Merriweather" pitchFamily="34" charset="-122"/>
                <a:cs typeface="Merriweather" pitchFamily="34" charset="-120"/>
              </a:rPr>
              <a:t>L’IA </a:t>
            </a:r>
            <a:r>
              <a:rPr lang="en-US" sz="4042" dirty="0">
                <a:solidFill>
                  <a:srgbClr val="F5F0F0"/>
                </a:solidFill>
                <a:latin typeface="Merriweather" pitchFamily="34" charset="0"/>
                <a:ea typeface="Merriweather" pitchFamily="34" charset="-122"/>
                <a:cs typeface="Merriweather" pitchFamily="34" charset="-120"/>
              </a:rPr>
              <a:t>ET LA CYBERSÉCURITÉ : DÉFENSE ET NOUVELLES MENACES</a:t>
            </a:r>
            <a:endParaRPr lang="en-US" sz="4042" dirty="0"/>
          </a:p>
        </p:txBody>
      </p:sp>
      <p:sp>
        <p:nvSpPr>
          <p:cNvPr id="6" name="TextBox 5">
            <a:hlinkClick r:id="rId3"/>
            <a:extLst>
              <a:ext uri="{FF2B5EF4-FFF2-40B4-BE49-F238E27FC236}">
                <a16:creationId xmlns:a16="http://schemas.microsoft.com/office/drawing/2014/main" id="{1681EEB4-0290-90A2-1F43-C750E8752E26}"/>
              </a:ext>
            </a:extLst>
          </p:cNvPr>
          <p:cNvSpPr txBox="1"/>
          <p:nvPr/>
        </p:nvSpPr>
        <p:spPr>
          <a:xfrm>
            <a:off x="2777855" y="6611779"/>
            <a:ext cx="5286101" cy="246221"/>
          </a:xfrm>
          <a:prstGeom prst="rect">
            <a:avLst/>
          </a:prstGeom>
          <a:noFill/>
        </p:spPr>
        <p:txBody>
          <a:bodyPr wrap="square" rtlCol="0" anchor="ctr">
            <a:spAutoFit/>
          </a:bodyPr>
          <a:lstStyle/>
          <a:p>
            <a:pPr algn="r"/>
            <a:r>
              <a:rPr lang="fr-FR" altLang="ko-KR" sz="1000" dirty="0">
                <a:solidFill>
                  <a:schemeClr val="bg1"/>
                </a:solidFill>
                <a:cs typeface="Arial" pitchFamily="34" charset="0"/>
              </a:rPr>
              <a:t>©2025 HELIOS Project. All </a:t>
            </a:r>
            <a:r>
              <a:rPr lang="fr-FR" altLang="ko-KR" sz="1000" dirty="0" err="1">
                <a:solidFill>
                  <a:schemeClr val="bg1"/>
                </a:solidFill>
                <a:cs typeface="Arial" pitchFamily="34" charset="0"/>
              </a:rPr>
              <a:t>Rights</a:t>
            </a:r>
            <a:r>
              <a:rPr lang="fr-FR" altLang="ko-KR" sz="1000" dirty="0">
                <a:solidFill>
                  <a:schemeClr val="bg1"/>
                </a:solidFill>
                <a:cs typeface="Arial" pitchFamily="34" charset="0"/>
              </a:rPr>
              <a:t> </a:t>
            </a:r>
            <a:r>
              <a:rPr lang="fr-FR" altLang="ko-KR" sz="1000" dirty="0" err="1">
                <a:solidFill>
                  <a:schemeClr val="bg1"/>
                </a:solidFill>
                <a:cs typeface="Arial" pitchFamily="34" charset="0"/>
              </a:rPr>
              <a:t>Reserved</a:t>
            </a:r>
            <a:endParaRPr lang="ko-KR" altLang="en-US" sz="1000" dirty="0">
              <a:solidFill>
                <a:schemeClr val="bg1"/>
              </a:solidFill>
              <a:cs typeface="Arial" pitchFamily="34" charset="0"/>
            </a:endParaRPr>
          </a:p>
        </p:txBody>
      </p:sp>
      <p:sp>
        <p:nvSpPr>
          <p:cNvPr id="7" name="TextBox 6">
            <a:extLst>
              <a:ext uri="{FF2B5EF4-FFF2-40B4-BE49-F238E27FC236}">
                <a16:creationId xmlns:a16="http://schemas.microsoft.com/office/drawing/2014/main" id="{7F6FC1DE-F288-C21D-B3A7-2D7B817A8AD0}"/>
              </a:ext>
            </a:extLst>
          </p:cNvPr>
          <p:cNvSpPr txBox="1"/>
          <p:nvPr/>
        </p:nvSpPr>
        <p:spPr>
          <a:xfrm>
            <a:off x="5201265" y="5715233"/>
            <a:ext cx="6952107" cy="369332"/>
          </a:xfrm>
          <a:prstGeom prst="rect">
            <a:avLst/>
          </a:prstGeom>
          <a:noFill/>
        </p:spPr>
        <p:txBody>
          <a:bodyPr wrap="square" rtlCol="0" anchor="ctr">
            <a:spAutoFit/>
          </a:bodyPr>
          <a:lstStyle/>
          <a:p>
            <a:pPr algn="r"/>
            <a:r>
              <a:rPr lang="fr-FR" b="1" dirty="0">
                <a:solidFill>
                  <a:schemeClr val="bg1"/>
                </a:solidFill>
                <a:latin typeface="+mj-lt"/>
              </a:rPr>
              <a:t>Présenté par le: </a:t>
            </a:r>
            <a:r>
              <a:rPr lang="fr-FR" b="1" noProof="0" dirty="0">
                <a:solidFill>
                  <a:schemeClr val="bg1"/>
                </a:solidFill>
                <a:latin typeface="+mj-lt"/>
              </a:rPr>
              <a:t> S/LT TCHATCHOUANG Larry Berlin</a:t>
            </a:r>
          </a:p>
        </p:txBody>
      </p:sp>
      <p:pic>
        <p:nvPicPr>
          <p:cNvPr id="8" name="Image 8">
            <a:extLst>
              <a:ext uri="{FF2B5EF4-FFF2-40B4-BE49-F238E27FC236}">
                <a16:creationId xmlns:a16="http://schemas.microsoft.com/office/drawing/2014/main" id="{22814429-CE4A-735E-EADC-943696FB1ED2}"/>
              </a:ext>
            </a:extLst>
          </p:cNvPr>
          <p:cNvPicPr>
            <a:picLocks noChangeAspect="1"/>
          </p:cNvPicPr>
          <p:nvPr/>
        </p:nvPicPr>
        <p:blipFill>
          <a:blip r:embed="rId4"/>
          <a:stretch>
            <a:fillRect/>
          </a:stretch>
        </p:blipFill>
        <p:spPr>
          <a:xfrm>
            <a:off x="86449" y="3205650"/>
            <a:ext cx="4020403" cy="3652350"/>
          </a:xfrm>
          <a:prstGeom prst="ellipse">
            <a:avLst/>
          </a:prstGeom>
          <a:ln>
            <a:noFill/>
          </a:ln>
          <a:effectLst>
            <a:softEdge rad="112500"/>
          </a:effectLst>
        </p:spPr>
      </p:pic>
      <p:pic>
        <p:nvPicPr>
          <p:cNvPr id="9" name="Image 25">
            <a:extLst>
              <a:ext uri="{FF2B5EF4-FFF2-40B4-BE49-F238E27FC236}">
                <a16:creationId xmlns:a16="http://schemas.microsoft.com/office/drawing/2014/main" id="{9C4FCC04-8389-8CEC-32B4-67E6463F0FBD}"/>
              </a:ext>
            </a:extLst>
          </p:cNvPr>
          <p:cNvPicPr>
            <a:picLocks noChangeAspect="1"/>
          </p:cNvPicPr>
          <p:nvPr/>
        </p:nvPicPr>
        <p:blipFill>
          <a:blip r:embed="rId5"/>
          <a:stretch>
            <a:fillRect/>
          </a:stretch>
        </p:blipFill>
        <p:spPr>
          <a:xfrm>
            <a:off x="2498713" y="3742385"/>
            <a:ext cx="935525" cy="1012053"/>
          </a:xfrm>
          <a:prstGeom prst="ellipse">
            <a:avLst/>
          </a:prstGeom>
          <a:ln>
            <a:noFill/>
          </a:ln>
          <a:effectLst>
            <a:softEdge rad="112500"/>
          </a:effectLst>
        </p:spPr>
      </p:pic>
      <p:pic>
        <p:nvPicPr>
          <p:cNvPr id="10" name="Image 26">
            <a:extLst>
              <a:ext uri="{FF2B5EF4-FFF2-40B4-BE49-F238E27FC236}">
                <a16:creationId xmlns:a16="http://schemas.microsoft.com/office/drawing/2014/main" id="{FED5BA9D-E008-84F3-7E88-AE7FA109DC85}"/>
              </a:ext>
            </a:extLst>
          </p:cNvPr>
          <p:cNvPicPr>
            <a:picLocks noChangeAspect="1"/>
          </p:cNvPicPr>
          <p:nvPr/>
        </p:nvPicPr>
        <p:blipFill>
          <a:blip r:embed="rId6"/>
          <a:stretch>
            <a:fillRect/>
          </a:stretch>
        </p:blipFill>
        <p:spPr>
          <a:xfrm>
            <a:off x="1058070" y="5291173"/>
            <a:ext cx="1908406" cy="1185826"/>
          </a:xfrm>
          <a:prstGeom prst="roundRect">
            <a:avLst>
              <a:gd name="adj" fmla="val 16667"/>
            </a:avLst>
          </a:prstGeom>
          <a:ln w="76200">
            <a:solidFill>
              <a:srgbClr val="FFFF00"/>
            </a:solidFill>
          </a:ln>
          <a:effectLst>
            <a:outerShdw blurRad="152400" dist="12000" dir="900000" sy="98000" kx="110000" ky="200000" algn="tl" rotWithShape="0">
              <a:srgbClr val="000000">
                <a:alpha val="30000"/>
              </a:srgbClr>
            </a:outerShdw>
          </a:effectLst>
          <a:scene3d>
            <a:camera prst="isometricOffAxis2Top"/>
            <a:lightRig rig="threePt" dir="t"/>
          </a:scene3d>
          <a:sp3d contourW="6350" prstMaterial="matte">
            <a:bevelT w="101600" h="101600"/>
            <a:contourClr>
              <a:srgbClr val="969696"/>
            </a:contourClr>
          </a:sp3d>
        </p:spPr>
      </p:pic>
      <p:sp>
        <p:nvSpPr>
          <p:cNvPr id="13" name="Rectangle 12">
            <a:extLst>
              <a:ext uri="{FF2B5EF4-FFF2-40B4-BE49-F238E27FC236}">
                <a16:creationId xmlns:a16="http://schemas.microsoft.com/office/drawing/2014/main" id="{9CD50C83-E1F0-8838-10AD-8DAB9407BC0A}"/>
              </a:ext>
            </a:extLst>
          </p:cNvPr>
          <p:cNvSpPr/>
          <p:nvPr/>
        </p:nvSpPr>
        <p:spPr>
          <a:xfrm rot="469173">
            <a:off x="2427259" y="3705511"/>
            <a:ext cx="1078432" cy="1135120"/>
          </a:xfrm>
          <a:prstGeom prst="rect">
            <a:avLst/>
          </a:prstGeom>
        </p:spPr>
        <p:txBody>
          <a:bodyPr wrap="square">
            <a:prstTxWarp prst="textCircle">
              <a:avLst/>
            </a:prstTxWarp>
            <a:spAutoFit/>
          </a:bodyPr>
          <a:lstStyle/>
          <a:p>
            <a:pPr lvl="0" eaLnBrk="0" fontAlgn="base" hangingPunct="0">
              <a:spcBef>
                <a:spcPct val="0"/>
              </a:spcBef>
              <a:spcAft>
                <a:spcPct val="0"/>
              </a:spcAft>
            </a:pPr>
            <a:r>
              <a:rPr lang="fr-FR" altLang="fr-FR" sz="4800" b="1" spc="50" dirty="0">
                <a:ln w="9525" cmpd="sng">
                  <a:solidFill>
                    <a:schemeClr val="accent1"/>
                  </a:solidFill>
                  <a:prstDash val="solid"/>
                </a:ln>
                <a:solidFill>
                  <a:srgbClr val="FF0000"/>
                </a:solidFill>
                <a:effectLst>
                  <a:glow rad="38100">
                    <a:schemeClr val="accent1">
                      <a:alpha val="40000"/>
                    </a:schemeClr>
                  </a:glow>
                </a:effectLst>
                <a:latin typeface="Verdana" panose="020B0604030504040204" pitchFamily="34" charset="0"/>
                <a:ea typeface="Verdana" panose="020B0604030504040204" pitchFamily="34" charset="0"/>
              </a:rPr>
              <a:t>LET'S SHINE HELIOS C4I  </a:t>
            </a:r>
          </a:p>
        </p:txBody>
      </p:sp>
      <p:sp>
        <p:nvSpPr>
          <p:cNvPr id="2" name="Footer Placeholder 1">
            <a:extLst>
              <a:ext uri="{FF2B5EF4-FFF2-40B4-BE49-F238E27FC236}">
                <a16:creationId xmlns:a16="http://schemas.microsoft.com/office/drawing/2014/main" id="{51D02BF5-3913-66D6-A7C1-287423A6A210}"/>
              </a:ext>
            </a:extLst>
          </p:cNvPr>
          <p:cNvSpPr txBox="1">
            <a:spLocks/>
          </p:cNvSpPr>
          <p:nvPr/>
        </p:nvSpPr>
        <p:spPr>
          <a:xfrm>
            <a:off x="0" y="0"/>
            <a:ext cx="1137637" cy="26581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1100" dirty="0">
                <a:solidFill>
                  <a:schemeClr val="bg1"/>
                </a:solidFill>
              </a:rPr>
              <a:t>62é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hold" nodeType="withEffect">
                                  <p:stCondLst>
                                    <p:cond delay="0"/>
                                  </p:stCondLst>
                                  <p:childTnLst>
                                    <p:animScale>
                                      <p:cBhvr>
                                        <p:cTn id="6" dur="2000" fill="hold"/>
                                        <p:tgtEl>
                                          <p:spTgt spid="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3A478B-A1F1-49D4-4666-F58E1657194F}"/>
              </a:ext>
            </a:extLst>
          </p:cNvPr>
          <p:cNvSpPr txBox="1"/>
          <p:nvPr/>
        </p:nvSpPr>
        <p:spPr>
          <a:xfrm>
            <a:off x="757084" y="995205"/>
            <a:ext cx="6096000" cy="584775"/>
          </a:xfrm>
          <a:prstGeom prst="rect">
            <a:avLst/>
          </a:prstGeom>
          <a:noFill/>
        </p:spPr>
        <p:txBody>
          <a:bodyPr wrap="square">
            <a:spAutoFit/>
          </a:bodyPr>
          <a:lstStyle/>
          <a:p>
            <a:r>
              <a:rPr lang="fr-FR" sz="3200" dirty="0"/>
              <a:t>IDEE MAITRESSE</a:t>
            </a:r>
          </a:p>
        </p:txBody>
      </p:sp>
      <p:sp>
        <p:nvSpPr>
          <p:cNvPr id="6" name="Content Placeholder 2">
            <a:extLst>
              <a:ext uri="{FF2B5EF4-FFF2-40B4-BE49-F238E27FC236}">
                <a16:creationId xmlns:a16="http://schemas.microsoft.com/office/drawing/2014/main" id="{233023C9-7253-3300-223B-B9C266E15C27}"/>
              </a:ext>
            </a:extLst>
          </p:cNvPr>
          <p:cNvSpPr txBox="1">
            <a:spLocks/>
          </p:cNvSpPr>
          <p:nvPr/>
        </p:nvSpPr>
        <p:spPr>
          <a:xfrm>
            <a:off x="757084" y="2064775"/>
            <a:ext cx="9940413" cy="3726426"/>
          </a:xfrm>
          <a:prstGeom prst="rect">
            <a:avLst/>
          </a:prstGeom>
        </p:spPr>
        <p:txBody>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lgn="just">
              <a:buFont typeface="Arial"/>
              <a:buNone/>
            </a:pPr>
            <a:r>
              <a:rPr lang="fr-FR" sz="2400" dirty="0">
                <a:latin typeface="Times New Roman" panose="02020603050405020304" pitchFamily="18" charset="0"/>
                <a:cs typeface="Times New Roman" panose="02020603050405020304" pitchFamily="18" charset="0"/>
              </a:rPr>
              <a:t>L’intelligence artificielle est à la fois un bouclier et une épée dans le cyberespace : elle renforce nos capacités de défense grâce à l’automatisation et à la détection proactive des menaces, mais elle donne aussi naissance à de nouvelles attaques plus rapides, furtives et difficiles à contrer. </a:t>
            </a:r>
          </a:p>
        </p:txBody>
      </p:sp>
      <p:sp>
        <p:nvSpPr>
          <p:cNvPr id="2" name="Footer Placeholder 1">
            <a:extLst>
              <a:ext uri="{FF2B5EF4-FFF2-40B4-BE49-F238E27FC236}">
                <a16:creationId xmlns:a16="http://schemas.microsoft.com/office/drawing/2014/main" id="{184574B2-3521-A351-6FB1-E1F8152F49E4}"/>
              </a:ext>
            </a:extLst>
          </p:cNvPr>
          <p:cNvSpPr txBox="1">
            <a:spLocks/>
          </p:cNvSpPr>
          <p:nvPr/>
        </p:nvSpPr>
        <p:spPr>
          <a:xfrm rot="16200000">
            <a:off x="9959341" y="4046537"/>
            <a:ext cx="35814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1200" dirty="0">
                <a:solidFill>
                  <a:schemeClr val="bg1"/>
                </a:solidFill>
              </a:rPr>
              <a:t>62é</a:t>
            </a:r>
            <a:r>
              <a:rPr lang="fr-FR" sz="1400" dirty="0">
                <a:solidFill>
                  <a:schemeClr val="bg1"/>
                </a:solidFill>
              </a:rPr>
              <a:t> EDITION</a:t>
            </a:r>
          </a:p>
        </p:txBody>
      </p:sp>
    </p:spTree>
    <p:extLst>
      <p:ext uri="{BB962C8B-B14F-4D97-AF65-F5344CB8AC3E}">
        <p14:creationId xmlns:p14="http://schemas.microsoft.com/office/powerpoint/2010/main" val="349072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E554D1-BB88-7FFE-A866-44BC9D40BB0D}"/>
              </a:ext>
            </a:extLst>
          </p:cNvPr>
          <p:cNvSpPr>
            <a:spLocks noGrp="1"/>
          </p:cNvSpPr>
          <p:nvPr>
            <p:ph idx="1"/>
          </p:nvPr>
        </p:nvSpPr>
        <p:spPr>
          <a:xfrm>
            <a:off x="4360361" y="934065"/>
            <a:ext cx="6803479" cy="3726426"/>
          </a:xfrm>
        </p:spPr>
        <p:txBody>
          <a:bodyPr>
            <a:normAutofit/>
          </a:bodyPr>
          <a:lstStyle/>
          <a:p>
            <a:pPr marL="0" indent="0">
              <a:buNone/>
            </a:pPr>
            <a:r>
              <a:rPr lang="fr-FR" sz="2400" dirty="0">
                <a:latin typeface="Times New Roman" panose="02020603050405020304" pitchFamily="18" charset="0"/>
                <a:cs typeface="Times New Roman" panose="02020603050405020304" pitchFamily="18" charset="0"/>
              </a:rPr>
              <a:t>I- </a:t>
            </a:r>
            <a:r>
              <a:rPr lang="fr-FR" sz="2400" dirty="0"/>
              <a:t>Fondamentaux du Machine </a:t>
            </a:r>
            <a:r>
              <a:rPr lang="fr-FR" sz="2400" dirty="0" err="1"/>
              <a:t>Learning</a:t>
            </a:r>
            <a:r>
              <a:rPr lang="fr-FR" sz="2400" dirty="0" err="1">
                <a:latin typeface="Times New Roman" panose="02020603050405020304" pitchFamily="18" charset="0"/>
                <a:cs typeface="Times New Roman" panose="02020603050405020304" pitchFamily="18" charset="0"/>
              </a:rPr>
              <a:t>I</a:t>
            </a:r>
            <a:endParaRPr lang="fr-FR" sz="2400" dirty="0">
              <a:latin typeface="Times New Roman" panose="02020603050405020304" pitchFamily="18" charset="0"/>
              <a:cs typeface="Times New Roman" panose="02020603050405020304" pitchFamily="18" charset="0"/>
            </a:endParaRPr>
          </a:p>
          <a:p>
            <a:pPr marL="0" indent="0">
              <a:buNone/>
            </a:pPr>
            <a:r>
              <a:rPr lang="fr-FR" sz="2400" dirty="0">
                <a:latin typeface="Times New Roman" panose="02020603050405020304" pitchFamily="18" charset="0"/>
                <a:cs typeface="Times New Roman" panose="02020603050405020304" pitchFamily="18" charset="0"/>
              </a:rPr>
              <a:t>II- </a:t>
            </a:r>
            <a:r>
              <a:rPr lang="fr-FR" sz="2400" dirty="0"/>
              <a:t>L’IA pour la Défense Active (Blue Team)</a:t>
            </a:r>
          </a:p>
          <a:p>
            <a:pPr marL="0" indent="0">
              <a:buNone/>
            </a:pPr>
            <a:r>
              <a:rPr lang="fr-FR" sz="2400" dirty="0">
                <a:latin typeface="Times New Roman" panose="02020603050405020304" pitchFamily="18" charset="0"/>
                <a:cs typeface="Times New Roman" panose="02020603050405020304" pitchFamily="18" charset="0"/>
              </a:rPr>
              <a:t>III- </a:t>
            </a:r>
            <a:r>
              <a:rPr lang="fr-FR" sz="2400" dirty="0"/>
              <a:t>L'IA comme Vecteur d'Attaque (Red Team)</a:t>
            </a:r>
          </a:p>
          <a:p>
            <a:pPr marL="0" indent="0">
              <a:buNone/>
            </a:pPr>
            <a:r>
              <a:rPr lang="fr-FR" sz="2400" dirty="0">
                <a:latin typeface="Times New Roman" panose="02020603050405020304" pitchFamily="18" charset="0"/>
                <a:cs typeface="Times New Roman" panose="02020603050405020304" pitchFamily="18" charset="0"/>
              </a:rPr>
              <a:t>V- Les nouvelles menaces alimentées par l’IA </a:t>
            </a:r>
          </a:p>
          <a:p>
            <a:pPr marL="0" indent="0">
              <a:buNone/>
            </a:pPr>
            <a:r>
              <a:rPr lang="fr-FR" sz="2400" dirty="0">
                <a:latin typeface="Times New Roman" panose="02020603050405020304" pitchFamily="18" charset="0"/>
                <a:cs typeface="Times New Roman" panose="02020603050405020304" pitchFamily="18" charset="0"/>
              </a:rPr>
              <a:t>VI- limites et Défis actuels </a:t>
            </a:r>
          </a:p>
          <a:p>
            <a:pPr marL="0" indent="0">
              <a:buNone/>
            </a:pPr>
            <a:r>
              <a:rPr lang="fr-FR" sz="2400" dirty="0">
                <a:latin typeface="Times New Roman" panose="02020603050405020304" pitchFamily="18" charset="0"/>
                <a:cs typeface="Times New Roman" panose="02020603050405020304" pitchFamily="18" charset="0"/>
              </a:rPr>
              <a:t>VII- Perspectives d'avenir et recommandations </a:t>
            </a:r>
          </a:p>
        </p:txBody>
      </p:sp>
      <p:pic>
        <p:nvPicPr>
          <p:cNvPr id="7170" name="Picture 2" descr="Présentation De Plan De Seo De L'homme 3d Illustration Stock - Illustration  du construction, marionnette: 30625711">
            <a:extLst>
              <a:ext uri="{FF2B5EF4-FFF2-40B4-BE49-F238E27FC236}">
                <a16:creationId xmlns:a16="http://schemas.microsoft.com/office/drawing/2014/main" id="{57A2B7CC-0C23-BEAA-D910-7177C9A15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734" y="1607855"/>
            <a:ext cx="3770671" cy="514718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F23094A6-A2C8-50DE-D93F-1AADE5C11197}"/>
              </a:ext>
            </a:extLst>
          </p:cNvPr>
          <p:cNvSpPr>
            <a:spLocks noGrp="1"/>
          </p:cNvSpPr>
          <p:nvPr>
            <p:ph type="ftr" sz="quarter" idx="11"/>
          </p:nvPr>
        </p:nvSpPr>
        <p:spPr/>
        <p:txBody>
          <a:bodyPr/>
          <a:lstStyle/>
          <a:p>
            <a:r>
              <a:rPr lang="fr-FR" dirty="0">
                <a:solidFill>
                  <a:schemeClr val="bg1"/>
                </a:solidFill>
              </a:rPr>
              <a:t>62é EDITION</a:t>
            </a:r>
          </a:p>
        </p:txBody>
      </p:sp>
      <p:sp>
        <p:nvSpPr>
          <p:cNvPr id="4" name="Slide Number Placeholder 3">
            <a:extLst>
              <a:ext uri="{FF2B5EF4-FFF2-40B4-BE49-F238E27FC236}">
                <a16:creationId xmlns:a16="http://schemas.microsoft.com/office/drawing/2014/main" id="{FD24F3F3-679B-3DB7-40CA-8656FD73635A}"/>
              </a:ext>
            </a:extLst>
          </p:cNvPr>
          <p:cNvSpPr>
            <a:spLocks noGrp="1"/>
          </p:cNvSpPr>
          <p:nvPr>
            <p:ph type="sldNum" sz="quarter" idx="12"/>
          </p:nvPr>
        </p:nvSpPr>
        <p:spPr/>
        <p:txBody>
          <a:bodyPr>
            <a:normAutofit lnSpcReduction="10000"/>
          </a:bodyPr>
          <a:lstStyle/>
          <a:p>
            <a:fld id="{56C15529-6386-4BD9-9180-8EBC622499B0}" type="slidenum">
              <a:rPr lang="fr-FR" smtClean="0"/>
              <a:t>3</a:t>
            </a:fld>
            <a:endParaRPr lang="fr-FR"/>
          </a:p>
        </p:txBody>
      </p:sp>
    </p:spTree>
    <p:extLst>
      <p:ext uri="{BB962C8B-B14F-4D97-AF65-F5344CB8AC3E}">
        <p14:creationId xmlns:p14="http://schemas.microsoft.com/office/powerpoint/2010/main" val="4264717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E2C3A-C9C1-6857-27FB-6284B85D0257}"/>
              </a:ext>
            </a:extLst>
          </p:cNvPr>
          <p:cNvSpPr>
            <a:spLocks noGrp="1"/>
          </p:cNvSpPr>
          <p:nvPr>
            <p:ph type="title"/>
          </p:nvPr>
        </p:nvSpPr>
        <p:spPr>
          <a:xfrm>
            <a:off x="1208777" y="560438"/>
            <a:ext cx="8701549" cy="737593"/>
          </a:xfrm>
        </p:spPr>
        <p:txBody>
          <a:bodyPr>
            <a:noAutofit/>
          </a:bodyPr>
          <a:lstStyle/>
          <a:p>
            <a:r>
              <a:rPr lang="fr-FR" sz="3600" dirty="0"/>
              <a:t>I- Fondamentaux du Machine Learning</a:t>
            </a:r>
          </a:p>
        </p:txBody>
      </p:sp>
      <p:sp>
        <p:nvSpPr>
          <p:cNvPr id="3" name="Content Placeholder 2">
            <a:extLst>
              <a:ext uri="{FF2B5EF4-FFF2-40B4-BE49-F238E27FC236}">
                <a16:creationId xmlns:a16="http://schemas.microsoft.com/office/drawing/2014/main" id="{2A9CA707-0ABD-08B9-D0EC-5E10C6E879A2}"/>
              </a:ext>
            </a:extLst>
          </p:cNvPr>
          <p:cNvSpPr>
            <a:spLocks noGrp="1"/>
          </p:cNvSpPr>
          <p:nvPr>
            <p:ph idx="1"/>
          </p:nvPr>
        </p:nvSpPr>
        <p:spPr/>
        <p:txBody>
          <a:bodyPr/>
          <a:lstStyle/>
          <a:p>
            <a:pPr marL="0" indent="0" algn="just">
              <a:lnSpc>
                <a:spcPct val="150000"/>
              </a:lnSpc>
              <a:buNone/>
            </a:pPr>
            <a:r>
              <a:rPr lang="fr-FR" dirty="0"/>
              <a:t>Le Machine Learning (apprentissage automatique) est une branche de l’intelligence artificielle qui permet aux systèmes informatiques </a:t>
            </a:r>
            <a:r>
              <a:rPr lang="fr-FR" b="1" dirty="0"/>
              <a:t>d’apprendre à partir de données</a:t>
            </a:r>
            <a:r>
              <a:rPr lang="fr-FR" dirty="0"/>
              <a:t> plutôt que d’être explicitement programmés. Son principe repose sur l’idée que, plus un modèle est exposé à des exemples, plus il devient capable de </a:t>
            </a:r>
            <a:r>
              <a:rPr lang="fr-FR" b="1" dirty="0"/>
              <a:t>reconnaître des schémas</a:t>
            </a:r>
            <a:r>
              <a:rPr lang="fr-FR" dirty="0"/>
              <a:t>, de </a:t>
            </a:r>
            <a:r>
              <a:rPr lang="fr-FR" b="1" dirty="0"/>
              <a:t>faire des prédictions</a:t>
            </a:r>
            <a:r>
              <a:rPr lang="fr-FR" dirty="0"/>
              <a:t> et de </a:t>
            </a:r>
            <a:r>
              <a:rPr lang="fr-FR" b="1" dirty="0"/>
              <a:t>prendre des décisions</a:t>
            </a:r>
            <a:r>
              <a:rPr lang="fr-FR" dirty="0"/>
              <a:t>.</a:t>
            </a:r>
          </a:p>
        </p:txBody>
      </p:sp>
      <p:sp>
        <p:nvSpPr>
          <p:cNvPr id="5" name="Slide Number Placeholder 4">
            <a:extLst>
              <a:ext uri="{FF2B5EF4-FFF2-40B4-BE49-F238E27FC236}">
                <a16:creationId xmlns:a16="http://schemas.microsoft.com/office/drawing/2014/main" id="{624AB099-724B-0FB4-F186-D92185F92D3F}"/>
              </a:ext>
            </a:extLst>
          </p:cNvPr>
          <p:cNvSpPr>
            <a:spLocks noGrp="1"/>
          </p:cNvSpPr>
          <p:nvPr>
            <p:ph type="sldNum" sz="quarter" idx="12"/>
          </p:nvPr>
        </p:nvSpPr>
        <p:spPr/>
        <p:txBody>
          <a:bodyPr>
            <a:normAutofit lnSpcReduction="10000"/>
          </a:bodyPr>
          <a:lstStyle/>
          <a:p>
            <a:fld id="{56C15529-6386-4BD9-9180-8EBC622499B0}" type="slidenum">
              <a:rPr lang="fr-FR" smtClean="0"/>
              <a:t>4</a:t>
            </a:fld>
            <a:endParaRPr lang="fr-FR"/>
          </a:p>
        </p:txBody>
      </p:sp>
      <p:sp>
        <p:nvSpPr>
          <p:cNvPr id="6" name="Footer Placeholder 1">
            <a:extLst>
              <a:ext uri="{FF2B5EF4-FFF2-40B4-BE49-F238E27FC236}">
                <a16:creationId xmlns:a16="http://schemas.microsoft.com/office/drawing/2014/main" id="{CEE2A2E9-CF25-0039-2902-0177E09A4C65}"/>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2746392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AEBE5-A4AB-3F1E-596C-F2BBB12044F1}"/>
              </a:ext>
            </a:extLst>
          </p:cNvPr>
          <p:cNvSpPr>
            <a:spLocks noGrp="1"/>
          </p:cNvSpPr>
          <p:nvPr>
            <p:ph type="title"/>
          </p:nvPr>
        </p:nvSpPr>
        <p:spPr>
          <a:xfrm>
            <a:off x="2174600" y="354350"/>
            <a:ext cx="7842799" cy="796587"/>
          </a:xfrm>
        </p:spPr>
        <p:txBody>
          <a:bodyPr>
            <a:normAutofit/>
          </a:bodyPr>
          <a:lstStyle/>
          <a:p>
            <a:r>
              <a:rPr lang="fr-FR" sz="4000" dirty="0"/>
              <a:t>1- </a:t>
            </a:r>
            <a:r>
              <a:rPr lang="fr-FR" sz="4000" b="1" dirty="0"/>
              <a:t>Apprentissage supervisé</a:t>
            </a:r>
            <a:r>
              <a:rPr lang="fr-FR" sz="4000" dirty="0"/>
              <a:t> </a:t>
            </a:r>
          </a:p>
        </p:txBody>
      </p:sp>
      <p:sp>
        <p:nvSpPr>
          <p:cNvPr id="8" name="Content Placeholder 7">
            <a:extLst>
              <a:ext uri="{FF2B5EF4-FFF2-40B4-BE49-F238E27FC236}">
                <a16:creationId xmlns:a16="http://schemas.microsoft.com/office/drawing/2014/main" id="{7B90AC11-DC58-D519-E097-D1144F023D9E}"/>
              </a:ext>
            </a:extLst>
          </p:cNvPr>
          <p:cNvSpPr>
            <a:spLocks noGrp="1"/>
          </p:cNvSpPr>
          <p:nvPr>
            <p:ph idx="1"/>
          </p:nvPr>
        </p:nvSpPr>
        <p:spPr>
          <a:xfrm>
            <a:off x="1183213" y="1484671"/>
            <a:ext cx="9150489" cy="4351337"/>
          </a:xfrm>
        </p:spPr>
        <p:txBody>
          <a:bodyPr/>
          <a:lstStyle/>
          <a:p>
            <a:pPr marL="0" indent="0" algn="just">
              <a:buNone/>
            </a:pPr>
            <a:r>
              <a:rPr lang="fr-FR" dirty="0"/>
              <a:t>L’apprentissage supervisé est fait en utilisant une </a:t>
            </a:r>
            <a:r>
              <a:rPr lang="fr-FR" b="1" dirty="0"/>
              <a:t>vérité</a:t>
            </a:r>
            <a:r>
              <a:rPr lang="fr-FR" dirty="0"/>
              <a:t>, c’est-à-dire qu'on a une connaissance préalable de ce que les valeurs de sortie pour nos échantillons devraient être. Par conséquent, le but de ce type d'apprentissage est d’apprendre une fonction qui, compte tenu d’un échantillon de données et de résultats souhaités, se rapproche le mieux de la relation entre les entrées et les sorties observables dans les données.</a:t>
            </a:r>
          </a:p>
        </p:txBody>
      </p:sp>
      <p:pic>
        <p:nvPicPr>
          <p:cNvPr id="10" name="Picture 9">
            <a:extLst>
              <a:ext uri="{FF2B5EF4-FFF2-40B4-BE49-F238E27FC236}">
                <a16:creationId xmlns:a16="http://schemas.microsoft.com/office/drawing/2014/main" id="{B0D04B24-AA40-CF32-D367-7F30C261FC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6265" y="3097734"/>
            <a:ext cx="7692071" cy="3405916"/>
          </a:xfrm>
          <a:prstGeom prst="rect">
            <a:avLst/>
          </a:prstGeom>
        </p:spPr>
      </p:pic>
      <p:sp>
        <p:nvSpPr>
          <p:cNvPr id="4" name="Slide Number Placeholder 3">
            <a:extLst>
              <a:ext uri="{FF2B5EF4-FFF2-40B4-BE49-F238E27FC236}">
                <a16:creationId xmlns:a16="http://schemas.microsoft.com/office/drawing/2014/main" id="{FA346164-3C0A-F986-C596-FC1F8B4D8DF3}"/>
              </a:ext>
            </a:extLst>
          </p:cNvPr>
          <p:cNvSpPr>
            <a:spLocks noGrp="1"/>
          </p:cNvSpPr>
          <p:nvPr>
            <p:ph type="sldNum" sz="quarter" idx="12"/>
          </p:nvPr>
        </p:nvSpPr>
        <p:spPr/>
        <p:txBody>
          <a:bodyPr>
            <a:normAutofit lnSpcReduction="10000"/>
          </a:bodyPr>
          <a:lstStyle/>
          <a:p>
            <a:fld id="{56C15529-6386-4BD9-9180-8EBC622499B0}" type="slidenum">
              <a:rPr lang="fr-FR" smtClean="0"/>
              <a:t>5</a:t>
            </a:fld>
            <a:endParaRPr lang="fr-FR"/>
          </a:p>
        </p:txBody>
      </p:sp>
      <p:sp>
        <p:nvSpPr>
          <p:cNvPr id="5" name="Footer Placeholder 1">
            <a:extLst>
              <a:ext uri="{FF2B5EF4-FFF2-40B4-BE49-F238E27FC236}">
                <a16:creationId xmlns:a16="http://schemas.microsoft.com/office/drawing/2014/main" id="{71257711-44BD-A8F7-4C16-DFC2CDBC3C96}"/>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389625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1B0FA-4906-C33F-5A9F-FC6783E78B90}"/>
              </a:ext>
            </a:extLst>
          </p:cNvPr>
          <p:cNvSpPr>
            <a:spLocks noGrp="1"/>
          </p:cNvSpPr>
          <p:nvPr>
            <p:ph type="title"/>
          </p:nvPr>
        </p:nvSpPr>
        <p:spPr>
          <a:xfrm>
            <a:off x="1839714" y="314069"/>
            <a:ext cx="7439676" cy="727587"/>
          </a:xfrm>
        </p:spPr>
        <p:txBody>
          <a:bodyPr>
            <a:normAutofit/>
          </a:bodyPr>
          <a:lstStyle/>
          <a:p>
            <a:r>
              <a:rPr lang="fr-FR" sz="3200" b="1" dirty="0"/>
              <a:t>2- Apprentissage non supervisé</a:t>
            </a:r>
            <a:r>
              <a:rPr lang="fr-FR" sz="3200" dirty="0"/>
              <a:t> </a:t>
            </a:r>
          </a:p>
        </p:txBody>
      </p:sp>
      <p:sp>
        <p:nvSpPr>
          <p:cNvPr id="3" name="Content Placeholder 2">
            <a:extLst>
              <a:ext uri="{FF2B5EF4-FFF2-40B4-BE49-F238E27FC236}">
                <a16:creationId xmlns:a16="http://schemas.microsoft.com/office/drawing/2014/main" id="{24A0C20A-2A43-115C-BBF1-7FE65CEEA893}"/>
              </a:ext>
            </a:extLst>
          </p:cNvPr>
          <p:cNvSpPr>
            <a:spLocks noGrp="1"/>
          </p:cNvSpPr>
          <p:nvPr>
            <p:ph idx="1"/>
          </p:nvPr>
        </p:nvSpPr>
        <p:spPr>
          <a:xfrm>
            <a:off x="809588" y="1189704"/>
            <a:ext cx="9543780" cy="4626640"/>
          </a:xfrm>
        </p:spPr>
        <p:txBody>
          <a:bodyPr/>
          <a:lstStyle/>
          <a:p>
            <a:pPr marL="0" indent="0" algn="just">
              <a:buNone/>
            </a:pPr>
            <a:r>
              <a:rPr lang="fr-FR" dirty="0"/>
              <a:t>Les algorithmes d’apprentissage automatique non supervisés sont utilisés lorsque l’information utilisée pour entraîner le modèle </a:t>
            </a:r>
            <a:r>
              <a:rPr lang="fr-FR" b="1" dirty="0"/>
              <a:t>n’est ni classifiée ni étiquetée</a:t>
            </a:r>
            <a:r>
              <a:rPr lang="fr-FR" dirty="0"/>
              <a:t>. Le modèle en question étudie ses données d'entrainement dans le but de </a:t>
            </a:r>
            <a:r>
              <a:rPr lang="fr-FR" b="1" dirty="0"/>
              <a:t>déduire une fonction pour décrire une structure cachée</a:t>
            </a:r>
            <a:r>
              <a:rPr lang="fr-FR" dirty="0"/>
              <a:t> à partir ces données. À aucun moment le système ne connaît la sortie correcte avec certitude. Au lieu de cela, il tire des inférences des ensembles de données quant à ce que la sortie devrait être.</a:t>
            </a:r>
          </a:p>
        </p:txBody>
      </p:sp>
      <p:pic>
        <p:nvPicPr>
          <p:cNvPr id="5" name="Picture 4">
            <a:extLst>
              <a:ext uri="{FF2B5EF4-FFF2-40B4-BE49-F238E27FC236}">
                <a16:creationId xmlns:a16="http://schemas.microsoft.com/office/drawing/2014/main" id="{FFE01347-6F4A-578F-AB4C-2D53555AB2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7123" y="3063235"/>
            <a:ext cx="8052619" cy="2901157"/>
          </a:xfrm>
          <a:prstGeom prst="rect">
            <a:avLst/>
          </a:prstGeom>
        </p:spPr>
      </p:pic>
      <p:sp>
        <p:nvSpPr>
          <p:cNvPr id="6" name="Slide Number Placeholder 5">
            <a:extLst>
              <a:ext uri="{FF2B5EF4-FFF2-40B4-BE49-F238E27FC236}">
                <a16:creationId xmlns:a16="http://schemas.microsoft.com/office/drawing/2014/main" id="{F6411C7F-3E15-859E-3BEB-BF5FDE9FA6B1}"/>
              </a:ext>
            </a:extLst>
          </p:cNvPr>
          <p:cNvSpPr>
            <a:spLocks noGrp="1"/>
          </p:cNvSpPr>
          <p:nvPr>
            <p:ph type="sldNum" sz="quarter" idx="12"/>
          </p:nvPr>
        </p:nvSpPr>
        <p:spPr/>
        <p:txBody>
          <a:bodyPr>
            <a:normAutofit lnSpcReduction="10000"/>
          </a:bodyPr>
          <a:lstStyle/>
          <a:p>
            <a:fld id="{56C15529-6386-4BD9-9180-8EBC622499B0}" type="slidenum">
              <a:rPr lang="fr-FR" smtClean="0"/>
              <a:t>6</a:t>
            </a:fld>
            <a:endParaRPr lang="fr-FR"/>
          </a:p>
        </p:txBody>
      </p:sp>
      <p:sp>
        <p:nvSpPr>
          <p:cNvPr id="7" name="Footer Placeholder 1">
            <a:extLst>
              <a:ext uri="{FF2B5EF4-FFF2-40B4-BE49-F238E27FC236}">
                <a16:creationId xmlns:a16="http://schemas.microsoft.com/office/drawing/2014/main" id="{C4272A92-FDB9-2071-621B-00F9DDA01771}"/>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312769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CE70A-9BE3-99E7-CC60-0A82F8683D5A}"/>
              </a:ext>
            </a:extLst>
          </p:cNvPr>
          <p:cNvSpPr>
            <a:spLocks noGrp="1"/>
          </p:cNvSpPr>
          <p:nvPr>
            <p:ph type="title"/>
          </p:nvPr>
        </p:nvSpPr>
        <p:spPr>
          <a:xfrm>
            <a:off x="1588990" y="776747"/>
            <a:ext cx="7980451" cy="570445"/>
          </a:xfrm>
        </p:spPr>
        <p:txBody>
          <a:bodyPr>
            <a:normAutofit/>
          </a:bodyPr>
          <a:lstStyle/>
          <a:p>
            <a:r>
              <a:rPr lang="fr-FR" sz="3200" b="1" dirty="0"/>
              <a:t>3- L'apprentissage par renforcement</a:t>
            </a:r>
            <a:endParaRPr lang="fr-FR" sz="3200" dirty="0"/>
          </a:p>
        </p:txBody>
      </p:sp>
      <p:sp>
        <p:nvSpPr>
          <p:cNvPr id="3" name="Content Placeholder 2">
            <a:extLst>
              <a:ext uri="{FF2B5EF4-FFF2-40B4-BE49-F238E27FC236}">
                <a16:creationId xmlns:a16="http://schemas.microsoft.com/office/drawing/2014/main" id="{20658260-7752-6175-BA66-1343893370A2}"/>
              </a:ext>
            </a:extLst>
          </p:cNvPr>
          <p:cNvSpPr>
            <a:spLocks noGrp="1"/>
          </p:cNvSpPr>
          <p:nvPr>
            <p:ph idx="1"/>
          </p:nvPr>
        </p:nvSpPr>
        <p:spPr>
          <a:xfrm>
            <a:off x="1360195" y="1985555"/>
            <a:ext cx="8595360" cy="4351337"/>
          </a:xfrm>
        </p:spPr>
        <p:txBody>
          <a:bodyPr/>
          <a:lstStyle/>
          <a:p>
            <a:pPr marL="0" indent="0">
              <a:buNone/>
            </a:pPr>
            <a:r>
              <a:rPr lang="fr-FR" dirty="0"/>
              <a:t>L'apprentissage par renforcement est une méthode qui consiste à </a:t>
            </a:r>
            <a:r>
              <a:rPr lang="fr-FR" b="1" dirty="0"/>
              <a:t>optimiser de manière itérative</a:t>
            </a:r>
            <a:r>
              <a:rPr lang="fr-FR" dirty="0"/>
              <a:t> un algorithme uniquement à partir des actions qu'il entreprend et de la réponse associée de l'environnement dans lequel il évolue.</a:t>
            </a:r>
          </a:p>
          <a:p>
            <a:pPr marL="0" indent="0">
              <a:buNone/>
            </a:pPr>
            <a:endParaRPr lang="fr-FR" dirty="0"/>
          </a:p>
        </p:txBody>
      </p:sp>
      <p:pic>
        <p:nvPicPr>
          <p:cNvPr id="5" name="Picture 4">
            <a:extLst>
              <a:ext uri="{FF2B5EF4-FFF2-40B4-BE49-F238E27FC236}">
                <a16:creationId xmlns:a16="http://schemas.microsoft.com/office/drawing/2014/main" id="{234CCF60-EA0E-DD93-818F-222D5B43E7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7712" y="3009363"/>
            <a:ext cx="4163006" cy="3848637"/>
          </a:xfrm>
          <a:prstGeom prst="rect">
            <a:avLst/>
          </a:prstGeom>
        </p:spPr>
      </p:pic>
      <p:sp>
        <p:nvSpPr>
          <p:cNvPr id="6" name="Slide Number Placeholder 5">
            <a:extLst>
              <a:ext uri="{FF2B5EF4-FFF2-40B4-BE49-F238E27FC236}">
                <a16:creationId xmlns:a16="http://schemas.microsoft.com/office/drawing/2014/main" id="{C231CF44-1CAB-D60B-E99D-BF4AB30152ED}"/>
              </a:ext>
            </a:extLst>
          </p:cNvPr>
          <p:cNvSpPr>
            <a:spLocks noGrp="1"/>
          </p:cNvSpPr>
          <p:nvPr>
            <p:ph type="sldNum" sz="quarter" idx="12"/>
          </p:nvPr>
        </p:nvSpPr>
        <p:spPr/>
        <p:txBody>
          <a:bodyPr>
            <a:normAutofit lnSpcReduction="10000"/>
          </a:bodyPr>
          <a:lstStyle/>
          <a:p>
            <a:fld id="{56C15529-6386-4BD9-9180-8EBC622499B0}" type="slidenum">
              <a:rPr lang="fr-FR" smtClean="0"/>
              <a:t>7</a:t>
            </a:fld>
            <a:endParaRPr lang="fr-FR"/>
          </a:p>
        </p:txBody>
      </p:sp>
      <p:sp>
        <p:nvSpPr>
          <p:cNvPr id="7" name="Footer Placeholder 1">
            <a:extLst>
              <a:ext uri="{FF2B5EF4-FFF2-40B4-BE49-F238E27FC236}">
                <a16:creationId xmlns:a16="http://schemas.microsoft.com/office/drawing/2014/main" id="{2C9BF0CB-B88B-F856-2029-AD21325FCC4C}"/>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3881777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D2017-5D04-C31D-6F6E-70F3B41C453F}"/>
              </a:ext>
            </a:extLst>
          </p:cNvPr>
          <p:cNvSpPr>
            <a:spLocks noGrp="1"/>
          </p:cNvSpPr>
          <p:nvPr>
            <p:ph type="title"/>
          </p:nvPr>
        </p:nvSpPr>
        <p:spPr/>
        <p:txBody>
          <a:bodyPr/>
          <a:lstStyle/>
          <a:p>
            <a:pPr algn="ctr"/>
            <a:r>
              <a:rPr lang="fr-FR" dirty="0"/>
              <a:t>II- L’IA pour la Défense Active (Blue Team)</a:t>
            </a:r>
          </a:p>
        </p:txBody>
      </p:sp>
      <p:sp>
        <p:nvSpPr>
          <p:cNvPr id="3" name="Content Placeholder 2">
            <a:extLst>
              <a:ext uri="{FF2B5EF4-FFF2-40B4-BE49-F238E27FC236}">
                <a16:creationId xmlns:a16="http://schemas.microsoft.com/office/drawing/2014/main" id="{0B91169E-6157-838F-E37A-4FA155B6350F}"/>
              </a:ext>
            </a:extLst>
          </p:cNvPr>
          <p:cNvSpPr>
            <a:spLocks noGrp="1"/>
          </p:cNvSpPr>
          <p:nvPr>
            <p:ph idx="1"/>
          </p:nvPr>
        </p:nvSpPr>
        <p:spPr>
          <a:xfrm>
            <a:off x="1261872" y="2140903"/>
            <a:ext cx="8595360" cy="4351337"/>
          </a:xfrm>
        </p:spPr>
        <p:txBody>
          <a:bodyPr/>
          <a:lstStyle/>
          <a:p>
            <a:pPr marL="0" indent="0" algn="just">
              <a:lnSpc>
                <a:spcPct val="150000"/>
              </a:lnSpc>
              <a:buNone/>
            </a:pPr>
            <a:r>
              <a:rPr lang="fr-FR" sz="2000" dirty="0"/>
              <a:t>Dans le domaine de la cybersécurité, la </a:t>
            </a:r>
            <a:r>
              <a:rPr lang="fr-FR" sz="2000" b="1" dirty="0"/>
              <a:t>Blue Team</a:t>
            </a:r>
            <a:r>
              <a:rPr lang="fr-FR" sz="2000" dirty="0"/>
              <a:t> représente les défenseurs, ceux qui protègent l’organisation contre les attaques. L’intelligence artificielle est aujourd’hui un </a:t>
            </a:r>
            <a:r>
              <a:rPr lang="fr-FR" sz="2000" b="1" dirty="0"/>
              <a:t>allié stratégique</a:t>
            </a:r>
            <a:r>
              <a:rPr lang="fr-FR" sz="2000" dirty="0"/>
              <a:t> pour renforcer cette défense active.</a:t>
            </a:r>
          </a:p>
          <a:p>
            <a:pPr marL="0" indent="0" algn="just">
              <a:lnSpc>
                <a:spcPct val="150000"/>
              </a:lnSpc>
              <a:buNone/>
            </a:pPr>
            <a:r>
              <a:rPr lang="fr-FR" sz="2000" dirty="0"/>
              <a:t>Grâce au </a:t>
            </a:r>
            <a:r>
              <a:rPr lang="fr-FR" sz="2000" b="1" dirty="0"/>
              <a:t>Machine Learning</a:t>
            </a:r>
            <a:r>
              <a:rPr lang="fr-FR" sz="2000" dirty="0"/>
              <a:t> et au </a:t>
            </a:r>
            <a:r>
              <a:rPr lang="fr-FR" sz="2000" b="1" dirty="0"/>
              <a:t>Deep Learning</a:t>
            </a:r>
            <a:r>
              <a:rPr lang="fr-FR" sz="2000" dirty="0"/>
              <a:t>, l’IA est capable de :</a:t>
            </a:r>
          </a:p>
          <a:p>
            <a:pPr marL="0" indent="0">
              <a:buNone/>
            </a:pPr>
            <a:endParaRPr lang="fr-FR" dirty="0"/>
          </a:p>
        </p:txBody>
      </p:sp>
      <p:sp>
        <p:nvSpPr>
          <p:cNvPr id="5" name="Slide Number Placeholder 4">
            <a:extLst>
              <a:ext uri="{FF2B5EF4-FFF2-40B4-BE49-F238E27FC236}">
                <a16:creationId xmlns:a16="http://schemas.microsoft.com/office/drawing/2014/main" id="{9602FABF-BB4F-9C27-829A-BAC2BD7B46CB}"/>
              </a:ext>
            </a:extLst>
          </p:cNvPr>
          <p:cNvSpPr>
            <a:spLocks noGrp="1"/>
          </p:cNvSpPr>
          <p:nvPr>
            <p:ph type="sldNum" sz="quarter" idx="12"/>
          </p:nvPr>
        </p:nvSpPr>
        <p:spPr/>
        <p:txBody>
          <a:bodyPr>
            <a:normAutofit lnSpcReduction="10000"/>
          </a:bodyPr>
          <a:lstStyle/>
          <a:p>
            <a:fld id="{56C15529-6386-4BD9-9180-8EBC622499B0}" type="slidenum">
              <a:rPr lang="fr-FR" smtClean="0"/>
              <a:t>8</a:t>
            </a:fld>
            <a:endParaRPr lang="fr-FR"/>
          </a:p>
        </p:txBody>
      </p:sp>
      <p:sp>
        <p:nvSpPr>
          <p:cNvPr id="6" name="Footer Placeholder 1">
            <a:extLst>
              <a:ext uri="{FF2B5EF4-FFF2-40B4-BE49-F238E27FC236}">
                <a16:creationId xmlns:a16="http://schemas.microsoft.com/office/drawing/2014/main" id="{3FFC2363-9920-45B1-D2C0-A2911FB9F338}"/>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3795047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C7B39-EE5A-A3AA-168C-CD399C0804EC}"/>
              </a:ext>
            </a:extLst>
          </p:cNvPr>
          <p:cNvSpPr>
            <a:spLocks noGrp="1"/>
          </p:cNvSpPr>
          <p:nvPr>
            <p:ph type="title"/>
          </p:nvPr>
        </p:nvSpPr>
        <p:spPr>
          <a:xfrm>
            <a:off x="1615833" y="808211"/>
            <a:ext cx="6879238" cy="853440"/>
          </a:xfrm>
        </p:spPr>
        <p:txBody>
          <a:bodyPr>
            <a:normAutofit fontScale="90000"/>
          </a:bodyPr>
          <a:lstStyle/>
          <a:p>
            <a:r>
              <a:rPr lang="fr-FR" sz="3200" b="1" dirty="0"/>
              <a:t>1- Détection avancée des menaces</a:t>
            </a:r>
            <a:endParaRPr lang="fr-FR" sz="3200" dirty="0"/>
          </a:p>
        </p:txBody>
      </p:sp>
      <p:sp>
        <p:nvSpPr>
          <p:cNvPr id="3" name="Content Placeholder 2">
            <a:extLst>
              <a:ext uri="{FF2B5EF4-FFF2-40B4-BE49-F238E27FC236}">
                <a16:creationId xmlns:a16="http://schemas.microsoft.com/office/drawing/2014/main" id="{3910A0D4-FD2B-FA7A-5AFF-4991FC5FFC48}"/>
              </a:ext>
            </a:extLst>
          </p:cNvPr>
          <p:cNvSpPr>
            <a:spLocks noGrp="1"/>
          </p:cNvSpPr>
          <p:nvPr>
            <p:ph idx="1"/>
          </p:nvPr>
        </p:nvSpPr>
        <p:spPr>
          <a:xfrm>
            <a:off x="1261872" y="2251587"/>
            <a:ext cx="8595360" cy="4125195"/>
          </a:xfrm>
        </p:spPr>
        <p:txBody>
          <a:bodyPr/>
          <a:lstStyle/>
          <a:p>
            <a:pPr marL="0" indent="0">
              <a:buNone/>
            </a:pPr>
            <a:r>
              <a:rPr lang="fr-FR" dirty="0"/>
              <a:t>Analyse en temps réel d’énormes volumes </a:t>
            </a:r>
          </a:p>
          <a:p>
            <a:pPr marL="0" indent="0">
              <a:buNone/>
            </a:pPr>
            <a:r>
              <a:rPr lang="fr-FR" dirty="0"/>
              <a:t>de journaux systèmes et de flux réseaux.</a:t>
            </a:r>
          </a:p>
          <a:p>
            <a:pPr marL="0" indent="0">
              <a:buNone/>
            </a:pPr>
            <a:r>
              <a:rPr lang="fr-FR" dirty="0"/>
              <a:t>Identification rapide d’anomalies ou de </a:t>
            </a:r>
          </a:p>
          <a:p>
            <a:pPr marL="0" indent="0">
              <a:buNone/>
            </a:pPr>
            <a:r>
              <a:rPr lang="fr-FR" dirty="0"/>
              <a:t>comportements suspects impossibles à </a:t>
            </a:r>
          </a:p>
          <a:p>
            <a:pPr marL="0" indent="0">
              <a:buNone/>
            </a:pPr>
            <a:r>
              <a:rPr lang="fr-FR" dirty="0"/>
              <a:t>repérer manuellement.</a:t>
            </a:r>
          </a:p>
          <a:p>
            <a:endParaRPr lang="fr-FR" dirty="0"/>
          </a:p>
        </p:txBody>
      </p:sp>
      <p:pic>
        <p:nvPicPr>
          <p:cNvPr id="9218" name="Picture 2" descr="Menace Persistante Avancée">
            <a:extLst>
              <a:ext uri="{FF2B5EF4-FFF2-40B4-BE49-F238E27FC236}">
                <a16:creationId xmlns:a16="http://schemas.microsoft.com/office/drawing/2014/main" id="{19364E5E-DAA3-477F-D395-A589B4B50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325047"/>
            <a:ext cx="4218927" cy="220790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BF4845D0-0A05-8D85-D185-106AF0A6229F}"/>
              </a:ext>
            </a:extLst>
          </p:cNvPr>
          <p:cNvSpPr>
            <a:spLocks noGrp="1"/>
          </p:cNvSpPr>
          <p:nvPr>
            <p:ph type="sldNum" sz="quarter" idx="12"/>
          </p:nvPr>
        </p:nvSpPr>
        <p:spPr/>
        <p:txBody>
          <a:bodyPr>
            <a:normAutofit lnSpcReduction="10000"/>
          </a:bodyPr>
          <a:lstStyle/>
          <a:p>
            <a:fld id="{56C15529-6386-4BD9-9180-8EBC622499B0}" type="slidenum">
              <a:rPr lang="fr-FR" smtClean="0"/>
              <a:t>9</a:t>
            </a:fld>
            <a:endParaRPr lang="fr-FR"/>
          </a:p>
        </p:txBody>
      </p:sp>
      <p:sp>
        <p:nvSpPr>
          <p:cNvPr id="6" name="Footer Placeholder 1">
            <a:extLst>
              <a:ext uri="{FF2B5EF4-FFF2-40B4-BE49-F238E27FC236}">
                <a16:creationId xmlns:a16="http://schemas.microsoft.com/office/drawing/2014/main" id="{F4D290CC-66B2-D6E5-3F35-9E97060B8986}"/>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417743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7BF5-89F7-6C66-088C-9662AF11E396}"/>
              </a:ext>
            </a:extLst>
          </p:cNvPr>
          <p:cNvSpPr>
            <a:spLocks noGrp="1"/>
          </p:cNvSpPr>
          <p:nvPr>
            <p:ph type="title"/>
          </p:nvPr>
        </p:nvSpPr>
        <p:spPr>
          <a:xfrm>
            <a:off x="1261872" y="365760"/>
            <a:ext cx="4185199" cy="1315556"/>
          </a:xfrm>
        </p:spPr>
        <p:txBody>
          <a:bodyPr>
            <a:normAutofit fontScale="90000"/>
          </a:bodyPr>
          <a:lstStyle/>
          <a:p>
            <a:pPr algn="ctr"/>
            <a:r>
              <a:rPr lang="fr-FR" altLang="fr-FR" sz="3200" b="1" dirty="0">
                <a:latin typeface="Arial" panose="020B0604020202020204" pitchFamily="34" charset="0"/>
              </a:rPr>
              <a:t>2- Automatisation des </a:t>
            </a:r>
            <a:br>
              <a:rPr lang="fr-FR" altLang="fr-FR" sz="3200" b="1" dirty="0">
                <a:latin typeface="Arial" panose="020B0604020202020204" pitchFamily="34" charset="0"/>
              </a:rPr>
            </a:br>
            <a:r>
              <a:rPr lang="fr-FR" altLang="fr-FR" sz="3200" b="1" dirty="0">
                <a:latin typeface="Arial" panose="020B0604020202020204" pitchFamily="34" charset="0"/>
              </a:rPr>
              <a:t>réponses</a:t>
            </a:r>
            <a:endParaRPr lang="fr-FR" sz="3200" dirty="0"/>
          </a:p>
        </p:txBody>
      </p:sp>
      <p:sp>
        <p:nvSpPr>
          <p:cNvPr id="4" name="Rectangle 1">
            <a:extLst>
              <a:ext uri="{FF2B5EF4-FFF2-40B4-BE49-F238E27FC236}">
                <a16:creationId xmlns:a16="http://schemas.microsoft.com/office/drawing/2014/main" id="{934D2BAE-6559-8AD0-4B0A-7389748EAD2A}"/>
              </a:ext>
            </a:extLst>
          </p:cNvPr>
          <p:cNvSpPr>
            <a:spLocks noGrp="1" noChangeArrowheads="1"/>
          </p:cNvSpPr>
          <p:nvPr>
            <p:ph idx="1"/>
          </p:nvPr>
        </p:nvSpPr>
        <p:spPr bwMode="auto">
          <a:xfrm>
            <a:off x="401549" y="2068654"/>
            <a:ext cx="5227419" cy="3688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fr-FR" altLang="fr-FR" sz="2000" b="0" i="0" u="none" strike="noStrike" cap="none" normalizeH="0" baseline="0" dirty="0">
                <a:ln>
                  <a:noFill/>
                </a:ln>
                <a:solidFill>
                  <a:schemeClr val="tx1"/>
                </a:solidFill>
                <a:effectLst/>
                <a:latin typeface="Arial" panose="020B0604020202020204" pitchFamily="34" charset="0"/>
              </a:rPr>
              <a:t>Mise en quarantaine automatique d’un poste infecté.</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fr-FR" altLang="fr-FR" sz="2000" b="0" i="0" u="none" strike="noStrike" cap="none" normalizeH="0" baseline="0" dirty="0">
                <a:ln>
                  <a:noFill/>
                </a:ln>
                <a:solidFill>
                  <a:schemeClr val="tx1"/>
                </a:solidFill>
                <a:effectLst/>
                <a:latin typeface="Arial" panose="020B0604020202020204" pitchFamily="34" charset="0"/>
              </a:rPr>
              <a:t>Blocage immédiat d’adresses IP malveillantes.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fr-FR" altLang="fr-FR" sz="2000" b="0" i="0" u="none" strike="noStrike" cap="none" normalizeH="0" baseline="0" dirty="0">
                <a:ln>
                  <a:noFill/>
                </a:ln>
                <a:solidFill>
                  <a:schemeClr val="tx1"/>
                </a:solidFill>
                <a:effectLst/>
                <a:latin typeface="Arial" panose="020B0604020202020204" pitchFamily="34" charset="0"/>
              </a:rPr>
              <a:t>Déclenchement de scénarios de réponse dans des plateformes SOAR (comme </a:t>
            </a:r>
            <a:r>
              <a:rPr kumimoji="0" lang="fr-FR" altLang="fr-FR" sz="2000" b="1" i="0" u="none" strike="noStrike" cap="none" normalizeH="0" baseline="0" dirty="0">
                <a:ln>
                  <a:noFill/>
                </a:ln>
                <a:solidFill>
                  <a:schemeClr val="tx1"/>
                </a:solidFill>
                <a:effectLst/>
                <a:latin typeface="Arial" panose="020B0604020202020204" pitchFamily="34" charset="0"/>
              </a:rPr>
              <a:t>Splunk SOAR</a:t>
            </a:r>
            <a:r>
              <a:rPr kumimoji="0" lang="fr-FR" altLang="fr-FR"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fr-FR" altLang="fr-FR" b="0" i="0" u="none" strike="noStrike" cap="none" normalizeH="0" baseline="0" dirty="0">
              <a:ln>
                <a:noFill/>
              </a:ln>
              <a:solidFill>
                <a:schemeClr val="tx1"/>
              </a:solidFill>
              <a:effectLst/>
              <a:latin typeface="Arial" panose="020B0604020202020204" pitchFamily="34" charset="0"/>
            </a:endParaRPr>
          </a:p>
        </p:txBody>
      </p:sp>
      <p:pic>
        <p:nvPicPr>
          <p:cNvPr id="10243" name="Picture 3" descr="Comment l'automatisation de la réponse aux e-mails transforme le service client e-commerce">
            <a:extLst>
              <a:ext uri="{FF2B5EF4-FFF2-40B4-BE49-F238E27FC236}">
                <a16:creationId xmlns:a16="http://schemas.microsoft.com/office/drawing/2014/main" id="{69F63F1D-EDE7-96D6-4CF3-F9D14C23D4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140" r="14690" b="-2796"/>
          <a:stretch>
            <a:fillRect/>
          </a:stretch>
        </p:blipFill>
        <p:spPr bwMode="auto">
          <a:xfrm>
            <a:off x="5810865" y="0"/>
            <a:ext cx="5481975" cy="7049729"/>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6F12A409-6C8A-2DBA-F4AC-3A695B326391}"/>
              </a:ext>
            </a:extLst>
          </p:cNvPr>
          <p:cNvSpPr>
            <a:spLocks noGrp="1"/>
          </p:cNvSpPr>
          <p:nvPr>
            <p:ph type="sldNum" sz="quarter" idx="12"/>
          </p:nvPr>
        </p:nvSpPr>
        <p:spPr/>
        <p:txBody>
          <a:bodyPr>
            <a:normAutofit lnSpcReduction="10000"/>
          </a:bodyPr>
          <a:lstStyle/>
          <a:p>
            <a:fld id="{56C15529-6386-4BD9-9180-8EBC622499B0}" type="slidenum">
              <a:rPr lang="fr-FR" smtClean="0"/>
              <a:t>10</a:t>
            </a:fld>
            <a:endParaRPr lang="fr-FR"/>
          </a:p>
        </p:txBody>
      </p:sp>
      <p:sp>
        <p:nvSpPr>
          <p:cNvPr id="6" name="Footer Placeholder 1">
            <a:extLst>
              <a:ext uri="{FF2B5EF4-FFF2-40B4-BE49-F238E27FC236}">
                <a16:creationId xmlns:a16="http://schemas.microsoft.com/office/drawing/2014/main" id="{EC799859-99FE-A5CD-0FDE-106FA7394117}"/>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351543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B33EB-EC63-BBCC-B19E-2F3BC3692DE6}"/>
              </a:ext>
            </a:extLst>
          </p:cNvPr>
          <p:cNvSpPr>
            <a:spLocks noGrp="1"/>
          </p:cNvSpPr>
          <p:nvPr>
            <p:ph type="title"/>
          </p:nvPr>
        </p:nvSpPr>
        <p:spPr>
          <a:xfrm>
            <a:off x="1261872" y="963560"/>
            <a:ext cx="7046386" cy="727761"/>
          </a:xfrm>
        </p:spPr>
        <p:txBody>
          <a:bodyPr>
            <a:normAutofit/>
          </a:bodyPr>
          <a:lstStyle/>
          <a:p>
            <a:r>
              <a:rPr lang="fr-FR" sz="3200" dirty="0"/>
              <a:t>3- Anticipation et prédiction</a:t>
            </a:r>
          </a:p>
        </p:txBody>
      </p:sp>
      <p:sp>
        <p:nvSpPr>
          <p:cNvPr id="3" name="Content Placeholder 2">
            <a:extLst>
              <a:ext uri="{FF2B5EF4-FFF2-40B4-BE49-F238E27FC236}">
                <a16:creationId xmlns:a16="http://schemas.microsoft.com/office/drawing/2014/main" id="{E6901BBE-8FA5-14E3-B39D-A8E7EAB7F730}"/>
              </a:ext>
            </a:extLst>
          </p:cNvPr>
          <p:cNvSpPr>
            <a:spLocks noGrp="1"/>
          </p:cNvSpPr>
          <p:nvPr>
            <p:ph idx="1"/>
          </p:nvPr>
        </p:nvSpPr>
        <p:spPr/>
        <p:txBody>
          <a:bodyPr/>
          <a:lstStyle/>
          <a:p>
            <a:pPr marL="0" indent="0" algn="just">
              <a:lnSpc>
                <a:spcPct val="150000"/>
              </a:lnSpc>
              <a:buNone/>
            </a:pPr>
            <a:r>
              <a:rPr lang="fr-FR" dirty="0"/>
              <a:t>L’un des apports majeurs de l’intelligence artificielle en cybersécurité réside dans sa capacité à anticiper les menaces avant même qu’elles ne se concrétisent. Grâce à l’analyse des tendances et des modèles de comportements anormaux, l’IA peut prédire les attaques futures avec une précision croissante. Elle ne se limite pas à constater les incidents, mais elle </a:t>
            </a:r>
            <a:r>
              <a:rPr lang="fr-FR" b="1" dirty="0"/>
              <a:t>détecte les signaux faibles</a:t>
            </a:r>
            <a:r>
              <a:rPr lang="fr-FR" dirty="0"/>
              <a:t> annonciateurs d’une intrusion ou d’une compromission imminente. De plus, l’IA permet de simuler différents scénarios d’attaques probables afin de tester la résilience des infrastructures et d’identifier les vulnérabilités avant qu’elles ne soient exploitées par un adversaire.</a:t>
            </a:r>
          </a:p>
        </p:txBody>
      </p:sp>
      <p:sp>
        <p:nvSpPr>
          <p:cNvPr id="5" name="Slide Number Placeholder 4">
            <a:extLst>
              <a:ext uri="{FF2B5EF4-FFF2-40B4-BE49-F238E27FC236}">
                <a16:creationId xmlns:a16="http://schemas.microsoft.com/office/drawing/2014/main" id="{D27D7BA3-B5C4-47E2-26A3-A66D86867897}"/>
              </a:ext>
            </a:extLst>
          </p:cNvPr>
          <p:cNvSpPr>
            <a:spLocks noGrp="1"/>
          </p:cNvSpPr>
          <p:nvPr>
            <p:ph type="sldNum" sz="quarter" idx="12"/>
          </p:nvPr>
        </p:nvSpPr>
        <p:spPr/>
        <p:txBody>
          <a:bodyPr>
            <a:normAutofit lnSpcReduction="10000"/>
          </a:bodyPr>
          <a:lstStyle/>
          <a:p>
            <a:fld id="{56C15529-6386-4BD9-9180-8EBC622499B0}" type="slidenum">
              <a:rPr lang="fr-FR" smtClean="0"/>
              <a:t>11</a:t>
            </a:fld>
            <a:endParaRPr lang="fr-FR"/>
          </a:p>
        </p:txBody>
      </p:sp>
      <p:sp>
        <p:nvSpPr>
          <p:cNvPr id="6" name="Footer Placeholder 1">
            <a:extLst>
              <a:ext uri="{FF2B5EF4-FFF2-40B4-BE49-F238E27FC236}">
                <a16:creationId xmlns:a16="http://schemas.microsoft.com/office/drawing/2014/main" id="{AAEB0491-45F9-1DD8-BD6A-D87BDDD0FF34}"/>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446989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4F06-172F-2001-F454-618C6074FFB3}"/>
              </a:ext>
            </a:extLst>
          </p:cNvPr>
          <p:cNvSpPr>
            <a:spLocks noGrp="1"/>
          </p:cNvSpPr>
          <p:nvPr>
            <p:ph type="title"/>
          </p:nvPr>
        </p:nvSpPr>
        <p:spPr>
          <a:xfrm>
            <a:off x="2087782" y="444418"/>
            <a:ext cx="6240141" cy="607634"/>
          </a:xfrm>
        </p:spPr>
        <p:txBody>
          <a:bodyPr>
            <a:normAutofit fontScale="90000"/>
          </a:bodyPr>
          <a:lstStyle/>
          <a:p>
            <a:r>
              <a:rPr lang="fr-FR" sz="3200" dirty="0"/>
              <a:t>4- Réduction de la charge humaine</a:t>
            </a:r>
          </a:p>
        </p:txBody>
      </p:sp>
      <p:sp>
        <p:nvSpPr>
          <p:cNvPr id="3" name="Content Placeholder 2">
            <a:extLst>
              <a:ext uri="{FF2B5EF4-FFF2-40B4-BE49-F238E27FC236}">
                <a16:creationId xmlns:a16="http://schemas.microsoft.com/office/drawing/2014/main" id="{13429977-CE2D-985B-F543-A4479EB05DA8}"/>
              </a:ext>
            </a:extLst>
          </p:cNvPr>
          <p:cNvSpPr>
            <a:spLocks noGrp="1"/>
          </p:cNvSpPr>
          <p:nvPr>
            <p:ph idx="1"/>
          </p:nvPr>
        </p:nvSpPr>
        <p:spPr>
          <a:xfrm>
            <a:off x="1153717" y="1524001"/>
            <a:ext cx="9258644" cy="4361169"/>
          </a:xfrm>
        </p:spPr>
        <p:txBody>
          <a:bodyPr>
            <a:normAutofit/>
          </a:bodyPr>
          <a:lstStyle/>
          <a:p>
            <a:pPr marL="0" indent="0" algn="just">
              <a:lnSpc>
                <a:spcPct val="150000"/>
              </a:lnSpc>
              <a:buNone/>
            </a:pPr>
            <a:r>
              <a:rPr lang="fr-FR" dirty="0"/>
              <a:t>Grâce au </a:t>
            </a:r>
            <a:r>
              <a:rPr lang="fr-FR" b="1" dirty="0"/>
              <a:t>filtrage intelligent</a:t>
            </a:r>
            <a:r>
              <a:rPr lang="fr-FR" dirty="0"/>
              <a:t>, l’IA parvient à hiérarchiser et à trier ces alertes, en mettant en avant uniquement celles qui représentent un véritable risque. Elle agit ainsi comme un </a:t>
            </a:r>
            <a:r>
              <a:rPr lang="fr-FR" b="1" dirty="0"/>
              <a:t>co-pilote</a:t>
            </a:r>
            <a:r>
              <a:rPr lang="fr-FR" dirty="0"/>
              <a:t> pour les experts en cybersécurité : au lieu de gaspiller du temps sur des anomalies sans gravité, les analystes peuvent concentrer leurs efforts sur les incidents critiques nécessitant une expertise humaine. En outre, l’automatisation de certaines tâches répétitives et chronophages libère du temps pour des missions à plus forte valeur ajoutée, comme la chasse aux menaces avancées ou l’élaboration de stratégies défensives. L’IA devient donc un véritable </a:t>
            </a:r>
            <a:r>
              <a:rPr lang="fr-FR" b="1" dirty="0"/>
              <a:t>amplificateur des capacités humaines</a:t>
            </a:r>
            <a:r>
              <a:rPr lang="fr-FR" dirty="0"/>
              <a:t>, permettant aux équipes de sécurité d’être plus efficaces, réactives et stratégiques.</a:t>
            </a:r>
          </a:p>
        </p:txBody>
      </p:sp>
      <p:sp>
        <p:nvSpPr>
          <p:cNvPr id="5" name="Slide Number Placeholder 4">
            <a:extLst>
              <a:ext uri="{FF2B5EF4-FFF2-40B4-BE49-F238E27FC236}">
                <a16:creationId xmlns:a16="http://schemas.microsoft.com/office/drawing/2014/main" id="{645EABCA-CDF2-FFD2-724E-1A908A000C66}"/>
              </a:ext>
            </a:extLst>
          </p:cNvPr>
          <p:cNvSpPr>
            <a:spLocks noGrp="1"/>
          </p:cNvSpPr>
          <p:nvPr>
            <p:ph type="sldNum" sz="quarter" idx="12"/>
          </p:nvPr>
        </p:nvSpPr>
        <p:spPr/>
        <p:txBody>
          <a:bodyPr>
            <a:normAutofit lnSpcReduction="10000"/>
          </a:bodyPr>
          <a:lstStyle/>
          <a:p>
            <a:fld id="{56C15529-6386-4BD9-9180-8EBC622499B0}" type="slidenum">
              <a:rPr lang="fr-FR" smtClean="0"/>
              <a:t>12</a:t>
            </a:fld>
            <a:endParaRPr lang="fr-FR"/>
          </a:p>
        </p:txBody>
      </p:sp>
      <p:sp>
        <p:nvSpPr>
          <p:cNvPr id="6" name="Footer Placeholder 1">
            <a:extLst>
              <a:ext uri="{FF2B5EF4-FFF2-40B4-BE49-F238E27FC236}">
                <a16:creationId xmlns:a16="http://schemas.microsoft.com/office/drawing/2014/main" id="{A678F71D-2503-C0DA-97ED-F499691BB58C}"/>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2477402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EF4C3-03C1-D6EC-DBC9-056221EF7F33}"/>
              </a:ext>
            </a:extLst>
          </p:cNvPr>
          <p:cNvSpPr>
            <a:spLocks noGrp="1"/>
          </p:cNvSpPr>
          <p:nvPr>
            <p:ph type="title"/>
          </p:nvPr>
        </p:nvSpPr>
        <p:spPr/>
        <p:txBody>
          <a:bodyPr/>
          <a:lstStyle/>
          <a:p>
            <a:pPr algn="ctr"/>
            <a:r>
              <a:rPr lang="fr-FR" dirty="0"/>
              <a:t> III- L'IA comme Vecteur d'Attaque (Red Team)</a:t>
            </a:r>
          </a:p>
        </p:txBody>
      </p:sp>
      <p:sp>
        <p:nvSpPr>
          <p:cNvPr id="3" name="Content Placeholder 2">
            <a:extLst>
              <a:ext uri="{FF2B5EF4-FFF2-40B4-BE49-F238E27FC236}">
                <a16:creationId xmlns:a16="http://schemas.microsoft.com/office/drawing/2014/main" id="{DC40720F-142B-7D33-D07C-7EECEFDE937B}"/>
              </a:ext>
            </a:extLst>
          </p:cNvPr>
          <p:cNvSpPr>
            <a:spLocks noGrp="1"/>
          </p:cNvSpPr>
          <p:nvPr>
            <p:ph idx="1"/>
          </p:nvPr>
        </p:nvSpPr>
        <p:spPr/>
        <p:txBody>
          <a:bodyPr/>
          <a:lstStyle/>
          <a:p>
            <a:pPr marL="0" indent="0" algn="just">
              <a:lnSpc>
                <a:spcPct val="100000"/>
              </a:lnSpc>
              <a:buNone/>
            </a:pPr>
            <a:r>
              <a:rPr lang="fr-FR" dirty="0"/>
              <a:t>Si l’IA constitue une arme puissante pour renforcer la cybersécurité, elle représente aussi une menace redoutable entre les mains des cybercriminels. En effet, les attaquants exploitent les capacités de l’intelligence artificielle pour </a:t>
            </a:r>
            <a:r>
              <a:rPr lang="fr-FR" b="1" dirty="0"/>
              <a:t>rendre leurs offensives plus rapides, plus discrètes et plus efficaces</a:t>
            </a:r>
            <a:r>
              <a:rPr lang="fr-FR" dirty="0"/>
              <a:t>. Par exemple, l’IA peut être utilisée pour créer des </a:t>
            </a:r>
            <a:r>
              <a:rPr lang="fr-FR" b="1" dirty="0"/>
              <a:t>attaques de phishing hyper-ciblées</a:t>
            </a:r>
            <a:r>
              <a:rPr lang="fr-FR" dirty="0"/>
              <a:t> (</a:t>
            </a:r>
            <a:r>
              <a:rPr lang="fr-FR" dirty="0" err="1"/>
              <a:t>spear</a:t>
            </a:r>
            <a:r>
              <a:rPr lang="fr-FR" dirty="0"/>
              <a:t> phishing), générant automatiquement des messages personnalisés et crédibles grâce au traitement du langage naturel. Elle peut également être employée pour </a:t>
            </a:r>
            <a:r>
              <a:rPr lang="fr-FR" b="1" dirty="0"/>
              <a:t>développer des malwares polymorphes</a:t>
            </a:r>
            <a:r>
              <a:rPr lang="fr-FR" dirty="0"/>
              <a:t>, capables de modifier leur code en temps réel afin d’échapper aux systèmes de détection traditionnels.</a:t>
            </a:r>
          </a:p>
        </p:txBody>
      </p:sp>
      <p:sp>
        <p:nvSpPr>
          <p:cNvPr id="5" name="Slide Number Placeholder 4">
            <a:extLst>
              <a:ext uri="{FF2B5EF4-FFF2-40B4-BE49-F238E27FC236}">
                <a16:creationId xmlns:a16="http://schemas.microsoft.com/office/drawing/2014/main" id="{5499FC70-4403-711E-7CA5-4B2F61B53680}"/>
              </a:ext>
            </a:extLst>
          </p:cNvPr>
          <p:cNvSpPr>
            <a:spLocks noGrp="1"/>
          </p:cNvSpPr>
          <p:nvPr>
            <p:ph type="sldNum" sz="quarter" idx="12"/>
          </p:nvPr>
        </p:nvSpPr>
        <p:spPr/>
        <p:txBody>
          <a:bodyPr>
            <a:normAutofit lnSpcReduction="10000"/>
          </a:bodyPr>
          <a:lstStyle/>
          <a:p>
            <a:fld id="{56C15529-6386-4BD9-9180-8EBC622499B0}" type="slidenum">
              <a:rPr lang="fr-FR" smtClean="0"/>
              <a:t>13</a:t>
            </a:fld>
            <a:endParaRPr lang="fr-FR"/>
          </a:p>
        </p:txBody>
      </p:sp>
      <p:sp>
        <p:nvSpPr>
          <p:cNvPr id="6" name="Footer Placeholder 1">
            <a:extLst>
              <a:ext uri="{FF2B5EF4-FFF2-40B4-BE49-F238E27FC236}">
                <a16:creationId xmlns:a16="http://schemas.microsoft.com/office/drawing/2014/main" id="{D78FA459-85DE-6392-7135-E11401188E57}"/>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971704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0244-6643-3F48-3FFF-8D124213FEAA}"/>
              </a:ext>
            </a:extLst>
          </p:cNvPr>
          <p:cNvSpPr>
            <a:spLocks noGrp="1"/>
          </p:cNvSpPr>
          <p:nvPr>
            <p:ph type="title"/>
          </p:nvPr>
        </p:nvSpPr>
        <p:spPr>
          <a:xfrm>
            <a:off x="1261872" y="264160"/>
            <a:ext cx="9011017" cy="1067929"/>
          </a:xfrm>
        </p:spPr>
        <p:txBody>
          <a:bodyPr>
            <a:noAutofit/>
          </a:bodyPr>
          <a:lstStyle/>
          <a:p>
            <a:r>
              <a:rPr lang="fr-FR" sz="3200" b="1" dirty="0"/>
              <a:t>Détournement du modèle et génération de contenu illégitime</a:t>
            </a:r>
            <a:endParaRPr lang="fr-FR" sz="3200" dirty="0"/>
          </a:p>
        </p:txBody>
      </p:sp>
      <p:sp>
        <p:nvSpPr>
          <p:cNvPr id="3" name="Content Placeholder 2">
            <a:extLst>
              <a:ext uri="{FF2B5EF4-FFF2-40B4-BE49-F238E27FC236}">
                <a16:creationId xmlns:a16="http://schemas.microsoft.com/office/drawing/2014/main" id="{0D0B3A0D-C3D3-A29E-094A-2B2AF2A892A8}"/>
              </a:ext>
            </a:extLst>
          </p:cNvPr>
          <p:cNvSpPr>
            <a:spLocks noGrp="1"/>
          </p:cNvSpPr>
          <p:nvPr>
            <p:ph idx="1"/>
          </p:nvPr>
        </p:nvSpPr>
        <p:spPr>
          <a:xfrm>
            <a:off x="1261872" y="1828800"/>
            <a:ext cx="9011016" cy="4351337"/>
          </a:xfrm>
        </p:spPr>
        <p:txBody>
          <a:bodyPr/>
          <a:lstStyle/>
          <a:p>
            <a:pPr marL="0" indent="0" algn="just">
              <a:lnSpc>
                <a:spcPct val="150000"/>
              </a:lnSpc>
              <a:buNone/>
            </a:pPr>
            <a:r>
              <a:rPr lang="fr-FR" dirty="0"/>
              <a:t>Il s’agit du contournement des garde-fous techniques mis en place dans le développement du </a:t>
            </a:r>
            <a:r>
              <a:rPr lang="fr-FR" dirty="0" err="1"/>
              <a:t>chatbot</a:t>
            </a:r>
            <a:r>
              <a:rPr lang="fr-FR" dirty="0"/>
              <a:t> afin de générer du contenu offensant, malveillant, ou inadapté. C’est ainsi la crédibilité et la réputation de l’entreprise qui risquent d’être impactées puisqu’elle est responsable de la production de contenu réalisée par son </a:t>
            </a:r>
            <a:r>
              <a:rPr lang="fr-FR" dirty="0" err="1"/>
              <a:t>chatbot</a:t>
            </a:r>
            <a:r>
              <a:rPr lang="fr-FR" dirty="0"/>
              <a:t>.</a:t>
            </a:r>
          </a:p>
        </p:txBody>
      </p:sp>
      <p:sp>
        <p:nvSpPr>
          <p:cNvPr id="4" name="AutoShape 2" descr="How Chatbots Can Help Boost User Experience">
            <a:extLst>
              <a:ext uri="{FF2B5EF4-FFF2-40B4-BE49-F238E27FC236}">
                <a16:creationId xmlns:a16="http://schemas.microsoft.com/office/drawing/2014/main" id="{80611020-0D32-0D03-4D19-161355363D0D}"/>
              </a:ext>
            </a:extLst>
          </p:cNvPr>
          <p:cNvSpPr>
            <a:spLocks noChangeAspect="1" noChangeArrowheads="1"/>
          </p:cNvSpPr>
          <p:nvPr/>
        </p:nvSpPr>
        <p:spPr bwMode="auto">
          <a:xfrm>
            <a:off x="5943600" y="3276600"/>
            <a:ext cx="4137378" cy="413737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28" name="Picture 4" descr="AI Chatbot Implementation: What to Expect - INLocal Marketing">
            <a:extLst>
              <a:ext uri="{FF2B5EF4-FFF2-40B4-BE49-F238E27FC236}">
                <a16:creationId xmlns:a16="http://schemas.microsoft.com/office/drawing/2014/main" id="{89E24E0C-8008-F558-3D01-2B1A4ED24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376" y="3714734"/>
            <a:ext cx="3719512" cy="2879106"/>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80CD1A29-9019-C65A-C03C-08F9AE8AACA4}"/>
              </a:ext>
            </a:extLst>
          </p:cNvPr>
          <p:cNvSpPr>
            <a:spLocks noGrp="1"/>
          </p:cNvSpPr>
          <p:nvPr>
            <p:ph type="sldNum" sz="quarter" idx="12"/>
          </p:nvPr>
        </p:nvSpPr>
        <p:spPr/>
        <p:txBody>
          <a:bodyPr>
            <a:normAutofit lnSpcReduction="10000"/>
          </a:bodyPr>
          <a:lstStyle/>
          <a:p>
            <a:fld id="{56C15529-6386-4BD9-9180-8EBC622499B0}" type="slidenum">
              <a:rPr lang="fr-FR" smtClean="0"/>
              <a:t>14</a:t>
            </a:fld>
            <a:endParaRPr lang="fr-FR"/>
          </a:p>
        </p:txBody>
      </p:sp>
      <p:sp>
        <p:nvSpPr>
          <p:cNvPr id="7" name="Footer Placeholder 1">
            <a:extLst>
              <a:ext uri="{FF2B5EF4-FFF2-40B4-BE49-F238E27FC236}">
                <a16:creationId xmlns:a16="http://schemas.microsoft.com/office/drawing/2014/main" id="{1FB5178D-856D-DC0E-861D-A10A877E8625}"/>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964499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05E33-2734-CDA7-710C-E45D9F12D3D9}"/>
              </a:ext>
            </a:extLst>
          </p:cNvPr>
          <p:cNvSpPr>
            <a:spLocks noGrp="1"/>
          </p:cNvSpPr>
          <p:nvPr>
            <p:ph type="title"/>
          </p:nvPr>
        </p:nvSpPr>
        <p:spPr>
          <a:xfrm>
            <a:off x="1261872" y="365760"/>
            <a:ext cx="5940439" cy="740551"/>
          </a:xfrm>
        </p:spPr>
        <p:txBody>
          <a:bodyPr>
            <a:normAutofit/>
          </a:bodyPr>
          <a:lstStyle/>
          <a:p>
            <a:r>
              <a:rPr lang="fr-FR" sz="3200" b="1" dirty="0"/>
              <a:t>Fuites de données sensibles</a:t>
            </a:r>
            <a:endParaRPr lang="fr-FR" sz="3200" dirty="0"/>
          </a:p>
        </p:txBody>
      </p:sp>
      <p:sp>
        <p:nvSpPr>
          <p:cNvPr id="3" name="Content Placeholder 2">
            <a:extLst>
              <a:ext uri="{FF2B5EF4-FFF2-40B4-BE49-F238E27FC236}">
                <a16:creationId xmlns:a16="http://schemas.microsoft.com/office/drawing/2014/main" id="{E9A724FE-3ACD-BCF5-E9EA-5A549621F1E5}"/>
              </a:ext>
            </a:extLst>
          </p:cNvPr>
          <p:cNvSpPr>
            <a:spLocks noGrp="1"/>
          </p:cNvSpPr>
          <p:nvPr>
            <p:ph idx="1"/>
          </p:nvPr>
        </p:nvSpPr>
        <p:spPr/>
        <p:txBody>
          <a:bodyPr/>
          <a:lstStyle/>
          <a:p>
            <a:pPr marL="0" indent="0" algn="just">
              <a:lnSpc>
                <a:spcPct val="150000"/>
              </a:lnSpc>
              <a:buNone/>
            </a:pPr>
            <a:r>
              <a:rPr lang="fr-FR" dirty="0"/>
              <a:t>Si les données alimentant la base de connaissance interne d’un </a:t>
            </a:r>
            <a:r>
              <a:rPr lang="fr-FR" dirty="0" err="1"/>
              <a:t>chatbot</a:t>
            </a:r>
            <a:r>
              <a:rPr lang="fr-FR" dirty="0"/>
              <a:t> RAG sont insuffisamment consolidées (sélection, gestion, anonymisation, …), les modèles sont susceptibles de révéler involontairement des informations sensibles ou confidentielles.</a:t>
            </a:r>
          </a:p>
        </p:txBody>
      </p:sp>
      <p:sp>
        <p:nvSpPr>
          <p:cNvPr id="5" name="Slide Number Placeholder 4">
            <a:extLst>
              <a:ext uri="{FF2B5EF4-FFF2-40B4-BE49-F238E27FC236}">
                <a16:creationId xmlns:a16="http://schemas.microsoft.com/office/drawing/2014/main" id="{244741B7-2732-4434-175A-2563B19E4238}"/>
              </a:ext>
            </a:extLst>
          </p:cNvPr>
          <p:cNvSpPr>
            <a:spLocks noGrp="1"/>
          </p:cNvSpPr>
          <p:nvPr>
            <p:ph type="sldNum" sz="quarter" idx="12"/>
          </p:nvPr>
        </p:nvSpPr>
        <p:spPr/>
        <p:txBody>
          <a:bodyPr>
            <a:normAutofit lnSpcReduction="10000"/>
          </a:bodyPr>
          <a:lstStyle/>
          <a:p>
            <a:fld id="{56C15529-6386-4BD9-9180-8EBC622499B0}" type="slidenum">
              <a:rPr lang="fr-FR" smtClean="0"/>
              <a:t>15</a:t>
            </a:fld>
            <a:endParaRPr lang="fr-FR"/>
          </a:p>
        </p:txBody>
      </p:sp>
      <p:sp>
        <p:nvSpPr>
          <p:cNvPr id="6" name="Footer Placeholder 1">
            <a:extLst>
              <a:ext uri="{FF2B5EF4-FFF2-40B4-BE49-F238E27FC236}">
                <a16:creationId xmlns:a16="http://schemas.microsoft.com/office/drawing/2014/main" id="{2ECCDE1C-4DA6-EC1E-FFAB-00E9EF3A51D0}"/>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6881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CC4906-39EC-5A99-2463-76DF408858EF}"/>
              </a:ext>
            </a:extLst>
          </p:cNvPr>
          <p:cNvSpPr>
            <a:spLocks noGrp="1"/>
          </p:cNvSpPr>
          <p:nvPr>
            <p:ph idx="1"/>
          </p:nvPr>
        </p:nvSpPr>
        <p:spPr>
          <a:xfrm>
            <a:off x="1109302" y="2506663"/>
            <a:ext cx="9533947" cy="3068227"/>
          </a:xfrm>
        </p:spPr>
        <p:txBody>
          <a:bodyPr/>
          <a:lstStyle/>
          <a:p>
            <a:pPr marL="0" indent="0" algn="just">
              <a:lnSpc>
                <a:spcPct val="150000"/>
              </a:lnSpc>
              <a:buNone/>
            </a:pPr>
            <a:r>
              <a:rPr lang="fr-FR" dirty="0"/>
              <a:t>Si l’intelligence artificielle constitue une arme redoutable pour renforcer la cybersécurité, elle offre également de nouveaux outils aux cybercriminels. Ceux-ci exploitent désormais l’IA pour concevoir des attaques plus sophistiquées, plus rapides et plus difficiles à détecter. Par exemple, grâce aux algorithmes de génération de contenu, il est aujourd’hui possible de produire des courriels de phishing parfaitement rédigés, sans fautes de langue et personnalisés en fonction de la victime, rendant la fraude beaucoup plus crédible. De même,</a:t>
            </a:r>
          </a:p>
        </p:txBody>
      </p:sp>
      <p:sp>
        <p:nvSpPr>
          <p:cNvPr id="4" name="Text 0">
            <a:extLst>
              <a:ext uri="{FF2B5EF4-FFF2-40B4-BE49-F238E27FC236}">
                <a16:creationId xmlns:a16="http://schemas.microsoft.com/office/drawing/2014/main" id="{B1340432-87A5-2E8C-640B-17ABC311D504}"/>
              </a:ext>
            </a:extLst>
          </p:cNvPr>
          <p:cNvSpPr/>
          <p:nvPr/>
        </p:nvSpPr>
        <p:spPr>
          <a:xfrm>
            <a:off x="691005" y="859129"/>
            <a:ext cx="10370543" cy="642739"/>
          </a:xfrm>
          <a:prstGeom prst="rect">
            <a:avLst/>
          </a:prstGeom>
          <a:noFill/>
          <a:ln/>
        </p:spPr>
        <p:txBody>
          <a:bodyPr wrap="none" lIns="0" tIns="0" rIns="0" bIns="0" rtlCol="0" anchor="t"/>
          <a:lstStyle/>
          <a:p>
            <a:pPr algn="ctr">
              <a:lnSpc>
                <a:spcPts val="5041"/>
              </a:lnSpc>
            </a:pPr>
            <a:r>
              <a:rPr lang="en-US" sz="4042" dirty="0">
                <a:latin typeface="Merriweather" pitchFamily="34" charset="0"/>
                <a:ea typeface="Merriweather" pitchFamily="34" charset="-122"/>
                <a:cs typeface="Merriweather" pitchFamily="34" charset="-120"/>
              </a:rPr>
              <a:t>IV- Les nouvelles menaces alimentées </a:t>
            </a:r>
          </a:p>
          <a:p>
            <a:pPr algn="ctr">
              <a:lnSpc>
                <a:spcPts val="5041"/>
              </a:lnSpc>
            </a:pPr>
            <a:r>
              <a:rPr lang="en-US" sz="4042" dirty="0">
                <a:latin typeface="Merriweather" pitchFamily="34" charset="0"/>
                <a:ea typeface="Merriweather" pitchFamily="34" charset="-122"/>
                <a:cs typeface="Merriweather" pitchFamily="34" charset="-120"/>
              </a:rPr>
              <a:t>par l’IA</a:t>
            </a:r>
            <a:endParaRPr lang="en-US" sz="4042" dirty="0"/>
          </a:p>
        </p:txBody>
      </p:sp>
      <p:sp>
        <p:nvSpPr>
          <p:cNvPr id="5" name="Slide Number Placeholder 4">
            <a:extLst>
              <a:ext uri="{FF2B5EF4-FFF2-40B4-BE49-F238E27FC236}">
                <a16:creationId xmlns:a16="http://schemas.microsoft.com/office/drawing/2014/main" id="{598A7F23-49E1-838C-037C-D0F76D50CDAB}"/>
              </a:ext>
            </a:extLst>
          </p:cNvPr>
          <p:cNvSpPr>
            <a:spLocks noGrp="1"/>
          </p:cNvSpPr>
          <p:nvPr>
            <p:ph type="sldNum" sz="quarter" idx="12"/>
          </p:nvPr>
        </p:nvSpPr>
        <p:spPr/>
        <p:txBody>
          <a:bodyPr>
            <a:normAutofit lnSpcReduction="10000"/>
          </a:bodyPr>
          <a:lstStyle/>
          <a:p>
            <a:fld id="{56C15529-6386-4BD9-9180-8EBC622499B0}" type="slidenum">
              <a:rPr lang="fr-FR" smtClean="0"/>
              <a:t>16</a:t>
            </a:fld>
            <a:endParaRPr lang="fr-FR"/>
          </a:p>
        </p:txBody>
      </p:sp>
      <p:sp>
        <p:nvSpPr>
          <p:cNvPr id="6" name="Footer Placeholder 1">
            <a:extLst>
              <a:ext uri="{FF2B5EF4-FFF2-40B4-BE49-F238E27FC236}">
                <a16:creationId xmlns:a16="http://schemas.microsoft.com/office/drawing/2014/main" id="{7A7A3F27-54CB-E831-42DF-4AAA68005543}"/>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628842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91245" y="1038158"/>
            <a:ext cx="10752336" cy="658018"/>
          </a:xfrm>
          <a:prstGeom prst="rect">
            <a:avLst/>
          </a:prstGeom>
          <a:noFill/>
          <a:ln/>
        </p:spPr>
        <p:txBody>
          <a:bodyPr wrap="square" lIns="0" tIns="0" rIns="0" bIns="0" rtlCol="0" anchor="t"/>
          <a:lstStyle/>
          <a:p>
            <a:pPr>
              <a:lnSpc>
                <a:spcPts val="2583"/>
              </a:lnSpc>
            </a:pPr>
            <a:r>
              <a:rPr lang="en-US" sz="1583" dirty="0">
                <a:solidFill>
                  <a:srgbClr val="E2E6E9"/>
                </a:solidFill>
                <a:latin typeface="Merriweather" pitchFamily="34" charset="0"/>
                <a:ea typeface="Merriweather" pitchFamily="34" charset="-122"/>
                <a:cs typeface="Merriweather" pitchFamily="34" charset="-120"/>
              </a:rPr>
              <a:t>Les cybercriminels exploitent l’IA générative pour créer des malwares polymorphes et des attaques ciblées plus furtives.</a:t>
            </a:r>
            <a:endParaRPr lang="en-US" sz="1583" dirty="0"/>
          </a:p>
        </p:txBody>
      </p:sp>
      <p:sp>
        <p:nvSpPr>
          <p:cNvPr id="4" name="Shape 2"/>
          <p:cNvSpPr/>
          <p:nvPr/>
        </p:nvSpPr>
        <p:spPr>
          <a:xfrm>
            <a:off x="591245" y="2638579"/>
            <a:ext cx="102791" cy="102791"/>
          </a:xfrm>
          <a:prstGeom prst="roundRect">
            <a:avLst>
              <a:gd name="adj" fmla="val 370656"/>
            </a:avLst>
          </a:prstGeom>
          <a:solidFill>
            <a:srgbClr val="609DFF"/>
          </a:solidFill>
          <a:ln/>
        </p:spPr>
      </p:sp>
      <p:sp>
        <p:nvSpPr>
          <p:cNvPr id="5" name="Text 3"/>
          <p:cNvSpPr/>
          <p:nvPr/>
        </p:nvSpPr>
        <p:spPr>
          <a:xfrm>
            <a:off x="822623" y="2556819"/>
            <a:ext cx="3026469" cy="321270"/>
          </a:xfrm>
          <a:prstGeom prst="rect">
            <a:avLst/>
          </a:prstGeom>
          <a:noFill/>
          <a:ln/>
        </p:spPr>
        <p:txBody>
          <a:bodyPr wrap="none" lIns="0" tIns="0" rIns="0" bIns="0" rtlCol="0" anchor="t"/>
          <a:lstStyle/>
          <a:p>
            <a:pPr>
              <a:lnSpc>
                <a:spcPts val="2500"/>
              </a:lnSpc>
            </a:pPr>
            <a:r>
              <a:rPr lang="en-US" sz="2000" dirty="0">
                <a:solidFill>
                  <a:srgbClr val="E2E6E9"/>
                </a:solidFill>
                <a:latin typeface="Merriweather" pitchFamily="34" charset="0"/>
                <a:ea typeface="Merriweather" pitchFamily="34" charset="-122"/>
                <a:cs typeface="Merriweather" pitchFamily="34" charset="-120"/>
              </a:rPr>
              <a:t>Deepfakes et Usurpation</a:t>
            </a:r>
            <a:endParaRPr lang="en-US" sz="2000" dirty="0"/>
          </a:p>
        </p:txBody>
      </p:sp>
      <p:sp>
        <p:nvSpPr>
          <p:cNvPr id="6" name="Text 4"/>
          <p:cNvSpPr/>
          <p:nvPr/>
        </p:nvSpPr>
        <p:spPr>
          <a:xfrm>
            <a:off x="822623" y="3001418"/>
            <a:ext cx="4939109" cy="1316038"/>
          </a:xfrm>
          <a:prstGeom prst="rect">
            <a:avLst/>
          </a:prstGeom>
          <a:noFill/>
          <a:ln/>
        </p:spPr>
        <p:txBody>
          <a:bodyPr wrap="square" lIns="0" tIns="0" rIns="0" bIns="0" rtlCol="0" anchor="t"/>
          <a:lstStyle/>
          <a:p>
            <a:pPr>
              <a:lnSpc>
                <a:spcPts val="2583"/>
              </a:lnSpc>
            </a:pPr>
            <a:r>
              <a:rPr lang="en-US" sz="1583" dirty="0">
                <a:solidFill>
                  <a:srgbClr val="E2E6E9"/>
                </a:solidFill>
                <a:latin typeface="Merriweather" pitchFamily="34" charset="0"/>
                <a:ea typeface="Merriweather" pitchFamily="34" charset="-122"/>
                <a:cs typeface="Merriweather" pitchFamily="34" charset="-120"/>
              </a:rPr>
              <a:t>Exemple : deepfakes pour usurpation d’identité, automatisation des attaques par phishing hyper-personnalisées, rendant la détection extrêmement difficile.</a:t>
            </a:r>
            <a:endParaRPr lang="en-US" sz="1583" dirty="0"/>
          </a:p>
        </p:txBody>
      </p:sp>
      <p:sp>
        <p:nvSpPr>
          <p:cNvPr id="7" name="Shape 5"/>
          <p:cNvSpPr/>
          <p:nvPr/>
        </p:nvSpPr>
        <p:spPr>
          <a:xfrm>
            <a:off x="6353077" y="2666058"/>
            <a:ext cx="102791" cy="102791"/>
          </a:xfrm>
          <a:prstGeom prst="roundRect">
            <a:avLst>
              <a:gd name="adj" fmla="val 370656"/>
            </a:avLst>
          </a:prstGeom>
          <a:solidFill>
            <a:srgbClr val="609DFF"/>
          </a:solidFill>
          <a:ln/>
        </p:spPr>
      </p:sp>
      <p:sp>
        <p:nvSpPr>
          <p:cNvPr id="8" name="Text 6"/>
          <p:cNvSpPr/>
          <p:nvPr/>
        </p:nvSpPr>
        <p:spPr>
          <a:xfrm>
            <a:off x="6661548" y="2556819"/>
            <a:ext cx="2829421" cy="321270"/>
          </a:xfrm>
          <a:prstGeom prst="rect">
            <a:avLst/>
          </a:prstGeom>
          <a:noFill/>
          <a:ln/>
        </p:spPr>
        <p:txBody>
          <a:bodyPr wrap="none" lIns="0" tIns="0" rIns="0" bIns="0" rtlCol="0" anchor="t"/>
          <a:lstStyle/>
          <a:p>
            <a:pPr>
              <a:lnSpc>
                <a:spcPts val="2500"/>
              </a:lnSpc>
            </a:pPr>
            <a:r>
              <a:rPr lang="en-US" sz="2000" dirty="0">
                <a:solidFill>
                  <a:srgbClr val="E2E6E9"/>
                </a:solidFill>
                <a:latin typeface="Merriweather" pitchFamily="34" charset="0"/>
                <a:ea typeface="Merriweather" pitchFamily="34" charset="-122"/>
                <a:cs typeface="Merriweather" pitchFamily="34" charset="-120"/>
              </a:rPr>
              <a:t>Attaques Adversariales</a:t>
            </a:r>
            <a:endParaRPr lang="en-US" sz="2000" dirty="0"/>
          </a:p>
        </p:txBody>
      </p:sp>
      <p:sp>
        <p:nvSpPr>
          <p:cNvPr id="9" name="Text 7"/>
          <p:cNvSpPr/>
          <p:nvPr/>
        </p:nvSpPr>
        <p:spPr>
          <a:xfrm>
            <a:off x="6661547" y="3001418"/>
            <a:ext cx="4939208" cy="1316038"/>
          </a:xfrm>
          <a:prstGeom prst="rect">
            <a:avLst/>
          </a:prstGeom>
          <a:noFill/>
          <a:ln/>
        </p:spPr>
        <p:txBody>
          <a:bodyPr wrap="square" lIns="0" tIns="0" rIns="0" bIns="0" rtlCol="0" anchor="t"/>
          <a:lstStyle/>
          <a:p>
            <a:pPr>
              <a:lnSpc>
                <a:spcPts val="2583"/>
              </a:lnSpc>
            </a:pPr>
            <a:r>
              <a:rPr lang="en-US" sz="1583" dirty="0">
                <a:solidFill>
                  <a:srgbClr val="E2E6E9"/>
                </a:solidFill>
                <a:latin typeface="Merriweather" pitchFamily="34" charset="0"/>
                <a:ea typeface="Merriweather" pitchFamily="34" charset="-122"/>
                <a:cs typeface="Merriweather" pitchFamily="34" charset="-120"/>
              </a:rPr>
              <a:t>Les systèmes d’IA eux-mêmes sont vulnérables à des attaques adversariales qui manipulent leur « façon de penser », compromettant l'intégrité de leurs décisions.</a:t>
            </a:r>
            <a:endParaRPr lang="en-US" sz="1583" dirty="0"/>
          </a:p>
        </p:txBody>
      </p:sp>
      <p:sp>
        <p:nvSpPr>
          <p:cNvPr id="12" name="TextBox 11">
            <a:extLst>
              <a:ext uri="{FF2B5EF4-FFF2-40B4-BE49-F238E27FC236}">
                <a16:creationId xmlns:a16="http://schemas.microsoft.com/office/drawing/2014/main" id="{1599361F-FFAD-3312-63BF-D0FC3D909946}"/>
              </a:ext>
            </a:extLst>
          </p:cNvPr>
          <p:cNvSpPr txBox="1"/>
          <p:nvPr/>
        </p:nvSpPr>
        <p:spPr>
          <a:xfrm>
            <a:off x="694036" y="4796050"/>
            <a:ext cx="10906719" cy="923330"/>
          </a:xfrm>
          <a:prstGeom prst="rect">
            <a:avLst/>
          </a:prstGeom>
          <a:noFill/>
        </p:spPr>
        <p:txBody>
          <a:bodyPr wrap="square">
            <a:spAutoFit/>
          </a:bodyPr>
          <a:lstStyle/>
          <a:p>
            <a:pPr algn="just"/>
            <a:r>
              <a:rPr lang="fr-FR" sz="1800" dirty="0">
                <a:solidFill>
                  <a:schemeClr val="bg1"/>
                </a:solidFill>
                <a:latin typeface="Times New Roman" panose="02020603050405020304" pitchFamily="18" charset="0"/>
                <a:cs typeface="Times New Roman" panose="02020603050405020304" pitchFamily="18" charset="0"/>
              </a:rPr>
              <a:t>Enfin, un risque majeur réside dans l’utilisation de l’IA pour mener des cyberattaques ciblées. Grâce à l’analyse de données massives (big data), les attaquants peuvent dresser des profils psychologiques et comportementaux très précis de leurs victimes, afin de concevoir des attaques de type ingénierie sociale d’une efficacité redoutable.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856B-E107-4F87-DDE5-D2B28C2053FC}"/>
              </a:ext>
            </a:extLst>
          </p:cNvPr>
          <p:cNvSpPr>
            <a:spLocks noGrp="1"/>
          </p:cNvSpPr>
          <p:nvPr>
            <p:ph type="title"/>
          </p:nvPr>
        </p:nvSpPr>
        <p:spPr>
          <a:xfrm>
            <a:off x="2223762" y="441802"/>
            <a:ext cx="7744476" cy="747425"/>
          </a:xfrm>
        </p:spPr>
        <p:txBody>
          <a:bodyPr>
            <a:normAutofit fontScale="90000"/>
          </a:bodyPr>
          <a:lstStyle/>
          <a:p>
            <a:r>
              <a:rPr lang="fr-FR" dirty="0"/>
              <a:t>dangers de l'IA pour la société</a:t>
            </a:r>
          </a:p>
        </p:txBody>
      </p:sp>
      <p:sp>
        <p:nvSpPr>
          <p:cNvPr id="3" name="Content Placeholder 2">
            <a:extLst>
              <a:ext uri="{FF2B5EF4-FFF2-40B4-BE49-F238E27FC236}">
                <a16:creationId xmlns:a16="http://schemas.microsoft.com/office/drawing/2014/main" id="{88B2352C-A8A8-364E-E372-35B21D159052}"/>
              </a:ext>
            </a:extLst>
          </p:cNvPr>
          <p:cNvSpPr>
            <a:spLocks noGrp="1"/>
          </p:cNvSpPr>
          <p:nvPr>
            <p:ph idx="1"/>
          </p:nvPr>
        </p:nvSpPr>
        <p:spPr>
          <a:xfrm>
            <a:off x="1317524" y="1700808"/>
            <a:ext cx="4089854" cy="4948348"/>
          </a:xfrm>
        </p:spPr>
        <p:txBody>
          <a:bodyPr/>
          <a:lstStyle/>
          <a:p>
            <a:pPr marL="0" indent="0" algn="ctr">
              <a:buNone/>
            </a:pPr>
            <a:r>
              <a:rPr lang="fr-FR" b="1" dirty="0"/>
              <a:t>Désinformation et manipulation</a:t>
            </a:r>
          </a:p>
          <a:p>
            <a:r>
              <a:rPr lang="fr-FR" b="1" dirty="0"/>
              <a:t>Danger</a:t>
            </a:r>
            <a:r>
              <a:rPr lang="fr-FR" dirty="0"/>
              <a:t> : L’IA peut générer et diffuser à grande échelle de fausses informations (</a:t>
            </a:r>
            <a:r>
              <a:rPr lang="fr-FR" dirty="0" err="1"/>
              <a:t>deepfakes</a:t>
            </a:r>
            <a:r>
              <a:rPr lang="fr-FR" dirty="0"/>
              <a:t>, fake news).</a:t>
            </a:r>
          </a:p>
          <a:p>
            <a:r>
              <a:rPr lang="fr-FR" b="1" dirty="0"/>
              <a:t>Impact</a:t>
            </a:r>
            <a:r>
              <a:rPr lang="fr-FR" dirty="0"/>
              <a:t> : Manipulation de l’opinion publique, influence d’élections, perte de confiance dans les médias.</a:t>
            </a:r>
          </a:p>
          <a:p>
            <a:r>
              <a:rPr lang="fr-FR" b="1" dirty="0"/>
              <a:t>Exemple</a:t>
            </a:r>
            <a:r>
              <a:rPr lang="fr-FR" dirty="0"/>
              <a:t> : </a:t>
            </a:r>
            <a:r>
              <a:rPr lang="fr-FR" dirty="0" err="1"/>
              <a:t>Deepfake</a:t>
            </a:r>
            <a:r>
              <a:rPr lang="fr-FR" dirty="0"/>
              <a:t> d’un président annonçant une fausse décision politique → panique sur les marchés.</a:t>
            </a:r>
          </a:p>
        </p:txBody>
      </p:sp>
      <p:sp>
        <p:nvSpPr>
          <p:cNvPr id="4" name="Content Placeholder 2">
            <a:extLst>
              <a:ext uri="{FF2B5EF4-FFF2-40B4-BE49-F238E27FC236}">
                <a16:creationId xmlns:a16="http://schemas.microsoft.com/office/drawing/2014/main" id="{C53CC855-292E-6429-B765-92BFC765C17E}"/>
              </a:ext>
            </a:extLst>
          </p:cNvPr>
          <p:cNvSpPr txBox="1">
            <a:spLocks/>
          </p:cNvSpPr>
          <p:nvPr/>
        </p:nvSpPr>
        <p:spPr>
          <a:xfrm>
            <a:off x="6015670" y="1700808"/>
            <a:ext cx="3952568" cy="494834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fr-FR" b="1" dirty="0"/>
              <a:t> Atteintes à la vie privée</a:t>
            </a:r>
          </a:p>
          <a:p>
            <a:r>
              <a:rPr lang="fr-FR" b="1" dirty="0"/>
              <a:t>Danger</a:t>
            </a:r>
            <a:r>
              <a:rPr lang="fr-FR" dirty="0"/>
              <a:t> : L’IA analyse et croise d’immenses volumes de données personnelles.</a:t>
            </a:r>
          </a:p>
          <a:p>
            <a:r>
              <a:rPr lang="fr-FR" b="1" dirty="0"/>
              <a:t>Impact</a:t>
            </a:r>
            <a:r>
              <a:rPr lang="fr-FR" dirty="0"/>
              <a:t> : Surveillance de masse, disparition de l’anonymat, exploitation commerciale intrusive.</a:t>
            </a:r>
          </a:p>
          <a:p>
            <a:r>
              <a:rPr lang="fr-FR" b="1" dirty="0"/>
              <a:t>Exemple</a:t>
            </a:r>
            <a:r>
              <a:rPr lang="fr-FR" dirty="0"/>
              <a:t> : Reconnaissance faciale omniprésente dans les espaces publics.</a:t>
            </a:r>
          </a:p>
        </p:txBody>
      </p:sp>
      <p:sp>
        <p:nvSpPr>
          <p:cNvPr id="8" name="Slide Number Placeholder 7">
            <a:extLst>
              <a:ext uri="{FF2B5EF4-FFF2-40B4-BE49-F238E27FC236}">
                <a16:creationId xmlns:a16="http://schemas.microsoft.com/office/drawing/2014/main" id="{2C0BC64D-EF45-02DD-6D9D-D957B267E30A}"/>
              </a:ext>
            </a:extLst>
          </p:cNvPr>
          <p:cNvSpPr>
            <a:spLocks noGrp="1"/>
          </p:cNvSpPr>
          <p:nvPr>
            <p:ph type="sldNum" sz="quarter" idx="12"/>
          </p:nvPr>
        </p:nvSpPr>
        <p:spPr/>
        <p:txBody>
          <a:bodyPr>
            <a:normAutofit lnSpcReduction="10000"/>
          </a:bodyPr>
          <a:lstStyle/>
          <a:p>
            <a:fld id="{56C15529-6386-4BD9-9180-8EBC622499B0}" type="slidenum">
              <a:rPr lang="fr-FR" smtClean="0"/>
              <a:t>18</a:t>
            </a:fld>
            <a:endParaRPr lang="fr-FR"/>
          </a:p>
        </p:txBody>
      </p:sp>
      <p:sp>
        <p:nvSpPr>
          <p:cNvPr id="9" name="Footer Placeholder 1">
            <a:extLst>
              <a:ext uri="{FF2B5EF4-FFF2-40B4-BE49-F238E27FC236}">
                <a16:creationId xmlns:a16="http://schemas.microsoft.com/office/drawing/2014/main" id="{CA374552-A707-EA38-B4DE-E761EF356388}"/>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3084836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B2EA0-B260-945C-F06F-AC317A2B5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AA4DE-E541-DB07-4931-58D4D5ACD3D6}"/>
              </a:ext>
            </a:extLst>
          </p:cNvPr>
          <p:cNvSpPr>
            <a:spLocks noGrp="1"/>
          </p:cNvSpPr>
          <p:nvPr>
            <p:ph type="title"/>
          </p:nvPr>
        </p:nvSpPr>
        <p:spPr>
          <a:xfrm>
            <a:off x="2223762" y="441802"/>
            <a:ext cx="7744476" cy="747425"/>
          </a:xfrm>
        </p:spPr>
        <p:txBody>
          <a:bodyPr>
            <a:normAutofit/>
          </a:bodyPr>
          <a:lstStyle/>
          <a:p>
            <a:r>
              <a:rPr lang="fr-FR" dirty="0"/>
              <a:t>dangers de l'IA pour l’armée</a:t>
            </a:r>
          </a:p>
        </p:txBody>
      </p:sp>
      <p:sp>
        <p:nvSpPr>
          <p:cNvPr id="3" name="Content Placeholder 2">
            <a:extLst>
              <a:ext uri="{FF2B5EF4-FFF2-40B4-BE49-F238E27FC236}">
                <a16:creationId xmlns:a16="http://schemas.microsoft.com/office/drawing/2014/main" id="{6D40920C-8E4B-134D-21E2-0B5B85BBF7D4}"/>
              </a:ext>
            </a:extLst>
          </p:cNvPr>
          <p:cNvSpPr>
            <a:spLocks noGrp="1"/>
          </p:cNvSpPr>
          <p:nvPr>
            <p:ph idx="1"/>
          </p:nvPr>
        </p:nvSpPr>
        <p:spPr>
          <a:xfrm>
            <a:off x="1317524" y="1700808"/>
            <a:ext cx="4089854" cy="4948348"/>
          </a:xfrm>
        </p:spPr>
        <p:txBody>
          <a:bodyPr/>
          <a:lstStyle/>
          <a:p>
            <a:pPr marL="0" indent="0" algn="ctr">
              <a:buNone/>
            </a:pPr>
            <a:r>
              <a:rPr lang="fr-FR" sz="2000" b="1" dirty="0"/>
              <a:t>Perte de contrôle humain</a:t>
            </a:r>
          </a:p>
          <a:p>
            <a:r>
              <a:rPr lang="fr-FR" b="1" dirty="0"/>
              <a:t>Danger</a:t>
            </a:r>
            <a:r>
              <a:rPr lang="fr-FR" dirty="0"/>
              <a:t> : Systèmes d’armes autonomes prenant des décisions létales sans intervention humaine.</a:t>
            </a:r>
          </a:p>
          <a:p>
            <a:r>
              <a:rPr lang="fr-FR" b="1" dirty="0"/>
              <a:t>Impact</a:t>
            </a:r>
            <a:r>
              <a:rPr lang="fr-FR" dirty="0"/>
              <a:t> : Erreurs de ciblage, dommages collatéraux massifs.</a:t>
            </a:r>
          </a:p>
          <a:p>
            <a:r>
              <a:rPr lang="fr-FR" b="1" dirty="0"/>
              <a:t>Exemple</a:t>
            </a:r>
            <a:r>
              <a:rPr lang="fr-FR" dirty="0"/>
              <a:t> : Drone autonome frappant une cible civile suite à une mauvaise interprétation de données</a:t>
            </a:r>
          </a:p>
        </p:txBody>
      </p:sp>
      <p:sp>
        <p:nvSpPr>
          <p:cNvPr id="4" name="Content Placeholder 2">
            <a:extLst>
              <a:ext uri="{FF2B5EF4-FFF2-40B4-BE49-F238E27FC236}">
                <a16:creationId xmlns:a16="http://schemas.microsoft.com/office/drawing/2014/main" id="{164D5D33-04D4-9F46-0E71-013AF94E6A71}"/>
              </a:ext>
            </a:extLst>
          </p:cNvPr>
          <p:cNvSpPr txBox="1">
            <a:spLocks/>
          </p:cNvSpPr>
          <p:nvPr/>
        </p:nvSpPr>
        <p:spPr>
          <a:xfrm>
            <a:off x="6015670" y="1700808"/>
            <a:ext cx="3952568" cy="494834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ctr">
              <a:buNone/>
            </a:pPr>
            <a:r>
              <a:rPr lang="fr-FR" sz="2000" b="1" dirty="0"/>
              <a:t>Guerre de l’information et manipulation</a:t>
            </a:r>
          </a:p>
          <a:p>
            <a:r>
              <a:rPr lang="fr-FR" b="1" dirty="0"/>
              <a:t>Danger</a:t>
            </a:r>
            <a:r>
              <a:rPr lang="fr-FR" dirty="0"/>
              <a:t> : Propagation massive de désinformation militaire grâce aux </a:t>
            </a:r>
            <a:r>
              <a:rPr lang="fr-FR" dirty="0" err="1"/>
              <a:t>deepfakes</a:t>
            </a:r>
            <a:r>
              <a:rPr lang="fr-FR" dirty="0"/>
              <a:t> et bots IA.</a:t>
            </a:r>
          </a:p>
          <a:p>
            <a:r>
              <a:rPr lang="fr-FR" b="1" dirty="0"/>
              <a:t>Impact</a:t>
            </a:r>
            <a:r>
              <a:rPr lang="fr-FR" dirty="0"/>
              <a:t> : Démoralisation des troupes, confusion des populations, perte de confiance dans le commandement.</a:t>
            </a:r>
          </a:p>
          <a:p>
            <a:r>
              <a:rPr lang="fr-FR" b="1" dirty="0"/>
              <a:t>Exemple</a:t>
            </a:r>
            <a:r>
              <a:rPr lang="fr-FR" dirty="0"/>
              <a:t> : Vidéo </a:t>
            </a:r>
            <a:r>
              <a:rPr lang="fr-FR" dirty="0" err="1"/>
              <a:t>deepfake</a:t>
            </a:r>
            <a:r>
              <a:rPr lang="fr-FR" dirty="0"/>
              <a:t> d’un chef militaire annonçant une reddition fictive.</a:t>
            </a:r>
          </a:p>
        </p:txBody>
      </p:sp>
      <p:sp>
        <p:nvSpPr>
          <p:cNvPr id="8" name="Slide Number Placeholder 7">
            <a:extLst>
              <a:ext uri="{FF2B5EF4-FFF2-40B4-BE49-F238E27FC236}">
                <a16:creationId xmlns:a16="http://schemas.microsoft.com/office/drawing/2014/main" id="{87C0C690-215A-2A88-D192-A87DC6106406}"/>
              </a:ext>
            </a:extLst>
          </p:cNvPr>
          <p:cNvSpPr>
            <a:spLocks noGrp="1"/>
          </p:cNvSpPr>
          <p:nvPr>
            <p:ph type="sldNum" sz="quarter" idx="12"/>
          </p:nvPr>
        </p:nvSpPr>
        <p:spPr/>
        <p:txBody>
          <a:bodyPr>
            <a:normAutofit lnSpcReduction="10000"/>
          </a:bodyPr>
          <a:lstStyle/>
          <a:p>
            <a:fld id="{56C15529-6386-4BD9-9180-8EBC622499B0}" type="slidenum">
              <a:rPr lang="fr-FR" smtClean="0"/>
              <a:t>19</a:t>
            </a:fld>
            <a:endParaRPr lang="fr-FR"/>
          </a:p>
        </p:txBody>
      </p:sp>
      <p:sp>
        <p:nvSpPr>
          <p:cNvPr id="9" name="Footer Placeholder 1">
            <a:extLst>
              <a:ext uri="{FF2B5EF4-FFF2-40B4-BE49-F238E27FC236}">
                <a16:creationId xmlns:a16="http://schemas.microsoft.com/office/drawing/2014/main" id="{DBA840C4-294C-1594-51D1-5548871AA91D}"/>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960106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A9F6B-2A26-3253-BB09-8811BF7FB925}"/>
              </a:ext>
            </a:extLst>
          </p:cNvPr>
          <p:cNvSpPr>
            <a:spLocks noGrp="1"/>
          </p:cNvSpPr>
          <p:nvPr>
            <p:ph type="title"/>
          </p:nvPr>
        </p:nvSpPr>
        <p:spPr>
          <a:xfrm>
            <a:off x="2405658" y="731940"/>
            <a:ext cx="6817000" cy="737420"/>
          </a:xfrm>
        </p:spPr>
        <p:txBody>
          <a:bodyPr>
            <a:normAutofit/>
          </a:bodyPr>
          <a:lstStyle/>
          <a:p>
            <a:r>
              <a:rPr lang="fr-FR" dirty="0"/>
              <a:t>V- Limites et défis actuels </a:t>
            </a:r>
          </a:p>
        </p:txBody>
      </p:sp>
      <p:sp>
        <p:nvSpPr>
          <p:cNvPr id="3" name="Content Placeholder 2">
            <a:extLst>
              <a:ext uri="{FF2B5EF4-FFF2-40B4-BE49-F238E27FC236}">
                <a16:creationId xmlns:a16="http://schemas.microsoft.com/office/drawing/2014/main" id="{DA90B54F-41E2-CAE4-376F-BB889292A073}"/>
              </a:ext>
            </a:extLst>
          </p:cNvPr>
          <p:cNvSpPr>
            <a:spLocks noGrp="1"/>
          </p:cNvSpPr>
          <p:nvPr>
            <p:ph idx="1"/>
          </p:nvPr>
        </p:nvSpPr>
        <p:spPr>
          <a:xfrm>
            <a:off x="1134004" y="2123769"/>
            <a:ext cx="9360309" cy="3500284"/>
          </a:xfrm>
        </p:spPr>
        <p:txBody>
          <a:bodyPr>
            <a:normAutofit/>
          </a:bodyPr>
          <a:lstStyle/>
          <a:p>
            <a:pPr marL="0" indent="0" algn="just">
              <a:lnSpc>
                <a:spcPct val="150000"/>
              </a:lnSpc>
              <a:buNone/>
            </a:pPr>
            <a:r>
              <a:rPr lang="fr-FR" dirty="0"/>
              <a:t>Si l’intelligence artificielle révolutionne la cybersécurité, il serait dangereux de la considérer comme une solution miracle. Comme toute technologie, elle comporte ses </a:t>
            </a:r>
            <a:r>
              <a:rPr lang="fr-FR" b="1" dirty="0"/>
              <a:t>failles</a:t>
            </a:r>
            <a:r>
              <a:rPr lang="fr-FR" dirty="0"/>
              <a:t> et ses </a:t>
            </a:r>
            <a:r>
              <a:rPr lang="fr-FR" b="1" dirty="0"/>
              <a:t>zones d’ombre</a:t>
            </a:r>
            <a:r>
              <a:rPr lang="fr-FR" dirty="0"/>
              <a:t>. Son efficacité dépend non seulement des données qu’elle exploite, mais aussi de la manière dont elle est intégrée aux processus humains et techniques. Ainsi, avant de penser à son plein potentiel, il est essentiel de reconnaître ses </a:t>
            </a:r>
            <a:r>
              <a:rPr lang="fr-FR" b="1" dirty="0"/>
              <a:t>limites actuelles</a:t>
            </a:r>
            <a:r>
              <a:rPr lang="fr-FR" dirty="0"/>
              <a:t> et les </a:t>
            </a:r>
            <a:r>
              <a:rPr lang="fr-FR" b="1" dirty="0"/>
              <a:t>défis majeurs</a:t>
            </a:r>
            <a:r>
              <a:rPr lang="fr-FR" dirty="0"/>
              <a:t> qu’il reste à relever pour en faire un allié fiable et durable dans la défense numérique.</a:t>
            </a:r>
          </a:p>
        </p:txBody>
      </p:sp>
      <p:sp>
        <p:nvSpPr>
          <p:cNvPr id="5" name="Slide Number Placeholder 4">
            <a:extLst>
              <a:ext uri="{FF2B5EF4-FFF2-40B4-BE49-F238E27FC236}">
                <a16:creationId xmlns:a16="http://schemas.microsoft.com/office/drawing/2014/main" id="{39581D42-A85A-59B5-AB37-69F0D92C09F3}"/>
              </a:ext>
            </a:extLst>
          </p:cNvPr>
          <p:cNvSpPr>
            <a:spLocks noGrp="1"/>
          </p:cNvSpPr>
          <p:nvPr>
            <p:ph type="sldNum" sz="quarter" idx="12"/>
          </p:nvPr>
        </p:nvSpPr>
        <p:spPr/>
        <p:txBody>
          <a:bodyPr>
            <a:normAutofit lnSpcReduction="10000"/>
          </a:bodyPr>
          <a:lstStyle/>
          <a:p>
            <a:fld id="{56C15529-6386-4BD9-9180-8EBC622499B0}" type="slidenum">
              <a:rPr lang="fr-FR" smtClean="0"/>
              <a:t>20</a:t>
            </a:fld>
            <a:endParaRPr lang="fr-FR"/>
          </a:p>
        </p:txBody>
      </p:sp>
      <p:sp>
        <p:nvSpPr>
          <p:cNvPr id="6" name="Footer Placeholder 1">
            <a:extLst>
              <a:ext uri="{FF2B5EF4-FFF2-40B4-BE49-F238E27FC236}">
                <a16:creationId xmlns:a16="http://schemas.microsoft.com/office/drawing/2014/main" id="{581564DE-6BC2-20FF-923B-22FDE9391B2C}"/>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4058071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BA78A-4BDC-F41A-1E07-439FFD09814B}"/>
              </a:ext>
            </a:extLst>
          </p:cNvPr>
          <p:cNvSpPr>
            <a:spLocks noGrp="1"/>
          </p:cNvSpPr>
          <p:nvPr>
            <p:ph type="title"/>
          </p:nvPr>
        </p:nvSpPr>
        <p:spPr>
          <a:xfrm>
            <a:off x="2323706" y="796413"/>
            <a:ext cx="7544588" cy="648929"/>
          </a:xfrm>
        </p:spPr>
        <p:txBody>
          <a:bodyPr>
            <a:normAutofit fontScale="90000"/>
          </a:bodyPr>
          <a:lstStyle/>
          <a:p>
            <a:r>
              <a:rPr lang="fr-FR" sz="3200" b="1" dirty="0"/>
              <a:t>1- Les limites de l’IA en cybersécurité</a:t>
            </a:r>
            <a:endParaRPr lang="fr-FR" sz="3200" dirty="0"/>
          </a:p>
        </p:txBody>
      </p:sp>
      <p:sp>
        <p:nvSpPr>
          <p:cNvPr id="3" name="Content Placeholder 2">
            <a:extLst>
              <a:ext uri="{FF2B5EF4-FFF2-40B4-BE49-F238E27FC236}">
                <a16:creationId xmlns:a16="http://schemas.microsoft.com/office/drawing/2014/main" id="{C637CD45-25DD-72E4-29ED-407FAA571C4C}"/>
              </a:ext>
            </a:extLst>
          </p:cNvPr>
          <p:cNvSpPr>
            <a:spLocks noGrp="1"/>
          </p:cNvSpPr>
          <p:nvPr>
            <p:ph idx="1"/>
          </p:nvPr>
        </p:nvSpPr>
        <p:spPr>
          <a:xfrm>
            <a:off x="1261872" y="1828800"/>
            <a:ext cx="9543780" cy="4351337"/>
          </a:xfrm>
        </p:spPr>
        <p:txBody>
          <a:bodyPr>
            <a:normAutofit/>
          </a:bodyPr>
          <a:lstStyle/>
          <a:p>
            <a:pPr marL="0" indent="0">
              <a:buNone/>
            </a:pPr>
            <a:r>
              <a:rPr lang="fr-FR" dirty="0"/>
              <a:t>Malgré son efficacité, l’intelligence artificielle reste marquée par certaines faiblesses.</a:t>
            </a:r>
          </a:p>
          <a:p>
            <a:r>
              <a:rPr lang="fr-FR" dirty="0"/>
              <a:t>Elle est </a:t>
            </a:r>
            <a:r>
              <a:rPr lang="fr-FR" b="1" dirty="0"/>
              <a:t>fortement dépendante des données</a:t>
            </a:r>
            <a:r>
              <a:rPr lang="fr-FR" dirty="0"/>
              <a:t> : sans grands volumes de données de qualité et variées, ses performances chutent. Dans la cybersécurité, ces données sont souvent sensibles et difficiles à partager.</a:t>
            </a:r>
          </a:p>
          <a:p>
            <a:r>
              <a:rPr lang="fr-FR" dirty="0"/>
              <a:t>Elle génère encore beaucoup de </a:t>
            </a:r>
            <a:r>
              <a:rPr lang="fr-FR" b="1" dirty="0"/>
              <a:t>faux positifs et faux négatifs</a:t>
            </a:r>
            <a:r>
              <a:rPr lang="fr-FR" dirty="0"/>
              <a:t>, ce qui peut surcharger les équipes et créer un sentiment de méfiance vis-à-vis de l’outil.</a:t>
            </a:r>
          </a:p>
          <a:p>
            <a:r>
              <a:rPr lang="fr-FR" dirty="0"/>
              <a:t>Elle souffre du </a:t>
            </a:r>
            <a:r>
              <a:rPr lang="fr-FR" b="1" dirty="0"/>
              <a:t>problème de la boîte noire</a:t>
            </a:r>
            <a:r>
              <a:rPr lang="fr-FR" dirty="0"/>
              <a:t> (</a:t>
            </a:r>
            <a:r>
              <a:rPr lang="fr-FR" i="1" dirty="0"/>
              <a:t>black box </a:t>
            </a:r>
            <a:r>
              <a:rPr lang="fr-FR" i="1" dirty="0" err="1"/>
              <a:t>problem</a:t>
            </a:r>
            <a:r>
              <a:rPr lang="fr-FR" dirty="0"/>
              <a:t>) : les décisions de certains modèles sont difficiles à expliquer, rendant leur adoption complexe pour des environnements où la traçabilité est cruciale.</a:t>
            </a:r>
          </a:p>
          <a:p>
            <a:r>
              <a:rPr lang="fr-FR" dirty="0"/>
              <a:t>Enfin, l’IA elle-même peut être </a:t>
            </a:r>
            <a:r>
              <a:rPr lang="fr-FR" b="1" dirty="0"/>
              <a:t>manipulée ou attaquée</a:t>
            </a:r>
            <a:r>
              <a:rPr lang="fr-FR" dirty="0"/>
              <a:t> par des adversaires (attaques </a:t>
            </a:r>
            <a:r>
              <a:rPr lang="fr-FR" dirty="0" err="1"/>
              <a:t>adversariales</a:t>
            </a:r>
            <a:r>
              <a:rPr lang="fr-FR" dirty="0"/>
              <a:t>), ce qui transforme une arme défensive en faiblesse potentielle.</a:t>
            </a:r>
          </a:p>
          <a:p>
            <a:pPr marL="0" indent="0">
              <a:buNone/>
            </a:pPr>
            <a:endParaRPr lang="fr-FR" dirty="0"/>
          </a:p>
        </p:txBody>
      </p:sp>
      <p:sp>
        <p:nvSpPr>
          <p:cNvPr id="5" name="Slide Number Placeholder 4">
            <a:extLst>
              <a:ext uri="{FF2B5EF4-FFF2-40B4-BE49-F238E27FC236}">
                <a16:creationId xmlns:a16="http://schemas.microsoft.com/office/drawing/2014/main" id="{F1BE90A7-C0A8-B56A-FA17-C6EC7BC45269}"/>
              </a:ext>
            </a:extLst>
          </p:cNvPr>
          <p:cNvSpPr>
            <a:spLocks noGrp="1"/>
          </p:cNvSpPr>
          <p:nvPr>
            <p:ph type="sldNum" sz="quarter" idx="12"/>
          </p:nvPr>
        </p:nvSpPr>
        <p:spPr/>
        <p:txBody>
          <a:bodyPr>
            <a:normAutofit lnSpcReduction="10000"/>
          </a:bodyPr>
          <a:lstStyle/>
          <a:p>
            <a:fld id="{56C15529-6386-4BD9-9180-8EBC622499B0}" type="slidenum">
              <a:rPr lang="fr-FR" smtClean="0"/>
              <a:t>21</a:t>
            </a:fld>
            <a:endParaRPr lang="fr-FR"/>
          </a:p>
        </p:txBody>
      </p:sp>
      <p:sp>
        <p:nvSpPr>
          <p:cNvPr id="6" name="Footer Placeholder 1">
            <a:extLst>
              <a:ext uri="{FF2B5EF4-FFF2-40B4-BE49-F238E27FC236}">
                <a16:creationId xmlns:a16="http://schemas.microsoft.com/office/drawing/2014/main" id="{CE11DF85-56F8-907C-2CB7-1A0854DFEC4B}"/>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826391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CF60-CEE8-45F3-7F6D-5D7AF4E4235F}"/>
              </a:ext>
            </a:extLst>
          </p:cNvPr>
          <p:cNvSpPr>
            <a:spLocks noGrp="1"/>
          </p:cNvSpPr>
          <p:nvPr>
            <p:ph type="title"/>
          </p:nvPr>
        </p:nvSpPr>
        <p:spPr>
          <a:xfrm>
            <a:off x="3909994" y="835741"/>
            <a:ext cx="4372012" cy="550607"/>
          </a:xfrm>
        </p:spPr>
        <p:txBody>
          <a:bodyPr>
            <a:noAutofit/>
          </a:bodyPr>
          <a:lstStyle/>
          <a:p>
            <a:r>
              <a:rPr lang="fr-FR" sz="3200" b="1" dirty="0"/>
              <a:t>2. Les défis à relever</a:t>
            </a:r>
            <a:endParaRPr lang="fr-FR" sz="3200" dirty="0"/>
          </a:p>
        </p:txBody>
      </p:sp>
      <p:sp>
        <p:nvSpPr>
          <p:cNvPr id="3" name="Content Placeholder 2">
            <a:extLst>
              <a:ext uri="{FF2B5EF4-FFF2-40B4-BE49-F238E27FC236}">
                <a16:creationId xmlns:a16="http://schemas.microsoft.com/office/drawing/2014/main" id="{D986680E-13AB-627B-9C42-8F89FFDB4B1A}"/>
              </a:ext>
            </a:extLst>
          </p:cNvPr>
          <p:cNvSpPr>
            <a:spLocks noGrp="1"/>
          </p:cNvSpPr>
          <p:nvPr>
            <p:ph idx="1"/>
          </p:nvPr>
        </p:nvSpPr>
        <p:spPr>
          <a:xfrm>
            <a:off x="766916" y="1558413"/>
            <a:ext cx="9694607" cy="4793226"/>
          </a:xfrm>
        </p:spPr>
        <p:txBody>
          <a:bodyPr>
            <a:normAutofit/>
          </a:bodyPr>
          <a:lstStyle/>
          <a:p>
            <a:pPr marL="0" indent="0" algn="just">
              <a:buNone/>
            </a:pPr>
            <a:br>
              <a:rPr lang="fr-FR" dirty="0"/>
            </a:br>
            <a:r>
              <a:rPr lang="fr-FR" dirty="0"/>
              <a:t>Au-delà de ces limites techniques, plusieurs défis stratégiques et humains restent posés :</a:t>
            </a:r>
          </a:p>
          <a:p>
            <a:pPr algn="just"/>
            <a:r>
              <a:rPr lang="fr-FR" b="1" dirty="0"/>
              <a:t>Renforcer la confiance et la transparence</a:t>
            </a:r>
            <a:r>
              <a:rPr lang="fr-FR" dirty="0"/>
              <a:t> : il faut développer des IA explicables capables de justifier leurs décisions.</a:t>
            </a:r>
          </a:p>
          <a:p>
            <a:pPr algn="just"/>
            <a:r>
              <a:rPr lang="fr-FR" b="1" dirty="0"/>
              <a:t>Trouver le juste équilibre homme-machine</a:t>
            </a:r>
            <a:r>
              <a:rPr lang="fr-FR" dirty="0"/>
              <a:t> : l’IA doit assister les analystes sans jamais remplacer le jugement humain.</a:t>
            </a:r>
          </a:p>
          <a:p>
            <a:pPr algn="just"/>
            <a:r>
              <a:rPr lang="fr-FR" b="1" dirty="0"/>
              <a:t>Protéger l’IA elle-même</a:t>
            </a:r>
            <a:r>
              <a:rPr lang="fr-FR" dirty="0"/>
              <a:t> : mettre en place des mécanismes de défense contre les manipulations malveillantes et les biais dans les données.</a:t>
            </a:r>
          </a:p>
          <a:p>
            <a:pPr algn="just"/>
            <a:r>
              <a:rPr lang="fr-FR" b="1" dirty="0"/>
              <a:t>Coordination et réglementation</a:t>
            </a:r>
            <a:r>
              <a:rPr lang="fr-FR" dirty="0"/>
              <a:t> : harmoniser les normes de cybersécurité, partager l’information entre organisations, et encadrer légalement l’usage de l’IA pour éviter les dérives.</a:t>
            </a:r>
          </a:p>
          <a:p>
            <a:pPr algn="just"/>
            <a:r>
              <a:rPr lang="fr-FR" b="1" dirty="0"/>
              <a:t>Former les experts</a:t>
            </a:r>
            <a:r>
              <a:rPr lang="fr-FR" dirty="0"/>
              <a:t> : la cybersécurité de demain nécessite des professionnels capables de comprendre et d’exploiter ces nouvelles technologies.</a:t>
            </a:r>
          </a:p>
          <a:p>
            <a:pPr marL="0" indent="0" algn="just">
              <a:buNone/>
            </a:pPr>
            <a:endParaRPr lang="fr-FR" dirty="0"/>
          </a:p>
        </p:txBody>
      </p:sp>
      <p:sp>
        <p:nvSpPr>
          <p:cNvPr id="5" name="Slide Number Placeholder 4">
            <a:extLst>
              <a:ext uri="{FF2B5EF4-FFF2-40B4-BE49-F238E27FC236}">
                <a16:creationId xmlns:a16="http://schemas.microsoft.com/office/drawing/2014/main" id="{1D055F22-1126-5700-427D-24D60EDD7BAD}"/>
              </a:ext>
            </a:extLst>
          </p:cNvPr>
          <p:cNvSpPr>
            <a:spLocks noGrp="1"/>
          </p:cNvSpPr>
          <p:nvPr>
            <p:ph type="sldNum" sz="quarter" idx="12"/>
          </p:nvPr>
        </p:nvSpPr>
        <p:spPr/>
        <p:txBody>
          <a:bodyPr>
            <a:normAutofit lnSpcReduction="10000"/>
          </a:bodyPr>
          <a:lstStyle/>
          <a:p>
            <a:fld id="{56C15529-6386-4BD9-9180-8EBC622499B0}" type="slidenum">
              <a:rPr lang="fr-FR" smtClean="0"/>
              <a:t>22</a:t>
            </a:fld>
            <a:endParaRPr lang="fr-FR"/>
          </a:p>
        </p:txBody>
      </p:sp>
      <p:sp>
        <p:nvSpPr>
          <p:cNvPr id="6" name="Footer Placeholder 1">
            <a:extLst>
              <a:ext uri="{FF2B5EF4-FFF2-40B4-BE49-F238E27FC236}">
                <a16:creationId xmlns:a16="http://schemas.microsoft.com/office/drawing/2014/main" id="{E1E125EA-F43D-80F3-992D-78D7C4ED5092}"/>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793691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EA2FD-0805-814D-6B16-453D61FE55E8}"/>
              </a:ext>
            </a:extLst>
          </p:cNvPr>
          <p:cNvSpPr>
            <a:spLocks noGrp="1"/>
          </p:cNvSpPr>
          <p:nvPr>
            <p:ph type="title"/>
          </p:nvPr>
        </p:nvSpPr>
        <p:spPr>
          <a:xfrm>
            <a:off x="1274949" y="698091"/>
            <a:ext cx="9642102" cy="629438"/>
          </a:xfrm>
        </p:spPr>
        <p:txBody>
          <a:bodyPr>
            <a:normAutofit/>
          </a:bodyPr>
          <a:lstStyle/>
          <a:p>
            <a:r>
              <a:rPr lang="fr-FR" sz="3600" dirty="0"/>
              <a:t>VI- Perspectives d'avenir et recommandations</a:t>
            </a:r>
          </a:p>
        </p:txBody>
      </p:sp>
      <p:sp>
        <p:nvSpPr>
          <p:cNvPr id="3" name="Content Placeholder 2">
            <a:extLst>
              <a:ext uri="{FF2B5EF4-FFF2-40B4-BE49-F238E27FC236}">
                <a16:creationId xmlns:a16="http://schemas.microsoft.com/office/drawing/2014/main" id="{4065C861-179D-433D-58AA-BA837ECC1AC7}"/>
              </a:ext>
            </a:extLst>
          </p:cNvPr>
          <p:cNvSpPr>
            <a:spLocks noGrp="1"/>
          </p:cNvSpPr>
          <p:nvPr>
            <p:ph idx="1"/>
          </p:nvPr>
        </p:nvSpPr>
        <p:spPr>
          <a:xfrm>
            <a:off x="1330698" y="2202426"/>
            <a:ext cx="8540889" cy="2841523"/>
          </a:xfrm>
        </p:spPr>
        <p:txBody>
          <a:bodyPr/>
          <a:lstStyle/>
          <a:p>
            <a:pPr marL="0" indent="0" algn="just">
              <a:lnSpc>
                <a:spcPct val="150000"/>
              </a:lnSpc>
              <a:buNone/>
            </a:pPr>
            <a:r>
              <a:rPr lang="fr-FR" dirty="0">
                <a:latin typeface="Times New Roman" panose="02020603050405020304" pitchFamily="18" charset="0"/>
                <a:cs typeface="Times New Roman" panose="02020603050405020304" pitchFamily="18" charset="0"/>
              </a:rPr>
              <a:t>L’intelligence artificielle est déjà un acteur incontournable de la cybersécurité, mais son évolution rapide laisse entrevoir des transformations encore plus profondes. L’avenir se jouera non seulement sur les avancées technologiques, mais aussi sur la manière dont les États, les entreprises et les chercheurs choisiront de l’utiliser et de l’encadrer. Pour anticiper, il convient de tracer les </a:t>
            </a:r>
            <a:r>
              <a:rPr lang="fr-FR" b="1" dirty="0">
                <a:latin typeface="Times New Roman" panose="02020603050405020304" pitchFamily="18" charset="0"/>
                <a:cs typeface="Times New Roman" panose="02020603050405020304" pitchFamily="18" charset="0"/>
              </a:rPr>
              <a:t>perspectives d’avenir</a:t>
            </a:r>
            <a:r>
              <a:rPr lang="fr-FR" dirty="0">
                <a:latin typeface="Times New Roman" panose="02020603050405020304" pitchFamily="18" charset="0"/>
                <a:cs typeface="Times New Roman" panose="02020603050405020304" pitchFamily="18" charset="0"/>
              </a:rPr>
              <a:t> de l’IA en cybersécurité, tout en formulant des </a:t>
            </a:r>
            <a:r>
              <a:rPr lang="fr-FR" b="1" dirty="0">
                <a:latin typeface="Times New Roman" panose="02020603050405020304" pitchFamily="18" charset="0"/>
                <a:cs typeface="Times New Roman" panose="02020603050405020304" pitchFamily="18" charset="0"/>
              </a:rPr>
              <a:t>recommandations stratégiques</a:t>
            </a:r>
            <a:r>
              <a:rPr lang="fr-FR" dirty="0">
                <a:latin typeface="Times New Roman" panose="02020603050405020304" pitchFamily="18" charset="0"/>
                <a:cs typeface="Times New Roman" panose="02020603050405020304" pitchFamily="18" charset="0"/>
              </a:rPr>
              <a:t> pour en tirer pleinement parti.</a:t>
            </a:r>
          </a:p>
          <a:p>
            <a:pPr marL="0" indent="0">
              <a:buNone/>
            </a:pPr>
            <a:endParaRPr lang="fr-FR" dirty="0"/>
          </a:p>
        </p:txBody>
      </p:sp>
      <p:sp>
        <p:nvSpPr>
          <p:cNvPr id="5" name="Slide Number Placeholder 4">
            <a:extLst>
              <a:ext uri="{FF2B5EF4-FFF2-40B4-BE49-F238E27FC236}">
                <a16:creationId xmlns:a16="http://schemas.microsoft.com/office/drawing/2014/main" id="{91BEDDF3-A100-1AC4-46E7-387FC0BA972D}"/>
              </a:ext>
            </a:extLst>
          </p:cNvPr>
          <p:cNvSpPr>
            <a:spLocks noGrp="1"/>
          </p:cNvSpPr>
          <p:nvPr>
            <p:ph type="sldNum" sz="quarter" idx="12"/>
          </p:nvPr>
        </p:nvSpPr>
        <p:spPr/>
        <p:txBody>
          <a:bodyPr>
            <a:normAutofit lnSpcReduction="10000"/>
          </a:bodyPr>
          <a:lstStyle/>
          <a:p>
            <a:fld id="{56C15529-6386-4BD9-9180-8EBC622499B0}" type="slidenum">
              <a:rPr lang="fr-FR" smtClean="0"/>
              <a:t>23</a:t>
            </a:fld>
            <a:endParaRPr lang="fr-FR"/>
          </a:p>
        </p:txBody>
      </p:sp>
      <p:sp>
        <p:nvSpPr>
          <p:cNvPr id="6" name="Footer Placeholder 1">
            <a:extLst>
              <a:ext uri="{FF2B5EF4-FFF2-40B4-BE49-F238E27FC236}">
                <a16:creationId xmlns:a16="http://schemas.microsoft.com/office/drawing/2014/main" id="{E143B943-B284-C537-5C0C-D9F5D1DC7DB8}"/>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31577288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9A6B4-341F-210A-369E-2184C03DA389}"/>
              </a:ext>
            </a:extLst>
          </p:cNvPr>
          <p:cNvSpPr>
            <a:spLocks noGrp="1"/>
          </p:cNvSpPr>
          <p:nvPr>
            <p:ph type="title"/>
          </p:nvPr>
        </p:nvSpPr>
        <p:spPr>
          <a:xfrm>
            <a:off x="1753485" y="530940"/>
            <a:ext cx="5424063" cy="570445"/>
          </a:xfrm>
        </p:spPr>
        <p:txBody>
          <a:bodyPr>
            <a:normAutofit/>
          </a:bodyPr>
          <a:lstStyle/>
          <a:p>
            <a:r>
              <a:rPr lang="fr-FR" sz="3200" b="1" dirty="0"/>
              <a:t>1- Perspectives d’avenir</a:t>
            </a:r>
            <a:endParaRPr lang="fr-FR" sz="3200" dirty="0"/>
          </a:p>
        </p:txBody>
      </p:sp>
      <p:sp>
        <p:nvSpPr>
          <p:cNvPr id="3" name="Content Placeholder 2">
            <a:extLst>
              <a:ext uri="{FF2B5EF4-FFF2-40B4-BE49-F238E27FC236}">
                <a16:creationId xmlns:a16="http://schemas.microsoft.com/office/drawing/2014/main" id="{A5F1A3C6-2438-2F66-D366-ABE27C1C0B90}"/>
              </a:ext>
            </a:extLst>
          </p:cNvPr>
          <p:cNvSpPr>
            <a:spLocks noGrp="1"/>
          </p:cNvSpPr>
          <p:nvPr>
            <p:ph idx="1"/>
          </p:nvPr>
        </p:nvSpPr>
        <p:spPr>
          <a:xfrm>
            <a:off x="934065" y="1415846"/>
            <a:ext cx="9643773" cy="4547982"/>
          </a:xfrm>
        </p:spPr>
        <p:txBody>
          <a:bodyPr>
            <a:normAutofit/>
          </a:bodyPr>
          <a:lstStyle/>
          <a:p>
            <a:pPr algn="just">
              <a:lnSpc>
                <a:spcPct val="100000"/>
              </a:lnSpc>
            </a:pPr>
            <a:r>
              <a:rPr lang="fr-FR" b="1" dirty="0"/>
              <a:t>Vers une cybersécurité proactive et autonome</a:t>
            </a:r>
            <a:r>
              <a:rPr lang="fr-FR" dirty="0"/>
              <a:t> : l’IA évoluera vers des systèmes capables non seulement de détecter, mais aussi de </a:t>
            </a:r>
            <a:r>
              <a:rPr lang="fr-FR" b="1" dirty="0"/>
              <a:t>prévenir</a:t>
            </a:r>
            <a:r>
              <a:rPr lang="fr-FR" dirty="0"/>
              <a:t> et </a:t>
            </a:r>
            <a:r>
              <a:rPr lang="fr-FR" b="1" dirty="0"/>
              <a:t>neutraliser automatiquement</a:t>
            </a:r>
            <a:r>
              <a:rPr lang="fr-FR" dirty="0"/>
              <a:t> certaines menaces.</a:t>
            </a:r>
          </a:p>
          <a:p>
            <a:pPr algn="just">
              <a:lnSpc>
                <a:spcPct val="100000"/>
              </a:lnSpc>
            </a:pPr>
            <a:r>
              <a:rPr lang="fr-FR" b="1" dirty="0"/>
              <a:t>Une intégration renforcée avec le cloud et l’IoT</a:t>
            </a:r>
            <a:r>
              <a:rPr lang="fr-FR" dirty="0"/>
              <a:t> : avec l’explosion des objets connectés et des infrastructures hybrides, l’IA sera essentielle pour gérer la </a:t>
            </a:r>
            <a:r>
              <a:rPr lang="fr-FR" b="1" dirty="0"/>
              <a:t>complexité et la scalabilité</a:t>
            </a:r>
            <a:r>
              <a:rPr lang="fr-FR" dirty="0"/>
              <a:t> des réseaux.</a:t>
            </a:r>
          </a:p>
          <a:p>
            <a:pPr algn="just">
              <a:lnSpc>
                <a:spcPct val="100000"/>
              </a:lnSpc>
            </a:pPr>
            <a:r>
              <a:rPr lang="fr-FR" b="1" dirty="0"/>
              <a:t>Coopération homme–IA</a:t>
            </a:r>
            <a:r>
              <a:rPr lang="fr-FR" dirty="0"/>
              <a:t> : l’avenir ne sera pas à une IA totalement autonome, mais à une </a:t>
            </a:r>
            <a:r>
              <a:rPr lang="fr-FR" b="1" dirty="0"/>
              <a:t>synergie intelligente</a:t>
            </a:r>
            <a:r>
              <a:rPr lang="fr-FR" dirty="0"/>
              <a:t> entre analystes humains et machines, où l’IA prendra en charge la masse de données tandis que l’humain gardera la </a:t>
            </a:r>
            <a:r>
              <a:rPr lang="fr-FR" b="1" dirty="0"/>
              <a:t>décision stratégique</a:t>
            </a:r>
            <a:r>
              <a:rPr lang="fr-FR" dirty="0"/>
              <a:t>.</a:t>
            </a:r>
          </a:p>
          <a:p>
            <a:pPr algn="just">
              <a:lnSpc>
                <a:spcPct val="100000"/>
              </a:lnSpc>
            </a:pPr>
            <a:r>
              <a:rPr lang="fr-FR" b="1" dirty="0"/>
              <a:t>IA générative et cybersécurité</a:t>
            </a:r>
            <a:r>
              <a:rPr lang="fr-FR" dirty="0"/>
              <a:t> : demain, l’IA ne sera pas seulement défensive. Les solutions basées sur l’IA générative permettront de </a:t>
            </a:r>
            <a:r>
              <a:rPr lang="fr-FR" b="1" dirty="0"/>
              <a:t>simuler des cyberattaques</a:t>
            </a:r>
            <a:r>
              <a:rPr lang="fr-FR" dirty="0"/>
              <a:t>, d’entraîner les systèmes et de renforcer la résilience.</a:t>
            </a:r>
          </a:p>
          <a:p>
            <a:pPr marL="0" indent="0" algn="just">
              <a:lnSpc>
                <a:spcPct val="100000"/>
              </a:lnSpc>
              <a:buNone/>
            </a:pPr>
            <a:endParaRPr lang="fr-FR" dirty="0"/>
          </a:p>
        </p:txBody>
      </p:sp>
      <p:sp>
        <p:nvSpPr>
          <p:cNvPr id="5" name="Slide Number Placeholder 4">
            <a:extLst>
              <a:ext uri="{FF2B5EF4-FFF2-40B4-BE49-F238E27FC236}">
                <a16:creationId xmlns:a16="http://schemas.microsoft.com/office/drawing/2014/main" id="{3AE4D634-F587-26B1-6F2A-8D6C57FD2C59}"/>
              </a:ext>
            </a:extLst>
          </p:cNvPr>
          <p:cNvSpPr>
            <a:spLocks noGrp="1"/>
          </p:cNvSpPr>
          <p:nvPr>
            <p:ph type="sldNum" sz="quarter" idx="12"/>
          </p:nvPr>
        </p:nvSpPr>
        <p:spPr/>
        <p:txBody>
          <a:bodyPr>
            <a:normAutofit lnSpcReduction="10000"/>
          </a:bodyPr>
          <a:lstStyle/>
          <a:p>
            <a:fld id="{56C15529-6386-4BD9-9180-8EBC622499B0}" type="slidenum">
              <a:rPr lang="fr-FR" smtClean="0"/>
              <a:t>24</a:t>
            </a:fld>
            <a:endParaRPr lang="fr-FR"/>
          </a:p>
        </p:txBody>
      </p:sp>
      <p:sp>
        <p:nvSpPr>
          <p:cNvPr id="6" name="Footer Placeholder 1">
            <a:extLst>
              <a:ext uri="{FF2B5EF4-FFF2-40B4-BE49-F238E27FC236}">
                <a16:creationId xmlns:a16="http://schemas.microsoft.com/office/drawing/2014/main" id="{71350FAA-E1F8-3C8E-4ADE-EA83FDD91E08}"/>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2201114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3930F-4D6E-9147-C452-2A392615DBC2}"/>
              </a:ext>
            </a:extLst>
          </p:cNvPr>
          <p:cNvSpPr>
            <a:spLocks noGrp="1"/>
          </p:cNvSpPr>
          <p:nvPr>
            <p:ph type="title"/>
          </p:nvPr>
        </p:nvSpPr>
        <p:spPr>
          <a:xfrm>
            <a:off x="3149665" y="677863"/>
            <a:ext cx="4224528" cy="511451"/>
          </a:xfrm>
        </p:spPr>
        <p:txBody>
          <a:bodyPr>
            <a:normAutofit fontScale="90000"/>
          </a:bodyPr>
          <a:lstStyle/>
          <a:p>
            <a:r>
              <a:rPr lang="fr-FR" sz="3200" b="1" dirty="0"/>
              <a:t>2. Recommandations</a:t>
            </a:r>
            <a:endParaRPr lang="fr-FR" sz="3200" dirty="0"/>
          </a:p>
        </p:txBody>
      </p:sp>
      <p:sp>
        <p:nvSpPr>
          <p:cNvPr id="3" name="Content Placeholder 2">
            <a:extLst>
              <a:ext uri="{FF2B5EF4-FFF2-40B4-BE49-F238E27FC236}">
                <a16:creationId xmlns:a16="http://schemas.microsoft.com/office/drawing/2014/main" id="{AABECFE4-241D-D09B-811C-89FD88E982D4}"/>
              </a:ext>
            </a:extLst>
          </p:cNvPr>
          <p:cNvSpPr>
            <a:spLocks noGrp="1"/>
          </p:cNvSpPr>
          <p:nvPr>
            <p:ph idx="1"/>
          </p:nvPr>
        </p:nvSpPr>
        <p:spPr/>
        <p:txBody>
          <a:bodyPr>
            <a:normAutofit/>
          </a:bodyPr>
          <a:lstStyle/>
          <a:p>
            <a:pPr algn="just"/>
            <a:r>
              <a:rPr lang="fr-FR" b="1" dirty="0"/>
              <a:t>Investir dans la recherche et la formation</a:t>
            </a:r>
            <a:r>
              <a:rPr lang="fr-FR" dirty="0"/>
              <a:t> : développer des compétences locales en IA et cybersécurité pour réduire la dépendance extérieure.</a:t>
            </a:r>
          </a:p>
          <a:p>
            <a:pPr algn="just"/>
            <a:r>
              <a:rPr lang="fr-FR" b="1" dirty="0"/>
              <a:t>Renforcer l’éthique et la régulation</a:t>
            </a:r>
            <a:r>
              <a:rPr lang="fr-FR" dirty="0"/>
              <a:t> : mettre en place des cadres légaux pour éviter les abus, protéger les données et garantir une utilisation responsable.</a:t>
            </a:r>
          </a:p>
          <a:p>
            <a:pPr algn="just"/>
            <a:r>
              <a:rPr lang="fr-FR" b="1" dirty="0"/>
              <a:t>Favoriser la coopération internationale</a:t>
            </a:r>
            <a:r>
              <a:rPr lang="fr-FR" dirty="0"/>
              <a:t> : face à des menaces globales, une </a:t>
            </a:r>
            <a:r>
              <a:rPr lang="fr-FR" b="1" dirty="0"/>
              <a:t>alliance mondiale en cybersécurité</a:t>
            </a:r>
            <a:r>
              <a:rPr lang="fr-FR" dirty="0"/>
              <a:t> devient indispensable.</a:t>
            </a:r>
          </a:p>
          <a:p>
            <a:pPr algn="just"/>
            <a:r>
              <a:rPr lang="fr-FR" b="1" dirty="0"/>
              <a:t>Adopter une approche « Security by Design »</a:t>
            </a:r>
            <a:r>
              <a:rPr lang="fr-FR" dirty="0"/>
              <a:t> : intégrer l’IA dès la conception des systèmes plutôt que comme un simple ajout.</a:t>
            </a:r>
          </a:p>
          <a:p>
            <a:pPr algn="just"/>
            <a:r>
              <a:rPr lang="fr-FR" b="1" dirty="0"/>
              <a:t>Sensibiliser les organisations</a:t>
            </a:r>
            <a:r>
              <a:rPr lang="fr-FR" dirty="0"/>
              <a:t> : l’IA ne remplace pas les bonnes pratiques; il faut toujours renforcer la culture de cybersécurité des utilisateurs et des employés.</a:t>
            </a:r>
          </a:p>
        </p:txBody>
      </p:sp>
      <p:sp>
        <p:nvSpPr>
          <p:cNvPr id="5" name="Slide Number Placeholder 4">
            <a:extLst>
              <a:ext uri="{FF2B5EF4-FFF2-40B4-BE49-F238E27FC236}">
                <a16:creationId xmlns:a16="http://schemas.microsoft.com/office/drawing/2014/main" id="{B1ADC8BC-F672-CAB8-44B4-A6C646AE5C2C}"/>
              </a:ext>
            </a:extLst>
          </p:cNvPr>
          <p:cNvSpPr>
            <a:spLocks noGrp="1"/>
          </p:cNvSpPr>
          <p:nvPr>
            <p:ph type="sldNum" sz="quarter" idx="12"/>
          </p:nvPr>
        </p:nvSpPr>
        <p:spPr/>
        <p:txBody>
          <a:bodyPr>
            <a:normAutofit lnSpcReduction="10000"/>
          </a:bodyPr>
          <a:lstStyle/>
          <a:p>
            <a:fld id="{56C15529-6386-4BD9-9180-8EBC622499B0}" type="slidenum">
              <a:rPr lang="fr-FR" smtClean="0"/>
              <a:t>25</a:t>
            </a:fld>
            <a:endParaRPr lang="fr-FR"/>
          </a:p>
        </p:txBody>
      </p:sp>
      <p:sp>
        <p:nvSpPr>
          <p:cNvPr id="6" name="Footer Placeholder 1">
            <a:extLst>
              <a:ext uri="{FF2B5EF4-FFF2-40B4-BE49-F238E27FC236}">
                <a16:creationId xmlns:a16="http://schemas.microsoft.com/office/drawing/2014/main" id="{E9D9FDA0-253E-8822-D8DC-A84862BE7427}"/>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3978775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B91D82-DB62-5D6B-7B01-E04AE173E8E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6992" y="619433"/>
            <a:ext cx="10362031" cy="4859678"/>
          </a:xfrm>
        </p:spPr>
      </p:pic>
      <p:sp>
        <p:nvSpPr>
          <p:cNvPr id="3" name="Slide Number Placeholder 2">
            <a:extLst>
              <a:ext uri="{FF2B5EF4-FFF2-40B4-BE49-F238E27FC236}">
                <a16:creationId xmlns:a16="http://schemas.microsoft.com/office/drawing/2014/main" id="{72F77091-8908-BF6E-4963-14935933A884}"/>
              </a:ext>
            </a:extLst>
          </p:cNvPr>
          <p:cNvSpPr>
            <a:spLocks noGrp="1"/>
          </p:cNvSpPr>
          <p:nvPr>
            <p:ph type="sldNum" sz="quarter" idx="12"/>
          </p:nvPr>
        </p:nvSpPr>
        <p:spPr/>
        <p:txBody>
          <a:bodyPr>
            <a:normAutofit lnSpcReduction="10000"/>
          </a:bodyPr>
          <a:lstStyle/>
          <a:p>
            <a:fld id="{56C15529-6386-4BD9-9180-8EBC622499B0}" type="slidenum">
              <a:rPr lang="fr-FR" smtClean="0"/>
              <a:t>26</a:t>
            </a:fld>
            <a:endParaRPr lang="fr-FR"/>
          </a:p>
        </p:txBody>
      </p:sp>
      <p:sp>
        <p:nvSpPr>
          <p:cNvPr id="4" name="Footer Placeholder 1">
            <a:extLst>
              <a:ext uri="{FF2B5EF4-FFF2-40B4-BE49-F238E27FC236}">
                <a16:creationId xmlns:a16="http://schemas.microsoft.com/office/drawing/2014/main" id="{14C3E6D5-3E99-053F-65DF-334FB02484DD}"/>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2745723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BCE1E-9CFD-4FD9-CE82-19F70E5B1AA5}"/>
              </a:ext>
            </a:extLst>
          </p:cNvPr>
          <p:cNvSpPr>
            <a:spLocks noGrp="1"/>
          </p:cNvSpPr>
          <p:nvPr>
            <p:ph type="title"/>
          </p:nvPr>
        </p:nvSpPr>
        <p:spPr>
          <a:xfrm>
            <a:off x="3796923" y="914400"/>
            <a:ext cx="4598154" cy="924406"/>
          </a:xfrm>
        </p:spPr>
        <p:txBody>
          <a:bodyPr/>
          <a:lstStyle/>
          <a:p>
            <a:r>
              <a:rPr lang="fr-FR" dirty="0"/>
              <a:t>CONCLUSION</a:t>
            </a:r>
          </a:p>
        </p:txBody>
      </p:sp>
      <p:sp>
        <p:nvSpPr>
          <p:cNvPr id="3" name="Content Placeholder 2">
            <a:extLst>
              <a:ext uri="{FF2B5EF4-FFF2-40B4-BE49-F238E27FC236}">
                <a16:creationId xmlns:a16="http://schemas.microsoft.com/office/drawing/2014/main" id="{42C77F77-B4D6-9F30-84CF-2B359ADEC021}"/>
              </a:ext>
            </a:extLst>
          </p:cNvPr>
          <p:cNvSpPr>
            <a:spLocks noGrp="1"/>
          </p:cNvSpPr>
          <p:nvPr>
            <p:ph idx="1"/>
          </p:nvPr>
        </p:nvSpPr>
        <p:spPr>
          <a:xfrm>
            <a:off x="868581" y="1966452"/>
            <a:ext cx="9553612" cy="4351337"/>
          </a:xfrm>
        </p:spPr>
        <p:txBody>
          <a:bodyPr/>
          <a:lstStyle/>
          <a:p>
            <a:pPr marL="0" indent="0" algn="just">
              <a:lnSpc>
                <a:spcPct val="150000"/>
              </a:lnSpc>
              <a:buNone/>
            </a:pPr>
            <a:r>
              <a:rPr lang="fr-FR" dirty="0">
                <a:latin typeface="Times New Roman" panose="02020603050405020304" pitchFamily="18" charset="0"/>
                <a:cs typeface="Times New Roman" panose="02020603050405020304" pitchFamily="18" charset="0"/>
              </a:rPr>
              <a:t>L’intelligence artificielle transforme profondément le paysage de la cybersécurité. Elle offre des outils puissants pour anticiper, détecter et neutraliser les menaces, renforçant ainsi la résilience des systèmes informatiques. Cependant, cette même technologie peut être exploitée par des acteurs malveillants pour créer des attaques plus sophistiquées et imprévisibles. L’avenir de la cybersécurité reposera donc sur un équilibre délicat : développer des solutions IA robustes tout en anticipant les abus possibles. Pour y parvenir, il est essentiel d’investir dans la recherche, la formation des experts et la collaboration internationale afin de construire un écosystème sécurisé où l’IA devient un allié et non une menace.</a:t>
            </a:r>
          </a:p>
        </p:txBody>
      </p:sp>
      <p:sp>
        <p:nvSpPr>
          <p:cNvPr id="5" name="Slide Number Placeholder 4">
            <a:extLst>
              <a:ext uri="{FF2B5EF4-FFF2-40B4-BE49-F238E27FC236}">
                <a16:creationId xmlns:a16="http://schemas.microsoft.com/office/drawing/2014/main" id="{EF4427A7-F73D-9C4F-7083-B668B5FBD942}"/>
              </a:ext>
            </a:extLst>
          </p:cNvPr>
          <p:cNvSpPr>
            <a:spLocks noGrp="1"/>
          </p:cNvSpPr>
          <p:nvPr>
            <p:ph type="sldNum" sz="quarter" idx="12"/>
          </p:nvPr>
        </p:nvSpPr>
        <p:spPr/>
        <p:txBody>
          <a:bodyPr>
            <a:normAutofit lnSpcReduction="10000"/>
          </a:bodyPr>
          <a:lstStyle/>
          <a:p>
            <a:fld id="{56C15529-6386-4BD9-9180-8EBC622499B0}" type="slidenum">
              <a:rPr lang="fr-FR" smtClean="0"/>
              <a:t>27</a:t>
            </a:fld>
            <a:endParaRPr lang="fr-FR"/>
          </a:p>
        </p:txBody>
      </p:sp>
      <p:sp>
        <p:nvSpPr>
          <p:cNvPr id="6" name="Footer Placeholder 1">
            <a:extLst>
              <a:ext uri="{FF2B5EF4-FFF2-40B4-BE49-F238E27FC236}">
                <a16:creationId xmlns:a16="http://schemas.microsoft.com/office/drawing/2014/main" id="{B6A7BE1A-1A2F-9CA3-F284-D321F30CE1B5}"/>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1153852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s de Merci votre attention – Téléchargement gratuit sur Freepik">
            <a:extLst>
              <a:ext uri="{FF2B5EF4-FFF2-40B4-BE49-F238E27FC236}">
                <a16:creationId xmlns:a16="http://schemas.microsoft.com/office/drawing/2014/main" id="{3DB303C0-6C51-9DD3-1D93-F792C6AA3C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7174" y="652116"/>
            <a:ext cx="5553767" cy="555376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5565C7C-FB10-4FAB-A6DE-B2414DE4F2FA}"/>
              </a:ext>
            </a:extLst>
          </p:cNvPr>
          <p:cNvSpPr>
            <a:spLocks noGrp="1"/>
          </p:cNvSpPr>
          <p:nvPr>
            <p:ph type="sldNum" sz="quarter" idx="12"/>
          </p:nvPr>
        </p:nvSpPr>
        <p:spPr/>
        <p:txBody>
          <a:bodyPr>
            <a:normAutofit lnSpcReduction="10000"/>
          </a:bodyPr>
          <a:lstStyle/>
          <a:p>
            <a:fld id="{56C15529-6386-4BD9-9180-8EBC622499B0}" type="slidenum">
              <a:rPr lang="fr-FR" smtClean="0"/>
              <a:t>28</a:t>
            </a:fld>
            <a:endParaRPr lang="fr-FR"/>
          </a:p>
        </p:txBody>
      </p:sp>
      <p:sp>
        <p:nvSpPr>
          <p:cNvPr id="4" name="Footer Placeholder 1">
            <a:extLst>
              <a:ext uri="{FF2B5EF4-FFF2-40B4-BE49-F238E27FC236}">
                <a16:creationId xmlns:a16="http://schemas.microsoft.com/office/drawing/2014/main" id="{35DFB518-2E07-A5B1-F9DF-9FCCEAF84881}"/>
              </a:ext>
            </a:extLst>
          </p:cNvPr>
          <p:cNvSpPr>
            <a:spLocks noGrp="1"/>
          </p:cNvSpPr>
          <p:nvPr>
            <p:ph type="ftr" sz="quarter" idx="11"/>
          </p:nvPr>
        </p:nvSpPr>
        <p:spPr>
          <a:xfrm rot="16200000">
            <a:off x="9959341" y="4046537"/>
            <a:ext cx="3581400" cy="365125"/>
          </a:xfrm>
        </p:spPr>
        <p:txBody>
          <a:bodyPr/>
          <a:lstStyle/>
          <a:p>
            <a:r>
              <a:rPr lang="fr-FR" dirty="0">
                <a:solidFill>
                  <a:schemeClr val="bg1"/>
                </a:solidFill>
              </a:rPr>
              <a:t>62é EDITION</a:t>
            </a:r>
          </a:p>
        </p:txBody>
      </p:sp>
    </p:spTree>
    <p:extLst>
      <p:ext uri="{BB962C8B-B14F-4D97-AF65-F5344CB8AC3E}">
        <p14:creationId xmlns:p14="http://schemas.microsoft.com/office/powerpoint/2010/main" val="239470704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843</TotalTime>
  <Words>3868</Words>
  <Application>Microsoft Office PowerPoint</Application>
  <PresentationFormat>Widescreen</PresentationFormat>
  <Paragraphs>247</Paragraphs>
  <Slides>28</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Century Schoolbook</vt:lpstr>
      <vt:lpstr>Merriweather</vt:lpstr>
      <vt:lpstr>Times New Roman</vt:lpstr>
      <vt:lpstr>Verdana</vt:lpstr>
      <vt:lpstr>Wingdings 2</vt:lpstr>
      <vt:lpstr>View</vt:lpstr>
      <vt:lpstr>PowerPoint Presentation</vt:lpstr>
      <vt:lpstr>PowerPoint Presentation</vt:lpstr>
      <vt:lpstr>PowerPoint Presentation</vt:lpstr>
      <vt:lpstr>I- Fondamentaux du Machine Learning</vt:lpstr>
      <vt:lpstr>1- Apprentissage supervisé </vt:lpstr>
      <vt:lpstr>2- Apprentissage non supervisé </vt:lpstr>
      <vt:lpstr>3- L'apprentissage par renforcement</vt:lpstr>
      <vt:lpstr>II- L’IA pour la Défense Active (Blue Team)</vt:lpstr>
      <vt:lpstr>1- Détection avancée des menaces</vt:lpstr>
      <vt:lpstr>2- Automatisation des  réponses</vt:lpstr>
      <vt:lpstr>3- Anticipation et prédiction</vt:lpstr>
      <vt:lpstr>4- Réduction de la charge humaine</vt:lpstr>
      <vt:lpstr> III- L'IA comme Vecteur d'Attaque (Red Team)</vt:lpstr>
      <vt:lpstr>Détournement du modèle et génération de contenu illégitime</vt:lpstr>
      <vt:lpstr>Fuites de données sensibles</vt:lpstr>
      <vt:lpstr>PowerPoint Presentation</vt:lpstr>
      <vt:lpstr>PowerPoint Presentation</vt:lpstr>
      <vt:lpstr>dangers de l'IA pour la société</vt:lpstr>
      <vt:lpstr>dangers de l'IA pour l’armée</vt:lpstr>
      <vt:lpstr>V- Limites et défis actuels </vt:lpstr>
      <vt:lpstr>1- Les limites de l’IA en cybersécurité</vt:lpstr>
      <vt:lpstr>2. Les défis à relever</vt:lpstr>
      <vt:lpstr>VI- Perspectives d'avenir et recommandations</vt:lpstr>
      <vt:lpstr>1- Perspectives d’avenir</vt:lpstr>
      <vt:lpstr>2. Recommandations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fichier numerique</dc:creator>
  <cp:lastModifiedBy>fichier numerique</cp:lastModifiedBy>
  <cp:revision>4</cp:revision>
  <dcterms:created xsi:type="dcterms:W3CDTF">2025-08-26T07:42:00Z</dcterms:created>
  <dcterms:modified xsi:type="dcterms:W3CDTF">2025-08-27T09:47:17Z</dcterms:modified>
</cp:coreProperties>
</file>