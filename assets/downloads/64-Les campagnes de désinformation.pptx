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46"/>
  </p:notesMasterIdLst>
  <p:sldIdLst>
    <p:sldId id="256" r:id="rId3"/>
    <p:sldId id="258" r:id="rId4"/>
    <p:sldId id="257" r:id="rId5"/>
    <p:sldId id="259" r:id="rId6"/>
    <p:sldId id="312" r:id="rId7"/>
    <p:sldId id="597" r:id="rId8"/>
    <p:sldId id="598" r:id="rId9"/>
    <p:sldId id="599" r:id="rId10"/>
    <p:sldId id="600" r:id="rId11"/>
    <p:sldId id="601" r:id="rId12"/>
    <p:sldId id="602" r:id="rId13"/>
    <p:sldId id="566" r:id="rId14"/>
    <p:sldId id="511" r:id="rId15"/>
    <p:sldId id="610" r:id="rId16"/>
    <p:sldId id="611" r:id="rId17"/>
    <p:sldId id="613" r:id="rId18"/>
    <p:sldId id="570" r:id="rId19"/>
    <p:sldId id="572" r:id="rId20"/>
    <p:sldId id="603" r:id="rId21"/>
    <p:sldId id="604" r:id="rId22"/>
    <p:sldId id="605" r:id="rId23"/>
    <p:sldId id="606" r:id="rId24"/>
    <p:sldId id="609" r:id="rId25"/>
    <p:sldId id="614" r:id="rId26"/>
    <p:sldId id="615" r:id="rId27"/>
    <p:sldId id="616" r:id="rId28"/>
    <p:sldId id="617" r:id="rId29"/>
    <p:sldId id="576" r:id="rId30"/>
    <p:sldId id="618" r:id="rId31"/>
    <p:sldId id="619" r:id="rId32"/>
    <p:sldId id="620" r:id="rId33"/>
    <p:sldId id="626" r:id="rId34"/>
    <p:sldId id="607" r:id="rId35"/>
    <p:sldId id="627" r:id="rId36"/>
    <p:sldId id="628" r:id="rId37"/>
    <p:sldId id="608" r:id="rId38"/>
    <p:sldId id="621" r:id="rId39"/>
    <p:sldId id="625" r:id="rId40"/>
    <p:sldId id="624" r:id="rId41"/>
    <p:sldId id="623" r:id="rId42"/>
    <p:sldId id="622" r:id="rId43"/>
    <p:sldId id="478" r:id="rId44"/>
    <p:sldId id="289"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18343C0-5F59-47F6-B540-FCAECF2F735D}">
          <p14:sldIdLst>
            <p14:sldId id="256"/>
            <p14:sldId id="258"/>
            <p14:sldId id="257"/>
            <p14:sldId id="259"/>
            <p14:sldId id="312"/>
            <p14:sldId id="597"/>
            <p14:sldId id="598"/>
            <p14:sldId id="599"/>
            <p14:sldId id="600"/>
            <p14:sldId id="601"/>
            <p14:sldId id="602"/>
            <p14:sldId id="566"/>
            <p14:sldId id="511"/>
            <p14:sldId id="610"/>
            <p14:sldId id="611"/>
            <p14:sldId id="613"/>
            <p14:sldId id="570"/>
            <p14:sldId id="572"/>
            <p14:sldId id="603"/>
            <p14:sldId id="604"/>
            <p14:sldId id="605"/>
            <p14:sldId id="606"/>
            <p14:sldId id="609"/>
            <p14:sldId id="614"/>
            <p14:sldId id="615"/>
            <p14:sldId id="616"/>
            <p14:sldId id="617"/>
            <p14:sldId id="576"/>
            <p14:sldId id="618"/>
            <p14:sldId id="619"/>
            <p14:sldId id="620"/>
            <p14:sldId id="626"/>
            <p14:sldId id="607"/>
            <p14:sldId id="627"/>
            <p14:sldId id="628"/>
            <p14:sldId id="608"/>
            <p14:sldId id="621"/>
            <p14:sldId id="625"/>
            <p14:sldId id="624"/>
            <p14:sldId id="623"/>
            <p14:sldId id="622"/>
            <p14:sldId id="47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7722"/>
    <a:srgbClr val="333333"/>
    <a:srgbClr val="475569"/>
    <a:srgbClr val="EC8C8C"/>
    <a:srgbClr val="E45E5E"/>
    <a:srgbClr val="FCEFEE"/>
    <a:srgbClr val="FBF0EF"/>
    <a:srgbClr val="0F172A"/>
    <a:srgbClr val="2E74B5"/>
    <a:srgbClr val="92C5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9" autoAdjust="0"/>
    <p:restoredTop sz="95039" autoAdjust="0"/>
  </p:normalViewPr>
  <p:slideViewPr>
    <p:cSldViewPr snapToGrid="0">
      <p:cViewPr varScale="1">
        <p:scale>
          <a:sx n="78" d="100"/>
          <a:sy n="78" d="100"/>
        </p:scale>
        <p:origin x="1090" y="72"/>
      </p:cViewPr>
      <p:guideLst/>
    </p:cSldViewPr>
  </p:slideViewPr>
  <p:notesTextViewPr>
    <p:cViewPr>
      <p:scale>
        <a:sx n="1" d="1"/>
        <a:sy n="1" d="1"/>
      </p:scale>
      <p:origin x="0" y="0"/>
    </p:cViewPr>
  </p:notesTextViewPr>
  <p:sorterViewPr>
    <p:cViewPr>
      <p:scale>
        <a:sx n="100" d="100"/>
        <a:sy n="100" d="100"/>
      </p:scale>
      <p:origin x="0" y="-7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C22D23-282B-47B2-98F7-902727E4E36D}"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A0DA1F1D-7993-4306-A7A5-9E8FBB88767B}">
      <dgm:prSet/>
      <dgm:spPr/>
      <dgm:t>
        <a:bodyPr/>
        <a:lstStyle/>
        <a:p>
          <a:pPr algn="ctr">
            <a:buNone/>
          </a:pPr>
          <a:r>
            <a:rPr lang="fr-FR" b="1" dirty="0"/>
            <a:t>Dénigrer (</a:t>
          </a:r>
          <a:r>
            <a:rPr lang="fr-FR" b="1" dirty="0" err="1"/>
            <a:t>Dismiss</a:t>
          </a:r>
          <a:r>
            <a:rPr lang="fr-FR" b="1" dirty="0"/>
            <a:t>) </a:t>
          </a:r>
          <a:r>
            <a:rPr lang="fr-FR" dirty="0"/>
            <a:t> Attaquer le messager, pas le message. Insulter les critiques et remettre en question leur crédibilité.</a:t>
          </a:r>
        </a:p>
      </dgm:t>
    </dgm:pt>
    <dgm:pt modelId="{70EAF57F-17FB-4BFE-8302-00D9A12EFA1F}" type="parTrans" cxnId="{DCD103E1-4454-45CF-BC69-195D1291351E}">
      <dgm:prSet/>
      <dgm:spPr/>
      <dgm:t>
        <a:bodyPr/>
        <a:lstStyle/>
        <a:p>
          <a:endParaRPr lang="en-US"/>
        </a:p>
      </dgm:t>
    </dgm:pt>
    <dgm:pt modelId="{1414CCFF-2B5D-4EF0-89FF-496EFD5206AB}" type="sibTrans" cxnId="{DCD103E1-4454-45CF-BC69-195D1291351E}">
      <dgm:prSet/>
      <dgm:spPr/>
      <dgm:t>
        <a:bodyPr/>
        <a:lstStyle/>
        <a:p>
          <a:endParaRPr lang="en-US"/>
        </a:p>
      </dgm:t>
    </dgm:pt>
    <dgm:pt modelId="{F7532D27-E6F2-4D84-9431-4994D959861F}">
      <dgm:prSet/>
      <dgm:spPr/>
      <dgm:t>
        <a:bodyPr/>
        <a:lstStyle/>
        <a:p>
          <a:pPr>
            <a:buNone/>
          </a:pPr>
          <a:r>
            <a:rPr lang="fr-FR" b="1" dirty="0"/>
            <a:t>Déformer (</a:t>
          </a:r>
          <a:r>
            <a:rPr lang="fr-FR" b="1" dirty="0" err="1"/>
            <a:t>Distort</a:t>
          </a:r>
          <a:r>
            <a:rPr lang="fr-FR" b="1" dirty="0"/>
            <a:t>)               </a:t>
          </a:r>
          <a:r>
            <a:rPr lang="fr-FR" dirty="0"/>
            <a:t>Si les faits ne sont pas de votre côté, tordez-les. Utiliser des demi-vérités ou sortir les informations de leur contexte.</a:t>
          </a:r>
        </a:p>
      </dgm:t>
    </dgm:pt>
    <dgm:pt modelId="{B136608E-BAE4-4102-B7CA-CD25777D136B}" type="parTrans" cxnId="{92F78DB1-7290-40C1-9395-4F0292B403AF}">
      <dgm:prSet/>
      <dgm:spPr/>
      <dgm:t>
        <a:bodyPr/>
        <a:lstStyle/>
        <a:p>
          <a:endParaRPr lang="en-US"/>
        </a:p>
      </dgm:t>
    </dgm:pt>
    <dgm:pt modelId="{BD570CA9-19F4-454F-912E-BE6B2C8F6EF6}" type="sibTrans" cxnId="{92F78DB1-7290-40C1-9395-4F0292B403AF}">
      <dgm:prSet/>
      <dgm:spPr/>
      <dgm:t>
        <a:bodyPr/>
        <a:lstStyle/>
        <a:p>
          <a:endParaRPr lang="en-US"/>
        </a:p>
      </dgm:t>
    </dgm:pt>
    <dgm:pt modelId="{F6C881B8-37B5-41F1-B57C-9F0FE9E258CF}">
      <dgm:prSet/>
      <dgm:spPr/>
      <dgm:t>
        <a:bodyPr/>
        <a:lstStyle/>
        <a:p>
          <a:pPr>
            <a:buNone/>
          </a:pPr>
          <a:r>
            <a:rPr lang="fr-FR" b="1" dirty="0"/>
            <a:t>Distraire (</a:t>
          </a:r>
          <a:r>
            <a:rPr lang="fr-FR" b="1" dirty="0" err="1"/>
            <a:t>Distract</a:t>
          </a:r>
          <a:r>
            <a:rPr lang="fr-FR" b="1" dirty="0"/>
            <a:t>)     </a:t>
          </a:r>
          <a:r>
            <a:rPr lang="fr-FR" dirty="0"/>
            <a:t> Utiliser le "</a:t>
          </a:r>
          <a:r>
            <a:rPr lang="fr-FR" dirty="0" err="1"/>
            <a:t>whataboutism</a:t>
          </a:r>
          <a:r>
            <a:rPr lang="fr-FR" dirty="0"/>
            <a:t>". Lorsque vous êtes accusé de quelque chose, accusez votre adversaire de la même chose.</a:t>
          </a:r>
        </a:p>
      </dgm:t>
    </dgm:pt>
    <dgm:pt modelId="{6E3188B4-C96C-4C92-B630-B5DBD1104213}" type="parTrans" cxnId="{53FD477D-19B7-4055-BA09-AEF55B693329}">
      <dgm:prSet/>
      <dgm:spPr/>
      <dgm:t>
        <a:bodyPr/>
        <a:lstStyle/>
        <a:p>
          <a:endParaRPr lang="en-US"/>
        </a:p>
      </dgm:t>
    </dgm:pt>
    <dgm:pt modelId="{71414FDA-547E-41C2-BC67-7FA6932C77E0}" type="sibTrans" cxnId="{53FD477D-19B7-4055-BA09-AEF55B693329}">
      <dgm:prSet/>
      <dgm:spPr/>
      <dgm:t>
        <a:bodyPr/>
        <a:lstStyle/>
        <a:p>
          <a:endParaRPr lang="en-US"/>
        </a:p>
      </dgm:t>
    </dgm:pt>
    <dgm:pt modelId="{B3CEA5B8-F06E-4B74-A60F-EAAA4F413461}">
      <dgm:prSet/>
      <dgm:spPr/>
      <dgm:t>
        <a:bodyPr/>
        <a:lstStyle/>
        <a:p>
          <a:pPr>
            <a:buNone/>
          </a:pPr>
          <a:r>
            <a:rPr lang="fr-FR" b="1" dirty="0"/>
            <a:t>Démoraliser (</a:t>
          </a:r>
          <a:r>
            <a:rPr lang="fr-FR" b="1" dirty="0" err="1"/>
            <a:t>Dismay</a:t>
          </a:r>
          <a:r>
            <a:rPr lang="fr-FR" b="1" dirty="0"/>
            <a:t>)</a:t>
          </a:r>
          <a:r>
            <a:rPr lang="fr-FR" dirty="0"/>
            <a:t> Paralyser le public avec la peur et la paranoïa pour le rendre impuissant et le faire se désengager.</a:t>
          </a:r>
        </a:p>
      </dgm:t>
    </dgm:pt>
    <dgm:pt modelId="{2C963653-4DDA-4CE0-92B2-6E74EE08AE47}" type="parTrans" cxnId="{1D73DDD8-179F-4B0B-B208-B86FB099D508}">
      <dgm:prSet/>
      <dgm:spPr/>
      <dgm:t>
        <a:bodyPr/>
        <a:lstStyle/>
        <a:p>
          <a:endParaRPr lang="en-US"/>
        </a:p>
      </dgm:t>
    </dgm:pt>
    <dgm:pt modelId="{F58E4240-0445-44C5-9C81-939022B8EB1A}" type="sibTrans" cxnId="{1D73DDD8-179F-4B0B-B208-B86FB099D508}">
      <dgm:prSet/>
      <dgm:spPr/>
      <dgm:t>
        <a:bodyPr/>
        <a:lstStyle/>
        <a:p>
          <a:endParaRPr lang="en-US"/>
        </a:p>
      </dgm:t>
    </dgm:pt>
    <dgm:pt modelId="{1BF33DB1-F5DD-4E09-B40D-748F78CFEBD7}" type="pres">
      <dgm:prSet presAssocID="{1DC22D23-282B-47B2-98F7-902727E4E36D}" presName="diagram" presStyleCnt="0">
        <dgm:presLayoutVars>
          <dgm:dir/>
          <dgm:resizeHandles val="exact"/>
        </dgm:presLayoutVars>
      </dgm:prSet>
      <dgm:spPr/>
    </dgm:pt>
    <dgm:pt modelId="{E92D4D90-FDD7-4683-A4E2-5ABBB2235736}" type="pres">
      <dgm:prSet presAssocID="{A0DA1F1D-7993-4306-A7A5-9E8FBB88767B}" presName="node" presStyleLbl="node1" presStyleIdx="0" presStyleCnt="4">
        <dgm:presLayoutVars>
          <dgm:bulletEnabled val="1"/>
        </dgm:presLayoutVars>
      </dgm:prSet>
      <dgm:spPr/>
    </dgm:pt>
    <dgm:pt modelId="{494F2125-120D-4007-A2B9-158476E46F26}" type="pres">
      <dgm:prSet presAssocID="{1414CCFF-2B5D-4EF0-89FF-496EFD5206AB}" presName="sibTrans" presStyleCnt="0"/>
      <dgm:spPr/>
    </dgm:pt>
    <dgm:pt modelId="{ACF78EF7-4A77-4C6B-91B4-618AEE29011A}" type="pres">
      <dgm:prSet presAssocID="{F7532D27-E6F2-4D84-9431-4994D959861F}" presName="node" presStyleLbl="node1" presStyleIdx="1" presStyleCnt="4">
        <dgm:presLayoutVars>
          <dgm:bulletEnabled val="1"/>
        </dgm:presLayoutVars>
      </dgm:prSet>
      <dgm:spPr/>
    </dgm:pt>
    <dgm:pt modelId="{97DA3927-895E-406D-BFB0-7E30ED09F6E4}" type="pres">
      <dgm:prSet presAssocID="{BD570CA9-19F4-454F-912E-BE6B2C8F6EF6}" presName="sibTrans" presStyleCnt="0"/>
      <dgm:spPr/>
    </dgm:pt>
    <dgm:pt modelId="{A7FF8499-113E-44CD-80E0-4F2F10D3C68D}" type="pres">
      <dgm:prSet presAssocID="{F6C881B8-37B5-41F1-B57C-9F0FE9E258CF}" presName="node" presStyleLbl="node1" presStyleIdx="2" presStyleCnt="4">
        <dgm:presLayoutVars>
          <dgm:bulletEnabled val="1"/>
        </dgm:presLayoutVars>
      </dgm:prSet>
      <dgm:spPr/>
    </dgm:pt>
    <dgm:pt modelId="{F0B455EA-1B60-4BC7-8513-6F526DD035D9}" type="pres">
      <dgm:prSet presAssocID="{71414FDA-547E-41C2-BC67-7FA6932C77E0}" presName="sibTrans" presStyleCnt="0"/>
      <dgm:spPr/>
    </dgm:pt>
    <dgm:pt modelId="{2D71E363-EFB3-472E-9A58-12E75F7F2841}" type="pres">
      <dgm:prSet presAssocID="{B3CEA5B8-F06E-4B74-A60F-EAAA4F413461}" presName="node" presStyleLbl="node1" presStyleIdx="3" presStyleCnt="4">
        <dgm:presLayoutVars>
          <dgm:bulletEnabled val="1"/>
        </dgm:presLayoutVars>
      </dgm:prSet>
      <dgm:spPr/>
    </dgm:pt>
  </dgm:ptLst>
  <dgm:cxnLst>
    <dgm:cxn modelId="{ACB7DD3C-D29B-4C94-855B-9303154E0FA5}" type="presOf" srcId="{1DC22D23-282B-47B2-98F7-902727E4E36D}" destId="{1BF33DB1-F5DD-4E09-B40D-748F78CFEBD7}" srcOrd="0" destOrd="0" presId="urn:microsoft.com/office/officeart/2005/8/layout/default"/>
    <dgm:cxn modelId="{22CBAA48-6D78-47DA-B69C-8A2260ADCA9C}" type="presOf" srcId="{A0DA1F1D-7993-4306-A7A5-9E8FBB88767B}" destId="{E92D4D90-FDD7-4683-A4E2-5ABBB2235736}" srcOrd="0" destOrd="0" presId="urn:microsoft.com/office/officeart/2005/8/layout/default"/>
    <dgm:cxn modelId="{8473DC6A-B793-42B2-98AA-5DD69637B6F7}" type="presOf" srcId="{B3CEA5B8-F06E-4B74-A60F-EAAA4F413461}" destId="{2D71E363-EFB3-472E-9A58-12E75F7F2841}" srcOrd="0" destOrd="0" presId="urn:microsoft.com/office/officeart/2005/8/layout/default"/>
    <dgm:cxn modelId="{53FD477D-19B7-4055-BA09-AEF55B693329}" srcId="{1DC22D23-282B-47B2-98F7-902727E4E36D}" destId="{F6C881B8-37B5-41F1-B57C-9F0FE9E258CF}" srcOrd="2" destOrd="0" parTransId="{6E3188B4-C96C-4C92-B630-B5DBD1104213}" sibTransId="{71414FDA-547E-41C2-BC67-7FA6932C77E0}"/>
    <dgm:cxn modelId="{6F295AA3-4949-499E-8FA7-3753C0BEE186}" type="presOf" srcId="{F6C881B8-37B5-41F1-B57C-9F0FE9E258CF}" destId="{A7FF8499-113E-44CD-80E0-4F2F10D3C68D}" srcOrd="0" destOrd="0" presId="urn:microsoft.com/office/officeart/2005/8/layout/default"/>
    <dgm:cxn modelId="{92F78DB1-7290-40C1-9395-4F0292B403AF}" srcId="{1DC22D23-282B-47B2-98F7-902727E4E36D}" destId="{F7532D27-E6F2-4D84-9431-4994D959861F}" srcOrd="1" destOrd="0" parTransId="{B136608E-BAE4-4102-B7CA-CD25777D136B}" sibTransId="{BD570CA9-19F4-454F-912E-BE6B2C8F6EF6}"/>
    <dgm:cxn modelId="{A1FA75CE-FE88-4F7B-84B5-E716DBAF0133}" type="presOf" srcId="{F7532D27-E6F2-4D84-9431-4994D959861F}" destId="{ACF78EF7-4A77-4C6B-91B4-618AEE29011A}" srcOrd="0" destOrd="0" presId="urn:microsoft.com/office/officeart/2005/8/layout/default"/>
    <dgm:cxn modelId="{1D73DDD8-179F-4B0B-B208-B86FB099D508}" srcId="{1DC22D23-282B-47B2-98F7-902727E4E36D}" destId="{B3CEA5B8-F06E-4B74-A60F-EAAA4F413461}" srcOrd="3" destOrd="0" parTransId="{2C963653-4DDA-4CE0-92B2-6E74EE08AE47}" sibTransId="{F58E4240-0445-44C5-9C81-939022B8EB1A}"/>
    <dgm:cxn modelId="{DCD103E1-4454-45CF-BC69-195D1291351E}" srcId="{1DC22D23-282B-47B2-98F7-902727E4E36D}" destId="{A0DA1F1D-7993-4306-A7A5-9E8FBB88767B}" srcOrd="0" destOrd="0" parTransId="{70EAF57F-17FB-4BFE-8302-00D9A12EFA1F}" sibTransId="{1414CCFF-2B5D-4EF0-89FF-496EFD5206AB}"/>
    <dgm:cxn modelId="{A4DE3D86-F693-49FC-A125-816FFA37F40D}" type="presParOf" srcId="{1BF33DB1-F5DD-4E09-B40D-748F78CFEBD7}" destId="{E92D4D90-FDD7-4683-A4E2-5ABBB2235736}" srcOrd="0" destOrd="0" presId="urn:microsoft.com/office/officeart/2005/8/layout/default"/>
    <dgm:cxn modelId="{D456ACE7-2B29-4738-B1D6-6020840BF736}" type="presParOf" srcId="{1BF33DB1-F5DD-4E09-B40D-748F78CFEBD7}" destId="{494F2125-120D-4007-A2B9-158476E46F26}" srcOrd="1" destOrd="0" presId="urn:microsoft.com/office/officeart/2005/8/layout/default"/>
    <dgm:cxn modelId="{A1080897-A14B-4E4A-B986-78D71044F451}" type="presParOf" srcId="{1BF33DB1-F5DD-4E09-B40D-748F78CFEBD7}" destId="{ACF78EF7-4A77-4C6B-91B4-618AEE29011A}" srcOrd="2" destOrd="0" presId="urn:microsoft.com/office/officeart/2005/8/layout/default"/>
    <dgm:cxn modelId="{C0C89D0F-025D-43A8-8368-C9C55219722D}" type="presParOf" srcId="{1BF33DB1-F5DD-4E09-B40D-748F78CFEBD7}" destId="{97DA3927-895E-406D-BFB0-7E30ED09F6E4}" srcOrd="3" destOrd="0" presId="urn:microsoft.com/office/officeart/2005/8/layout/default"/>
    <dgm:cxn modelId="{995AADCC-A898-4CB6-A36F-B56AA5507DE1}" type="presParOf" srcId="{1BF33DB1-F5DD-4E09-B40D-748F78CFEBD7}" destId="{A7FF8499-113E-44CD-80E0-4F2F10D3C68D}" srcOrd="4" destOrd="0" presId="urn:microsoft.com/office/officeart/2005/8/layout/default"/>
    <dgm:cxn modelId="{E4AAB48B-4156-4D92-B116-DFC9CEFA4D40}" type="presParOf" srcId="{1BF33DB1-F5DD-4E09-B40D-748F78CFEBD7}" destId="{F0B455EA-1B60-4BC7-8513-6F526DD035D9}" srcOrd="5" destOrd="0" presId="urn:microsoft.com/office/officeart/2005/8/layout/default"/>
    <dgm:cxn modelId="{5A5E0D9A-69A0-4A4D-9CE7-9333A1888655}" type="presParOf" srcId="{1BF33DB1-F5DD-4E09-B40D-748F78CFEBD7}" destId="{2D71E363-EFB3-472E-9A58-12E75F7F2841}"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E1912E-FD60-4663-B91E-AAF342CE940E}"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320138A8-7D3E-4CAF-A8E9-824CB1C9112A}">
      <dgm:prSet phldrT="[Texte]"/>
      <dgm:spPr/>
      <dgm:t>
        <a:bodyPr/>
        <a:lstStyle/>
        <a:p>
          <a:r>
            <a:rPr lang="en-US" b="1" dirty="0"/>
            <a:t>Pour les </a:t>
          </a:r>
          <a:r>
            <a:rPr lang="en-US" b="1" dirty="0" err="1"/>
            <a:t>Gouvernements</a:t>
          </a:r>
          <a:endParaRPr lang="en-US" b="1" dirty="0"/>
        </a:p>
      </dgm:t>
    </dgm:pt>
    <dgm:pt modelId="{3B741689-D545-46F6-B109-55DA4D4E62F2}" type="parTrans" cxnId="{37B92A9F-07E0-40A0-9E76-909FE3DC9CCD}">
      <dgm:prSet/>
      <dgm:spPr/>
      <dgm:t>
        <a:bodyPr/>
        <a:lstStyle/>
        <a:p>
          <a:endParaRPr lang="en-US"/>
        </a:p>
      </dgm:t>
    </dgm:pt>
    <dgm:pt modelId="{2C66E903-A174-49C0-8ACE-F3619F623925}" type="sibTrans" cxnId="{37B92A9F-07E0-40A0-9E76-909FE3DC9CCD}">
      <dgm:prSet/>
      <dgm:spPr/>
      <dgm:t>
        <a:bodyPr/>
        <a:lstStyle/>
        <a:p>
          <a:endParaRPr lang="en-US"/>
        </a:p>
      </dgm:t>
    </dgm:pt>
    <dgm:pt modelId="{D1E90526-931E-40D1-BD1A-A48207D7E264}">
      <dgm:prSet phldrT="[Texte]"/>
      <dgm:spPr/>
      <dgm:t>
        <a:bodyPr/>
        <a:lstStyle/>
        <a:p>
          <a:r>
            <a:rPr lang="en-US" b="1" dirty="0"/>
            <a:t>Pour les </a:t>
          </a:r>
          <a:r>
            <a:rPr lang="en-US" b="1" dirty="0" err="1"/>
            <a:t>Plateformes</a:t>
          </a:r>
          <a:r>
            <a:rPr lang="en-US" b="1" dirty="0"/>
            <a:t> </a:t>
          </a:r>
          <a:r>
            <a:rPr lang="en-US" b="1" dirty="0" err="1"/>
            <a:t>Technologiques</a:t>
          </a:r>
          <a:endParaRPr lang="en-US" b="1" dirty="0"/>
        </a:p>
      </dgm:t>
    </dgm:pt>
    <dgm:pt modelId="{5C4B7022-0608-4CE2-BFF0-AF795FD162F6}" type="parTrans" cxnId="{7D3F8E13-9BE4-42B7-AE63-8AB741324159}">
      <dgm:prSet/>
      <dgm:spPr/>
      <dgm:t>
        <a:bodyPr/>
        <a:lstStyle/>
        <a:p>
          <a:endParaRPr lang="en-US"/>
        </a:p>
      </dgm:t>
    </dgm:pt>
    <dgm:pt modelId="{6A70C89E-F2CF-4F8F-BB9F-3F9480A719DA}" type="sibTrans" cxnId="{7D3F8E13-9BE4-42B7-AE63-8AB741324159}">
      <dgm:prSet/>
      <dgm:spPr/>
      <dgm:t>
        <a:bodyPr/>
        <a:lstStyle/>
        <a:p>
          <a:endParaRPr lang="en-US"/>
        </a:p>
      </dgm:t>
    </dgm:pt>
    <dgm:pt modelId="{8A7D2E5E-3976-4DCF-8DA9-33FA65BFB424}">
      <dgm:prSet phldrT="[Texte]"/>
      <dgm:spPr/>
      <dgm:t>
        <a:bodyPr/>
        <a:lstStyle/>
        <a:p>
          <a:pPr algn="just"/>
          <a:r>
            <a:rPr lang="fr-FR" dirty="0"/>
            <a:t>Adopter une "approche de portefeuille" qui équilibre les actions tactiques à court terme avec des investissements structurels à long terme dans l'éducation aux médias et le soutien au journalisme indépendant.</a:t>
          </a:r>
          <a:endParaRPr lang="en-US" dirty="0"/>
        </a:p>
      </dgm:t>
    </dgm:pt>
    <dgm:pt modelId="{8D63E142-2A57-44F9-B647-B669B0EA9678}" type="parTrans" cxnId="{E994C908-2FC0-4999-A15E-D20E1C14989A}">
      <dgm:prSet/>
      <dgm:spPr/>
      <dgm:t>
        <a:bodyPr/>
        <a:lstStyle/>
        <a:p>
          <a:endParaRPr lang="en-US"/>
        </a:p>
      </dgm:t>
    </dgm:pt>
    <dgm:pt modelId="{35076221-45A4-422F-9229-4B53EE86B976}" type="sibTrans" cxnId="{E994C908-2FC0-4999-A15E-D20E1C14989A}">
      <dgm:prSet/>
      <dgm:spPr/>
      <dgm:t>
        <a:bodyPr/>
        <a:lstStyle/>
        <a:p>
          <a:endParaRPr lang="en-US"/>
        </a:p>
      </dgm:t>
    </dgm:pt>
    <dgm:pt modelId="{A37E5073-545B-4EE5-A7DF-9021B6595134}">
      <dgm:prSet phldrT="[Texte]"/>
      <dgm:spPr/>
      <dgm:t>
        <a:bodyPr/>
        <a:lstStyle/>
        <a:p>
          <a:pPr algn="just"/>
          <a:r>
            <a:rPr lang="fr-FR" dirty="0"/>
            <a:t>Réexaminer fondamentalement les algorithmes basés sur l'engagement. Mener l'industrie dans l'adoption de normes ouvertes pour la provenance du contenu (comme C2PA) afin de certifier la source et l'historique des médias.</a:t>
          </a:r>
          <a:endParaRPr lang="en-US" dirty="0"/>
        </a:p>
      </dgm:t>
    </dgm:pt>
    <dgm:pt modelId="{9D25595E-C776-45FD-A3A8-6CCC2D6121CE}" type="parTrans" cxnId="{70F75D5C-629B-460C-B3AE-C5C866CF7199}">
      <dgm:prSet/>
      <dgm:spPr/>
      <dgm:t>
        <a:bodyPr/>
        <a:lstStyle/>
        <a:p>
          <a:endParaRPr lang="en-US"/>
        </a:p>
      </dgm:t>
    </dgm:pt>
    <dgm:pt modelId="{FEEF7554-DC2B-4A78-972F-B15A33005D4B}" type="sibTrans" cxnId="{70F75D5C-629B-460C-B3AE-C5C866CF7199}">
      <dgm:prSet/>
      <dgm:spPr/>
      <dgm:t>
        <a:bodyPr/>
        <a:lstStyle/>
        <a:p>
          <a:endParaRPr lang="en-US"/>
        </a:p>
      </dgm:t>
    </dgm:pt>
    <dgm:pt modelId="{423B3609-4571-4AD0-8D9D-B367FF501946}" type="pres">
      <dgm:prSet presAssocID="{8BE1912E-FD60-4663-B91E-AAF342CE940E}" presName="linear" presStyleCnt="0">
        <dgm:presLayoutVars>
          <dgm:dir/>
          <dgm:animLvl val="lvl"/>
          <dgm:resizeHandles val="exact"/>
        </dgm:presLayoutVars>
      </dgm:prSet>
      <dgm:spPr/>
    </dgm:pt>
    <dgm:pt modelId="{A41081AE-5036-46E4-916D-0FF4A448738F}" type="pres">
      <dgm:prSet presAssocID="{320138A8-7D3E-4CAF-A8E9-824CB1C9112A}" presName="parentLin" presStyleCnt="0"/>
      <dgm:spPr/>
    </dgm:pt>
    <dgm:pt modelId="{947FAFCD-4BCA-4292-8CBD-4D1F9C05E904}" type="pres">
      <dgm:prSet presAssocID="{320138A8-7D3E-4CAF-A8E9-824CB1C9112A}" presName="parentLeftMargin" presStyleLbl="node1" presStyleIdx="0" presStyleCnt="2"/>
      <dgm:spPr/>
    </dgm:pt>
    <dgm:pt modelId="{D4A83913-56B7-48B2-97A4-85F46F95C060}" type="pres">
      <dgm:prSet presAssocID="{320138A8-7D3E-4CAF-A8E9-824CB1C9112A}" presName="parentText" presStyleLbl="node1" presStyleIdx="0" presStyleCnt="2">
        <dgm:presLayoutVars>
          <dgm:chMax val="0"/>
          <dgm:bulletEnabled val="1"/>
        </dgm:presLayoutVars>
      </dgm:prSet>
      <dgm:spPr/>
    </dgm:pt>
    <dgm:pt modelId="{E6A62E0F-0261-421F-9566-F4B0FE81D24D}" type="pres">
      <dgm:prSet presAssocID="{320138A8-7D3E-4CAF-A8E9-824CB1C9112A}" presName="negativeSpace" presStyleCnt="0"/>
      <dgm:spPr/>
    </dgm:pt>
    <dgm:pt modelId="{3C17F505-966C-4D43-8C34-675DCBE169A4}" type="pres">
      <dgm:prSet presAssocID="{320138A8-7D3E-4CAF-A8E9-824CB1C9112A}" presName="childText" presStyleLbl="conFgAcc1" presStyleIdx="0" presStyleCnt="2">
        <dgm:presLayoutVars>
          <dgm:bulletEnabled val="1"/>
        </dgm:presLayoutVars>
      </dgm:prSet>
      <dgm:spPr/>
    </dgm:pt>
    <dgm:pt modelId="{A4BDC9DE-B92F-499B-BED1-D195FE4B694E}" type="pres">
      <dgm:prSet presAssocID="{2C66E903-A174-49C0-8ACE-F3619F623925}" presName="spaceBetweenRectangles" presStyleCnt="0"/>
      <dgm:spPr/>
    </dgm:pt>
    <dgm:pt modelId="{AF0E9CCA-7D3A-4F6F-B1AC-F7DEDECE0506}" type="pres">
      <dgm:prSet presAssocID="{D1E90526-931E-40D1-BD1A-A48207D7E264}" presName="parentLin" presStyleCnt="0"/>
      <dgm:spPr/>
    </dgm:pt>
    <dgm:pt modelId="{CF3183C7-8B0B-4887-99F4-70B130417E11}" type="pres">
      <dgm:prSet presAssocID="{D1E90526-931E-40D1-BD1A-A48207D7E264}" presName="parentLeftMargin" presStyleLbl="node1" presStyleIdx="0" presStyleCnt="2"/>
      <dgm:spPr/>
    </dgm:pt>
    <dgm:pt modelId="{ADA76FEF-8833-4479-B29F-039787ACE765}" type="pres">
      <dgm:prSet presAssocID="{D1E90526-931E-40D1-BD1A-A48207D7E264}" presName="parentText" presStyleLbl="node1" presStyleIdx="1" presStyleCnt="2">
        <dgm:presLayoutVars>
          <dgm:chMax val="0"/>
          <dgm:bulletEnabled val="1"/>
        </dgm:presLayoutVars>
      </dgm:prSet>
      <dgm:spPr/>
    </dgm:pt>
    <dgm:pt modelId="{CD5FE451-975E-431E-801A-D8B86BEA10B7}" type="pres">
      <dgm:prSet presAssocID="{D1E90526-931E-40D1-BD1A-A48207D7E264}" presName="negativeSpace" presStyleCnt="0"/>
      <dgm:spPr/>
    </dgm:pt>
    <dgm:pt modelId="{9B091F52-E018-45C2-8323-A8EA0F3EEEBA}" type="pres">
      <dgm:prSet presAssocID="{D1E90526-931E-40D1-BD1A-A48207D7E264}" presName="childText" presStyleLbl="conFgAcc1" presStyleIdx="1" presStyleCnt="2">
        <dgm:presLayoutVars>
          <dgm:bulletEnabled val="1"/>
        </dgm:presLayoutVars>
      </dgm:prSet>
      <dgm:spPr/>
    </dgm:pt>
  </dgm:ptLst>
  <dgm:cxnLst>
    <dgm:cxn modelId="{E994C908-2FC0-4999-A15E-D20E1C14989A}" srcId="{320138A8-7D3E-4CAF-A8E9-824CB1C9112A}" destId="{8A7D2E5E-3976-4DCF-8DA9-33FA65BFB424}" srcOrd="0" destOrd="0" parTransId="{8D63E142-2A57-44F9-B647-B669B0EA9678}" sibTransId="{35076221-45A4-422F-9229-4B53EE86B976}"/>
    <dgm:cxn modelId="{7D3F8E13-9BE4-42B7-AE63-8AB741324159}" srcId="{8BE1912E-FD60-4663-B91E-AAF342CE940E}" destId="{D1E90526-931E-40D1-BD1A-A48207D7E264}" srcOrd="1" destOrd="0" parTransId="{5C4B7022-0608-4CE2-BFF0-AF795FD162F6}" sibTransId="{6A70C89E-F2CF-4F8F-BB9F-3F9480A719DA}"/>
    <dgm:cxn modelId="{52BB5014-7DCC-4710-B15E-9131505AC236}" type="presOf" srcId="{320138A8-7D3E-4CAF-A8E9-824CB1C9112A}" destId="{947FAFCD-4BCA-4292-8CBD-4D1F9C05E904}" srcOrd="0" destOrd="0" presId="urn:microsoft.com/office/officeart/2005/8/layout/list1"/>
    <dgm:cxn modelId="{C5C54E33-81E0-41EE-A593-974712721974}" type="presOf" srcId="{D1E90526-931E-40D1-BD1A-A48207D7E264}" destId="{CF3183C7-8B0B-4887-99F4-70B130417E11}" srcOrd="0" destOrd="0" presId="urn:microsoft.com/office/officeart/2005/8/layout/list1"/>
    <dgm:cxn modelId="{9C0E133D-68B1-4441-8F9B-C70F892E6779}" type="presOf" srcId="{D1E90526-931E-40D1-BD1A-A48207D7E264}" destId="{ADA76FEF-8833-4479-B29F-039787ACE765}" srcOrd="1" destOrd="0" presId="urn:microsoft.com/office/officeart/2005/8/layout/list1"/>
    <dgm:cxn modelId="{70F75D5C-629B-460C-B3AE-C5C866CF7199}" srcId="{D1E90526-931E-40D1-BD1A-A48207D7E264}" destId="{A37E5073-545B-4EE5-A7DF-9021B6595134}" srcOrd="0" destOrd="0" parTransId="{9D25595E-C776-45FD-A3A8-6CCC2D6121CE}" sibTransId="{FEEF7554-DC2B-4A78-972F-B15A33005D4B}"/>
    <dgm:cxn modelId="{AE51FC60-968A-49B6-99CB-23AE06666ABE}" type="presOf" srcId="{320138A8-7D3E-4CAF-A8E9-824CB1C9112A}" destId="{D4A83913-56B7-48B2-97A4-85F46F95C060}" srcOrd="1" destOrd="0" presId="urn:microsoft.com/office/officeart/2005/8/layout/list1"/>
    <dgm:cxn modelId="{9D780B6A-B37E-436D-8890-4404F364F79E}" type="presOf" srcId="{8BE1912E-FD60-4663-B91E-AAF342CE940E}" destId="{423B3609-4571-4AD0-8D9D-B367FF501946}" srcOrd="0" destOrd="0" presId="urn:microsoft.com/office/officeart/2005/8/layout/list1"/>
    <dgm:cxn modelId="{4AD8FC8A-5551-4D78-B845-9960371CD85D}" type="presOf" srcId="{A37E5073-545B-4EE5-A7DF-9021B6595134}" destId="{9B091F52-E018-45C2-8323-A8EA0F3EEEBA}" srcOrd="0" destOrd="0" presId="urn:microsoft.com/office/officeart/2005/8/layout/list1"/>
    <dgm:cxn modelId="{37B92A9F-07E0-40A0-9E76-909FE3DC9CCD}" srcId="{8BE1912E-FD60-4663-B91E-AAF342CE940E}" destId="{320138A8-7D3E-4CAF-A8E9-824CB1C9112A}" srcOrd="0" destOrd="0" parTransId="{3B741689-D545-46F6-B109-55DA4D4E62F2}" sibTransId="{2C66E903-A174-49C0-8ACE-F3619F623925}"/>
    <dgm:cxn modelId="{90A2B6FD-59B0-4FF6-9C3F-FF98F353A2A0}" type="presOf" srcId="{8A7D2E5E-3976-4DCF-8DA9-33FA65BFB424}" destId="{3C17F505-966C-4D43-8C34-675DCBE169A4}" srcOrd="0" destOrd="0" presId="urn:microsoft.com/office/officeart/2005/8/layout/list1"/>
    <dgm:cxn modelId="{B8AFA67F-A221-4D67-BC3D-C02EE41D99C9}" type="presParOf" srcId="{423B3609-4571-4AD0-8D9D-B367FF501946}" destId="{A41081AE-5036-46E4-916D-0FF4A448738F}" srcOrd="0" destOrd="0" presId="urn:microsoft.com/office/officeart/2005/8/layout/list1"/>
    <dgm:cxn modelId="{3638DA44-A56E-4DA6-8D90-0EBE5BAC648D}" type="presParOf" srcId="{A41081AE-5036-46E4-916D-0FF4A448738F}" destId="{947FAFCD-4BCA-4292-8CBD-4D1F9C05E904}" srcOrd="0" destOrd="0" presId="urn:microsoft.com/office/officeart/2005/8/layout/list1"/>
    <dgm:cxn modelId="{3DCE8FD8-98F3-4FC3-B915-74675E396428}" type="presParOf" srcId="{A41081AE-5036-46E4-916D-0FF4A448738F}" destId="{D4A83913-56B7-48B2-97A4-85F46F95C060}" srcOrd="1" destOrd="0" presId="urn:microsoft.com/office/officeart/2005/8/layout/list1"/>
    <dgm:cxn modelId="{6D4D9DF9-27DA-4AD2-BABC-606F94588340}" type="presParOf" srcId="{423B3609-4571-4AD0-8D9D-B367FF501946}" destId="{E6A62E0F-0261-421F-9566-F4B0FE81D24D}" srcOrd="1" destOrd="0" presId="urn:microsoft.com/office/officeart/2005/8/layout/list1"/>
    <dgm:cxn modelId="{0D4A8415-5845-470C-9E29-9D97C92C35C7}" type="presParOf" srcId="{423B3609-4571-4AD0-8D9D-B367FF501946}" destId="{3C17F505-966C-4D43-8C34-675DCBE169A4}" srcOrd="2" destOrd="0" presId="urn:microsoft.com/office/officeart/2005/8/layout/list1"/>
    <dgm:cxn modelId="{170C2459-3783-4537-8E2C-7646337DAA97}" type="presParOf" srcId="{423B3609-4571-4AD0-8D9D-B367FF501946}" destId="{A4BDC9DE-B92F-499B-BED1-D195FE4B694E}" srcOrd="3" destOrd="0" presId="urn:microsoft.com/office/officeart/2005/8/layout/list1"/>
    <dgm:cxn modelId="{98EBAC3B-1298-42C4-BDAD-9E1F1A6A7557}" type="presParOf" srcId="{423B3609-4571-4AD0-8D9D-B367FF501946}" destId="{AF0E9CCA-7D3A-4F6F-B1AC-F7DEDECE0506}" srcOrd="4" destOrd="0" presId="urn:microsoft.com/office/officeart/2005/8/layout/list1"/>
    <dgm:cxn modelId="{C5D02396-B0F2-41B9-A378-E8457F497D5E}" type="presParOf" srcId="{AF0E9CCA-7D3A-4F6F-B1AC-F7DEDECE0506}" destId="{CF3183C7-8B0B-4887-99F4-70B130417E11}" srcOrd="0" destOrd="0" presId="urn:microsoft.com/office/officeart/2005/8/layout/list1"/>
    <dgm:cxn modelId="{E48CA725-D637-40A8-95E5-B0D7C379F593}" type="presParOf" srcId="{AF0E9CCA-7D3A-4F6F-B1AC-F7DEDECE0506}" destId="{ADA76FEF-8833-4479-B29F-039787ACE765}" srcOrd="1" destOrd="0" presId="urn:microsoft.com/office/officeart/2005/8/layout/list1"/>
    <dgm:cxn modelId="{A60A3F01-C48D-42A6-84F8-B2E0D7B752E5}" type="presParOf" srcId="{423B3609-4571-4AD0-8D9D-B367FF501946}" destId="{CD5FE451-975E-431E-801A-D8B86BEA10B7}" srcOrd="5" destOrd="0" presId="urn:microsoft.com/office/officeart/2005/8/layout/list1"/>
    <dgm:cxn modelId="{9C9FCBB9-A9C8-4167-8849-15DA6EB9C098}" type="presParOf" srcId="{423B3609-4571-4AD0-8D9D-B367FF501946}" destId="{9B091F52-E018-45C2-8323-A8EA0F3EEEB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2940D0-DE1D-42AF-9C13-A40E10B28206}"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AE96D960-31AC-47F8-BF2D-B5B12E615288}">
      <dgm:prSet phldrT="[Texte]"/>
      <dgm:spPr/>
      <dgm:t>
        <a:bodyPr/>
        <a:lstStyle/>
        <a:p>
          <a:r>
            <a:rPr lang="en-US" b="1" dirty="0"/>
            <a:t>Qui </a:t>
          </a:r>
          <a:r>
            <a:rPr lang="en-US" b="1" dirty="0" err="1"/>
            <a:t>est</a:t>
          </a:r>
          <a:r>
            <a:rPr lang="en-US" b="1" dirty="0"/>
            <a:t> la Source?</a:t>
          </a:r>
        </a:p>
      </dgm:t>
    </dgm:pt>
    <dgm:pt modelId="{D721F535-E50B-4962-8410-E17E40F79B32}" type="parTrans" cxnId="{4E5D255C-5925-423F-8F89-8A8A31466891}">
      <dgm:prSet/>
      <dgm:spPr/>
      <dgm:t>
        <a:bodyPr/>
        <a:lstStyle/>
        <a:p>
          <a:endParaRPr lang="en-US"/>
        </a:p>
      </dgm:t>
    </dgm:pt>
    <dgm:pt modelId="{A7BBDCE2-2611-404A-9053-119AA885F8C3}" type="sibTrans" cxnId="{4E5D255C-5925-423F-8F89-8A8A31466891}">
      <dgm:prSet/>
      <dgm:spPr/>
      <dgm:t>
        <a:bodyPr/>
        <a:lstStyle/>
        <a:p>
          <a:endParaRPr lang="en-US"/>
        </a:p>
      </dgm:t>
    </dgm:pt>
    <dgm:pt modelId="{345704C6-D251-40C5-8285-1BDA82FFB55E}">
      <dgm:prSet phldrT="[Texte]"/>
      <dgm:spPr/>
      <dgm:t>
        <a:bodyPr/>
        <a:lstStyle/>
        <a:p>
          <a:pPr algn="just"/>
          <a:r>
            <a:rPr lang="fr-FR" dirty="0"/>
            <a:t>Remontez à la source originale de l'information. Est-ce un média connu et crédible? Un compte anonyme? Un site parodique?</a:t>
          </a:r>
          <a:endParaRPr lang="en-US" dirty="0"/>
        </a:p>
      </dgm:t>
    </dgm:pt>
    <dgm:pt modelId="{4ECA7994-12E0-4DA0-B42A-D50436F84AFC}" type="parTrans" cxnId="{6F3076E0-92F6-4847-8FF2-52421B04B672}">
      <dgm:prSet/>
      <dgm:spPr/>
      <dgm:t>
        <a:bodyPr/>
        <a:lstStyle/>
        <a:p>
          <a:endParaRPr lang="en-US"/>
        </a:p>
      </dgm:t>
    </dgm:pt>
    <dgm:pt modelId="{99157AC8-3E27-43FB-864C-8111BD526D3D}" type="sibTrans" cxnId="{6F3076E0-92F6-4847-8FF2-52421B04B672}">
      <dgm:prSet/>
      <dgm:spPr/>
      <dgm:t>
        <a:bodyPr/>
        <a:lstStyle/>
        <a:p>
          <a:endParaRPr lang="en-US"/>
        </a:p>
      </dgm:t>
    </dgm:pt>
    <dgm:pt modelId="{DB3682B2-F3DA-4B9C-8EC8-0867E563F584}">
      <dgm:prSet phldrT="[Texte]"/>
      <dgm:spPr/>
      <dgm:t>
        <a:bodyPr/>
        <a:lstStyle/>
        <a:p>
          <a:r>
            <a:rPr lang="en-US" b="1" dirty="0" err="1"/>
            <a:t>Vérifiez</a:t>
          </a:r>
          <a:r>
            <a:rPr lang="en-US" b="1" dirty="0"/>
            <a:t> les Faits (Fact-Checking)</a:t>
          </a:r>
        </a:p>
      </dgm:t>
    </dgm:pt>
    <dgm:pt modelId="{4D86B71A-3BB3-42F6-9423-45930E365398}" type="parTrans" cxnId="{F5AB1F7F-2D26-4CBB-811D-85452AF0C50E}">
      <dgm:prSet/>
      <dgm:spPr/>
      <dgm:t>
        <a:bodyPr/>
        <a:lstStyle/>
        <a:p>
          <a:endParaRPr lang="en-US"/>
        </a:p>
      </dgm:t>
    </dgm:pt>
    <dgm:pt modelId="{492DD656-6A8F-4B4F-ADE6-3D8528868160}" type="sibTrans" cxnId="{F5AB1F7F-2D26-4CBB-811D-85452AF0C50E}">
      <dgm:prSet/>
      <dgm:spPr/>
      <dgm:t>
        <a:bodyPr/>
        <a:lstStyle/>
        <a:p>
          <a:endParaRPr lang="en-US"/>
        </a:p>
      </dgm:t>
    </dgm:pt>
    <dgm:pt modelId="{83E992EE-99DC-4370-B93F-8E4A7CDE5644}">
      <dgm:prSet phldrT="[Texte]"/>
      <dgm:spPr/>
      <dgm:t>
        <a:bodyPr/>
        <a:lstStyle/>
        <a:p>
          <a:pPr algn="just"/>
          <a:r>
            <a:rPr lang="fr-FR" dirty="0"/>
            <a:t>Consultez des sites de vérification des faits indépendants (ex: AFP Factuel, Les Décodeurs). Ne vous fiez pas à une seule plateforme ou à vos amis pour vérifier.</a:t>
          </a:r>
          <a:endParaRPr lang="en-US" dirty="0"/>
        </a:p>
      </dgm:t>
    </dgm:pt>
    <dgm:pt modelId="{ED6FD991-30B6-46E2-AAEF-458825A1F856}" type="parTrans" cxnId="{A6838E11-210D-441C-916B-283944C66238}">
      <dgm:prSet/>
      <dgm:spPr/>
      <dgm:t>
        <a:bodyPr/>
        <a:lstStyle/>
        <a:p>
          <a:endParaRPr lang="en-US"/>
        </a:p>
      </dgm:t>
    </dgm:pt>
    <dgm:pt modelId="{7D2D8D83-9035-41DD-AC59-9147421BE66A}" type="sibTrans" cxnId="{A6838E11-210D-441C-916B-283944C66238}">
      <dgm:prSet/>
      <dgm:spPr/>
      <dgm:t>
        <a:bodyPr/>
        <a:lstStyle/>
        <a:p>
          <a:endParaRPr lang="en-US"/>
        </a:p>
      </dgm:t>
    </dgm:pt>
    <dgm:pt modelId="{A77C5ED2-6E0A-4277-A821-9F3CBC7F4D10}">
      <dgm:prSet phldrT="[Texte]"/>
      <dgm:spPr/>
      <dgm:t>
        <a:bodyPr/>
        <a:lstStyle/>
        <a:p>
          <a:r>
            <a:rPr lang="en-US" b="1" dirty="0" err="1"/>
            <a:t>Examinez</a:t>
          </a:r>
          <a:r>
            <a:rPr lang="en-US" b="1" dirty="0"/>
            <a:t> le </a:t>
          </a:r>
          <a:r>
            <a:rPr lang="en-US" b="1" dirty="0" err="1"/>
            <a:t>Contexte</a:t>
          </a:r>
          <a:endParaRPr lang="en-US" b="1" dirty="0"/>
        </a:p>
      </dgm:t>
    </dgm:pt>
    <dgm:pt modelId="{2DD67154-410B-4A9B-ACC6-792C25C25B49}" type="parTrans" cxnId="{3B54F53F-C587-48BF-9E49-388EC1DB7DB7}">
      <dgm:prSet/>
      <dgm:spPr/>
      <dgm:t>
        <a:bodyPr/>
        <a:lstStyle/>
        <a:p>
          <a:endParaRPr lang="en-US"/>
        </a:p>
      </dgm:t>
    </dgm:pt>
    <dgm:pt modelId="{58CA8D45-F0E3-430B-933E-72D1E4496BB4}" type="sibTrans" cxnId="{3B54F53F-C587-48BF-9E49-388EC1DB7DB7}">
      <dgm:prSet/>
      <dgm:spPr/>
      <dgm:t>
        <a:bodyPr/>
        <a:lstStyle/>
        <a:p>
          <a:endParaRPr lang="en-US"/>
        </a:p>
      </dgm:t>
    </dgm:pt>
    <dgm:pt modelId="{0C3DE4B1-0E13-491F-9AB4-4B6F0620DBEF}">
      <dgm:prSet phldrT="[Texte]"/>
      <dgm:spPr/>
      <dgm:t>
        <a:bodyPr/>
        <a:lstStyle/>
        <a:p>
          <a:pPr algn="just"/>
          <a:r>
            <a:rPr lang="fr-FR" dirty="0"/>
            <a:t>Présentez cette diapositive comme une "boîte à outils" pratique. Mentionnez un ou deux exemples de sites de </a:t>
          </a:r>
          <a:r>
            <a:rPr lang="fr-FR" dirty="0" err="1"/>
            <a:t>fact</a:t>
          </a:r>
          <a:r>
            <a:rPr lang="fr-FR" dirty="0"/>
            <a:t>-checking locaux pour rendre le conseil encore plus concret.</a:t>
          </a:r>
          <a:endParaRPr lang="en-US" dirty="0"/>
        </a:p>
      </dgm:t>
    </dgm:pt>
    <dgm:pt modelId="{F4E07ACC-EB7C-46B9-A78D-FF079581232F}" type="parTrans" cxnId="{6FD6CB50-23C1-409A-AF2D-38B38E6C22A6}">
      <dgm:prSet/>
      <dgm:spPr/>
      <dgm:t>
        <a:bodyPr/>
        <a:lstStyle/>
        <a:p>
          <a:endParaRPr lang="en-US"/>
        </a:p>
      </dgm:t>
    </dgm:pt>
    <dgm:pt modelId="{822D33BB-588A-4844-9DF8-0F5E6192A18B}" type="sibTrans" cxnId="{6FD6CB50-23C1-409A-AF2D-38B38E6C22A6}">
      <dgm:prSet/>
      <dgm:spPr/>
      <dgm:t>
        <a:bodyPr/>
        <a:lstStyle/>
        <a:p>
          <a:endParaRPr lang="en-US"/>
        </a:p>
      </dgm:t>
    </dgm:pt>
    <dgm:pt modelId="{A01E1B19-FBC4-49A7-99DE-C0C9CF0BFB80}" type="pres">
      <dgm:prSet presAssocID="{CA2940D0-DE1D-42AF-9C13-A40E10B28206}" presName="linear" presStyleCnt="0">
        <dgm:presLayoutVars>
          <dgm:dir/>
          <dgm:animLvl val="lvl"/>
          <dgm:resizeHandles val="exact"/>
        </dgm:presLayoutVars>
      </dgm:prSet>
      <dgm:spPr/>
    </dgm:pt>
    <dgm:pt modelId="{229C9A05-A3C7-44DC-BBBB-53C85B9BB28B}" type="pres">
      <dgm:prSet presAssocID="{AE96D960-31AC-47F8-BF2D-B5B12E615288}" presName="parentLin" presStyleCnt="0"/>
      <dgm:spPr/>
    </dgm:pt>
    <dgm:pt modelId="{9DB83135-9FC2-4995-9AED-DEB6D995F5F3}" type="pres">
      <dgm:prSet presAssocID="{AE96D960-31AC-47F8-BF2D-B5B12E615288}" presName="parentLeftMargin" presStyleLbl="node1" presStyleIdx="0" presStyleCnt="3"/>
      <dgm:spPr/>
    </dgm:pt>
    <dgm:pt modelId="{1F7E1BD3-0993-4E1C-B787-49AFA9FB2E4C}" type="pres">
      <dgm:prSet presAssocID="{AE96D960-31AC-47F8-BF2D-B5B12E615288}" presName="parentText" presStyleLbl="node1" presStyleIdx="0" presStyleCnt="3">
        <dgm:presLayoutVars>
          <dgm:chMax val="0"/>
          <dgm:bulletEnabled val="1"/>
        </dgm:presLayoutVars>
      </dgm:prSet>
      <dgm:spPr/>
    </dgm:pt>
    <dgm:pt modelId="{C7FD014B-AF17-4007-9851-9FCF1E8C7472}" type="pres">
      <dgm:prSet presAssocID="{AE96D960-31AC-47F8-BF2D-B5B12E615288}" presName="negativeSpace" presStyleCnt="0"/>
      <dgm:spPr/>
    </dgm:pt>
    <dgm:pt modelId="{5036F894-5FD7-43AA-8FFC-F5186CF937AA}" type="pres">
      <dgm:prSet presAssocID="{AE96D960-31AC-47F8-BF2D-B5B12E615288}" presName="childText" presStyleLbl="conFgAcc1" presStyleIdx="0" presStyleCnt="3">
        <dgm:presLayoutVars>
          <dgm:bulletEnabled val="1"/>
        </dgm:presLayoutVars>
      </dgm:prSet>
      <dgm:spPr/>
    </dgm:pt>
    <dgm:pt modelId="{104A4775-729F-4558-BD2B-76917C643BDA}" type="pres">
      <dgm:prSet presAssocID="{A7BBDCE2-2611-404A-9053-119AA885F8C3}" presName="spaceBetweenRectangles" presStyleCnt="0"/>
      <dgm:spPr/>
    </dgm:pt>
    <dgm:pt modelId="{0259D6C6-4B4D-4175-8CBE-2BE6FA172AC9}" type="pres">
      <dgm:prSet presAssocID="{DB3682B2-F3DA-4B9C-8EC8-0867E563F584}" presName="parentLin" presStyleCnt="0"/>
      <dgm:spPr/>
    </dgm:pt>
    <dgm:pt modelId="{91573A33-4FC8-4DE2-9CE4-3E8DE67EEBFC}" type="pres">
      <dgm:prSet presAssocID="{DB3682B2-F3DA-4B9C-8EC8-0867E563F584}" presName="parentLeftMargin" presStyleLbl="node1" presStyleIdx="0" presStyleCnt="3"/>
      <dgm:spPr/>
    </dgm:pt>
    <dgm:pt modelId="{723F27AD-D45F-4792-A6E3-F2F7E2935FA1}" type="pres">
      <dgm:prSet presAssocID="{DB3682B2-F3DA-4B9C-8EC8-0867E563F584}" presName="parentText" presStyleLbl="node1" presStyleIdx="1" presStyleCnt="3">
        <dgm:presLayoutVars>
          <dgm:chMax val="0"/>
          <dgm:bulletEnabled val="1"/>
        </dgm:presLayoutVars>
      </dgm:prSet>
      <dgm:spPr/>
    </dgm:pt>
    <dgm:pt modelId="{D16FA324-FBC4-473D-91B9-122F8111C015}" type="pres">
      <dgm:prSet presAssocID="{DB3682B2-F3DA-4B9C-8EC8-0867E563F584}" presName="negativeSpace" presStyleCnt="0"/>
      <dgm:spPr/>
    </dgm:pt>
    <dgm:pt modelId="{0D4366F9-1A85-4000-9C62-DBE1FCD7D296}" type="pres">
      <dgm:prSet presAssocID="{DB3682B2-F3DA-4B9C-8EC8-0867E563F584}" presName="childText" presStyleLbl="conFgAcc1" presStyleIdx="1" presStyleCnt="3">
        <dgm:presLayoutVars>
          <dgm:bulletEnabled val="1"/>
        </dgm:presLayoutVars>
      </dgm:prSet>
      <dgm:spPr/>
    </dgm:pt>
    <dgm:pt modelId="{079D8D75-66D3-4A28-BDE0-888151DC4157}" type="pres">
      <dgm:prSet presAssocID="{492DD656-6A8F-4B4F-ADE6-3D8528868160}" presName="spaceBetweenRectangles" presStyleCnt="0"/>
      <dgm:spPr/>
    </dgm:pt>
    <dgm:pt modelId="{4B002DFC-AF9E-4C90-B4DE-906CA0DECAEC}" type="pres">
      <dgm:prSet presAssocID="{A77C5ED2-6E0A-4277-A821-9F3CBC7F4D10}" presName="parentLin" presStyleCnt="0"/>
      <dgm:spPr/>
    </dgm:pt>
    <dgm:pt modelId="{ACBA5665-FA61-42E8-8A4B-9C50987E0166}" type="pres">
      <dgm:prSet presAssocID="{A77C5ED2-6E0A-4277-A821-9F3CBC7F4D10}" presName="parentLeftMargin" presStyleLbl="node1" presStyleIdx="1" presStyleCnt="3"/>
      <dgm:spPr/>
    </dgm:pt>
    <dgm:pt modelId="{947DEA60-718C-4761-B222-33D09BB2E091}" type="pres">
      <dgm:prSet presAssocID="{A77C5ED2-6E0A-4277-A821-9F3CBC7F4D10}" presName="parentText" presStyleLbl="node1" presStyleIdx="2" presStyleCnt="3">
        <dgm:presLayoutVars>
          <dgm:chMax val="0"/>
          <dgm:bulletEnabled val="1"/>
        </dgm:presLayoutVars>
      </dgm:prSet>
      <dgm:spPr/>
    </dgm:pt>
    <dgm:pt modelId="{4F9931C6-4030-4B8E-819D-3F128CC2E3DE}" type="pres">
      <dgm:prSet presAssocID="{A77C5ED2-6E0A-4277-A821-9F3CBC7F4D10}" presName="negativeSpace" presStyleCnt="0"/>
      <dgm:spPr/>
    </dgm:pt>
    <dgm:pt modelId="{ACB7FB73-2B07-4EE4-AAE1-4AA41ECF3055}" type="pres">
      <dgm:prSet presAssocID="{A77C5ED2-6E0A-4277-A821-9F3CBC7F4D10}" presName="childText" presStyleLbl="conFgAcc1" presStyleIdx="2" presStyleCnt="3">
        <dgm:presLayoutVars>
          <dgm:bulletEnabled val="1"/>
        </dgm:presLayoutVars>
      </dgm:prSet>
      <dgm:spPr/>
    </dgm:pt>
  </dgm:ptLst>
  <dgm:cxnLst>
    <dgm:cxn modelId="{98CF500A-343E-4A0C-A1EE-430BF5A5F429}" type="presOf" srcId="{A77C5ED2-6E0A-4277-A821-9F3CBC7F4D10}" destId="{ACBA5665-FA61-42E8-8A4B-9C50987E0166}" srcOrd="0" destOrd="0" presId="urn:microsoft.com/office/officeart/2005/8/layout/list1"/>
    <dgm:cxn modelId="{A6838E11-210D-441C-916B-283944C66238}" srcId="{DB3682B2-F3DA-4B9C-8EC8-0867E563F584}" destId="{83E992EE-99DC-4370-B93F-8E4A7CDE5644}" srcOrd="0" destOrd="0" parTransId="{ED6FD991-30B6-46E2-AAEF-458825A1F856}" sibTransId="{7D2D8D83-9035-41DD-AC59-9147421BE66A}"/>
    <dgm:cxn modelId="{C258051A-7F57-4115-AD21-054DC54E65E6}" type="presOf" srcId="{AE96D960-31AC-47F8-BF2D-B5B12E615288}" destId="{1F7E1BD3-0993-4E1C-B787-49AFA9FB2E4C}" srcOrd="1" destOrd="0" presId="urn:microsoft.com/office/officeart/2005/8/layout/list1"/>
    <dgm:cxn modelId="{EA3FAD1D-26F4-4798-BD83-AD4714ACCA00}" type="presOf" srcId="{DB3682B2-F3DA-4B9C-8EC8-0867E563F584}" destId="{91573A33-4FC8-4DE2-9CE4-3E8DE67EEBFC}" srcOrd="0" destOrd="0" presId="urn:microsoft.com/office/officeart/2005/8/layout/list1"/>
    <dgm:cxn modelId="{3B54F53F-C587-48BF-9E49-388EC1DB7DB7}" srcId="{CA2940D0-DE1D-42AF-9C13-A40E10B28206}" destId="{A77C5ED2-6E0A-4277-A821-9F3CBC7F4D10}" srcOrd="2" destOrd="0" parTransId="{2DD67154-410B-4A9B-ACC6-792C25C25B49}" sibTransId="{58CA8D45-F0E3-430B-933E-72D1E4496BB4}"/>
    <dgm:cxn modelId="{4E5D255C-5925-423F-8F89-8A8A31466891}" srcId="{CA2940D0-DE1D-42AF-9C13-A40E10B28206}" destId="{AE96D960-31AC-47F8-BF2D-B5B12E615288}" srcOrd="0" destOrd="0" parTransId="{D721F535-E50B-4962-8410-E17E40F79B32}" sibTransId="{A7BBDCE2-2611-404A-9053-119AA885F8C3}"/>
    <dgm:cxn modelId="{6FD6CB50-23C1-409A-AF2D-38B38E6C22A6}" srcId="{A77C5ED2-6E0A-4277-A821-9F3CBC7F4D10}" destId="{0C3DE4B1-0E13-491F-9AB4-4B6F0620DBEF}" srcOrd="0" destOrd="0" parTransId="{F4E07ACC-EB7C-46B9-A78D-FF079581232F}" sibTransId="{822D33BB-588A-4844-9DF8-0F5E6192A18B}"/>
    <dgm:cxn modelId="{C71D9955-2EFF-45A6-A370-6C083FC9523D}" type="presOf" srcId="{AE96D960-31AC-47F8-BF2D-B5B12E615288}" destId="{9DB83135-9FC2-4995-9AED-DEB6D995F5F3}" srcOrd="0" destOrd="0" presId="urn:microsoft.com/office/officeart/2005/8/layout/list1"/>
    <dgm:cxn modelId="{F5AB1F7F-2D26-4CBB-811D-85452AF0C50E}" srcId="{CA2940D0-DE1D-42AF-9C13-A40E10B28206}" destId="{DB3682B2-F3DA-4B9C-8EC8-0867E563F584}" srcOrd="1" destOrd="0" parTransId="{4D86B71A-3BB3-42F6-9423-45930E365398}" sibTransId="{492DD656-6A8F-4B4F-ADE6-3D8528868160}"/>
    <dgm:cxn modelId="{C09EEA8F-AD30-42F8-9F46-5855EB9250FF}" type="presOf" srcId="{0C3DE4B1-0E13-491F-9AB4-4B6F0620DBEF}" destId="{ACB7FB73-2B07-4EE4-AAE1-4AA41ECF3055}" srcOrd="0" destOrd="0" presId="urn:microsoft.com/office/officeart/2005/8/layout/list1"/>
    <dgm:cxn modelId="{378300BF-AE3B-4E1F-A4D5-C941A74321CA}" type="presOf" srcId="{83E992EE-99DC-4370-B93F-8E4A7CDE5644}" destId="{0D4366F9-1A85-4000-9C62-DBE1FCD7D296}" srcOrd="0" destOrd="0" presId="urn:microsoft.com/office/officeart/2005/8/layout/list1"/>
    <dgm:cxn modelId="{6047C5C2-1B5C-4B37-AB3D-AC5E2B0C503B}" type="presOf" srcId="{DB3682B2-F3DA-4B9C-8EC8-0867E563F584}" destId="{723F27AD-D45F-4792-A6E3-F2F7E2935FA1}" srcOrd="1" destOrd="0" presId="urn:microsoft.com/office/officeart/2005/8/layout/list1"/>
    <dgm:cxn modelId="{3267D3D4-BAFF-49F4-8424-61BE68970D3C}" type="presOf" srcId="{A77C5ED2-6E0A-4277-A821-9F3CBC7F4D10}" destId="{947DEA60-718C-4761-B222-33D09BB2E091}" srcOrd="1" destOrd="0" presId="urn:microsoft.com/office/officeart/2005/8/layout/list1"/>
    <dgm:cxn modelId="{6F3076E0-92F6-4847-8FF2-52421B04B672}" srcId="{AE96D960-31AC-47F8-BF2D-B5B12E615288}" destId="{345704C6-D251-40C5-8285-1BDA82FFB55E}" srcOrd="0" destOrd="0" parTransId="{4ECA7994-12E0-4DA0-B42A-D50436F84AFC}" sibTransId="{99157AC8-3E27-43FB-864C-8111BD526D3D}"/>
    <dgm:cxn modelId="{5C3E8DEF-E7E4-4FC9-91F1-7FBB47875741}" type="presOf" srcId="{345704C6-D251-40C5-8285-1BDA82FFB55E}" destId="{5036F894-5FD7-43AA-8FFC-F5186CF937AA}" srcOrd="0" destOrd="0" presId="urn:microsoft.com/office/officeart/2005/8/layout/list1"/>
    <dgm:cxn modelId="{D1AFE0F4-6CE5-4D95-8C21-7ACE2F1FABCD}" type="presOf" srcId="{CA2940D0-DE1D-42AF-9C13-A40E10B28206}" destId="{A01E1B19-FBC4-49A7-99DE-C0C9CF0BFB80}" srcOrd="0" destOrd="0" presId="urn:microsoft.com/office/officeart/2005/8/layout/list1"/>
    <dgm:cxn modelId="{AA7B2EF2-AED3-4F1A-B09E-B2EF20A0C3DA}" type="presParOf" srcId="{A01E1B19-FBC4-49A7-99DE-C0C9CF0BFB80}" destId="{229C9A05-A3C7-44DC-BBBB-53C85B9BB28B}" srcOrd="0" destOrd="0" presId="urn:microsoft.com/office/officeart/2005/8/layout/list1"/>
    <dgm:cxn modelId="{1B80C829-587A-424F-B5A3-DB9756CD1319}" type="presParOf" srcId="{229C9A05-A3C7-44DC-BBBB-53C85B9BB28B}" destId="{9DB83135-9FC2-4995-9AED-DEB6D995F5F3}" srcOrd="0" destOrd="0" presId="urn:microsoft.com/office/officeart/2005/8/layout/list1"/>
    <dgm:cxn modelId="{BE6F48D9-59B3-47DD-844A-50847F13F302}" type="presParOf" srcId="{229C9A05-A3C7-44DC-BBBB-53C85B9BB28B}" destId="{1F7E1BD3-0993-4E1C-B787-49AFA9FB2E4C}" srcOrd="1" destOrd="0" presId="urn:microsoft.com/office/officeart/2005/8/layout/list1"/>
    <dgm:cxn modelId="{E928EDCC-17EB-408D-9C2F-CA8930DA331C}" type="presParOf" srcId="{A01E1B19-FBC4-49A7-99DE-C0C9CF0BFB80}" destId="{C7FD014B-AF17-4007-9851-9FCF1E8C7472}" srcOrd="1" destOrd="0" presId="urn:microsoft.com/office/officeart/2005/8/layout/list1"/>
    <dgm:cxn modelId="{7D0F8E6D-2F4A-4598-A37F-94B9E573E185}" type="presParOf" srcId="{A01E1B19-FBC4-49A7-99DE-C0C9CF0BFB80}" destId="{5036F894-5FD7-43AA-8FFC-F5186CF937AA}" srcOrd="2" destOrd="0" presId="urn:microsoft.com/office/officeart/2005/8/layout/list1"/>
    <dgm:cxn modelId="{67191C23-D3A9-4393-A7F9-5FDC5EBA4C83}" type="presParOf" srcId="{A01E1B19-FBC4-49A7-99DE-C0C9CF0BFB80}" destId="{104A4775-729F-4558-BD2B-76917C643BDA}" srcOrd="3" destOrd="0" presId="urn:microsoft.com/office/officeart/2005/8/layout/list1"/>
    <dgm:cxn modelId="{CE10BDFC-58AE-4882-A11D-31C80B3B7572}" type="presParOf" srcId="{A01E1B19-FBC4-49A7-99DE-C0C9CF0BFB80}" destId="{0259D6C6-4B4D-4175-8CBE-2BE6FA172AC9}" srcOrd="4" destOrd="0" presId="urn:microsoft.com/office/officeart/2005/8/layout/list1"/>
    <dgm:cxn modelId="{BD28DF34-D31C-4AE1-8B00-9126E2E450EE}" type="presParOf" srcId="{0259D6C6-4B4D-4175-8CBE-2BE6FA172AC9}" destId="{91573A33-4FC8-4DE2-9CE4-3E8DE67EEBFC}" srcOrd="0" destOrd="0" presId="urn:microsoft.com/office/officeart/2005/8/layout/list1"/>
    <dgm:cxn modelId="{CAAE6631-9DBF-423B-8E99-694564D6589E}" type="presParOf" srcId="{0259D6C6-4B4D-4175-8CBE-2BE6FA172AC9}" destId="{723F27AD-D45F-4792-A6E3-F2F7E2935FA1}" srcOrd="1" destOrd="0" presId="urn:microsoft.com/office/officeart/2005/8/layout/list1"/>
    <dgm:cxn modelId="{3DD4CFE5-DFB6-4C49-A5F2-1AE79E86B8D4}" type="presParOf" srcId="{A01E1B19-FBC4-49A7-99DE-C0C9CF0BFB80}" destId="{D16FA324-FBC4-473D-91B9-122F8111C015}" srcOrd="5" destOrd="0" presId="urn:microsoft.com/office/officeart/2005/8/layout/list1"/>
    <dgm:cxn modelId="{6C06384F-BB6C-4432-B58D-4E74DEFBB568}" type="presParOf" srcId="{A01E1B19-FBC4-49A7-99DE-C0C9CF0BFB80}" destId="{0D4366F9-1A85-4000-9C62-DBE1FCD7D296}" srcOrd="6" destOrd="0" presId="urn:microsoft.com/office/officeart/2005/8/layout/list1"/>
    <dgm:cxn modelId="{F4308762-5E31-4AA8-A7C0-B05197C5DAD2}" type="presParOf" srcId="{A01E1B19-FBC4-49A7-99DE-C0C9CF0BFB80}" destId="{079D8D75-66D3-4A28-BDE0-888151DC4157}" srcOrd="7" destOrd="0" presId="urn:microsoft.com/office/officeart/2005/8/layout/list1"/>
    <dgm:cxn modelId="{12722510-4601-44DF-8C0E-5162FFEEE5AB}" type="presParOf" srcId="{A01E1B19-FBC4-49A7-99DE-C0C9CF0BFB80}" destId="{4B002DFC-AF9E-4C90-B4DE-906CA0DECAEC}" srcOrd="8" destOrd="0" presId="urn:microsoft.com/office/officeart/2005/8/layout/list1"/>
    <dgm:cxn modelId="{715569B0-B1B1-40DF-A5DF-6AAA8E866224}" type="presParOf" srcId="{4B002DFC-AF9E-4C90-B4DE-906CA0DECAEC}" destId="{ACBA5665-FA61-42E8-8A4B-9C50987E0166}" srcOrd="0" destOrd="0" presId="urn:microsoft.com/office/officeart/2005/8/layout/list1"/>
    <dgm:cxn modelId="{CF9D20E7-22CE-4BEC-9935-35AEB9375E17}" type="presParOf" srcId="{4B002DFC-AF9E-4C90-B4DE-906CA0DECAEC}" destId="{947DEA60-718C-4761-B222-33D09BB2E091}" srcOrd="1" destOrd="0" presId="urn:microsoft.com/office/officeart/2005/8/layout/list1"/>
    <dgm:cxn modelId="{DC4E2E82-A34E-40A3-B4B1-9466BF94F6DA}" type="presParOf" srcId="{A01E1B19-FBC4-49A7-99DE-C0C9CF0BFB80}" destId="{4F9931C6-4030-4B8E-819D-3F128CC2E3DE}" srcOrd="9" destOrd="0" presId="urn:microsoft.com/office/officeart/2005/8/layout/list1"/>
    <dgm:cxn modelId="{4539B00F-2D4F-4D25-9CDF-FE33336A4456}" type="presParOf" srcId="{A01E1B19-FBC4-49A7-99DE-C0C9CF0BFB80}" destId="{ACB7FB73-2B07-4EE4-AAE1-4AA41ECF305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D4D90-FDD7-4683-A4E2-5ABBB2235736}">
      <dsp:nvSpPr>
        <dsp:cNvPr id="0" name=""/>
        <dsp:cNvSpPr/>
      </dsp:nvSpPr>
      <dsp:spPr>
        <a:xfrm>
          <a:off x="992" y="194138"/>
          <a:ext cx="3869531" cy="232171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Dénigrer (</a:t>
          </a:r>
          <a:r>
            <a:rPr lang="fr-FR" sz="2500" b="1" kern="1200" dirty="0" err="1"/>
            <a:t>Dismiss</a:t>
          </a:r>
          <a:r>
            <a:rPr lang="fr-FR" sz="2500" b="1" kern="1200" dirty="0"/>
            <a:t>) </a:t>
          </a:r>
          <a:r>
            <a:rPr lang="fr-FR" sz="2500" kern="1200" dirty="0"/>
            <a:t> Attaquer le messager, pas le message. Insulter les critiques et remettre en question leur crédibilité.</a:t>
          </a:r>
        </a:p>
      </dsp:txBody>
      <dsp:txXfrm>
        <a:off x="992" y="194138"/>
        <a:ext cx="3869531" cy="2321718"/>
      </dsp:txXfrm>
    </dsp:sp>
    <dsp:sp modelId="{ACF78EF7-4A77-4C6B-91B4-618AEE29011A}">
      <dsp:nvSpPr>
        <dsp:cNvPr id="0" name=""/>
        <dsp:cNvSpPr/>
      </dsp:nvSpPr>
      <dsp:spPr>
        <a:xfrm>
          <a:off x="4257476" y="194138"/>
          <a:ext cx="3869531" cy="232171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Déformer (</a:t>
          </a:r>
          <a:r>
            <a:rPr lang="fr-FR" sz="2500" b="1" kern="1200" dirty="0" err="1"/>
            <a:t>Distort</a:t>
          </a:r>
          <a:r>
            <a:rPr lang="fr-FR" sz="2500" b="1" kern="1200" dirty="0"/>
            <a:t>)               </a:t>
          </a:r>
          <a:r>
            <a:rPr lang="fr-FR" sz="2500" kern="1200" dirty="0"/>
            <a:t>Si les faits ne sont pas de votre côté, tordez-les. Utiliser des demi-vérités ou sortir les informations de leur contexte.</a:t>
          </a:r>
        </a:p>
      </dsp:txBody>
      <dsp:txXfrm>
        <a:off x="4257476" y="194138"/>
        <a:ext cx="3869531" cy="2321718"/>
      </dsp:txXfrm>
    </dsp:sp>
    <dsp:sp modelId="{A7FF8499-113E-44CD-80E0-4F2F10D3C68D}">
      <dsp:nvSpPr>
        <dsp:cNvPr id="0" name=""/>
        <dsp:cNvSpPr/>
      </dsp:nvSpPr>
      <dsp:spPr>
        <a:xfrm>
          <a:off x="992" y="2902810"/>
          <a:ext cx="3869531" cy="232171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Distraire (</a:t>
          </a:r>
          <a:r>
            <a:rPr lang="fr-FR" sz="2500" b="1" kern="1200" dirty="0" err="1"/>
            <a:t>Distract</a:t>
          </a:r>
          <a:r>
            <a:rPr lang="fr-FR" sz="2500" b="1" kern="1200" dirty="0"/>
            <a:t>)     </a:t>
          </a:r>
          <a:r>
            <a:rPr lang="fr-FR" sz="2500" kern="1200" dirty="0"/>
            <a:t> Utiliser le "</a:t>
          </a:r>
          <a:r>
            <a:rPr lang="fr-FR" sz="2500" kern="1200" dirty="0" err="1"/>
            <a:t>whataboutism</a:t>
          </a:r>
          <a:r>
            <a:rPr lang="fr-FR" sz="2500" kern="1200" dirty="0"/>
            <a:t>". Lorsque vous êtes accusé de quelque chose, accusez votre adversaire de la même chose.</a:t>
          </a:r>
        </a:p>
      </dsp:txBody>
      <dsp:txXfrm>
        <a:off x="992" y="2902810"/>
        <a:ext cx="3869531" cy="2321718"/>
      </dsp:txXfrm>
    </dsp:sp>
    <dsp:sp modelId="{2D71E363-EFB3-472E-9A58-12E75F7F2841}">
      <dsp:nvSpPr>
        <dsp:cNvPr id="0" name=""/>
        <dsp:cNvSpPr/>
      </dsp:nvSpPr>
      <dsp:spPr>
        <a:xfrm>
          <a:off x="4257476" y="2902810"/>
          <a:ext cx="3869531" cy="232171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b="1" kern="1200" dirty="0"/>
            <a:t>Démoraliser (</a:t>
          </a:r>
          <a:r>
            <a:rPr lang="fr-FR" sz="2500" b="1" kern="1200" dirty="0" err="1"/>
            <a:t>Dismay</a:t>
          </a:r>
          <a:r>
            <a:rPr lang="fr-FR" sz="2500" b="1" kern="1200" dirty="0"/>
            <a:t>)</a:t>
          </a:r>
          <a:r>
            <a:rPr lang="fr-FR" sz="2500" kern="1200" dirty="0"/>
            <a:t> Paralyser le public avec la peur et la paranoïa pour le rendre impuissant et le faire se désengager.</a:t>
          </a:r>
        </a:p>
      </dsp:txBody>
      <dsp:txXfrm>
        <a:off x="4257476" y="2902810"/>
        <a:ext cx="3869531" cy="2321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17F505-966C-4D43-8C34-675DCBE169A4}">
      <dsp:nvSpPr>
        <dsp:cNvPr id="0" name=""/>
        <dsp:cNvSpPr/>
      </dsp:nvSpPr>
      <dsp:spPr>
        <a:xfrm>
          <a:off x="0" y="427833"/>
          <a:ext cx="10831870" cy="22113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674" tIns="541528" rIns="840674" bIns="184912" numCol="1" spcCol="1270" anchor="t" anchorCtr="0">
          <a:noAutofit/>
        </a:bodyPr>
        <a:lstStyle/>
        <a:p>
          <a:pPr marL="228600" lvl="1" indent="-228600" algn="just" defTabSz="1155700">
            <a:lnSpc>
              <a:spcPct val="90000"/>
            </a:lnSpc>
            <a:spcBef>
              <a:spcPct val="0"/>
            </a:spcBef>
            <a:spcAft>
              <a:spcPct val="15000"/>
            </a:spcAft>
            <a:buChar char="•"/>
          </a:pPr>
          <a:r>
            <a:rPr lang="fr-FR" sz="2600" kern="1200" dirty="0"/>
            <a:t>Adopter une "approche de portefeuille" qui équilibre les actions tactiques à court terme avec des investissements structurels à long terme dans l'éducation aux médias et le soutien au journalisme indépendant.</a:t>
          </a:r>
          <a:endParaRPr lang="en-US" sz="2600" kern="1200" dirty="0"/>
        </a:p>
      </dsp:txBody>
      <dsp:txXfrm>
        <a:off x="0" y="427833"/>
        <a:ext cx="10831870" cy="2211300"/>
      </dsp:txXfrm>
    </dsp:sp>
    <dsp:sp modelId="{D4A83913-56B7-48B2-97A4-85F46F95C060}">
      <dsp:nvSpPr>
        <dsp:cNvPr id="0" name=""/>
        <dsp:cNvSpPr/>
      </dsp:nvSpPr>
      <dsp:spPr>
        <a:xfrm>
          <a:off x="541593" y="44073"/>
          <a:ext cx="7582309" cy="7675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93" tIns="0" rIns="286593" bIns="0" numCol="1" spcCol="1270" anchor="ctr" anchorCtr="0">
          <a:noAutofit/>
        </a:bodyPr>
        <a:lstStyle/>
        <a:p>
          <a:pPr marL="0" lvl="0" indent="0" algn="l" defTabSz="1155700">
            <a:lnSpc>
              <a:spcPct val="90000"/>
            </a:lnSpc>
            <a:spcBef>
              <a:spcPct val="0"/>
            </a:spcBef>
            <a:spcAft>
              <a:spcPct val="35000"/>
            </a:spcAft>
            <a:buNone/>
          </a:pPr>
          <a:r>
            <a:rPr lang="en-US" sz="2600" b="1" kern="1200" dirty="0"/>
            <a:t>Pour les </a:t>
          </a:r>
          <a:r>
            <a:rPr lang="en-US" sz="2600" b="1" kern="1200" dirty="0" err="1"/>
            <a:t>Gouvernements</a:t>
          </a:r>
          <a:endParaRPr lang="en-US" sz="2600" b="1" kern="1200" dirty="0"/>
        </a:p>
      </dsp:txBody>
      <dsp:txXfrm>
        <a:off x="579060" y="81540"/>
        <a:ext cx="7507375" cy="692586"/>
      </dsp:txXfrm>
    </dsp:sp>
    <dsp:sp modelId="{9B091F52-E018-45C2-8323-A8EA0F3EEEBA}">
      <dsp:nvSpPr>
        <dsp:cNvPr id="0" name=""/>
        <dsp:cNvSpPr/>
      </dsp:nvSpPr>
      <dsp:spPr>
        <a:xfrm>
          <a:off x="0" y="3163293"/>
          <a:ext cx="10831870" cy="2211300"/>
        </a:xfrm>
        <a:prstGeom prst="rect">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674" tIns="541528" rIns="840674" bIns="184912" numCol="1" spcCol="1270" anchor="t" anchorCtr="0">
          <a:noAutofit/>
        </a:bodyPr>
        <a:lstStyle/>
        <a:p>
          <a:pPr marL="228600" lvl="1" indent="-228600" algn="just" defTabSz="1155700">
            <a:lnSpc>
              <a:spcPct val="90000"/>
            </a:lnSpc>
            <a:spcBef>
              <a:spcPct val="0"/>
            </a:spcBef>
            <a:spcAft>
              <a:spcPct val="15000"/>
            </a:spcAft>
            <a:buChar char="•"/>
          </a:pPr>
          <a:r>
            <a:rPr lang="fr-FR" sz="2600" kern="1200" dirty="0"/>
            <a:t>Réexaminer fondamentalement les algorithmes basés sur l'engagement. Mener l'industrie dans l'adoption de normes ouvertes pour la provenance du contenu (comme C2PA) afin de certifier la source et l'historique des médias.</a:t>
          </a:r>
          <a:endParaRPr lang="en-US" sz="2600" kern="1200" dirty="0"/>
        </a:p>
      </dsp:txBody>
      <dsp:txXfrm>
        <a:off x="0" y="3163293"/>
        <a:ext cx="10831870" cy="2211300"/>
      </dsp:txXfrm>
    </dsp:sp>
    <dsp:sp modelId="{ADA76FEF-8833-4479-B29F-039787ACE765}">
      <dsp:nvSpPr>
        <dsp:cNvPr id="0" name=""/>
        <dsp:cNvSpPr/>
      </dsp:nvSpPr>
      <dsp:spPr>
        <a:xfrm>
          <a:off x="541593" y="2779533"/>
          <a:ext cx="7582309" cy="767520"/>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93" tIns="0" rIns="286593" bIns="0" numCol="1" spcCol="1270" anchor="ctr" anchorCtr="0">
          <a:noAutofit/>
        </a:bodyPr>
        <a:lstStyle/>
        <a:p>
          <a:pPr marL="0" lvl="0" indent="0" algn="l" defTabSz="1155700">
            <a:lnSpc>
              <a:spcPct val="90000"/>
            </a:lnSpc>
            <a:spcBef>
              <a:spcPct val="0"/>
            </a:spcBef>
            <a:spcAft>
              <a:spcPct val="35000"/>
            </a:spcAft>
            <a:buNone/>
          </a:pPr>
          <a:r>
            <a:rPr lang="en-US" sz="2600" b="1" kern="1200" dirty="0"/>
            <a:t>Pour les </a:t>
          </a:r>
          <a:r>
            <a:rPr lang="en-US" sz="2600" b="1" kern="1200" dirty="0" err="1"/>
            <a:t>Plateformes</a:t>
          </a:r>
          <a:r>
            <a:rPr lang="en-US" sz="2600" b="1" kern="1200" dirty="0"/>
            <a:t> </a:t>
          </a:r>
          <a:r>
            <a:rPr lang="en-US" sz="2600" b="1" kern="1200" dirty="0" err="1"/>
            <a:t>Technologiques</a:t>
          </a:r>
          <a:endParaRPr lang="en-US" sz="2600" b="1" kern="1200" dirty="0"/>
        </a:p>
      </dsp:txBody>
      <dsp:txXfrm>
        <a:off x="579060" y="2817000"/>
        <a:ext cx="7507375" cy="692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36F894-5FD7-43AA-8FFC-F5186CF937AA}">
      <dsp:nvSpPr>
        <dsp:cNvPr id="0" name=""/>
        <dsp:cNvSpPr/>
      </dsp:nvSpPr>
      <dsp:spPr>
        <a:xfrm>
          <a:off x="0" y="357228"/>
          <a:ext cx="10415639" cy="11907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8369" tIns="437388" rIns="808369" bIns="149352" numCol="1" spcCol="1270" anchor="t" anchorCtr="0">
          <a:noAutofit/>
        </a:bodyPr>
        <a:lstStyle/>
        <a:p>
          <a:pPr marL="228600" lvl="1" indent="-228600" algn="just" defTabSz="933450">
            <a:lnSpc>
              <a:spcPct val="90000"/>
            </a:lnSpc>
            <a:spcBef>
              <a:spcPct val="0"/>
            </a:spcBef>
            <a:spcAft>
              <a:spcPct val="15000"/>
            </a:spcAft>
            <a:buChar char="•"/>
          </a:pPr>
          <a:r>
            <a:rPr lang="fr-FR" sz="2100" kern="1200" dirty="0"/>
            <a:t>Remontez à la source originale de l'information. Est-ce un média connu et crédible? Un compte anonyme? Un site parodique?</a:t>
          </a:r>
          <a:endParaRPr lang="en-US" sz="2100" kern="1200" dirty="0"/>
        </a:p>
      </dsp:txBody>
      <dsp:txXfrm>
        <a:off x="0" y="357228"/>
        <a:ext cx="10415639" cy="1190700"/>
      </dsp:txXfrm>
    </dsp:sp>
    <dsp:sp modelId="{1F7E1BD3-0993-4E1C-B787-49AFA9FB2E4C}">
      <dsp:nvSpPr>
        <dsp:cNvPr id="0" name=""/>
        <dsp:cNvSpPr/>
      </dsp:nvSpPr>
      <dsp:spPr>
        <a:xfrm>
          <a:off x="520781" y="47268"/>
          <a:ext cx="7290947" cy="6199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5580" tIns="0" rIns="275580" bIns="0" numCol="1" spcCol="1270" anchor="ctr" anchorCtr="0">
          <a:noAutofit/>
        </a:bodyPr>
        <a:lstStyle/>
        <a:p>
          <a:pPr marL="0" lvl="0" indent="0" algn="l" defTabSz="933450">
            <a:lnSpc>
              <a:spcPct val="90000"/>
            </a:lnSpc>
            <a:spcBef>
              <a:spcPct val="0"/>
            </a:spcBef>
            <a:spcAft>
              <a:spcPct val="35000"/>
            </a:spcAft>
            <a:buNone/>
          </a:pPr>
          <a:r>
            <a:rPr lang="en-US" sz="2100" b="1" kern="1200" dirty="0"/>
            <a:t>Qui </a:t>
          </a:r>
          <a:r>
            <a:rPr lang="en-US" sz="2100" b="1" kern="1200" dirty="0" err="1"/>
            <a:t>est</a:t>
          </a:r>
          <a:r>
            <a:rPr lang="en-US" sz="2100" b="1" kern="1200" dirty="0"/>
            <a:t> la Source?</a:t>
          </a:r>
        </a:p>
      </dsp:txBody>
      <dsp:txXfrm>
        <a:off x="551043" y="77530"/>
        <a:ext cx="7230423" cy="559396"/>
      </dsp:txXfrm>
    </dsp:sp>
    <dsp:sp modelId="{0D4366F9-1A85-4000-9C62-DBE1FCD7D296}">
      <dsp:nvSpPr>
        <dsp:cNvPr id="0" name=""/>
        <dsp:cNvSpPr/>
      </dsp:nvSpPr>
      <dsp:spPr>
        <a:xfrm>
          <a:off x="0" y="1971288"/>
          <a:ext cx="10415639" cy="1488374"/>
        </a:xfrm>
        <a:prstGeom prst="rect">
          <a:avLst/>
        </a:prstGeom>
        <a:solidFill>
          <a:schemeClr val="lt1">
            <a:alpha val="90000"/>
            <a:hueOff val="0"/>
            <a:satOff val="0"/>
            <a:lumOff val="0"/>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8369" tIns="437388" rIns="808369" bIns="149352" numCol="1" spcCol="1270" anchor="t" anchorCtr="0">
          <a:noAutofit/>
        </a:bodyPr>
        <a:lstStyle/>
        <a:p>
          <a:pPr marL="228600" lvl="1" indent="-228600" algn="just" defTabSz="933450">
            <a:lnSpc>
              <a:spcPct val="90000"/>
            </a:lnSpc>
            <a:spcBef>
              <a:spcPct val="0"/>
            </a:spcBef>
            <a:spcAft>
              <a:spcPct val="15000"/>
            </a:spcAft>
            <a:buChar char="•"/>
          </a:pPr>
          <a:r>
            <a:rPr lang="fr-FR" sz="2100" kern="1200" dirty="0"/>
            <a:t>Consultez des sites de vérification des faits indépendants (ex: AFP Factuel, Les Décodeurs). Ne vous fiez pas à une seule plateforme ou à vos amis pour vérifier.</a:t>
          </a:r>
          <a:endParaRPr lang="en-US" sz="2100" kern="1200" dirty="0"/>
        </a:p>
      </dsp:txBody>
      <dsp:txXfrm>
        <a:off x="0" y="1971288"/>
        <a:ext cx="10415639" cy="1488374"/>
      </dsp:txXfrm>
    </dsp:sp>
    <dsp:sp modelId="{723F27AD-D45F-4792-A6E3-F2F7E2935FA1}">
      <dsp:nvSpPr>
        <dsp:cNvPr id="0" name=""/>
        <dsp:cNvSpPr/>
      </dsp:nvSpPr>
      <dsp:spPr>
        <a:xfrm>
          <a:off x="520781" y="1661328"/>
          <a:ext cx="7290947" cy="619920"/>
        </a:xfrm>
        <a:prstGeom prst="roundRec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5580" tIns="0" rIns="275580" bIns="0" numCol="1" spcCol="1270" anchor="ctr" anchorCtr="0">
          <a:noAutofit/>
        </a:bodyPr>
        <a:lstStyle/>
        <a:p>
          <a:pPr marL="0" lvl="0" indent="0" algn="l" defTabSz="933450">
            <a:lnSpc>
              <a:spcPct val="90000"/>
            </a:lnSpc>
            <a:spcBef>
              <a:spcPct val="0"/>
            </a:spcBef>
            <a:spcAft>
              <a:spcPct val="35000"/>
            </a:spcAft>
            <a:buNone/>
          </a:pPr>
          <a:r>
            <a:rPr lang="en-US" sz="2100" b="1" kern="1200" dirty="0" err="1"/>
            <a:t>Vérifiez</a:t>
          </a:r>
          <a:r>
            <a:rPr lang="en-US" sz="2100" b="1" kern="1200" dirty="0"/>
            <a:t> les Faits (Fact-Checking)</a:t>
          </a:r>
        </a:p>
      </dsp:txBody>
      <dsp:txXfrm>
        <a:off x="551043" y="1691590"/>
        <a:ext cx="7230423" cy="559396"/>
      </dsp:txXfrm>
    </dsp:sp>
    <dsp:sp modelId="{ACB7FB73-2B07-4EE4-AAE1-4AA41ECF3055}">
      <dsp:nvSpPr>
        <dsp:cNvPr id="0" name=""/>
        <dsp:cNvSpPr/>
      </dsp:nvSpPr>
      <dsp:spPr>
        <a:xfrm>
          <a:off x="0" y="3883023"/>
          <a:ext cx="10415639" cy="1488374"/>
        </a:xfrm>
        <a:prstGeom prst="rect">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8369" tIns="437388" rIns="808369" bIns="149352" numCol="1" spcCol="1270" anchor="t" anchorCtr="0">
          <a:noAutofit/>
        </a:bodyPr>
        <a:lstStyle/>
        <a:p>
          <a:pPr marL="228600" lvl="1" indent="-228600" algn="just" defTabSz="933450">
            <a:lnSpc>
              <a:spcPct val="90000"/>
            </a:lnSpc>
            <a:spcBef>
              <a:spcPct val="0"/>
            </a:spcBef>
            <a:spcAft>
              <a:spcPct val="15000"/>
            </a:spcAft>
            <a:buChar char="•"/>
          </a:pPr>
          <a:r>
            <a:rPr lang="fr-FR" sz="2100" kern="1200" dirty="0"/>
            <a:t>Présentez cette diapositive comme une "boîte à outils" pratique. Mentionnez un ou deux exemples de sites de </a:t>
          </a:r>
          <a:r>
            <a:rPr lang="fr-FR" sz="2100" kern="1200" dirty="0" err="1"/>
            <a:t>fact</a:t>
          </a:r>
          <a:r>
            <a:rPr lang="fr-FR" sz="2100" kern="1200" dirty="0"/>
            <a:t>-checking locaux pour rendre le conseil encore plus concret.</a:t>
          </a:r>
          <a:endParaRPr lang="en-US" sz="2100" kern="1200" dirty="0"/>
        </a:p>
      </dsp:txBody>
      <dsp:txXfrm>
        <a:off x="0" y="3883023"/>
        <a:ext cx="10415639" cy="1488374"/>
      </dsp:txXfrm>
    </dsp:sp>
    <dsp:sp modelId="{947DEA60-718C-4761-B222-33D09BB2E091}">
      <dsp:nvSpPr>
        <dsp:cNvPr id="0" name=""/>
        <dsp:cNvSpPr/>
      </dsp:nvSpPr>
      <dsp:spPr>
        <a:xfrm>
          <a:off x="520781" y="3573063"/>
          <a:ext cx="7290947" cy="619920"/>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5580" tIns="0" rIns="275580" bIns="0" numCol="1" spcCol="1270" anchor="ctr" anchorCtr="0">
          <a:noAutofit/>
        </a:bodyPr>
        <a:lstStyle/>
        <a:p>
          <a:pPr marL="0" lvl="0" indent="0" algn="l" defTabSz="933450">
            <a:lnSpc>
              <a:spcPct val="90000"/>
            </a:lnSpc>
            <a:spcBef>
              <a:spcPct val="0"/>
            </a:spcBef>
            <a:spcAft>
              <a:spcPct val="35000"/>
            </a:spcAft>
            <a:buNone/>
          </a:pPr>
          <a:r>
            <a:rPr lang="en-US" sz="2100" b="1" kern="1200" dirty="0" err="1"/>
            <a:t>Examinez</a:t>
          </a:r>
          <a:r>
            <a:rPr lang="en-US" sz="2100" b="1" kern="1200" dirty="0"/>
            <a:t> le </a:t>
          </a:r>
          <a:r>
            <a:rPr lang="en-US" sz="2100" b="1" kern="1200" dirty="0" err="1"/>
            <a:t>Contexte</a:t>
          </a:r>
          <a:endParaRPr lang="en-US" sz="2100" b="1" kern="1200" dirty="0"/>
        </a:p>
      </dsp:txBody>
      <dsp:txXfrm>
        <a:off x="551043" y="3603325"/>
        <a:ext cx="7230423"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A4959-A08D-4DCF-8D40-80358F11339F}" type="datetimeFigureOut">
              <a:rPr lang="fr-FR" smtClean="0"/>
              <a:t>08/09/2025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2E0D7A-5609-414E-9F38-E571C61F4397}" type="slidenum">
              <a:rPr lang="fr-FR" smtClean="0"/>
              <a:t>‹N°›</a:t>
            </a:fld>
            <a:endParaRPr lang="fr-FR" dirty="0"/>
          </a:p>
        </p:txBody>
      </p:sp>
    </p:spTree>
    <p:extLst>
      <p:ext uri="{BB962C8B-B14F-4D97-AF65-F5344CB8AC3E}">
        <p14:creationId xmlns:p14="http://schemas.microsoft.com/office/powerpoint/2010/main" val="3886957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442E0D7A-5609-414E-9F38-E571C61F4397}" type="slidenum">
              <a:rPr lang="fr-FR" smtClean="0"/>
              <a:t>1</a:t>
            </a:fld>
            <a:endParaRPr lang="fr-FR" dirty="0"/>
          </a:p>
        </p:txBody>
      </p:sp>
    </p:spTree>
    <p:extLst>
      <p:ext uri="{BB962C8B-B14F-4D97-AF65-F5344CB8AC3E}">
        <p14:creationId xmlns:p14="http://schemas.microsoft.com/office/powerpoint/2010/main" val="2418470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442E0D7A-5609-414E-9F38-E571C61F4397}" type="slidenum">
              <a:rPr lang="fr-FR" smtClean="0"/>
              <a:t>3</a:t>
            </a:fld>
            <a:endParaRPr lang="fr-FR" dirty="0"/>
          </a:p>
        </p:txBody>
      </p:sp>
    </p:spTree>
    <p:extLst>
      <p:ext uri="{BB962C8B-B14F-4D97-AF65-F5344CB8AC3E}">
        <p14:creationId xmlns:p14="http://schemas.microsoft.com/office/powerpoint/2010/main" val="2384495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4345DCB2-0369-4B5F-B186-9A17C753C594}" type="datetime1">
              <a:rPr lang="fr-FR" smtClean="0"/>
              <a:t>08/09/2025</a:t>
            </a:fld>
            <a:endParaRPr lang="fr-FR" dirty="0"/>
          </a:p>
        </p:txBody>
      </p:sp>
      <p:sp>
        <p:nvSpPr>
          <p:cNvPr id="5" name="Espace réservé du pied de page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27478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22899BD-B1B8-435B-83FB-0BAA897157E8}" type="datetime1">
              <a:rPr lang="fr-FR" smtClean="0"/>
              <a:t>08/09/2025</a:t>
            </a:fld>
            <a:endParaRPr lang="fr-FR" dirty="0"/>
          </a:p>
        </p:txBody>
      </p:sp>
      <p:sp>
        <p:nvSpPr>
          <p:cNvPr id="5" name="Espace réservé du pied de page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889306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1FB8A451-7089-48CE-8E96-4D960849A2F6}" type="datetime1">
              <a:rPr lang="fr-FR" smtClean="0"/>
              <a:t>08/09/2025</a:t>
            </a:fld>
            <a:endParaRPr lang="fr-FR" dirty="0"/>
          </a:p>
        </p:txBody>
      </p:sp>
      <p:sp>
        <p:nvSpPr>
          <p:cNvPr id="5" name="Espace réservé du pied de page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8556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5A72962-066C-43AA-B97A-7594B7705128}" type="datetime1">
              <a:rPr lang="fr-FR" smtClean="0"/>
              <a:t>08/09/2025</a:t>
            </a:fld>
            <a:endParaRPr lang="fr-FR" dirty="0"/>
          </a:p>
        </p:txBody>
      </p:sp>
      <p:sp>
        <p:nvSpPr>
          <p:cNvPr id="6" name="Espace réservé du pied de page 5"/>
          <p:cNvSpPr>
            <a:spLocks noGrp="1"/>
          </p:cNvSpPr>
          <p:nvPr>
            <p:ph type="ftr" sz="quarter" idx="11"/>
          </p:nvPr>
        </p:nvSpPr>
        <p:spPr/>
        <p:txBody>
          <a:bodyPr/>
          <a:lstStyle/>
          <a:p>
            <a:r>
              <a:rPr lang="fr-FR"/>
              <a:t>#MercrediCyber11 - Analyse prédictive: Fondements et applications dans l'IA</a:t>
            </a:r>
            <a:endParaRPr lang="fr-FR" dirty="0"/>
          </a:p>
        </p:txBody>
      </p:sp>
      <p:sp>
        <p:nvSpPr>
          <p:cNvPr id="7" name="Espace réservé du numéro de diapositive 6"/>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299756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4EC315A9-FC57-485E-8EAA-64A82DA4234F}" type="datetime1">
              <a:rPr lang="fr-FR" smtClean="0"/>
              <a:t>08/09/2025</a:t>
            </a:fld>
            <a:endParaRPr lang="fr-FR" dirty="0"/>
          </a:p>
        </p:txBody>
      </p:sp>
      <p:sp>
        <p:nvSpPr>
          <p:cNvPr id="8" name="Espace réservé du pied de page 7"/>
          <p:cNvSpPr>
            <a:spLocks noGrp="1"/>
          </p:cNvSpPr>
          <p:nvPr>
            <p:ph type="ftr" sz="quarter" idx="11"/>
          </p:nvPr>
        </p:nvSpPr>
        <p:spPr/>
        <p:txBody>
          <a:bodyPr/>
          <a:lstStyle/>
          <a:p>
            <a:r>
              <a:rPr lang="fr-FR"/>
              <a:t>#MercrediCyber11 - Analyse prédictive: Fondements et applications dans l'IA</a:t>
            </a:r>
            <a:endParaRPr lang="fr-FR" dirty="0"/>
          </a:p>
        </p:txBody>
      </p:sp>
      <p:sp>
        <p:nvSpPr>
          <p:cNvPr id="9" name="Espace réservé du numéro de diapositive 8"/>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404085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09FFF386-863F-403B-90DE-DE10564A9136}" type="datetime1">
              <a:rPr lang="fr-FR" smtClean="0"/>
              <a:t>08/09/2025</a:t>
            </a:fld>
            <a:endParaRPr lang="fr-FR" dirty="0"/>
          </a:p>
        </p:txBody>
      </p:sp>
      <p:sp>
        <p:nvSpPr>
          <p:cNvPr id="4" name="Espace réservé du pied de page 3"/>
          <p:cNvSpPr>
            <a:spLocks noGrp="1"/>
          </p:cNvSpPr>
          <p:nvPr>
            <p:ph type="ftr" sz="quarter" idx="11"/>
          </p:nvPr>
        </p:nvSpPr>
        <p:spPr/>
        <p:txBody>
          <a:bodyPr/>
          <a:lstStyle/>
          <a:p>
            <a:r>
              <a:rPr lang="fr-FR"/>
              <a:t>#MercrediCyber11 - Analyse prédictive: Fondements et applications dans l'IA</a:t>
            </a:r>
            <a:endParaRPr lang="fr-FR" dirty="0"/>
          </a:p>
        </p:txBody>
      </p:sp>
      <p:sp>
        <p:nvSpPr>
          <p:cNvPr id="5" name="Espace réservé du numéro de diapositive 4"/>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60953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6C9430B-B0FF-4797-B88B-6C0298B966D4}" type="datetime1">
              <a:rPr lang="fr-FR" smtClean="0"/>
              <a:t>08/09/2025</a:t>
            </a:fld>
            <a:endParaRPr lang="fr-FR" dirty="0"/>
          </a:p>
        </p:txBody>
      </p:sp>
      <p:sp>
        <p:nvSpPr>
          <p:cNvPr id="3" name="Espace réservé du pied de page 2"/>
          <p:cNvSpPr>
            <a:spLocks noGrp="1"/>
          </p:cNvSpPr>
          <p:nvPr>
            <p:ph type="ftr" sz="quarter" idx="11"/>
          </p:nvPr>
        </p:nvSpPr>
        <p:spPr/>
        <p:txBody>
          <a:bodyPr/>
          <a:lstStyle/>
          <a:p>
            <a:r>
              <a:rPr lang="fr-FR"/>
              <a:t>#MercrediCyber11 - Analyse prédictive: Fondements et applications dans l'IA</a:t>
            </a:r>
            <a:endParaRPr lang="fr-FR" dirty="0"/>
          </a:p>
        </p:txBody>
      </p:sp>
      <p:sp>
        <p:nvSpPr>
          <p:cNvPr id="4" name="Espace réservé du numéro de diapositive 3"/>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690550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51705CC7-45B8-4150-BECF-4F02A2B4072F}" type="datetime1">
              <a:rPr lang="fr-FR" smtClean="0"/>
              <a:t>08/09/2025</a:t>
            </a:fld>
            <a:endParaRPr lang="fr-FR" dirty="0"/>
          </a:p>
        </p:txBody>
      </p:sp>
      <p:sp>
        <p:nvSpPr>
          <p:cNvPr id="6" name="Espace réservé du pied de page 5"/>
          <p:cNvSpPr>
            <a:spLocks noGrp="1"/>
          </p:cNvSpPr>
          <p:nvPr>
            <p:ph type="ftr" sz="quarter" idx="11"/>
          </p:nvPr>
        </p:nvSpPr>
        <p:spPr/>
        <p:txBody>
          <a:bodyPr/>
          <a:lstStyle/>
          <a:p>
            <a:r>
              <a:rPr lang="fr-FR"/>
              <a:t>#MercrediCyber11 - Analyse prédictive: Fondements et applications dans l'IA</a:t>
            </a:r>
            <a:endParaRPr lang="fr-FR" dirty="0"/>
          </a:p>
        </p:txBody>
      </p:sp>
      <p:sp>
        <p:nvSpPr>
          <p:cNvPr id="7" name="Espace réservé du numéro de diapositive 6"/>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2408453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B92E81C9-88CF-4BA7-BF3A-19D64315F136}" type="datetime1">
              <a:rPr lang="fr-FR" smtClean="0"/>
              <a:t>08/09/2025</a:t>
            </a:fld>
            <a:endParaRPr lang="fr-FR" dirty="0"/>
          </a:p>
        </p:txBody>
      </p:sp>
      <p:sp>
        <p:nvSpPr>
          <p:cNvPr id="6" name="Espace réservé du pied de page 5"/>
          <p:cNvSpPr>
            <a:spLocks noGrp="1"/>
          </p:cNvSpPr>
          <p:nvPr>
            <p:ph type="ftr" sz="quarter" idx="11"/>
          </p:nvPr>
        </p:nvSpPr>
        <p:spPr/>
        <p:txBody>
          <a:bodyPr/>
          <a:lstStyle/>
          <a:p>
            <a:r>
              <a:rPr lang="fr-FR"/>
              <a:t>#MercrediCyber11 - Analyse prédictive: Fondements et applications dans l'IA</a:t>
            </a:r>
            <a:endParaRPr lang="fr-FR" dirty="0"/>
          </a:p>
        </p:txBody>
      </p:sp>
      <p:sp>
        <p:nvSpPr>
          <p:cNvPr id="7" name="Espace réservé du numéro de diapositive 6"/>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27897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36BDFCF-ED2E-4558-9923-BF0E9FDCF27A}" type="datetime1">
              <a:rPr lang="fr-FR" smtClean="0"/>
              <a:t>08/09/2025</a:t>
            </a:fld>
            <a:endParaRPr lang="fr-FR" dirty="0"/>
          </a:p>
        </p:txBody>
      </p:sp>
      <p:sp>
        <p:nvSpPr>
          <p:cNvPr id="5" name="Espace réservé du pied de page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2556335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8D842C9-098C-4678-8D31-23FFE4EEE077}" type="datetime1">
              <a:rPr lang="fr-FR" smtClean="0"/>
              <a:t>08/09/2025</a:t>
            </a:fld>
            <a:endParaRPr lang="fr-FR" dirty="0"/>
          </a:p>
        </p:txBody>
      </p:sp>
      <p:sp>
        <p:nvSpPr>
          <p:cNvPr id="5" name="Espace réservé du pied de page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01756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fr-FR"/>
              <a:t>Modifiez le style du titre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B7EB03F2-62C6-4C50-A600-C831986CFBE1}" type="datetime1">
              <a:rPr lang="fr-FR" smtClean="0"/>
              <a:t>08/09/2025</a:t>
            </a:fld>
            <a:endParaRPr lang="fr-FR" dirty="0"/>
          </a:p>
        </p:txBody>
      </p:sp>
      <p:sp>
        <p:nvSpPr>
          <p:cNvPr id="5" name="Footer Placeholder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Slide Number Placeholder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323350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0D9AD2D-78B5-4117-8A36-767A5C147845}" type="datetime1">
              <a:rPr lang="fr-FR" smtClean="0"/>
              <a:t>08/09/2025</a:t>
            </a:fld>
            <a:endParaRPr lang="fr-FR" dirty="0"/>
          </a:p>
        </p:txBody>
      </p:sp>
      <p:sp>
        <p:nvSpPr>
          <p:cNvPr id="5" name="Footer Placeholder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Slide Number Placeholder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735942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08AA0BBB-B6D0-4F9B-8101-D23CC578C61D}" type="datetime1">
              <a:rPr lang="fr-FR" smtClean="0"/>
              <a:t>08/09/2025</a:t>
            </a:fld>
            <a:endParaRPr lang="fr-FR" dirty="0"/>
          </a:p>
        </p:txBody>
      </p:sp>
      <p:sp>
        <p:nvSpPr>
          <p:cNvPr id="5" name="Footer Placeholder 4"/>
          <p:cNvSpPr>
            <a:spLocks noGrp="1"/>
          </p:cNvSpPr>
          <p:nvPr>
            <p:ph type="ftr" sz="quarter" idx="11"/>
          </p:nvPr>
        </p:nvSpPr>
        <p:spPr/>
        <p:txBody>
          <a:bodyPr/>
          <a:lstStyle/>
          <a:p>
            <a:r>
              <a:rPr lang="fr-FR"/>
              <a:t>#MercrediCyber11 - Analyse prédictive: Fondements et applications dans l'IA</a:t>
            </a:r>
            <a:endParaRPr lang="fr-FR" dirty="0"/>
          </a:p>
        </p:txBody>
      </p:sp>
      <p:sp>
        <p:nvSpPr>
          <p:cNvPr id="6" name="Slide Number Placeholder 5"/>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265325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p:cNvSpPr>
            <a:spLocks noGrp="1"/>
          </p:cNvSpPr>
          <p:nvPr>
            <p:ph type="dt" sz="half" idx="10"/>
          </p:nvPr>
        </p:nvSpPr>
        <p:spPr/>
        <p:txBody>
          <a:bodyPr/>
          <a:lstStyle/>
          <a:p>
            <a:fld id="{0EAC1557-9331-4F57-AE25-C32529FD8F6F}" type="datetime1">
              <a:rPr lang="fr-FR" smtClean="0"/>
              <a:t>08/09/2025</a:t>
            </a:fld>
            <a:endParaRPr lang="fr-FR" dirty="0"/>
          </a:p>
        </p:txBody>
      </p:sp>
      <p:sp>
        <p:nvSpPr>
          <p:cNvPr id="9" name="Footer Placeholder 8"/>
          <p:cNvSpPr>
            <a:spLocks noGrp="1"/>
          </p:cNvSpPr>
          <p:nvPr>
            <p:ph type="ftr" sz="quarter" idx="11"/>
          </p:nvPr>
        </p:nvSpPr>
        <p:spPr/>
        <p:txBody>
          <a:bodyPr/>
          <a:lstStyle/>
          <a:p>
            <a:r>
              <a:rPr lang="fr-FR"/>
              <a:t>#MercrediCyber11 - Analyse prédictive: Fondements et applications dans l'IA</a:t>
            </a:r>
            <a:endParaRPr lang="fr-FR" dirty="0"/>
          </a:p>
        </p:txBody>
      </p:sp>
      <p:sp>
        <p:nvSpPr>
          <p:cNvPr id="10" name="Slide Number Placeholder 9"/>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816149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 name="Date Placeholder 1"/>
          <p:cNvSpPr>
            <a:spLocks noGrp="1"/>
          </p:cNvSpPr>
          <p:nvPr>
            <p:ph type="dt" sz="half" idx="10"/>
          </p:nvPr>
        </p:nvSpPr>
        <p:spPr/>
        <p:txBody>
          <a:bodyPr/>
          <a:lstStyle/>
          <a:p>
            <a:fld id="{54582B46-C806-4478-BD6F-14A229599718}" type="datetime1">
              <a:rPr lang="fr-FR" smtClean="0"/>
              <a:t>08/09/2025</a:t>
            </a:fld>
            <a:endParaRPr lang="fr-FR" dirty="0"/>
          </a:p>
        </p:txBody>
      </p:sp>
      <p:sp>
        <p:nvSpPr>
          <p:cNvPr id="11" name="Footer Placeholder 10"/>
          <p:cNvSpPr>
            <a:spLocks noGrp="1"/>
          </p:cNvSpPr>
          <p:nvPr>
            <p:ph type="ftr" sz="quarter" idx="11"/>
          </p:nvPr>
        </p:nvSpPr>
        <p:spPr/>
        <p:txBody>
          <a:bodyPr/>
          <a:lstStyle/>
          <a:p>
            <a:r>
              <a:rPr lang="fr-FR"/>
              <a:t>#MercrediCyber11 - Analyse prédictive: Fondements et applications dans l'IA</a:t>
            </a:r>
            <a:endParaRPr lang="fr-FR" dirty="0"/>
          </a:p>
        </p:txBody>
      </p:sp>
      <p:sp>
        <p:nvSpPr>
          <p:cNvPr id="12" name="Slide Number Placeholder 11"/>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956961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2" name="Date Placeholder 1"/>
          <p:cNvSpPr>
            <a:spLocks noGrp="1"/>
          </p:cNvSpPr>
          <p:nvPr>
            <p:ph type="dt" sz="half" idx="10"/>
          </p:nvPr>
        </p:nvSpPr>
        <p:spPr/>
        <p:txBody>
          <a:bodyPr/>
          <a:lstStyle/>
          <a:p>
            <a:fld id="{1C30F9D2-082C-4D97-B3FB-0E49D25FC7FE}" type="datetime1">
              <a:rPr lang="fr-FR" smtClean="0"/>
              <a:t>08/09/2025</a:t>
            </a:fld>
            <a:endParaRPr lang="fr-FR" dirty="0"/>
          </a:p>
        </p:txBody>
      </p:sp>
      <p:sp>
        <p:nvSpPr>
          <p:cNvPr id="7" name="Footer Placeholder 6"/>
          <p:cNvSpPr>
            <a:spLocks noGrp="1"/>
          </p:cNvSpPr>
          <p:nvPr>
            <p:ph type="ftr" sz="quarter" idx="11"/>
          </p:nvPr>
        </p:nvSpPr>
        <p:spPr/>
        <p:txBody>
          <a:bodyPr/>
          <a:lstStyle/>
          <a:p>
            <a:r>
              <a:rPr lang="fr-FR"/>
              <a:t>#MercrediCyber11 - Analyse prédictive: Fondements et applications dans l'IA</a:t>
            </a:r>
            <a:endParaRPr lang="fr-FR" dirty="0"/>
          </a:p>
        </p:txBody>
      </p:sp>
      <p:sp>
        <p:nvSpPr>
          <p:cNvPr id="8" name="Slide Number Placeholder 7"/>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486164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EC51C9-23AD-4B16-89D4-939EA6E23657}" type="datetime1">
              <a:rPr lang="fr-FR" smtClean="0"/>
              <a:t>08/09/2025</a:t>
            </a:fld>
            <a:endParaRPr lang="fr-FR" dirty="0"/>
          </a:p>
        </p:txBody>
      </p:sp>
      <p:sp>
        <p:nvSpPr>
          <p:cNvPr id="6" name="Footer Placeholder 5"/>
          <p:cNvSpPr>
            <a:spLocks noGrp="1"/>
          </p:cNvSpPr>
          <p:nvPr>
            <p:ph type="ftr" sz="quarter" idx="11"/>
          </p:nvPr>
        </p:nvSpPr>
        <p:spPr/>
        <p:txBody>
          <a:bodyPr/>
          <a:lstStyle/>
          <a:p>
            <a:r>
              <a:rPr lang="fr-FR"/>
              <a:t>#MercrediCyber11 - Analyse prédictive: Fondements et applications dans l'IA</a:t>
            </a:r>
            <a:endParaRPr lang="fr-FR" dirty="0"/>
          </a:p>
        </p:txBody>
      </p:sp>
      <p:sp>
        <p:nvSpPr>
          <p:cNvPr id="7" name="Slide Number Placeholder 6"/>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346911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fr-FR"/>
              <a:t>Modifiez le style du titre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8" name="Date Placeholder 7"/>
          <p:cNvSpPr>
            <a:spLocks noGrp="1"/>
          </p:cNvSpPr>
          <p:nvPr>
            <p:ph type="dt" sz="half" idx="10"/>
          </p:nvPr>
        </p:nvSpPr>
        <p:spPr/>
        <p:txBody>
          <a:bodyPr/>
          <a:lstStyle/>
          <a:p>
            <a:fld id="{791F5B89-D2FC-4FD7-9B3C-110D51A7B7F0}" type="datetime1">
              <a:rPr lang="fr-FR" smtClean="0"/>
              <a:t>08/09/2025</a:t>
            </a:fld>
            <a:endParaRPr lang="fr-FR" dirty="0"/>
          </a:p>
        </p:txBody>
      </p:sp>
      <p:sp>
        <p:nvSpPr>
          <p:cNvPr id="9" name="Footer Placeholder 8"/>
          <p:cNvSpPr>
            <a:spLocks noGrp="1"/>
          </p:cNvSpPr>
          <p:nvPr>
            <p:ph type="ftr" sz="quarter" idx="11"/>
          </p:nvPr>
        </p:nvSpPr>
        <p:spPr/>
        <p:txBody>
          <a:bodyPr/>
          <a:lstStyle/>
          <a:p>
            <a:r>
              <a:rPr lang="fr-FR"/>
              <a:t>#MercrediCyber11 - Analyse prédictive: Fondements et applications dans l'IA</a:t>
            </a:r>
            <a:endParaRPr lang="fr-FR" dirty="0"/>
          </a:p>
        </p:txBody>
      </p:sp>
      <p:sp>
        <p:nvSpPr>
          <p:cNvPr id="10" name="Slide Number Placeholder 9"/>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2374429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fr-FR"/>
              <a:t>Modifiez le style du titre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8" name="Date Placeholder 7"/>
          <p:cNvSpPr>
            <a:spLocks noGrp="1"/>
          </p:cNvSpPr>
          <p:nvPr>
            <p:ph type="dt" sz="half" idx="10"/>
          </p:nvPr>
        </p:nvSpPr>
        <p:spPr/>
        <p:txBody>
          <a:bodyPr/>
          <a:lstStyle/>
          <a:p>
            <a:fld id="{22667D71-9127-45A7-9A33-8189C8A2BD43}" type="datetime1">
              <a:rPr lang="fr-FR" smtClean="0"/>
              <a:t>08/09/2025</a:t>
            </a:fld>
            <a:endParaRPr lang="fr-FR" dirty="0"/>
          </a:p>
        </p:txBody>
      </p:sp>
      <p:sp>
        <p:nvSpPr>
          <p:cNvPr id="9" name="Footer Placeholder 8"/>
          <p:cNvSpPr>
            <a:spLocks noGrp="1"/>
          </p:cNvSpPr>
          <p:nvPr>
            <p:ph type="ftr" sz="quarter" idx="11"/>
          </p:nvPr>
        </p:nvSpPr>
        <p:spPr>
          <a:xfrm>
            <a:off x="3499101" y="6356350"/>
            <a:ext cx="5911517" cy="365125"/>
          </a:xfrm>
        </p:spPr>
        <p:txBody>
          <a:bodyPr/>
          <a:lstStyle/>
          <a:p>
            <a:r>
              <a:rPr lang="fr-FR"/>
              <a:t>#MercrediCyber11 - Analyse prédictive: Fondements et applications dans l'IA</a:t>
            </a:r>
            <a:endParaRPr lang="fr-FR" dirty="0"/>
          </a:p>
        </p:txBody>
      </p:sp>
      <p:sp>
        <p:nvSpPr>
          <p:cNvPr id="10" name="Slide Number Placeholder 9"/>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3058833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34F7231-B05D-4FF4-A49A-B9FB11FDD109}" type="datetime1">
              <a:rPr lang="fr-FR" smtClean="0"/>
              <a:t>08/09/2025</a:t>
            </a:fld>
            <a:endParaRPr lang="fr-FR" dirty="0"/>
          </a:p>
        </p:txBody>
      </p:sp>
      <p:sp>
        <p:nvSpPr>
          <p:cNvPr id="8" name="Footer Placeholder 7"/>
          <p:cNvSpPr>
            <a:spLocks noGrp="1"/>
          </p:cNvSpPr>
          <p:nvPr>
            <p:ph type="ftr" sz="quarter" idx="11"/>
          </p:nvPr>
        </p:nvSpPr>
        <p:spPr/>
        <p:txBody>
          <a:bodyPr/>
          <a:lstStyle/>
          <a:p>
            <a:r>
              <a:rPr lang="fr-FR"/>
              <a:t>#MercrediCyber11 - Analyse prédictive: Fondements et applications dans l'IA</a:t>
            </a:r>
            <a:endParaRPr lang="fr-FR" dirty="0"/>
          </a:p>
        </p:txBody>
      </p:sp>
      <p:sp>
        <p:nvSpPr>
          <p:cNvPr id="9" name="Slide Number Placeholder 8"/>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29412830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612F497-FAD4-40EA-ADC5-8AB45775AE19}" type="datetime1">
              <a:rPr lang="fr-FR" smtClean="0"/>
              <a:t>08/09/2025</a:t>
            </a:fld>
            <a:endParaRPr lang="fr-FR" dirty="0"/>
          </a:p>
        </p:txBody>
      </p:sp>
      <p:sp>
        <p:nvSpPr>
          <p:cNvPr id="8" name="Footer Placeholder 7"/>
          <p:cNvSpPr>
            <a:spLocks noGrp="1"/>
          </p:cNvSpPr>
          <p:nvPr>
            <p:ph type="ftr" sz="quarter" idx="11"/>
          </p:nvPr>
        </p:nvSpPr>
        <p:spPr/>
        <p:txBody>
          <a:bodyPr/>
          <a:lstStyle/>
          <a:p>
            <a:r>
              <a:rPr lang="fr-FR"/>
              <a:t>#MercrediCyber11 - Analyse prédictive: Fondements et applications dans l'IA</a:t>
            </a:r>
            <a:endParaRPr lang="fr-FR" dirty="0"/>
          </a:p>
        </p:txBody>
      </p:sp>
      <p:sp>
        <p:nvSpPr>
          <p:cNvPr id="9" name="Slide Number Placeholder 8"/>
          <p:cNvSpPr>
            <a:spLocks noGrp="1"/>
          </p:cNvSpPr>
          <p:nvPr>
            <p:ph type="sldNum" sz="quarter" idx="12"/>
          </p:nvPr>
        </p:nvSpPr>
        <p:spPr/>
        <p:txBody>
          <a:bodyPr/>
          <a:lstStyle/>
          <a:p>
            <a:fld id="{5489D5D2-75C6-44E1-8C95-B32A4179B28A}" type="slidenum">
              <a:rPr lang="fr-FR" smtClean="0"/>
              <a:t>‹N°›</a:t>
            </a:fld>
            <a:endParaRPr lang="fr-FR" dirty="0"/>
          </a:p>
        </p:txBody>
      </p:sp>
    </p:spTree>
    <p:extLst>
      <p:ext uri="{BB962C8B-B14F-4D97-AF65-F5344CB8AC3E}">
        <p14:creationId xmlns:p14="http://schemas.microsoft.com/office/powerpoint/2010/main" val="1807540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625B-E483-4A24-96E2-212AD7107205}" type="datetime1">
              <a:rPr lang="fr-FR" smtClean="0"/>
              <a:t>08/09/2025</a:t>
            </a:fld>
            <a:endParaRPr lang="fr-FR" dirty="0"/>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#MercrediCyber11 - Analyse prédictive: Fondements et applications dans l'IA</a:t>
            </a:r>
            <a:endParaRPr lang="fr-FR" dirty="0"/>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9D5D2-75C6-44E1-8C95-B32A4179B28A}" type="slidenum">
              <a:rPr lang="fr-FR" smtClean="0"/>
              <a:t>‹N°›</a:t>
            </a:fld>
            <a:endParaRPr lang="fr-FR" dirty="0"/>
          </a:p>
        </p:txBody>
      </p:sp>
    </p:spTree>
    <p:extLst>
      <p:ext uri="{BB962C8B-B14F-4D97-AF65-F5344CB8AC3E}">
        <p14:creationId xmlns:p14="http://schemas.microsoft.com/office/powerpoint/2010/main" val="27743993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90BE096-020B-4D59-AF6A-78DD3DBF172A}" type="datetime1">
              <a:rPr lang="fr-FR" smtClean="0"/>
              <a:t>08/09/2025</a:t>
            </a:fld>
            <a:endParaRPr lang="fr-FR"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r>
              <a:rPr lang="fr-FR"/>
              <a:t>#MercrediCyber11 - Analyse prédictive: Fondements et applications dans l'IA</a:t>
            </a:r>
            <a:endParaRPr lang="fr-FR"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5489D5D2-75C6-44E1-8C95-B32A4179B28A}" type="slidenum">
              <a:rPr lang="fr-FR" smtClean="0"/>
              <a:t>‹N°›</a:t>
            </a:fld>
            <a:endParaRPr lang="fr-FR" dirty="0"/>
          </a:p>
        </p:txBody>
      </p:sp>
    </p:spTree>
    <p:extLst>
      <p:ext uri="{BB962C8B-B14F-4D97-AF65-F5344CB8AC3E}">
        <p14:creationId xmlns:p14="http://schemas.microsoft.com/office/powerpoint/2010/main" val="16648304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rot="16200000" flipH="1">
            <a:off x="10057395" y="4487927"/>
            <a:ext cx="169817" cy="34747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Titre 1"/>
          <p:cNvSpPr>
            <a:spLocks noGrp="1"/>
          </p:cNvSpPr>
          <p:nvPr>
            <p:ph type="ctrTitle"/>
          </p:nvPr>
        </p:nvSpPr>
        <p:spPr>
          <a:xfrm>
            <a:off x="845624" y="2705046"/>
            <a:ext cx="10493828" cy="998805"/>
          </a:xfrm>
        </p:spPr>
        <p:txBody>
          <a:bodyPr>
            <a:normAutofit/>
          </a:bodyPr>
          <a:lstStyle/>
          <a:p>
            <a:r>
              <a:rPr lang="fr-FR" b="1" dirty="0">
                <a:solidFill>
                  <a:srgbClr val="FFC000"/>
                </a:solidFill>
              </a:rPr>
              <a:t>Les campagnes de désinformation</a:t>
            </a:r>
          </a:p>
        </p:txBody>
      </p:sp>
      <p:sp>
        <p:nvSpPr>
          <p:cNvPr id="3" name="Sous-titre 2"/>
          <p:cNvSpPr>
            <a:spLocks noGrp="1"/>
          </p:cNvSpPr>
          <p:nvPr>
            <p:ph type="subTitle" idx="1"/>
          </p:nvPr>
        </p:nvSpPr>
        <p:spPr>
          <a:xfrm>
            <a:off x="1518806" y="4346291"/>
            <a:ext cx="9152415" cy="1780303"/>
          </a:xfrm>
        </p:spPr>
        <p:txBody>
          <a:bodyPr>
            <a:normAutofit/>
          </a:bodyPr>
          <a:lstStyle/>
          <a:p>
            <a:r>
              <a:rPr lang="fr-FR" sz="1800" dirty="0"/>
              <a:t>Présenté par:</a:t>
            </a:r>
          </a:p>
          <a:p>
            <a:r>
              <a:rPr lang="fr-FR" b="1" dirty="0"/>
              <a:t>LT AMBARA Christian Evrard</a:t>
            </a:r>
          </a:p>
          <a:p>
            <a:endParaRPr lang="fr-FR" sz="1400" b="1" dirty="0"/>
          </a:p>
          <a:p>
            <a:r>
              <a:rPr lang="fr-FR" i="1" dirty="0"/>
              <a:t>#MercrediCyber64</a:t>
            </a:r>
          </a:p>
        </p:txBody>
      </p:sp>
      <p:sp>
        <p:nvSpPr>
          <p:cNvPr id="4" name="Rectangle 3"/>
          <p:cNvSpPr/>
          <p:nvPr/>
        </p:nvSpPr>
        <p:spPr>
          <a:xfrm flipH="1">
            <a:off x="537363" y="296050"/>
            <a:ext cx="169816" cy="229812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FFC000"/>
              </a:solidFill>
            </a:endParaRPr>
          </a:p>
        </p:txBody>
      </p:sp>
      <p:sp>
        <p:nvSpPr>
          <p:cNvPr id="5" name="Rectangle 4"/>
          <p:cNvSpPr/>
          <p:nvPr/>
        </p:nvSpPr>
        <p:spPr>
          <a:xfrm rot="16200000" flipH="1">
            <a:off x="1898468" y="-1110344"/>
            <a:ext cx="169817" cy="34747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4670577" y="6040622"/>
            <a:ext cx="2848874" cy="369332"/>
          </a:xfrm>
          <a:prstGeom prst="rect">
            <a:avLst/>
          </a:prstGeom>
          <a:noFill/>
        </p:spPr>
        <p:txBody>
          <a:bodyPr wrap="square" rtlCol="0">
            <a:spAutoFit/>
          </a:bodyPr>
          <a:lstStyle/>
          <a:p>
            <a:pPr algn="ctr"/>
            <a:r>
              <a:rPr lang="fr-FR" b="1" dirty="0">
                <a:solidFill>
                  <a:srgbClr val="FFC000"/>
                </a:solidFill>
                <a:latin typeface="Arial" pitchFamily="34" charset="0"/>
                <a:cs typeface="Arial" pitchFamily="34" charset="0"/>
              </a:rPr>
              <a:t>PROJET HELIOS | 2025</a:t>
            </a:r>
          </a:p>
        </p:txBody>
      </p:sp>
      <p:pic>
        <p:nvPicPr>
          <p:cNvPr id="10" name="Picture 4">
            <a:extLst>
              <a:ext uri="{FF2B5EF4-FFF2-40B4-BE49-F238E27FC236}">
                <a16:creationId xmlns:a16="http://schemas.microsoft.com/office/drawing/2014/main" id="{154246BC-E9D1-4700-A549-BD1243CCCBF3}"/>
              </a:ext>
            </a:extLst>
          </p:cNvPr>
          <p:cNvPicPr/>
          <p:nvPr/>
        </p:nvPicPr>
        <p:blipFill>
          <a:blip r:embed="rId3" cstate="print">
            <a:extLst>
              <a:ext uri="{28A0092B-C50C-407E-A947-70E740481C1C}">
                <a14:useLocalDpi xmlns:a14="http://schemas.microsoft.com/office/drawing/2010/main" val="0"/>
              </a:ext>
            </a:extLst>
          </a:blip>
          <a:stretch>
            <a:fillRect/>
          </a:stretch>
        </p:blipFill>
        <p:spPr bwMode="auto">
          <a:xfrm>
            <a:off x="4982260" y="297462"/>
            <a:ext cx="2220556" cy="1810340"/>
          </a:xfrm>
          <a:prstGeom prst="rect">
            <a:avLst/>
          </a:prstGeom>
        </p:spPr>
      </p:pic>
      <p:sp>
        <p:nvSpPr>
          <p:cNvPr id="16" name="Rectangle 15">
            <a:extLst>
              <a:ext uri="{FF2B5EF4-FFF2-40B4-BE49-F238E27FC236}">
                <a16:creationId xmlns:a16="http://schemas.microsoft.com/office/drawing/2014/main" id="{147406A7-E2B6-4E48-A6D1-BF253E16CFE7}"/>
              </a:ext>
            </a:extLst>
          </p:cNvPr>
          <p:cNvSpPr/>
          <p:nvPr/>
        </p:nvSpPr>
        <p:spPr>
          <a:xfrm rot="16200000" flipH="1">
            <a:off x="1964788" y="4487928"/>
            <a:ext cx="169817" cy="34747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Rectangle 16">
            <a:extLst>
              <a:ext uri="{FF2B5EF4-FFF2-40B4-BE49-F238E27FC236}">
                <a16:creationId xmlns:a16="http://schemas.microsoft.com/office/drawing/2014/main" id="{31BBD149-97D7-485B-B12B-921BEA8ADD5A}"/>
              </a:ext>
            </a:extLst>
          </p:cNvPr>
          <p:cNvSpPr/>
          <p:nvPr/>
        </p:nvSpPr>
        <p:spPr>
          <a:xfrm flipH="1">
            <a:off x="537363" y="4162529"/>
            <a:ext cx="189506" cy="238979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7944EC02-A2F6-4283-86F7-365747322607}"/>
              </a:ext>
            </a:extLst>
          </p:cNvPr>
          <p:cNvSpPr/>
          <p:nvPr/>
        </p:nvSpPr>
        <p:spPr>
          <a:xfrm flipH="1">
            <a:off x="11477897" y="4198815"/>
            <a:ext cx="189506" cy="238979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6A5566E7-EA8D-43D3-A3EA-4189FA5D5914}"/>
              </a:ext>
            </a:extLst>
          </p:cNvPr>
          <p:cNvSpPr/>
          <p:nvPr/>
        </p:nvSpPr>
        <p:spPr>
          <a:xfrm flipH="1">
            <a:off x="11477897" y="296049"/>
            <a:ext cx="169816" cy="229812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FFC000"/>
              </a:solidFill>
            </a:endParaRPr>
          </a:p>
        </p:txBody>
      </p:sp>
      <p:sp>
        <p:nvSpPr>
          <p:cNvPr id="20" name="Rectangle 19">
            <a:extLst>
              <a:ext uri="{FF2B5EF4-FFF2-40B4-BE49-F238E27FC236}">
                <a16:creationId xmlns:a16="http://schemas.microsoft.com/office/drawing/2014/main" id="{E2574D06-0162-4981-BF79-D1EE98569D76}"/>
              </a:ext>
            </a:extLst>
          </p:cNvPr>
          <p:cNvSpPr/>
          <p:nvPr/>
        </p:nvSpPr>
        <p:spPr>
          <a:xfrm rot="16200000" flipH="1">
            <a:off x="10057395" y="-1095074"/>
            <a:ext cx="169817" cy="34747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99899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718457" y="222068"/>
            <a:ext cx="6583680"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latin typeface="+mj-lt"/>
              </a:rPr>
              <a:t>IDEE MAÎTRESSE</a:t>
            </a:r>
          </a:p>
        </p:txBody>
      </p:sp>
      <p:sp>
        <p:nvSpPr>
          <p:cNvPr id="2" name="ZoneTexte 1"/>
          <p:cNvSpPr txBox="1"/>
          <p:nvPr/>
        </p:nvSpPr>
        <p:spPr>
          <a:xfrm>
            <a:off x="1350348" y="1141081"/>
            <a:ext cx="10580696" cy="5509200"/>
          </a:xfrm>
          <a:prstGeom prst="rect">
            <a:avLst/>
          </a:prstGeom>
          <a:noFill/>
        </p:spPr>
        <p:txBody>
          <a:bodyPr wrap="square" rtlCol="0">
            <a:spAutoFit/>
          </a:bodyPr>
          <a:lstStyle/>
          <a:p>
            <a:pPr algn="just"/>
            <a:r>
              <a:rPr lang="fr-FR" sz="3200" b="1" i="1" dirty="0"/>
              <a:t>La désinformation n'est pas un problème nouveau, mais une condition historique amplifiée à une échelle sans précédent par la technologie numérique et les modèles économiques des plateformes sociales. Son impact le plus profond n'est pas la diffusion de mensonges individuels, mais l'érosion systémique de la confiance dans les institutions, la polarisation de la société et la déstabilisation des fondements de la démocratie. La seule réponse viable face à cela est une approche de "résilience sociétale" globale et continue, impliquant tous les acteurs (gouvernements, armées, plateformes, société civile et citoyens).</a:t>
            </a:r>
          </a:p>
        </p:txBody>
      </p:sp>
      <p:sp>
        <p:nvSpPr>
          <p:cNvPr id="6" name="Espace réservé du numéro de diapositive 5">
            <a:extLst>
              <a:ext uri="{FF2B5EF4-FFF2-40B4-BE49-F238E27FC236}">
                <a16:creationId xmlns:a16="http://schemas.microsoft.com/office/drawing/2014/main" id="{23974708-31DF-4036-BF9D-A72E24586186}"/>
              </a:ext>
            </a:extLst>
          </p:cNvPr>
          <p:cNvSpPr>
            <a:spLocks noGrp="1"/>
          </p:cNvSpPr>
          <p:nvPr>
            <p:ph type="sldNum" sz="quarter" idx="12"/>
          </p:nvPr>
        </p:nvSpPr>
        <p:spPr/>
        <p:txBody>
          <a:bodyPr/>
          <a:lstStyle/>
          <a:p>
            <a:fld id="{5489D5D2-75C6-44E1-8C95-B32A4179B28A}" type="slidenum">
              <a:rPr lang="fr-FR" smtClean="0"/>
              <a:t>2</a:t>
            </a:fld>
            <a:endParaRPr lang="fr-FR" dirty="0"/>
          </a:p>
        </p:txBody>
      </p:sp>
    </p:spTree>
    <p:extLst>
      <p:ext uri="{BB962C8B-B14F-4D97-AF65-F5344CB8AC3E}">
        <p14:creationId xmlns:p14="http://schemas.microsoft.com/office/powerpoint/2010/main" val="73998434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4766" y="2343442"/>
            <a:ext cx="2171114" cy="2171114"/>
          </a:xfrm>
        </p:spPr>
      </p:pic>
      <p:sp>
        <p:nvSpPr>
          <p:cNvPr id="9" name="ZoneTexte 8"/>
          <p:cNvSpPr txBox="1"/>
          <p:nvPr/>
        </p:nvSpPr>
        <p:spPr>
          <a:xfrm>
            <a:off x="3480128" y="918471"/>
            <a:ext cx="8336280" cy="5021055"/>
          </a:xfrm>
          <a:prstGeom prst="rect">
            <a:avLst/>
          </a:prstGeom>
          <a:noFill/>
        </p:spPr>
        <p:txBody>
          <a:bodyPr wrap="square" rtlCol="0">
            <a:spAutoFit/>
          </a:bodyPr>
          <a:lstStyle/>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1 - Le Problème Fondamental </a:t>
            </a:r>
          </a:p>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2 - La Psychologie de la Tromperie</a:t>
            </a:r>
          </a:p>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3 - </a:t>
            </a:r>
            <a:r>
              <a:rPr lang="fr-FR" sz="2400" b="1" noProof="0" dirty="0">
                <a:solidFill>
                  <a:srgbClr val="FFC000"/>
                </a:solidFill>
                <a:latin typeface="Calibri Light" panose="020F0302020204030204" pitchFamily="34" charset="0"/>
                <a:cs typeface="Calibri Light" panose="020F0302020204030204" pitchFamily="34" charset="0"/>
              </a:rPr>
              <a:t>Histoire Stratégique de la désinformation</a:t>
            </a:r>
          </a:p>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4 - Anatomie d'une Campagne Numérique de désinformation</a:t>
            </a:r>
          </a:p>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5 - Étude de Cas : L'Ingérence Russe dans l'Élection Américaine de 2016</a:t>
            </a:r>
          </a:p>
          <a:p>
            <a:pPr algn="just">
              <a:lnSpc>
                <a:spcPct val="150000"/>
              </a:lnSpc>
            </a:pPr>
            <a:r>
              <a:rPr lang="fr-FR" sz="2400" b="1" dirty="0">
                <a:solidFill>
                  <a:srgbClr val="FFC000"/>
                </a:solidFill>
                <a:latin typeface="Calibri Light" panose="020F0302020204030204" pitchFamily="34" charset="0"/>
                <a:cs typeface="Calibri Light" panose="020F0302020204030204" pitchFamily="34" charset="0"/>
              </a:rPr>
              <a:t>6 – L'Écosystème Mondial et l'Impact Sociétal</a:t>
            </a:r>
          </a:p>
          <a:p>
            <a:pPr>
              <a:lnSpc>
                <a:spcPct val="150000"/>
              </a:lnSpc>
            </a:pPr>
            <a:r>
              <a:rPr lang="fr-FR" sz="2400" b="1" dirty="0">
                <a:solidFill>
                  <a:srgbClr val="FFC000"/>
                </a:solidFill>
                <a:latin typeface="Calibri Light" panose="020F0302020204030204" pitchFamily="34" charset="0"/>
                <a:cs typeface="Calibri Light" panose="020F0302020204030204" pitchFamily="34" charset="0"/>
              </a:rPr>
              <a:t>7 - La Frontière de l’IA </a:t>
            </a:r>
            <a:br>
              <a:rPr lang="fr-FR" sz="2400" b="1" dirty="0">
                <a:solidFill>
                  <a:srgbClr val="FFC000"/>
                </a:solidFill>
                <a:latin typeface="Calibri Light" panose="020F0302020204030204" pitchFamily="34" charset="0"/>
                <a:cs typeface="Calibri Light" panose="020F0302020204030204" pitchFamily="34" charset="0"/>
              </a:rPr>
            </a:br>
            <a:r>
              <a:rPr lang="fr-FR" sz="2400" b="1" dirty="0">
                <a:solidFill>
                  <a:srgbClr val="FFC000"/>
                </a:solidFill>
                <a:latin typeface="Calibri Light" panose="020F0302020204030204" pitchFamily="34" charset="0"/>
                <a:cs typeface="Calibri Light" panose="020F0302020204030204" pitchFamily="34" charset="0"/>
              </a:rPr>
              <a:t>8 - Une Réponse de l'Ensemble de la Société et Recommandations</a:t>
            </a:r>
          </a:p>
        </p:txBody>
      </p:sp>
      <p:sp>
        <p:nvSpPr>
          <p:cNvPr id="10" name="ZoneTexte 9"/>
          <p:cNvSpPr txBox="1"/>
          <p:nvPr/>
        </p:nvSpPr>
        <p:spPr>
          <a:xfrm>
            <a:off x="574766" y="1512445"/>
            <a:ext cx="2171114" cy="830997"/>
          </a:xfrm>
          <a:prstGeom prst="rect">
            <a:avLst/>
          </a:prstGeom>
          <a:noFill/>
        </p:spPr>
        <p:txBody>
          <a:bodyPr wrap="square" rtlCol="0">
            <a:spAutoFit/>
          </a:bodyPr>
          <a:lstStyle/>
          <a:p>
            <a:pPr algn="ctr"/>
            <a:r>
              <a:rPr lang="fr-FR" sz="4800" b="1" dirty="0">
                <a:solidFill>
                  <a:schemeClr val="bg1"/>
                </a:solidFill>
                <a:latin typeface="Adobe Devanagari" panose="02040503050201020203" pitchFamily="18" charset="0"/>
                <a:cs typeface="Adobe Devanagari" panose="02040503050201020203" pitchFamily="18" charset="0"/>
              </a:rPr>
              <a:t>Plan </a:t>
            </a:r>
          </a:p>
        </p:txBody>
      </p:sp>
    </p:spTree>
    <p:extLst>
      <p:ext uri="{BB962C8B-B14F-4D97-AF65-F5344CB8AC3E}">
        <p14:creationId xmlns:p14="http://schemas.microsoft.com/office/powerpoint/2010/main" val="29773445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p:cNvSpPr txBox="1"/>
          <p:nvPr/>
        </p:nvSpPr>
        <p:spPr>
          <a:xfrm>
            <a:off x="3590538" y="2764191"/>
            <a:ext cx="8601462" cy="837473"/>
          </a:xfrm>
          <a:prstGeom prst="rect">
            <a:avLst/>
          </a:prstGeom>
          <a:noFill/>
        </p:spPr>
        <p:txBody>
          <a:bodyPr wrap="square" rtlCol="0">
            <a:spAutoFit/>
          </a:bodyPr>
          <a:lstStyle/>
          <a:p>
            <a:pPr algn="just">
              <a:lnSpc>
                <a:spcPct val="150000"/>
              </a:lnSpc>
            </a:pPr>
            <a:r>
              <a:rPr lang="fr-FR" sz="3600" b="1" dirty="0">
                <a:solidFill>
                  <a:srgbClr val="FFC000"/>
                </a:solidFill>
                <a:latin typeface="Calibri Light" panose="020F0302020204030204" pitchFamily="34" charset="0"/>
                <a:cs typeface="Calibri Light" panose="020F0302020204030204" pitchFamily="34" charset="0"/>
              </a:rPr>
              <a:t>Le Problème Fondamental </a:t>
            </a:r>
          </a:p>
        </p:txBody>
      </p:sp>
      <p:sp>
        <p:nvSpPr>
          <p:cNvPr id="4" name="ZoneTexte 3">
            <a:extLst>
              <a:ext uri="{FF2B5EF4-FFF2-40B4-BE49-F238E27FC236}">
                <a16:creationId xmlns:a16="http://schemas.microsoft.com/office/drawing/2014/main" id="{B00D562C-F572-4632-9F19-EF963521C397}"/>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1</a:t>
            </a:r>
          </a:p>
        </p:txBody>
      </p:sp>
      <p:pic>
        <p:nvPicPr>
          <p:cNvPr id="5" name="Image 4">
            <a:extLst>
              <a:ext uri="{FF2B5EF4-FFF2-40B4-BE49-F238E27FC236}">
                <a16:creationId xmlns:a16="http://schemas.microsoft.com/office/drawing/2014/main" id="{1255625A-1F0F-2A15-DBBD-74E6B43B50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118" y="2583726"/>
            <a:ext cx="1570074" cy="1570074"/>
          </a:xfrm>
          <a:prstGeom prst="rect">
            <a:avLst/>
          </a:prstGeom>
        </p:spPr>
      </p:pic>
    </p:spTree>
    <p:extLst>
      <p:ext uri="{BB962C8B-B14F-4D97-AF65-F5344CB8AC3E}">
        <p14:creationId xmlns:p14="http://schemas.microsoft.com/office/powerpoint/2010/main" val="142557849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718457" y="185783"/>
            <a:ext cx="7024914"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latin typeface="+mj-lt"/>
              </a:rPr>
              <a:t>Qu’est-ce que la désinformation</a:t>
            </a:r>
          </a:p>
        </p:txBody>
      </p:sp>
      <p:sp>
        <p:nvSpPr>
          <p:cNvPr id="11" name="ZoneTexte 10">
            <a:extLst>
              <a:ext uri="{FF2B5EF4-FFF2-40B4-BE49-F238E27FC236}">
                <a16:creationId xmlns:a16="http://schemas.microsoft.com/office/drawing/2014/main" id="{0E7AC38C-5BA4-4E04-B54B-D5DD9E803507}"/>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1 - Le Problème Fondamental </a:t>
            </a:r>
          </a:p>
        </p:txBody>
      </p:sp>
      <p:sp>
        <p:nvSpPr>
          <p:cNvPr id="7" name="ZoneTexte 6">
            <a:extLst>
              <a:ext uri="{FF2B5EF4-FFF2-40B4-BE49-F238E27FC236}">
                <a16:creationId xmlns:a16="http://schemas.microsoft.com/office/drawing/2014/main" id="{9E4E1F23-E2EB-81A0-98A6-CCFB66C21440}"/>
              </a:ext>
            </a:extLst>
          </p:cNvPr>
          <p:cNvSpPr txBox="1"/>
          <p:nvPr/>
        </p:nvSpPr>
        <p:spPr>
          <a:xfrm>
            <a:off x="1280861" y="1179086"/>
            <a:ext cx="10560735" cy="954107"/>
          </a:xfrm>
          <a:prstGeom prst="rect">
            <a:avLst/>
          </a:prstGeom>
          <a:noFill/>
        </p:spPr>
        <p:txBody>
          <a:bodyPr wrap="square">
            <a:spAutoFit/>
          </a:bodyPr>
          <a:lstStyle/>
          <a:p>
            <a:pPr algn="just"/>
            <a:r>
              <a:rPr lang="fr-FR" sz="2800" i="1" dirty="0"/>
              <a:t>La </a:t>
            </a:r>
            <a:r>
              <a:rPr lang="fr-FR" sz="2800" b="1" i="1" dirty="0"/>
              <a:t>désinformation</a:t>
            </a:r>
            <a:r>
              <a:rPr lang="fr-FR" sz="2800" i="1" dirty="0"/>
              <a:t> est la création et la diffusion délibérées de fausses informations dans le but de nuire.</a:t>
            </a:r>
          </a:p>
        </p:txBody>
      </p:sp>
      <p:grpSp>
        <p:nvGrpSpPr>
          <p:cNvPr id="2" name="Groupe 1">
            <a:extLst>
              <a:ext uri="{FF2B5EF4-FFF2-40B4-BE49-F238E27FC236}">
                <a16:creationId xmlns:a16="http://schemas.microsoft.com/office/drawing/2014/main" id="{AB53F92E-C3C8-DA2F-38EA-7983719F51A1}"/>
              </a:ext>
            </a:extLst>
          </p:cNvPr>
          <p:cNvGrpSpPr/>
          <p:nvPr/>
        </p:nvGrpSpPr>
        <p:grpSpPr>
          <a:xfrm>
            <a:off x="1189703" y="2133193"/>
            <a:ext cx="10805653" cy="4267607"/>
            <a:chOff x="1189703" y="2133193"/>
            <a:chExt cx="10805653" cy="4267607"/>
          </a:xfrm>
        </p:grpSpPr>
        <p:pic>
          <p:nvPicPr>
            <p:cNvPr id="10" name="Image 9">
              <a:extLst>
                <a:ext uri="{FF2B5EF4-FFF2-40B4-BE49-F238E27FC236}">
                  <a16:creationId xmlns:a16="http://schemas.microsoft.com/office/drawing/2014/main" id="{4441B8DB-1438-78EB-5CF4-122268ED8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8550" y="2956108"/>
              <a:ext cx="2194900" cy="2194900"/>
            </a:xfrm>
            <a:prstGeom prst="rect">
              <a:avLst/>
            </a:prstGeom>
          </p:spPr>
        </p:pic>
        <p:sp>
          <p:nvSpPr>
            <p:cNvPr id="15" name="ZoneTexte 14">
              <a:extLst>
                <a:ext uri="{FF2B5EF4-FFF2-40B4-BE49-F238E27FC236}">
                  <a16:creationId xmlns:a16="http://schemas.microsoft.com/office/drawing/2014/main" id="{80ACEEF0-7CEA-E6A2-2664-0951DDA89B89}"/>
                </a:ext>
              </a:extLst>
            </p:cNvPr>
            <p:cNvSpPr txBox="1"/>
            <p:nvPr/>
          </p:nvSpPr>
          <p:spPr>
            <a:xfrm>
              <a:off x="2736782" y="3729364"/>
              <a:ext cx="1877950" cy="523220"/>
            </a:xfrm>
            <a:prstGeom prst="rect">
              <a:avLst/>
            </a:prstGeom>
            <a:noFill/>
            <a:ln w="12700" cap="flat">
              <a:solidFill>
                <a:schemeClr val="tx1"/>
              </a:solidFill>
            </a:ln>
          </p:spPr>
          <p:txBody>
            <a:bodyPr wrap="none" rtlCol="0">
              <a:spAutoFit/>
            </a:bodyPr>
            <a:lstStyle/>
            <a:p>
              <a:r>
                <a:rPr lang="fr-FR" sz="2800" dirty="0"/>
                <a:t>Démocratie</a:t>
              </a:r>
              <a:endParaRPr lang="en-US" dirty="0"/>
            </a:p>
          </p:txBody>
        </p:sp>
        <p:sp>
          <p:nvSpPr>
            <p:cNvPr id="16" name="ZoneTexte 15">
              <a:extLst>
                <a:ext uri="{FF2B5EF4-FFF2-40B4-BE49-F238E27FC236}">
                  <a16:creationId xmlns:a16="http://schemas.microsoft.com/office/drawing/2014/main" id="{D82518A2-1210-6E48-1444-3737C75B2DBA}"/>
                </a:ext>
              </a:extLst>
            </p:cNvPr>
            <p:cNvSpPr txBox="1"/>
            <p:nvPr/>
          </p:nvSpPr>
          <p:spPr>
            <a:xfrm>
              <a:off x="7577268" y="3773742"/>
              <a:ext cx="3511410" cy="523220"/>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fr-FR" sz="2800" dirty="0"/>
                <a:t>Stabilité Internationale</a:t>
              </a:r>
              <a:endParaRPr lang="en-US" sz="2800" dirty="0"/>
            </a:p>
          </p:txBody>
        </p:sp>
        <p:sp>
          <p:nvSpPr>
            <p:cNvPr id="17" name="ZoneTexte 16">
              <a:extLst>
                <a:ext uri="{FF2B5EF4-FFF2-40B4-BE49-F238E27FC236}">
                  <a16:creationId xmlns:a16="http://schemas.microsoft.com/office/drawing/2014/main" id="{6896D1E8-512C-5CF3-34BF-DF828A0B072C}"/>
                </a:ext>
              </a:extLst>
            </p:cNvPr>
            <p:cNvSpPr txBox="1"/>
            <p:nvPr/>
          </p:nvSpPr>
          <p:spPr>
            <a:xfrm>
              <a:off x="4912407" y="5151008"/>
              <a:ext cx="2367186" cy="523220"/>
            </a:xfrm>
            <a:prstGeom prst="rect">
              <a:avLst/>
            </a:prstGeom>
            <a:noFill/>
            <a:ln w="12700">
              <a:solidFill>
                <a:schemeClr val="tx1"/>
              </a:solidFill>
            </a:ln>
          </p:spPr>
          <p:txBody>
            <a:bodyPr wrap="none" rtlCol="0">
              <a:spAutoFit/>
            </a:bodyPr>
            <a:lstStyle/>
            <a:p>
              <a:r>
                <a:rPr lang="en-US" sz="2800" dirty="0"/>
                <a:t>Santé </a:t>
              </a:r>
              <a:r>
                <a:rPr lang="en-US" sz="2800" dirty="0" err="1"/>
                <a:t>Publique</a:t>
              </a:r>
              <a:endParaRPr lang="en-US" sz="2800" dirty="0"/>
            </a:p>
          </p:txBody>
        </p:sp>
        <p:sp>
          <p:nvSpPr>
            <p:cNvPr id="21" name="Nuage 20">
              <a:extLst>
                <a:ext uri="{FF2B5EF4-FFF2-40B4-BE49-F238E27FC236}">
                  <a16:creationId xmlns:a16="http://schemas.microsoft.com/office/drawing/2014/main" id="{F806CF46-4918-CACE-364F-A8ADB8301957}"/>
                </a:ext>
              </a:extLst>
            </p:cNvPr>
            <p:cNvSpPr/>
            <p:nvPr/>
          </p:nvSpPr>
          <p:spPr>
            <a:xfrm>
              <a:off x="1189703" y="2133193"/>
              <a:ext cx="10805653" cy="4267607"/>
            </a:xfrm>
            <a:prstGeom prst="cloud">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337206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208B4-2F6E-F8F6-D5A5-688F36366A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CF860F-7C88-B544-20B3-CAE4BA997863}"/>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6EAF4DF-C193-A9AC-4A3C-81761F2588C8}"/>
              </a:ext>
            </a:extLst>
          </p:cNvPr>
          <p:cNvSpPr/>
          <p:nvPr/>
        </p:nvSpPr>
        <p:spPr>
          <a:xfrm>
            <a:off x="718456" y="185783"/>
            <a:ext cx="8130575"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latin typeface="+mj-lt"/>
              </a:rPr>
              <a:t> Un Cadre pour les Troubles de l'Information</a:t>
            </a:r>
          </a:p>
        </p:txBody>
      </p:sp>
      <p:sp>
        <p:nvSpPr>
          <p:cNvPr id="11" name="ZoneTexte 10">
            <a:extLst>
              <a:ext uri="{FF2B5EF4-FFF2-40B4-BE49-F238E27FC236}">
                <a16:creationId xmlns:a16="http://schemas.microsoft.com/office/drawing/2014/main" id="{8FFD320E-C71C-D216-1B28-1E533C4A2B40}"/>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1 - Le Problème Fondamental </a:t>
            </a:r>
          </a:p>
        </p:txBody>
      </p:sp>
      <p:grpSp>
        <p:nvGrpSpPr>
          <p:cNvPr id="7" name="Groupe 6">
            <a:extLst>
              <a:ext uri="{FF2B5EF4-FFF2-40B4-BE49-F238E27FC236}">
                <a16:creationId xmlns:a16="http://schemas.microsoft.com/office/drawing/2014/main" id="{BD85F528-2123-EC50-3105-172273086EA1}"/>
              </a:ext>
            </a:extLst>
          </p:cNvPr>
          <p:cNvGrpSpPr/>
          <p:nvPr/>
        </p:nvGrpSpPr>
        <p:grpSpPr>
          <a:xfrm>
            <a:off x="1382847" y="1661198"/>
            <a:ext cx="3173254" cy="3015426"/>
            <a:chOff x="1382847" y="1661198"/>
            <a:chExt cx="3173254" cy="3015426"/>
          </a:xfrm>
        </p:grpSpPr>
        <p:pic>
          <p:nvPicPr>
            <p:cNvPr id="3" name="Image 2">
              <a:extLst>
                <a:ext uri="{FF2B5EF4-FFF2-40B4-BE49-F238E27FC236}">
                  <a16:creationId xmlns:a16="http://schemas.microsoft.com/office/drawing/2014/main" id="{A7F950CD-B59F-3737-A24E-AD64B534DE02}"/>
                </a:ext>
              </a:extLst>
            </p:cNvPr>
            <p:cNvPicPr>
              <a:picLocks noChangeAspect="1"/>
            </p:cNvPicPr>
            <p:nvPr/>
          </p:nvPicPr>
          <p:blipFill>
            <a:blip r:embed="rId2" cstate="print">
              <a:extLst>
                <a:ext uri="{28A0092B-C50C-407E-A947-70E740481C1C}">
                  <a14:useLocalDpi xmlns:a14="http://schemas.microsoft.com/office/drawing/2010/main" val="0"/>
                </a:ext>
              </a:extLst>
            </a:blip>
            <a:srcRect l="20029" t="23670" r="18064" b="22616"/>
            <a:stretch>
              <a:fillRect/>
            </a:stretch>
          </p:blipFill>
          <p:spPr>
            <a:xfrm>
              <a:off x="2347103" y="1661198"/>
              <a:ext cx="1244745" cy="1080000"/>
            </a:xfrm>
            <a:prstGeom prst="rect">
              <a:avLst/>
            </a:prstGeom>
          </p:spPr>
        </p:pic>
        <p:sp>
          <p:nvSpPr>
            <p:cNvPr id="14" name="ZoneTexte 13">
              <a:extLst>
                <a:ext uri="{FF2B5EF4-FFF2-40B4-BE49-F238E27FC236}">
                  <a16:creationId xmlns:a16="http://schemas.microsoft.com/office/drawing/2014/main" id="{8191E39D-FD62-2DD6-A477-378EB1D10006}"/>
                </a:ext>
              </a:extLst>
            </p:cNvPr>
            <p:cNvSpPr txBox="1"/>
            <p:nvPr/>
          </p:nvSpPr>
          <p:spPr>
            <a:xfrm>
              <a:off x="1843681" y="2741198"/>
              <a:ext cx="2251587" cy="461665"/>
            </a:xfrm>
            <a:prstGeom prst="rect">
              <a:avLst/>
            </a:prstGeom>
            <a:noFill/>
          </p:spPr>
          <p:txBody>
            <a:bodyPr wrap="square">
              <a:spAutoFit/>
            </a:bodyPr>
            <a:lstStyle/>
            <a:p>
              <a:pPr algn="ctr"/>
              <a:r>
                <a:rPr lang="en-US" sz="2400" b="1" dirty="0"/>
                <a:t>Mésinformation</a:t>
              </a:r>
            </a:p>
          </p:txBody>
        </p:sp>
        <p:sp>
          <p:nvSpPr>
            <p:cNvPr id="22" name="ZoneTexte 21">
              <a:extLst>
                <a:ext uri="{FF2B5EF4-FFF2-40B4-BE49-F238E27FC236}">
                  <a16:creationId xmlns:a16="http://schemas.microsoft.com/office/drawing/2014/main" id="{111E5AC0-6EF3-7800-8024-04C5577D9541}"/>
                </a:ext>
              </a:extLst>
            </p:cNvPr>
            <p:cNvSpPr txBox="1"/>
            <p:nvPr/>
          </p:nvSpPr>
          <p:spPr>
            <a:xfrm>
              <a:off x="1382847" y="3353185"/>
              <a:ext cx="3173254" cy="1323439"/>
            </a:xfrm>
            <a:prstGeom prst="rect">
              <a:avLst/>
            </a:prstGeom>
            <a:noFill/>
          </p:spPr>
          <p:txBody>
            <a:bodyPr wrap="square">
              <a:spAutoFit/>
            </a:bodyPr>
            <a:lstStyle/>
            <a:p>
              <a:pPr algn="just"/>
              <a:r>
                <a:rPr lang="fr-FR" sz="2000" dirty="0"/>
                <a:t>Fausse information partagée </a:t>
              </a:r>
              <a:r>
                <a:rPr lang="fr-FR" sz="2000" i="1" dirty="0"/>
                <a:t>sans</a:t>
              </a:r>
              <a:r>
                <a:rPr lang="fr-FR" sz="2000" dirty="0"/>
                <a:t> intention malveillante. La personne qui la partage la croit souvent vraie.</a:t>
              </a:r>
              <a:endParaRPr lang="en-US" sz="2000" dirty="0"/>
            </a:p>
          </p:txBody>
        </p:sp>
      </p:grpSp>
      <p:grpSp>
        <p:nvGrpSpPr>
          <p:cNvPr id="2" name="Groupe 1">
            <a:extLst>
              <a:ext uri="{FF2B5EF4-FFF2-40B4-BE49-F238E27FC236}">
                <a16:creationId xmlns:a16="http://schemas.microsoft.com/office/drawing/2014/main" id="{7A0D63DB-AE72-4969-83C5-323C534B09B1}"/>
              </a:ext>
            </a:extLst>
          </p:cNvPr>
          <p:cNvGrpSpPr/>
          <p:nvPr/>
        </p:nvGrpSpPr>
        <p:grpSpPr>
          <a:xfrm>
            <a:off x="4783743" y="1661198"/>
            <a:ext cx="3642850" cy="2707650"/>
            <a:chOff x="4783743" y="1661198"/>
            <a:chExt cx="3642850" cy="2707650"/>
          </a:xfrm>
        </p:grpSpPr>
        <p:pic>
          <p:nvPicPr>
            <p:cNvPr id="8" name="Image 7">
              <a:extLst>
                <a:ext uri="{FF2B5EF4-FFF2-40B4-BE49-F238E27FC236}">
                  <a16:creationId xmlns:a16="http://schemas.microsoft.com/office/drawing/2014/main" id="{D03A3FA2-02F5-E5E4-6E7D-310A5F68FC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8670" y="1661198"/>
              <a:ext cx="1080000" cy="1080000"/>
            </a:xfrm>
            <a:prstGeom prst="rect">
              <a:avLst/>
            </a:prstGeom>
          </p:spPr>
        </p:pic>
        <p:sp>
          <p:nvSpPr>
            <p:cNvPr id="18" name="ZoneTexte 17">
              <a:extLst>
                <a:ext uri="{FF2B5EF4-FFF2-40B4-BE49-F238E27FC236}">
                  <a16:creationId xmlns:a16="http://schemas.microsoft.com/office/drawing/2014/main" id="{C26EB125-A5A4-C5A4-27B6-25C3C22A575A}"/>
                </a:ext>
              </a:extLst>
            </p:cNvPr>
            <p:cNvSpPr txBox="1"/>
            <p:nvPr/>
          </p:nvSpPr>
          <p:spPr>
            <a:xfrm>
              <a:off x="5442876" y="2741197"/>
              <a:ext cx="2251587" cy="461665"/>
            </a:xfrm>
            <a:prstGeom prst="rect">
              <a:avLst/>
            </a:prstGeom>
            <a:noFill/>
          </p:spPr>
          <p:txBody>
            <a:bodyPr wrap="square">
              <a:spAutoFit/>
            </a:bodyPr>
            <a:lstStyle/>
            <a:p>
              <a:pPr algn="ctr"/>
              <a:r>
                <a:rPr lang="en-US" sz="2400" b="1" dirty="0"/>
                <a:t>Désinformation</a:t>
              </a:r>
            </a:p>
          </p:txBody>
        </p:sp>
        <p:sp>
          <p:nvSpPr>
            <p:cNvPr id="23" name="ZoneTexte 22">
              <a:extLst>
                <a:ext uri="{FF2B5EF4-FFF2-40B4-BE49-F238E27FC236}">
                  <a16:creationId xmlns:a16="http://schemas.microsoft.com/office/drawing/2014/main" id="{1ACD6C28-2D52-17D6-AA7C-20AB5F777593}"/>
                </a:ext>
              </a:extLst>
            </p:cNvPr>
            <p:cNvSpPr txBox="1"/>
            <p:nvPr/>
          </p:nvSpPr>
          <p:spPr>
            <a:xfrm>
              <a:off x="4783743" y="3353185"/>
              <a:ext cx="3642850" cy="1015663"/>
            </a:xfrm>
            <a:prstGeom prst="rect">
              <a:avLst/>
            </a:prstGeom>
            <a:noFill/>
          </p:spPr>
          <p:txBody>
            <a:bodyPr wrap="square">
              <a:spAutoFit/>
            </a:bodyPr>
            <a:lstStyle/>
            <a:p>
              <a:pPr algn="just"/>
              <a:r>
                <a:rPr lang="fr-FR" sz="2000" dirty="0"/>
                <a:t>Fausse information </a:t>
              </a:r>
              <a:r>
                <a:rPr lang="fr-FR" sz="2000" i="1" dirty="0"/>
                <a:t>délibérément</a:t>
              </a:r>
              <a:r>
                <a:rPr lang="fr-FR" sz="2000" dirty="0"/>
                <a:t> créée et partagée pour tromper, nuire ou manipuler.</a:t>
              </a:r>
              <a:endParaRPr lang="en-US" sz="2000" dirty="0"/>
            </a:p>
          </p:txBody>
        </p:sp>
      </p:grpSp>
      <p:grpSp>
        <p:nvGrpSpPr>
          <p:cNvPr id="6" name="Groupe 5">
            <a:extLst>
              <a:ext uri="{FF2B5EF4-FFF2-40B4-BE49-F238E27FC236}">
                <a16:creationId xmlns:a16="http://schemas.microsoft.com/office/drawing/2014/main" id="{1A02FF64-9FE7-33F5-ADA4-D458DDC61B21}"/>
              </a:ext>
            </a:extLst>
          </p:cNvPr>
          <p:cNvGrpSpPr/>
          <p:nvPr/>
        </p:nvGrpSpPr>
        <p:grpSpPr>
          <a:xfrm>
            <a:off x="8538755" y="1661198"/>
            <a:ext cx="3642850" cy="3015426"/>
            <a:chOff x="8538755" y="1661198"/>
            <a:chExt cx="3642850" cy="3015426"/>
          </a:xfrm>
        </p:grpSpPr>
        <p:pic>
          <p:nvPicPr>
            <p:cNvPr id="12" name="Image 11">
              <a:extLst>
                <a:ext uri="{FF2B5EF4-FFF2-40B4-BE49-F238E27FC236}">
                  <a16:creationId xmlns:a16="http://schemas.microsoft.com/office/drawing/2014/main" id="{0CFF512D-59DA-03B1-1E80-00F199A0DBD9}"/>
                </a:ext>
              </a:extLst>
            </p:cNvPr>
            <p:cNvPicPr>
              <a:picLocks noChangeAspect="1"/>
            </p:cNvPicPr>
            <p:nvPr/>
          </p:nvPicPr>
          <p:blipFill>
            <a:blip r:embed="rId4" cstate="print">
              <a:extLst>
                <a:ext uri="{28A0092B-C50C-407E-A947-70E740481C1C}">
                  <a14:useLocalDpi xmlns:a14="http://schemas.microsoft.com/office/drawing/2010/main" val="0"/>
                </a:ext>
              </a:extLst>
            </a:blip>
            <a:srcRect l="24767" t="19498" r="26487" b="19570"/>
            <a:stretch>
              <a:fillRect/>
            </a:stretch>
          </p:blipFill>
          <p:spPr>
            <a:xfrm>
              <a:off x="10037105" y="1661198"/>
              <a:ext cx="864000" cy="1080000"/>
            </a:xfrm>
            <a:prstGeom prst="rect">
              <a:avLst/>
            </a:prstGeom>
          </p:spPr>
        </p:pic>
        <p:sp>
          <p:nvSpPr>
            <p:cNvPr id="19" name="ZoneTexte 18">
              <a:extLst>
                <a:ext uri="{FF2B5EF4-FFF2-40B4-BE49-F238E27FC236}">
                  <a16:creationId xmlns:a16="http://schemas.microsoft.com/office/drawing/2014/main" id="{51BFBDA5-30A9-F627-54E6-7D1F241E1B76}"/>
                </a:ext>
              </a:extLst>
            </p:cNvPr>
            <p:cNvSpPr txBox="1"/>
            <p:nvPr/>
          </p:nvSpPr>
          <p:spPr>
            <a:xfrm>
              <a:off x="9343311" y="2741196"/>
              <a:ext cx="2251587" cy="461665"/>
            </a:xfrm>
            <a:prstGeom prst="rect">
              <a:avLst/>
            </a:prstGeom>
            <a:noFill/>
          </p:spPr>
          <p:txBody>
            <a:bodyPr wrap="square">
              <a:spAutoFit/>
            </a:bodyPr>
            <a:lstStyle/>
            <a:p>
              <a:pPr algn="ctr"/>
              <a:r>
                <a:rPr lang="en-US" sz="2400" b="1" dirty="0"/>
                <a:t>Malinformation</a:t>
              </a:r>
            </a:p>
          </p:txBody>
        </p:sp>
        <p:sp>
          <p:nvSpPr>
            <p:cNvPr id="24" name="ZoneTexte 23">
              <a:extLst>
                <a:ext uri="{FF2B5EF4-FFF2-40B4-BE49-F238E27FC236}">
                  <a16:creationId xmlns:a16="http://schemas.microsoft.com/office/drawing/2014/main" id="{8E21D3FF-EF13-C9D5-F911-C620DA51D941}"/>
                </a:ext>
              </a:extLst>
            </p:cNvPr>
            <p:cNvSpPr txBox="1"/>
            <p:nvPr/>
          </p:nvSpPr>
          <p:spPr>
            <a:xfrm>
              <a:off x="8538755" y="3353185"/>
              <a:ext cx="3642850" cy="1323439"/>
            </a:xfrm>
            <a:prstGeom prst="rect">
              <a:avLst/>
            </a:prstGeom>
            <a:noFill/>
          </p:spPr>
          <p:txBody>
            <a:bodyPr wrap="square">
              <a:spAutoFit/>
            </a:bodyPr>
            <a:lstStyle/>
            <a:p>
              <a:pPr algn="just"/>
              <a:r>
                <a:rPr lang="fr-FR" sz="2000" dirty="0"/>
                <a:t>Information </a:t>
              </a:r>
              <a:r>
                <a:rPr lang="fr-FR" sz="2000" i="1" dirty="0"/>
                <a:t>authentique</a:t>
              </a:r>
              <a:r>
                <a:rPr lang="fr-FR" sz="2000" dirty="0"/>
                <a:t> qui est utilisée comme une arme pour nuire, souvent en la sortant de son contexte.</a:t>
              </a:r>
              <a:endParaRPr lang="en-US" sz="2000" dirty="0"/>
            </a:p>
          </p:txBody>
        </p:sp>
      </p:grpSp>
      <p:sp>
        <p:nvSpPr>
          <p:cNvPr id="26" name="ZoneTexte 25">
            <a:extLst>
              <a:ext uri="{FF2B5EF4-FFF2-40B4-BE49-F238E27FC236}">
                <a16:creationId xmlns:a16="http://schemas.microsoft.com/office/drawing/2014/main" id="{F7DAC788-E878-E1A0-C06A-145720CECD24}"/>
              </a:ext>
            </a:extLst>
          </p:cNvPr>
          <p:cNvSpPr txBox="1"/>
          <p:nvPr/>
        </p:nvSpPr>
        <p:spPr>
          <a:xfrm>
            <a:off x="4572524" y="5760101"/>
            <a:ext cx="4065288" cy="400110"/>
          </a:xfrm>
          <a:prstGeom prst="rect">
            <a:avLst/>
          </a:prstGeom>
          <a:noFill/>
        </p:spPr>
        <p:txBody>
          <a:bodyPr wrap="square">
            <a:spAutoFit/>
          </a:bodyPr>
          <a:lstStyle/>
          <a:p>
            <a:pPr algn="ctr"/>
            <a:r>
              <a:rPr lang="fr-FR" sz="2000" b="1" i="1" dirty="0"/>
              <a:t>Le différenciateur clé est l'intention.</a:t>
            </a:r>
            <a:endParaRPr lang="en-US" sz="2000" b="1" i="1" dirty="0"/>
          </a:p>
        </p:txBody>
      </p:sp>
    </p:spTree>
    <p:extLst>
      <p:ext uri="{BB962C8B-B14F-4D97-AF65-F5344CB8AC3E}">
        <p14:creationId xmlns:p14="http://schemas.microsoft.com/office/powerpoint/2010/main" val="8425150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4C195-4305-3147-40D8-692ADC8D28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B8FDEF7-1B16-C2CB-6B11-017F7859A800}"/>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6ECD0CC4-CF26-B0B4-F7EF-0EF55B61DD1F}"/>
              </a:ext>
            </a:extLst>
          </p:cNvPr>
          <p:cNvSpPr/>
          <p:nvPr/>
        </p:nvSpPr>
        <p:spPr>
          <a:xfrm>
            <a:off x="718456" y="185783"/>
            <a:ext cx="7383325"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t>Déconstruction</a:t>
            </a:r>
            <a:r>
              <a:rPr lang="en-US" sz="3600" dirty="0"/>
              <a:t> du </a:t>
            </a:r>
            <a:r>
              <a:rPr lang="en-US" sz="3600" dirty="0" err="1"/>
              <a:t>Contenu</a:t>
            </a:r>
            <a:r>
              <a:rPr lang="en-US" sz="3600" dirty="0"/>
              <a:t> </a:t>
            </a:r>
            <a:r>
              <a:rPr lang="en-US" sz="3600" dirty="0" err="1"/>
              <a:t>Trompeur</a:t>
            </a:r>
            <a:endParaRPr lang="fr-FR" sz="3600" b="1" dirty="0">
              <a:latin typeface="+mj-lt"/>
            </a:endParaRPr>
          </a:p>
        </p:txBody>
      </p:sp>
      <p:sp>
        <p:nvSpPr>
          <p:cNvPr id="11" name="ZoneTexte 10">
            <a:extLst>
              <a:ext uri="{FF2B5EF4-FFF2-40B4-BE49-F238E27FC236}">
                <a16:creationId xmlns:a16="http://schemas.microsoft.com/office/drawing/2014/main" id="{1A36542C-C86C-A68E-4412-B33144C8EC84}"/>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1 - Le Problème Fondamental </a:t>
            </a:r>
          </a:p>
        </p:txBody>
      </p:sp>
      <p:grpSp>
        <p:nvGrpSpPr>
          <p:cNvPr id="36" name="Groupe 35">
            <a:extLst>
              <a:ext uri="{FF2B5EF4-FFF2-40B4-BE49-F238E27FC236}">
                <a16:creationId xmlns:a16="http://schemas.microsoft.com/office/drawing/2014/main" id="{FF3972DB-E244-4AF3-FAA2-0FDAB822D8AB}"/>
              </a:ext>
            </a:extLst>
          </p:cNvPr>
          <p:cNvGrpSpPr/>
          <p:nvPr/>
        </p:nvGrpSpPr>
        <p:grpSpPr>
          <a:xfrm>
            <a:off x="5607552" y="3086197"/>
            <a:ext cx="1958409" cy="1226983"/>
            <a:chOff x="5688722" y="3098648"/>
            <a:chExt cx="1958409" cy="1226983"/>
          </a:xfrm>
        </p:grpSpPr>
        <p:sp>
          <p:nvSpPr>
            <p:cNvPr id="33" name="Ellipse 32">
              <a:extLst>
                <a:ext uri="{FF2B5EF4-FFF2-40B4-BE49-F238E27FC236}">
                  <a16:creationId xmlns:a16="http://schemas.microsoft.com/office/drawing/2014/main" id="{6D3DD70B-3725-C270-4C21-2F62BC8A6CDD}"/>
                </a:ext>
              </a:extLst>
            </p:cNvPr>
            <p:cNvSpPr/>
            <p:nvPr/>
          </p:nvSpPr>
          <p:spPr>
            <a:xfrm>
              <a:off x="5688722" y="3098648"/>
              <a:ext cx="1958409" cy="122698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a:extLst>
                <a:ext uri="{FF2B5EF4-FFF2-40B4-BE49-F238E27FC236}">
                  <a16:creationId xmlns:a16="http://schemas.microsoft.com/office/drawing/2014/main" id="{A3E552EB-CD90-A713-2091-B6617CE9AF1A}"/>
                </a:ext>
              </a:extLst>
            </p:cNvPr>
            <p:cNvSpPr txBox="1"/>
            <p:nvPr/>
          </p:nvSpPr>
          <p:spPr>
            <a:xfrm>
              <a:off x="5842017" y="3239488"/>
              <a:ext cx="1651820" cy="954107"/>
            </a:xfrm>
            <a:prstGeom prst="rect">
              <a:avLst/>
            </a:prstGeom>
            <a:noFill/>
          </p:spPr>
          <p:txBody>
            <a:bodyPr wrap="square" rtlCol="0">
              <a:spAutoFit/>
            </a:bodyPr>
            <a:lstStyle/>
            <a:p>
              <a:pPr algn="ctr"/>
              <a:r>
                <a:rPr lang="fr-FR" sz="2800" b="1" dirty="0">
                  <a:solidFill>
                    <a:schemeClr val="bg1"/>
                  </a:solidFill>
                </a:rPr>
                <a:t>Contenu trompeur</a:t>
              </a:r>
              <a:endParaRPr lang="en-US" sz="2800" b="1" dirty="0">
                <a:solidFill>
                  <a:schemeClr val="bg1"/>
                </a:solidFill>
              </a:endParaRPr>
            </a:p>
          </p:txBody>
        </p:sp>
      </p:grpSp>
      <p:pic>
        <p:nvPicPr>
          <p:cNvPr id="13" name="Image 12">
            <a:extLst>
              <a:ext uri="{FF2B5EF4-FFF2-40B4-BE49-F238E27FC236}">
                <a16:creationId xmlns:a16="http://schemas.microsoft.com/office/drawing/2014/main" id="{0B8D8530-68E8-4059-868C-A0AE0D2D5D0E}"/>
              </a:ext>
            </a:extLst>
          </p:cNvPr>
          <p:cNvPicPr>
            <a:picLocks noChangeAspect="1"/>
          </p:cNvPicPr>
          <p:nvPr/>
        </p:nvPicPr>
        <p:blipFill>
          <a:blip r:embed="rId2" cstate="print">
            <a:extLst>
              <a:ext uri="{28A0092B-C50C-407E-A947-70E740481C1C}">
                <a14:useLocalDpi xmlns:a14="http://schemas.microsoft.com/office/drawing/2010/main" val="0"/>
              </a:ext>
            </a:extLst>
          </a:blip>
          <a:srcRect l="21899" t="21792" r="22330" b="22867"/>
          <a:stretch>
            <a:fillRect/>
          </a:stretch>
        </p:blipFill>
        <p:spPr>
          <a:xfrm>
            <a:off x="6075668" y="943429"/>
            <a:ext cx="1088394" cy="1080000"/>
          </a:xfrm>
          <a:prstGeom prst="rect">
            <a:avLst/>
          </a:prstGeom>
        </p:spPr>
      </p:pic>
      <p:pic>
        <p:nvPicPr>
          <p:cNvPr id="16" name="Image 15">
            <a:extLst>
              <a:ext uri="{FF2B5EF4-FFF2-40B4-BE49-F238E27FC236}">
                <a16:creationId xmlns:a16="http://schemas.microsoft.com/office/drawing/2014/main" id="{AF289AFA-287C-F26F-0E11-7C5D4F3D0AB2}"/>
              </a:ext>
            </a:extLst>
          </p:cNvPr>
          <p:cNvPicPr>
            <a:picLocks noChangeAspect="1"/>
          </p:cNvPicPr>
          <p:nvPr/>
        </p:nvPicPr>
        <p:blipFill>
          <a:blip r:embed="rId3" cstate="print">
            <a:extLst>
              <a:ext uri="{28A0092B-C50C-407E-A947-70E740481C1C}">
                <a14:useLocalDpi xmlns:a14="http://schemas.microsoft.com/office/drawing/2010/main" val="0"/>
              </a:ext>
            </a:extLst>
          </a:blip>
          <a:srcRect l="22187" t="17778" r="19606" b="17778"/>
          <a:stretch>
            <a:fillRect/>
          </a:stretch>
        </p:blipFill>
        <p:spPr>
          <a:xfrm>
            <a:off x="2360573" y="2558648"/>
            <a:ext cx="975484" cy="1080000"/>
          </a:xfrm>
          <a:prstGeom prst="rect">
            <a:avLst/>
          </a:prstGeom>
        </p:spPr>
      </p:pic>
      <p:pic>
        <p:nvPicPr>
          <p:cNvPr id="20" name="Image 19">
            <a:extLst>
              <a:ext uri="{FF2B5EF4-FFF2-40B4-BE49-F238E27FC236}">
                <a16:creationId xmlns:a16="http://schemas.microsoft.com/office/drawing/2014/main" id="{FD8CB3FA-FD4E-3E84-8DA6-45280D31B8E6}"/>
              </a:ext>
            </a:extLst>
          </p:cNvPr>
          <p:cNvPicPr>
            <a:picLocks noChangeAspect="1"/>
          </p:cNvPicPr>
          <p:nvPr/>
        </p:nvPicPr>
        <p:blipFill>
          <a:blip r:embed="rId4" cstate="print">
            <a:extLst>
              <a:ext uri="{28A0092B-C50C-407E-A947-70E740481C1C}">
                <a14:useLocalDpi xmlns:a14="http://schemas.microsoft.com/office/drawing/2010/main" val="0"/>
              </a:ext>
            </a:extLst>
          </a:blip>
          <a:srcRect l="27061" t="13756" r="27921" b="13548"/>
          <a:stretch>
            <a:fillRect/>
          </a:stretch>
        </p:blipFill>
        <p:spPr>
          <a:xfrm>
            <a:off x="10228149" y="2063435"/>
            <a:ext cx="975484" cy="1575213"/>
          </a:xfrm>
          <a:prstGeom prst="rect">
            <a:avLst/>
          </a:prstGeom>
        </p:spPr>
      </p:pic>
      <p:pic>
        <p:nvPicPr>
          <p:cNvPr id="25" name="Image 24">
            <a:extLst>
              <a:ext uri="{FF2B5EF4-FFF2-40B4-BE49-F238E27FC236}">
                <a16:creationId xmlns:a16="http://schemas.microsoft.com/office/drawing/2014/main" id="{5B7086A6-4183-FE08-EB5E-712F9C4E1F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84062" y="5059142"/>
            <a:ext cx="1080000" cy="1080000"/>
          </a:xfrm>
          <a:prstGeom prst="rect">
            <a:avLst/>
          </a:prstGeom>
        </p:spPr>
      </p:pic>
      <p:sp>
        <p:nvSpPr>
          <p:cNvPr id="28" name="ZoneTexte 27">
            <a:extLst>
              <a:ext uri="{FF2B5EF4-FFF2-40B4-BE49-F238E27FC236}">
                <a16:creationId xmlns:a16="http://schemas.microsoft.com/office/drawing/2014/main" id="{C8E24FB4-76ED-9E30-9736-0FB101697C4D}"/>
              </a:ext>
            </a:extLst>
          </p:cNvPr>
          <p:cNvSpPr txBox="1"/>
          <p:nvPr/>
        </p:nvSpPr>
        <p:spPr>
          <a:xfrm>
            <a:off x="4173328" y="1955382"/>
            <a:ext cx="4904687" cy="461665"/>
          </a:xfrm>
          <a:prstGeom prst="rect">
            <a:avLst/>
          </a:prstGeom>
          <a:noFill/>
        </p:spPr>
        <p:txBody>
          <a:bodyPr wrap="square">
            <a:spAutoFit/>
          </a:bodyPr>
          <a:lstStyle/>
          <a:p>
            <a:pPr algn="ctr"/>
            <a:r>
              <a:rPr lang="fr-CM" sz="2200" b="1" noProof="0" dirty="0"/>
              <a:t>Contenu</a:t>
            </a:r>
            <a:r>
              <a:rPr lang="en-US" sz="2200" b="1" dirty="0"/>
              <a:t> </a:t>
            </a:r>
            <a:r>
              <a:rPr lang="en-US" sz="2200" b="1" dirty="0" err="1"/>
              <a:t>Fabriqué</a:t>
            </a:r>
            <a:r>
              <a:rPr lang="en-US" sz="2200" b="1" dirty="0"/>
              <a:t>: </a:t>
            </a:r>
            <a:r>
              <a:rPr lang="en-US" sz="2400" dirty="0" err="1"/>
              <a:t>Contenu</a:t>
            </a:r>
            <a:r>
              <a:rPr lang="en-US" sz="2400" dirty="0"/>
              <a:t> 100 % faux</a:t>
            </a:r>
            <a:endParaRPr lang="en-US" sz="2200" dirty="0"/>
          </a:p>
        </p:txBody>
      </p:sp>
      <p:sp>
        <p:nvSpPr>
          <p:cNvPr id="30" name="ZoneTexte 29">
            <a:extLst>
              <a:ext uri="{FF2B5EF4-FFF2-40B4-BE49-F238E27FC236}">
                <a16:creationId xmlns:a16="http://schemas.microsoft.com/office/drawing/2014/main" id="{F7EFB9B3-2033-56B8-AC21-360902C4E1D0}"/>
              </a:ext>
            </a:extLst>
          </p:cNvPr>
          <p:cNvSpPr txBox="1"/>
          <p:nvPr/>
        </p:nvSpPr>
        <p:spPr>
          <a:xfrm>
            <a:off x="916509" y="3576185"/>
            <a:ext cx="3863612" cy="1107996"/>
          </a:xfrm>
          <a:prstGeom prst="rect">
            <a:avLst/>
          </a:prstGeom>
          <a:noFill/>
        </p:spPr>
        <p:txBody>
          <a:bodyPr wrap="square">
            <a:spAutoFit/>
          </a:bodyPr>
          <a:lstStyle/>
          <a:p>
            <a:pPr algn="ctr"/>
            <a:r>
              <a:rPr lang="fr-FR" sz="2200" b="1" dirty="0"/>
              <a:t>Contenu Manipulé :</a:t>
            </a:r>
            <a:r>
              <a:rPr lang="fr-FR" sz="2200" dirty="0"/>
              <a:t> Information ou imagerie authentique qui est déformée </a:t>
            </a:r>
            <a:endParaRPr lang="en-US" sz="2200" dirty="0"/>
          </a:p>
        </p:txBody>
      </p:sp>
      <p:sp>
        <p:nvSpPr>
          <p:cNvPr id="31" name="ZoneTexte 30">
            <a:extLst>
              <a:ext uri="{FF2B5EF4-FFF2-40B4-BE49-F238E27FC236}">
                <a16:creationId xmlns:a16="http://schemas.microsoft.com/office/drawing/2014/main" id="{D47E4D10-04A9-97AA-6BE5-1F83FD502C85}"/>
              </a:ext>
            </a:extLst>
          </p:cNvPr>
          <p:cNvSpPr txBox="1"/>
          <p:nvPr/>
        </p:nvSpPr>
        <p:spPr>
          <a:xfrm>
            <a:off x="3690692" y="6102179"/>
            <a:ext cx="5954470" cy="769441"/>
          </a:xfrm>
          <a:prstGeom prst="rect">
            <a:avLst/>
          </a:prstGeom>
          <a:noFill/>
        </p:spPr>
        <p:txBody>
          <a:bodyPr wrap="square">
            <a:spAutoFit/>
          </a:bodyPr>
          <a:lstStyle/>
          <a:p>
            <a:pPr algn="ctr"/>
            <a:r>
              <a:rPr lang="fr-FR" sz="2200" b="1" dirty="0"/>
              <a:t>Faux Contexte :</a:t>
            </a:r>
            <a:r>
              <a:rPr lang="fr-FR" sz="2200" dirty="0"/>
              <a:t> Contenu authentique partagé avec de fausses informations contextuelles.</a:t>
            </a:r>
            <a:endParaRPr lang="en-US" sz="2200" dirty="0"/>
          </a:p>
        </p:txBody>
      </p:sp>
      <p:sp>
        <p:nvSpPr>
          <p:cNvPr id="32" name="ZoneTexte 31">
            <a:extLst>
              <a:ext uri="{FF2B5EF4-FFF2-40B4-BE49-F238E27FC236}">
                <a16:creationId xmlns:a16="http://schemas.microsoft.com/office/drawing/2014/main" id="{CE5599C0-BE32-AED2-171A-1383AAD552AB}"/>
              </a:ext>
            </a:extLst>
          </p:cNvPr>
          <p:cNvSpPr txBox="1"/>
          <p:nvPr/>
        </p:nvSpPr>
        <p:spPr>
          <a:xfrm>
            <a:off x="9239782" y="3610647"/>
            <a:ext cx="2952218" cy="1446550"/>
          </a:xfrm>
          <a:prstGeom prst="rect">
            <a:avLst/>
          </a:prstGeom>
          <a:noFill/>
        </p:spPr>
        <p:txBody>
          <a:bodyPr wrap="square">
            <a:spAutoFit/>
          </a:bodyPr>
          <a:lstStyle/>
          <a:p>
            <a:pPr algn="ctr"/>
            <a:r>
              <a:rPr lang="fr-FR" sz="2200" b="1" dirty="0"/>
              <a:t>Contenu d'Imposture :</a:t>
            </a:r>
            <a:r>
              <a:rPr lang="fr-FR" sz="2200" dirty="0"/>
              <a:t> Contenu qui se fait passer pour des sources authentiques et fiables.</a:t>
            </a:r>
            <a:endParaRPr lang="en-US" sz="2200" dirty="0"/>
          </a:p>
        </p:txBody>
      </p:sp>
      <p:sp>
        <p:nvSpPr>
          <p:cNvPr id="34" name="Flèche : gauche 33">
            <a:extLst>
              <a:ext uri="{FF2B5EF4-FFF2-40B4-BE49-F238E27FC236}">
                <a16:creationId xmlns:a16="http://schemas.microsoft.com/office/drawing/2014/main" id="{CA71D713-FC64-01B6-DB4D-2B9DDEE0D83D}"/>
              </a:ext>
            </a:extLst>
          </p:cNvPr>
          <p:cNvSpPr/>
          <p:nvPr/>
        </p:nvSpPr>
        <p:spPr>
          <a:xfrm>
            <a:off x="4434733" y="3457372"/>
            <a:ext cx="978408" cy="484632"/>
          </a:xfrm>
          <a:prstGeom prst="leftArrow">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èche : gauche 34">
            <a:extLst>
              <a:ext uri="{FF2B5EF4-FFF2-40B4-BE49-F238E27FC236}">
                <a16:creationId xmlns:a16="http://schemas.microsoft.com/office/drawing/2014/main" id="{B658BD07-9BFA-DA77-FA62-3016F9DF720F}"/>
              </a:ext>
            </a:extLst>
          </p:cNvPr>
          <p:cNvSpPr/>
          <p:nvPr/>
        </p:nvSpPr>
        <p:spPr>
          <a:xfrm rot="5400000">
            <a:off x="6285141" y="2436497"/>
            <a:ext cx="603229" cy="484632"/>
          </a:xfrm>
          <a:prstGeom prst="leftArrow">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èche : gauche 36">
            <a:extLst>
              <a:ext uri="{FF2B5EF4-FFF2-40B4-BE49-F238E27FC236}">
                <a16:creationId xmlns:a16="http://schemas.microsoft.com/office/drawing/2014/main" id="{F07546D1-28FD-26CE-7316-8DF5E94137A5}"/>
              </a:ext>
            </a:extLst>
          </p:cNvPr>
          <p:cNvSpPr/>
          <p:nvPr/>
        </p:nvSpPr>
        <p:spPr>
          <a:xfrm rot="10800000">
            <a:off x="7719256" y="3396332"/>
            <a:ext cx="1494027" cy="484632"/>
          </a:xfrm>
          <a:prstGeom prst="leftArrow">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èche : gauche 37">
            <a:extLst>
              <a:ext uri="{FF2B5EF4-FFF2-40B4-BE49-F238E27FC236}">
                <a16:creationId xmlns:a16="http://schemas.microsoft.com/office/drawing/2014/main" id="{E73C3389-494D-63EF-9D80-8926B4A81174}"/>
              </a:ext>
            </a:extLst>
          </p:cNvPr>
          <p:cNvSpPr/>
          <p:nvPr/>
        </p:nvSpPr>
        <p:spPr>
          <a:xfrm rot="16200000">
            <a:off x="6287924" y="4441864"/>
            <a:ext cx="597663" cy="484632"/>
          </a:xfrm>
          <a:prstGeom prst="leftArrow">
            <a:avLst/>
          </a:prstGeom>
          <a:solidFill>
            <a:srgbClr val="3333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2655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P spid="31" grpId="0"/>
      <p:bldP spid="32" grpId="0"/>
      <p:bldP spid="34" grpId="0" animBg="1"/>
      <p:bldP spid="35" grpId="0" animBg="1"/>
      <p:bldP spid="37" grpId="0" animBg="1"/>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D1C2E-885D-0346-5036-2C9C54799371}"/>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D378A67B-0DE8-4996-4D67-30EB00D65DEB}"/>
              </a:ext>
            </a:extLst>
          </p:cNvPr>
          <p:cNvSpPr txBox="1"/>
          <p:nvPr/>
        </p:nvSpPr>
        <p:spPr>
          <a:xfrm>
            <a:off x="3590538" y="2764191"/>
            <a:ext cx="8601462" cy="837473"/>
          </a:xfrm>
          <a:prstGeom prst="rect">
            <a:avLst/>
          </a:prstGeom>
          <a:noFill/>
        </p:spPr>
        <p:txBody>
          <a:bodyPr wrap="square" rtlCol="0">
            <a:spAutoFit/>
          </a:bodyPr>
          <a:lstStyle/>
          <a:p>
            <a:pPr algn="just">
              <a:lnSpc>
                <a:spcPct val="150000"/>
              </a:lnSpc>
            </a:pPr>
            <a:r>
              <a:rPr lang="fr-FR" sz="3600" b="1" dirty="0">
                <a:solidFill>
                  <a:srgbClr val="FFC000"/>
                </a:solidFill>
                <a:latin typeface="Calibri Light" panose="020F0302020204030204" pitchFamily="34" charset="0"/>
                <a:cs typeface="Calibri Light" panose="020F0302020204030204" pitchFamily="34" charset="0"/>
              </a:rPr>
              <a:t>La Psychologie de la Tromperie</a:t>
            </a:r>
          </a:p>
        </p:txBody>
      </p:sp>
      <p:sp>
        <p:nvSpPr>
          <p:cNvPr id="4" name="ZoneTexte 3">
            <a:extLst>
              <a:ext uri="{FF2B5EF4-FFF2-40B4-BE49-F238E27FC236}">
                <a16:creationId xmlns:a16="http://schemas.microsoft.com/office/drawing/2014/main" id="{2CAC530D-DF82-3632-CC30-7E34C88E7409}"/>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2</a:t>
            </a:r>
          </a:p>
        </p:txBody>
      </p:sp>
      <p:pic>
        <p:nvPicPr>
          <p:cNvPr id="3" name="Image 2">
            <a:extLst>
              <a:ext uri="{FF2B5EF4-FFF2-40B4-BE49-F238E27FC236}">
                <a16:creationId xmlns:a16="http://schemas.microsoft.com/office/drawing/2014/main" id="{2DEE47D2-4653-2EBC-F1E0-940DD75E2F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9435" y="2583726"/>
            <a:ext cx="1231190" cy="1231190"/>
          </a:xfrm>
          <a:prstGeom prst="rect">
            <a:avLst/>
          </a:prstGeom>
        </p:spPr>
      </p:pic>
    </p:spTree>
    <p:extLst>
      <p:ext uri="{BB962C8B-B14F-4D97-AF65-F5344CB8AC3E}">
        <p14:creationId xmlns:p14="http://schemas.microsoft.com/office/powerpoint/2010/main" val="362378122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E926D-8D41-1B9D-A870-58FE8CE4C1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144AB8-55B1-B7E0-CD0A-8AA52CDFB4DC}"/>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2F915E40-E37E-B248-7CBF-7E23FD8A5A64}"/>
              </a:ext>
            </a:extLst>
          </p:cNvPr>
          <p:cNvSpPr/>
          <p:nvPr/>
        </p:nvSpPr>
        <p:spPr>
          <a:xfrm>
            <a:off x="718457" y="185783"/>
            <a:ext cx="4807272"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t>Pourquoi</a:t>
            </a:r>
            <a:r>
              <a:rPr lang="en-US" sz="3600" dirty="0"/>
              <a:t> Nous </a:t>
            </a:r>
            <a:r>
              <a:rPr lang="en-US" sz="3600" dirty="0" err="1"/>
              <a:t>Croyons</a:t>
            </a:r>
            <a:r>
              <a:rPr lang="en-US" sz="3600" dirty="0"/>
              <a:t>?</a:t>
            </a:r>
            <a:endParaRPr lang="fr-FR" sz="3600" b="1" dirty="0">
              <a:latin typeface="+mj-lt"/>
            </a:endParaRPr>
          </a:p>
        </p:txBody>
      </p:sp>
      <p:sp>
        <p:nvSpPr>
          <p:cNvPr id="11" name="ZoneTexte 10">
            <a:extLst>
              <a:ext uri="{FF2B5EF4-FFF2-40B4-BE49-F238E27FC236}">
                <a16:creationId xmlns:a16="http://schemas.microsoft.com/office/drawing/2014/main" id="{35B24B35-C5CC-AD7B-0725-D2FEB747C3CE}"/>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2 - La Psychologie de la Tromperie</a:t>
            </a:r>
          </a:p>
        </p:txBody>
      </p:sp>
      <p:sp>
        <p:nvSpPr>
          <p:cNvPr id="7" name="ZoneTexte 6">
            <a:extLst>
              <a:ext uri="{FF2B5EF4-FFF2-40B4-BE49-F238E27FC236}">
                <a16:creationId xmlns:a16="http://schemas.microsoft.com/office/drawing/2014/main" id="{107EC6C3-0684-C791-5578-D655170B1F6A}"/>
              </a:ext>
            </a:extLst>
          </p:cNvPr>
          <p:cNvSpPr txBox="1"/>
          <p:nvPr/>
        </p:nvSpPr>
        <p:spPr>
          <a:xfrm>
            <a:off x="1280861" y="1705281"/>
            <a:ext cx="6594778" cy="3785652"/>
          </a:xfrm>
          <a:prstGeom prst="rect">
            <a:avLst/>
          </a:prstGeom>
          <a:noFill/>
        </p:spPr>
        <p:txBody>
          <a:bodyPr wrap="square">
            <a:spAutoFit/>
          </a:bodyPr>
          <a:lstStyle/>
          <a:p>
            <a:pPr marL="457200" indent="-457200" algn="just">
              <a:buFont typeface="Arial" panose="020B0604020202020204" pitchFamily="34" charset="0"/>
              <a:buChar char="•"/>
            </a:pPr>
            <a:r>
              <a:rPr lang="fr-FR" sz="2400" dirty="0"/>
              <a:t>Les campagnes de désinformation sont des </a:t>
            </a:r>
            <a:r>
              <a:rPr lang="fr-FR" sz="2400" b="1" dirty="0"/>
              <a:t>opérations psychologiques </a:t>
            </a:r>
            <a:r>
              <a:rPr lang="fr-FR" sz="2400" dirty="0"/>
              <a:t>qui exploitent les </a:t>
            </a:r>
            <a:r>
              <a:rPr lang="fr-FR" sz="2400" b="1" dirty="0"/>
              <a:t>vulnérabilités humaines</a:t>
            </a:r>
            <a:r>
              <a:rPr lang="fr-FR" sz="2400" dirty="0"/>
              <a:t>, contournant </a:t>
            </a:r>
            <a:r>
              <a:rPr lang="fr-FR" sz="2400" b="1" dirty="0"/>
              <a:t>la vérification rationnelle des faits</a:t>
            </a:r>
            <a:r>
              <a:rPr lang="fr-FR" sz="2400" dirty="0"/>
              <a:t> pour s'ancrer comme des croyances profondes.</a:t>
            </a:r>
          </a:p>
          <a:p>
            <a:pPr algn="just"/>
            <a:r>
              <a:rPr lang="fr-FR" sz="2400" dirty="0"/>
              <a:t>   </a:t>
            </a:r>
          </a:p>
          <a:p>
            <a:pPr marL="457200" indent="-457200" algn="just">
              <a:buFont typeface="Arial" panose="020B0604020202020204" pitchFamily="34" charset="0"/>
              <a:buChar char="•"/>
            </a:pPr>
            <a:r>
              <a:rPr lang="fr-FR" sz="2400" dirty="0"/>
              <a:t>Leur succès repose sur leur capacité à puiser dans le </a:t>
            </a:r>
            <a:r>
              <a:rPr lang="fr-FR" sz="2400" b="1" dirty="0"/>
              <a:t>côté de la demande </a:t>
            </a:r>
            <a:r>
              <a:rPr lang="fr-FR" sz="2400" dirty="0"/>
              <a:t>: les besoins psychologiques qui poussent les gens à croire et à partager de faux récits.</a:t>
            </a:r>
          </a:p>
        </p:txBody>
      </p:sp>
      <p:pic>
        <p:nvPicPr>
          <p:cNvPr id="3" name="Image 2">
            <a:extLst>
              <a:ext uri="{FF2B5EF4-FFF2-40B4-BE49-F238E27FC236}">
                <a16:creationId xmlns:a16="http://schemas.microsoft.com/office/drawing/2014/main" id="{37B51BCA-0476-3D09-F479-94758A86B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5574" y="1803603"/>
            <a:ext cx="3250793" cy="3250793"/>
          </a:xfrm>
          <a:prstGeom prst="rect">
            <a:avLst/>
          </a:prstGeom>
        </p:spPr>
      </p:pic>
    </p:spTree>
    <p:extLst>
      <p:ext uri="{BB962C8B-B14F-4D97-AF65-F5344CB8AC3E}">
        <p14:creationId xmlns:p14="http://schemas.microsoft.com/office/powerpoint/2010/main" val="22563985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F8DA-3B1D-E7CC-22B7-35F7253CAB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B6D86A-DC03-8899-F1A1-22B71F0EDC83}"/>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FD23532B-5152-3ED6-508F-8F72D1FA10E2}"/>
              </a:ext>
            </a:extLst>
          </p:cNvPr>
          <p:cNvSpPr/>
          <p:nvPr/>
        </p:nvSpPr>
        <p:spPr>
          <a:xfrm>
            <a:off x="718456" y="185783"/>
            <a:ext cx="6380433"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Exploiter les Biais et les Émotions</a:t>
            </a:r>
            <a:endParaRPr lang="fr-FR" sz="3600" b="1" dirty="0">
              <a:latin typeface="+mj-lt"/>
            </a:endParaRPr>
          </a:p>
        </p:txBody>
      </p:sp>
      <p:sp>
        <p:nvSpPr>
          <p:cNvPr id="11" name="ZoneTexte 10">
            <a:extLst>
              <a:ext uri="{FF2B5EF4-FFF2-40B4-BE49-F238E27FC236}">
                <a16:creationId xmlns:a16="http://schemas.microsoft.com/office/drawing/2014/main" id="{01611D69-275D-B5FB-EF7B-649DDC0ABB6C}"/>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2 - La Psychologie de la Tromperie</a:t>
            </a:r>
          </a:p>
        </p:txBody>
      </p:sp>
      <p:pic>
        <p:nvPicPr>
          <p:cNvPr id="8" name="Image 7">
            <a:extLst>
              <a:ext uri="{FF2B5EF4-FFF2-40B4-BE49-F238E27FC236}">
                <a16:creationId xmlns:a16="http://schemas.microsoft.com/office/drawing/2014/main" id="{584E82C4-6B52-2FCC-6E8F-0DA49FE082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8000" y="1762249"/>
            <a:ext cx="1440000" cy="1440000"/>
          </a:xfrm>
          <a:prstGeom prst="rect">
            <a:avLst/>
          </a:prstGeom>
        </p:spPr>
      </p:pic>
      <p:pic>
        <p:nvPicPr>
          <p:cNvPr id="10" name="Image 9">
            <a:extLst>
              <a:ext uri="{FF2B5EF4-FFF2-40B4-BE49-F238E27FC236}">
                <a16:creationId xmlns:a16="http://schemas.microsoft.com/office/drawing/2014/main" id="{8FB7F19A-071B-FE57-BAA1-701629B89A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8298" y="4161552"/>
            <a:ext cx="1440000" cy="1440000"/>
          </a:xfrm>
          <a:prstGeom prst="rect">
            <a:avLst/>
          </a:prstGeom>
        </p:spPr>
      </p:pic>
      <p:sp>
        <p:nvSpPr>
          <p:cNvPr id="17" name="ZoneTexte 16">
            <a:extLst>
              <a:ext uri="{FF2B5EF4-FFF2-40B4-BE49-F238E27FC236}">
                <a16:creationId xmlns:a16="http://schemas.microsoft.com/office/drawing/2014/main" id="{1C4244E6-282D-BA32-70AF-1AD46650A80D}"/>
              </a:ext>
            </a:extLst>
          </p:cNvPr>
          <p:cNvSpPr txBox="1"/>
          <p:nvPr/>
        </p:nvSpPr>
        <p:spPr>
          <a:xfrm>
            <a:off x="3571782" y="1974417"/>
            <a:ext cx="7863133" cy="1015663"/>
          </a:xfrm>
          <a:prstGeom prst="rect">
            <a:avLst/>
          </a:prstGeom>
          <a:noFill/>
        </p:spPr>
        <p:txBody>
          <a:bodyPr wrap="square">
            <a:spAutoFit/>
          </a:bodyPr>
          <a:lstStyle/>
          <a:p>
            <a:pPr algn="just"/>
            <a:r>
              <a:rPr lang="fr-FR" sz="2000" b="1" dirty="0"/>
              <a:t>Résonance Émotionnelle :</a:t>
            </a:r>
            <a:r>
              <a:rPr lang="fr-FR" sz="2000" dirty="0"/>
              <a:t> Le contenu sensationnel, clivant et chargé d'émotions (peur, colère, indignation) est conçu pour maximiser l'engagement et est favorisé par les algorithmes des médias sociaux.</a:t>
            </a:r>
            <a:endParaRPr lang="en-US" sz="2000" dirty="0"/>
          </a:p>
        </p:txBody>
      </p:sp>
      <p:sp>
        <p:nvSpPr>
          <p:cNvPr id="19" name="ZoneTexte 18">
            <a:extLst>
              <a:ext uri="{FF2B5EF4-FFF2-40B4-BE49-F238E27FC236}">
                <a16:creationId xmlns:a16="http://schemas.microsoft.com/office/drawing/2014/main" id="{0CE7B8A0-A379-96F1-96B7-6D0877AFB5D9}"/>
              </a:ext>
            </a:extLst>
          </p:cNvPr>
          <p:cNvSpPr txBox="1"/>
          <p:nvPr/>
        </p:nvSpPr>
        <p:spPr>
          <a:xfrm>
            <a:off x="3571783" y="4373720"/>
            <a:ext cx="7863132" cy="1015663"/>
          </a:xfrm>
          <a:prstGeom prst="rect">
            <a:avLst/>
          </a:prstGeom>
          <a:noFill/>
        </p:spPr>
        <p:txBody>
          <a:bodyPr wrap="square">
            <a:spAutoFit/>
          </a:bodyPr>
          <a:lstStyle/>
          <a:p>
            <a:pPr algn="just"/>
            <a:r>
              <a:rPr lang="fr-FR" sz="2000" b="1" dirty="0"/>
              <a:t>Biais Cognitifs :</a:t>
            </a:r>
            <a:r>
              <a:rPr lang="fr-FR" sz="2000" dirty="0"/>
              <a:t> Les campagnes exploitent des raccourcis mentaux comme le </a:t>
            </a:r>
            <a:r>
              <a:rPr lang="fr-FR" sz="2000" b="1" dirty="0"/>
              <a:t>biais de confirmation</a:t>
            </a:r>
            <a:r>
              <a:rPr lang="fr-FR" sz="2000" dirty="0"/>
              <a:t>, où les gens favorisent les informations qui confirment leurs croyances existantes.</a:t>
            </a:r>
            <a:endParaRPr lang="en-US" sz="2000" dirty="0"/>
          </a:p>
        </p:txBody>
      </p:sp>
    </p:spTree>
    <p:extLst>
      <p:ext uri="{BB962C8B-B14F-4D97-AF65-F5344CB8AC3E}">
        <p14:creationId xmlns:p14="http://schemas.microsoft.com/office/powerpoint/2010/main" val="28239112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41203-9BBC-9DD8-3C66-E7008BA6DF2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A7ED19-F08C-6DF2-231D-3DEA5F4E1575}"/>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29F67AE2-0C02-E0D5-F8D4-B3742DA96016}"/>
              </a:ext>
            </a:extLst>
          </p:cNvPr>
          <p:cNvSpPr/>
          <p:nvPr/>
        </p:nvSpPr>
        <p:spPr>
          <a:xfrm>
            <a:off x="718456" y="185783"/>
            <a:ext cx="6380433"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Exploiter les Biais et les Émotions</a:t>
            </a:r>
            <a:endParaRPr lang="fr-FR" sz="3600" b="1" dirty="0">
              <a:latin typeface="+mj-lt"/>
            </a:endParaRPr>
          </a:p>
        </p:txBody>
      </p:sp>
      <p:sp>
        <p:nvSpPr>
          <p:cNvPr id="11" name="ZoneTexte 10">
            <a:extLst>
              <a:ext uri="{FF2B5EF4-FFF2-40B4-BE49-F238E27FC236}">
                <a16:creationId xmlns:a16="http://schemas.microsoft.com/office/drawing/2014/main" id="{E243C3BF-D50D-818D-3289-926D79CBAE0C}"/>
              </a:ext>
            </a:extLst>
          </p:cNvPr>
          <p:cNvSpPr txBox="1"/>
          <p:nvPr/>
        </p:nvSpPr>
        <p:spPr>
          <a:xfrm rot="16200000">
            <a:off x="-3137875" y="2631914"/>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2 - La Psychologie de la Tromperie</a:t>
            </a:r>
          </a:p>
        </p:txBody>
      </p:sp>
      <p:pic>
        <p:nvPicPr>
          <p:cNvPr id="13" name="Image 12">
            <a:extLst>
              <a:ext uri="{FF2B5EF4-FFF2-40B4-BE49-F238E27FC236}">
                <a16:creationId xmlns:a16="http://schemas.microsoft.com/office/drawing/2014/main" id="{345E5685-AB51-3459-DD45-028A55BF21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4664" y="1830512"/>
            <a:ext cx="1440000" cy="1440000"/>
          </a:xfrm>
          <a:prstGeom prst="rect">
            <a:avLst/>
          </a:prstGeom>
        </p:spPr>
      </p:pic>
      <p:pic>
        <p:nvPicPr>
          <p:cNvPr id="15" name="Image 14">
            <a:extLst>
              <a:ext uri="{FF2B5EF4-FFF2-40B4-BE49-F238E27FC236}">
                <a16:creationId xmlns:a16="http://schemas.microsoft.com/office/drawing/2014/main" id="{4DF17E50-23CD-32E0-CC83-656D7B31F1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4664" y="4408830"/>
            <a:ext cx="1440000" cy="1440000"/>
          </a:xfrm>
          <a:prstGeom prst="rect">
            <a:avLst/>
          </a:prstGeom>
        </p:spPr>
      </p:pic>
      <p:sp>
        <p:nvSpPr>
          <p:cNvPr id="3" name="ZoneTexte 2">
            <a:extLst>
              <a:ext uri="{FF2B5EF4-FFF2-40B4-BE49-F238E27FC236}">
                <a16:creationId xmlns:a16="http://schemas.microsoft.com/office/drawing/2014/main" id="{25FBFF2E-C7C1-1754-9945-F25CA37D066B}"/>
              </a:ext>
            </a:extLst>
          </p:cNvPr>
          <p:cNvSpPr txBox="1"/>
          <p:nvPr/>
        </p:nvSpPr>
        <p:spPr>
          <a:xfrm>
            <a:off x="3765111" y="2042680"/>
            <a:ext cx="7863133" cy="1015663"/>
          </a:xfrm>
          <a:prstGeom prst="rect">
            <a:avLst/>
          </a:prstGeom>
          <a:noFill/>
        </p:spPr>
        <p:txBody>
          <a:bodyPr wrap="square">
            <a:spAutoFit/>
          </a:bodyPr>
          <a:lstStyle/>
          <a:p>
            <a:pPr algn="just"/>
            <a:r>
              <a:rPr lang="fr-FR" sz="2000" b="1" dirty="0"/>
              <a:t>Attrait Narratif :</a:t>
            </a:r>
            <a:r>
              <a:rPr lang="fr-FR" sz="2000" dirty="0"/>
              <a:t> Des récits simples, convaincants et conspirationnistes peuvent être plus satisfaisants psychologiquement que la réalité complexe.</a:t>
            </a:r>
            <a:endParaRPr lang="en-US" sz="2000" dirty="0"/>
          </a:p>
        </p:txBody>
      </p:sp>
      <p:sp>
        <p:nvSpPr>
          <p:cNvPr id="6" name="ZoneTexte 5">
            <a:extLst>
              <a:ext uri="{FF2B5EF4-FFF2-40B4-BE49-F238E27FC236}">
                <a16:creationId xmlns:a16="http://schemas.microsoft.com/office/drawing/2014/main" id="{501E8FBD-9150-E168-D57B-913415736D72}"/>
              </a:ext>
            </a:extLst>
          </p:cNvPr>
          <p:cNvSpPr txBox="1"/>
          <p:nvPr/>
        </p:nvSpPr>
        <p:spPr>
          <a:xfrm>
            <a:off x="3765110" y="4620998"/>
            <a:ext cx="7863133" cy="1015663"/>
          </a:xfrm>
          <a:prstGeom prst="rect">
            <a:avLst/>
          </a:prstGeom>
          <a:noFill/>
        </p:spPr>
        <p:txBody>
          <a:bodyPr wrap="square">
            <a:spAutoFit/>
          </a:bodyPr>
          <a:lstStyle/>
          <a:p>
            <a:pPr algn="just"/>
            <a:r>
              <a:rPr lang="fr-FR" sz="2000" b="1" dirty="0"/>
              <a:t>Identification au Groupe :</a:t>
            </a:r>
            <a:r>
              <a:rPr lang="fr-FR" sz="2000" dirty="0"/>
              <a:t> Les gens sont plus susceptibles de faire confiance et de partager des informations provenant de leur groupe social, indépendamment de leur véracité. </a:t>
            </a:r>
            <a:endParaRPr lang="en-US" sz="2000" dirty="0"/>
          </a:p>
        </p:txBody>
      </p:sp>
    </p:spTree>
    <p:extLst>
      <p:ext uri="{BB962C8B-B14F-4D97-AF65-F5344CB8AC3E}">
        <p14:creationId xmlns:p14="http://schemas.microsoft.com/office/powerpoint/2010/main" val="2951568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25C67-B0D0-749C-FE70-9DA60C30C748}"/>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91310886-4AB2-1F13-F2BF-B14B05FFE116}"/>
              </a:ext>
            </a:extLst>
          </p:cNvPr>
          <p:cNvSpPr txBox="1"/>
          <p:nvPr/>
        </p:nvSpPr>
        <p:spPr>
          <a:xfrm>
            <a:off x="3590538" y="2752037"/>
            <a:ext cx="6399036" cy="671851"/>
          </a:xfrm>
          <a:prstGeom prst="rect">
            <a:avLst/>
          </a:prstGeom>
          <a:noFill/>
        </p:spPr>
        <p:txBody>
          <a:bodyPr wrap="square" rtlCol="0">
            <a:spAutoFit/>
          </a:bodyPr>
          <a:lstStyle/>
          <a:p>
            <a:pPr algn="just">
              <a:lnSpc>
                <a:spcPct val="150000"/>
              </a:lnSpc>
            </a:pPr>
            <a:r>
              <a:rPr lang="fr-FR" sz="2800" b="1" dirty="0">
                <a:solidFill>
                  <a:srgbClr val="FFC000"/>
                </a:solidFill>
                <a:latin typeface="Calibri Light" panose="020F0302020204030204" pitchFamily="34" charset="0"/>
                <a:cs typeface="Calibri Light" panose="020F0302020204030204" pitchFamily="34" charset="0"/>
              </a:rPr>
              <a:t>3 - Histoire Stratégique de la désinformation</a:t>
            </a:r>
          </a:p>
        </p:txBody>
      </p:sp>
      <p:sp>
        <p:nvSpPr>
          <p:cNvPr id="4" name="ZoneTexte 3">
            <a:extLst>
              <a:ext uri="{FF2B5EF4-FFF2-40B4-BE49-F238E27FC236}">
                <a16:creationId xmlns:a16="http://schemas.microsoft.com/office/drawing/2014/main" id="{3D693675-596A-905B-A6DF-24B9291983FB}"/>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3</a:t>
            </a:r>
          </a:p>
        </p:txBody>
      </p:sp>
      <p:pic>
        <p:nvPicPr>
          <p:cNvPr id="6" name="Image 5">
            <a:extLst>
              <a:ext uri="{FF2B5EF4-FFF2-40B4-BE49-F238E27FC236}">
                <a16:creationId xmlns:a16="http://schemas.microsoft.com/office/drawing/2014/main" id="{7FD72484-1402-8B41-F93C-1B652D43F5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4154" y="2583726"/>
            <a:ext cx="1522238" cy="1522238"/>
          </a:xfrm>
          <a:prstGeom prst="rect">
            <a:avLst/>
          </a:prstGeom>
        </p:spPr>
      </p:pic>
    </p:spTree>
    <p:extLst>
      <p:ext uri="{BB962C8B-B14F-4D97-AF65-F5344CB8AC3E}">
        <p14:creationId xmlns:p14="http://schemas.microsoft.com/office/powerpoint/2010/main" val="302605689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CA21-154E-95F2-624A-382F0990B3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28B5A37-915C-CD4F-739A-F294E7E0A8F9}"/>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FEDD64DE-4ECE-A78F-E162-735A780BBB0C}"/>
              </a:ext>
            </a:extLst>
          </p:cNvPr>
          <p:cNvSpPr/>
          <p:nvPr/>
        </p:nvSpPr>
        <p:spPr>
          <a:xfrm>
            <a:off x="718457" y="185783"/>
            <a:ext cx="9389104"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La Propagande dans la Rome Antique (44 av. J.-C.)</a:t>
            </a:r>
            <a:endParaRPr lang="fr-FR" sz="3600" b="1" dirty="0">
              <a:latin typeface="+mj-lt"/>
            </a:endParaRPr>
          </a:p>
        </p:txBody>
      </p:sp>
      <p:sp>
        <p:nvSpPr>
          <p:cNvPr id="11" name="ZoneTexte 10">
            <a:extLst>
              <a:ext uri="{FF2B5EF4-FFF2-40B4-BE49-F238E27FC236}">
                <a16:creationId xmlns:a16="http://schemas.microsoft.com/office/drawing/2014/main" id="{67A0C8BB-D57B-8689-9EF4-CBB79327F4C5}"/>
              </a:ext>
            </a:extLst>
          </p:cNvPr>
          <p:cNvSpPr txBox="1"/>
          <p:nvPr/>
        </p:nvSpPr>
        <p:spPr>
          <a:xfrm rot="16200000">
            <a:off x="-3054022" y="2814477"/>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3 - Histoire Stratégique de la désinformation</a:t>
            </a:r>
          </a:p>
        </p:txBody>
      </p:sp>
      <p:sp>
        <p:nvSpPr>
          <p:cNvPr id="6" name="ZoneTexte 5">
            <a:extLst>
              <a:ext uri="{FF2B5EF4-FFF2-40B4-BE49-F238E27FC236}">
                <a16:creationId xmlns:a16="http://schemas.microsoft.com/office/drawing/2014/main" id="{F6BCF553-AFB8-A168-CF3B-EA2850ECF176}"/>
              </a:ext>
            </a:extLst>
          </p:cNvPr>
          <p:cNvSpPr txBox="1"/>
          <p:nvPr/>
        </p:nvSpPr>
        <p:spPr>
          <a:xfrm>
            <a:off x="1084215" y="1360999"/>
            <a:ext cx="6634108" cy="4893647"/>
          </a:xfrm>
          <a:prstGeom prst="rect">
            <a:avLst/>
          </a:prstGeom>
          <a:noFill/>
        </p:spPr>
        <p:txBody>
          <a:bodyPr wrap="square">
            <a:spAutoFit/>
          </a:bodyPr>
          <a:lstStyle/>
          <a:p>
            <a:pPr algn="just"/>
            <a:r>
              <a:rPr lang="fr-FR" sz="2400" dirty="0"/>
              <a:t>Pendant la lutte de pouvoir après l'assassinat de César, Octave a mené une guerre de propagande sophistiquée contre Marc Antoine.   </a:t>
            </a:r>
          </a:p>
          <a:p>
            <a:pPr marL="342900" indent="-342900" algn="just">
              <a:buFont typeface="Arial" panose="020B0604020202020204" pitchFamily="34" charset="0"/>
              <a:buChar char="•"/>
            </a:pPr>
            <a:r>
              <a:rPr lang="fr-FR" sz="2400" b="1" dirty="0"/>
              <a:t>Méthode : </a:t>
            </a:r>
            <a:r>
              <a:rPr lang="fr-FR" sz="2400" dirty="0"/>
              <a:t>Utilisation de slogans courts et percutants sur des pièces de monnaie pour dépeindre Antoine comme un dégénéré, un ivrogne et un homme contrôlé par une reine étrangère (Cléopâtre).  </a:t>
            </a:r>
          </a:p>
          <a:p>
            <a:pPr marL="342900" indent="-342900" algn="just">
              <a:buFont typeface="Arial" panose="020B0604020202020204" pitchFamily="34" charset="0"/>
              <a:buChar char="•"/>
            </a:pPr>
            <a:r>
              <a:rPr lang="fr-FR" sz="2400" b="1" dirty="0"/>
              <a:t> Point Culminant : </a:t>
            </a:r>
            <a:r>
              <a:rPr lang="fr-FR" sz="2400" dirty="0"/>
              <a:t>Octave a lu le prétendu testament d'Antoine au Sénat, affirmant qu'il prêtait allégeance à Cléopâtre plutôt qu'à Rome. Cet acte de désinformation a rallié le soutien et a conduit à la défaite d'Antoine.</a:t>
            </a:r>
            <a:endParaRPr lang="en-US" sz="2400" dirty="0"/>
          </a:p>
        </p:txBody>
      </p:sp>
      <p:pic>
        <p:nvPicPr>
          <p:cNvPr id="3080" name="Picture 8" descr="Marc Antoine et Cléopâtre, une passion politique | National Geographic">
            <a:extLst>
              <a:ext uri="{FF2B5EF4-FFF2-40B4-BE49-F238E27FC236}">
                <a16:creationId xmlns:a16="http://schemas.microsoft.com/office/drawing/2014/main" id="{D07C23E5-B8C5-C955-2DCD-17692BF316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6477" y="2577379"/>
            <a:ext cx="4265613" cy="2460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2152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94C09-127C-2487-97E7-932FE76D1D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E6DF09-5349-DA23-58D8-8377432285D5}"/>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99231930-A255-6684-C5CE-083658E6FC77}"/>
              </a:ext>
            </a:extLst>
          </p:cNvPr>
          <p:cNvSpPr/>
          <p:nvPr/>
        </p:nvSpPr>
        <p:spPr>
          <a:xfrm>
            <a:off x="718457" y="185783"/>
            <a:ext cx="6508253"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Le Grand Canular Lunaire de 1835</a:t>
            </a:r>
            <a:endParaRPr lang="fr-FR" sz="3600" b="1" dirty="0">
              <a:latin typeface="+mj-lt"/>
            </a:endParaRPr>
          </a:p>
        </p:txBody>
      </p:sp>
      <p:sp>
        <p:nvSpPr>
          <p:cNvPr id="11" name="ZoneTexte 10">
            <a:extLst>
              <a:ext uri="{FF2B5EF4-FFF2-40B4-BE49-F238E27FC236}">
                <a16:creationId xmlns:a16="http://schemas.microsoft.com/office/drawing/2014/main" id="{5C8CDA1E-311C-D802-1736-44E55E1775FC}"/>
              </a:ext>
            </a:extLst>
          </p:cNvPr>
          <p:cNvSpPr txBox="1"/>
          <p:nvPr/>
        </p:nvSpPr>
        <p:spPr>
          <a:xfrm rot="16200000">
            <a:off x="-3054022" y="2814477"/>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3 - Histoire Stratégique de la désinformation</a:t>
            </a:r>
          </a:p>
        </p:txBody>
      </p:sp>
      <p:pic>
        <p:nvPicPr>
          <p:cNvPr id="1026" name="Picture 2" descr="Drôle de Lune : le canular de 1835 - Cité de l'espace">
            <a:extLst>
              <a:ext uri="{FF2B5EF4-FFF2-40B4-BE49-F238E27FC236}">
                <a16:creationId xmlns:a16="http://schemas.microsoft.com/office/drawing/2014/main" id="{F5A0A4D9-E6CD-F3D7-72F3-87BFABCEB7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964"/>
          <a:stretch>
            <a:fillRect/>
          </a:stretch>
        </p:blipFill>
        <p:spPr bwMode="auto">
          <a:xfrm>
            <a:off x="1277649" y="3603007"/>
            <a:ext cx="3695494" cy="304903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rôle de Lune : le canular de 1835 - Cité de l'espace">
            <a:extLst>
              <a:ext uri="{FF2B5EF4-FFF2-40B4-BE49-F238E27FC236}">
                <a16:creationId xmlns:a16="http://schemas.microsoft.com/office/drawing/2014/main" id="{54456B49-C83F-08E3-F854-C5915BE81C1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2219"/>
          <a:stretch>
            <a:fillRect/>
          </a:stretch>
        </p:blipFill>
        <p:spPr bwMode="auto">
          <a:xfrm>
            <a:off x="1432984" y="1036320"/>
            <a:ext cx="3540158" cy="2566687"/>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B675DC8-4AEA-5E43-16B6-38522010F5A0}"/>
              </a:ext>
            </a:extLst>
          </p:cNvPr>
          <p:cNvSpPr txBox="1"/>
          <p:nvPr/>
        </p:nvSpPr>
        <p:spPr>
          <a:xfrm>
            <a:off x="5166575" y="1599462"/>
            <a:ext cx="6848444" cy="4154984"/>
          </a:xfrm>
          <a:prstGeom prst="rect">
            <a:avLst/>
          </a:prstGeom>
          <a:noFill/>
        </p:spPr>
        <p:txBody>
          <a:bodyPr wrap="square">
            <a:spAutoFit/>
          </a:bodyPr>
          <a:lstStyle/>
          <a:p>
            <a:pPr algn="just"/>
            <a:r>
              <a:rPr lang="en-US" sz="2400" dirty="0"/>
              <a:t>Richard Adam Locke</a:t>
            </a:r>
            <a:r>
              <a:rPr lang="fr-FR" sz="2400" dirty="0"/>
              <a:t> du New York Sun a publié une série d'articles affirmant qu'un célèbre astronome, </a:t>
            </a:r>
            <a:r>
              <a:rPr lang="en-US" sz="2400" dirty="0"/>
              <a:t>Sir John Herschel,</a:t>
            </a:r>
            <a:r>
              <a:rPr lang="fr-FR" sz="2400" dirty="0"/>
              <a:t> avait découvert de la vie sur la Lune, y compris des humanoïdes ailés ressemblant à des chauves-souris, ‘</a:t>
            </a:r>
            <a:r>
              <a:rPr lang="en-US" sz="2400" dirty="0" err="1"/>
              <a:t>Vespertilio</a:t>
            </a:r>
            <a:r>
              <a:rPr lang="en-US" sz="2400" dirty="0"/>
              <a:t>-homo’</a:t>
            </a:r>
            <a:r>
              <a:rPr lang="fr-FR" sz="2400" dirty="0"/>
              <a:t>.   </a:t>
            </a:r>
          </a:p>
          <a:p>
            <a:pPr marL="342900" indent="-342900" algn="just">
              <a:buFont typeface="Arial" panose="020B0604020202020204" pitchFamily="34" charset="0"/>
              <a:buChar char="•"/>
            </a:pPr>
            <a:r>
              <a:rPr lang="fr-FR" sz="2400" b="1" dirty="0"/>
              <a:t>Impact : </a:t>
            </a:r>
            <a:r>
              <a:rPr lang="fr-FR" sz="2400" dirty="0"/>
              <a:t>La diffusion du Sun a explosé, en faisant un journal majeur et démontrant l'appétit du public pour le contenu sensationnel.   </a:t>
            </a:r>
          </a:p>
          <a:p>
            <a:pPr marL="342900" indent="-342900" algn="just">
              <a:buFont typeface="Arial" panose="020B0604020202020204" pitchFamily="34" charset="0"/>
              <a:buChar char="•"/>
            </a:pPr>
            <a:r>
              <a:rPr lang="fr-FR" sz="2400" b="1" dirty="0"/>
              <a:t>Héritage : </a:t>
            </a:r>
            <a:r>
              <a:rPr lang="fr-FR" sz="2400" dirty="0"/>
              <a:t>A préfiguré l'industrie moderne des "fake news" à but lucratif qui prospère grâce aux revenus publicitaires basés sur les clics.</a:t>
            </a:r>
            <a:endParaRPr lang="en-US" sz="2400" dirty="0"/>
          </a:p>
        </p:txBody>
      </p:sp>
    </p:spTree>
    <p:extLst>
      <p:ext uri="{BB962C8B-B14F-4D97-AF65-F5344CB8AC3E}">
        <p14:creationId xmlns:p14="http://schemas.microsoft.com/office/powerpoint/2010/main" val="113671468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894A2-4122-6CD6-30A7-F3A611885B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F8127F-EE26-1C55-7FB9-2BA33BFEDB14}"/>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8619B23D-3274-2F1C-243C-6CA978E2C79F}"/>
              </a:ext>
            </a:extLst>
          </p:cNvPr>
          <p:cNvSpPr/>
          <p:nvPr/>
        </p:nvSpPr>
        <p:spPr>
          <a:xfrm>
            <a:off x="718457" y="185783"/>
            <a:ext cx="6508253"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Opération INFEKTION</a:t>
            </a:r>
            <a:endParaRPr lang="fr-FR" sz="3600" b="1" dirty="0">
              <a:latin typeface="+mj-lt"/>
            </a:endParaRPr>
          </a:p>
        </p:txBody>
      </p:sp>
      <p:sp>
        <p:nvSpPr>
          <p:cNvPr id="11" name="ZoneTexte 10">
            <a:extLst>
              <a:ext uri="{FF2B5EF4-FFF2-40B4-BE49-F238E27FC236}">
                <a16:creationId xmlns:a16="http://schemas.microsoft.com/office/drawing/2014/main" id="{7998502C-FAB7-FA7B-C803-C400A62735D0}"/>
              </a:ext>
            </a:extLst>
          </p:cNvPr>
          <p:cNvSpPr txBox="1"/>
          <p:nvPr/>
        </p:nvSpPr>
        <p:spPr>
          <a:xfrm rot="16200000">
            <a:off x="-3054022" y="2814477"/>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3 - Histoire Stratégique de la désinformation</a:t>
            </a:r>
          </a:p>
        </p:txBody>
      </p:sp>
      <p:sp>
        <p:nvSpPr>
          <p:cNvPr id="7" name="ZoneTexte 6">
            <a:extLst>
              <a:ext uri="{FF2B5EF4-FFF2-40B4-BE49-F238E27FC236}">
                <a16:creationId xmlns:a16="http://schemas.microsoft.com/office/drawing/2014/main" id="{BE467EA5-4D0B-A212-56BB-C5CF27F01901}"/>
              </a:ext>
            </a:extLst>
          </p:cNvPr>
          <p:cNvSpPr txBox="1"/>
          <p:nvPr/>
        </p:nvSpPr>
        <p:spPr>
          <a:xfrm>
            <a:off x="1253962" y="1341469"/>
            <a:ext cx="6626938" cy="4893647"/>
          </a:xfrm>
          <a:prstGeom prst="rect">
            <a:avLst/>
          </a:prstGeom>
          <a:noFill/>
        </p:spPr>
        <p:txBody>
          <a:bodyPr wrap="square">
            <a:spAutoFit/>
          </a:bodyPr>
          <a:lstStyle/>
          <a:p>
            <a:pPr algn="just"/>
            <a:r>
              <a:rPr lang="fr-FR" sz="2400" dirty="0"/>
              <a:t>La campagne du KGB visant à propager l’information selon lequel le gouvernement américain aurait créé le virus du SIDA comme arme biologique.   </a:t>
            </a:r>
          </a:p>
          <a:p>
            <a:pPr marL="342900" indent="-342900" algn="just">
              <a:buFont typeface="Arial" panose="020B0604020202020204" pitchFamily="34" charset="0"/>
              <a:buChar char="•"/>
            </a:pPr>
            <a:r>
              <a:rPr lang="fr-FR" sz="2400" b="1" dirty="0"/>
              <a:t>Stratégie : </a:t>
            </a:r>
            <a:r>
              <a:rPr lang="fr-FR" sz="2400" dirty="0"/>
              <a:t>Blanchiment d'information classique.</a:t>
            </a:r>
          </a:p>
          <a:p>
            <a:pPr marL="342900" indent="-342900" algn="just">
              <a:buFont typeface="Arial" panose="020B0604020202020204" pitchFamily="34" charset="0"/>
              <a:buChar char="•"/>
            </a:pPr>
            <a:r>
              <a:rPr lang="fr-FR" sz="2400" b="1" dirty="0"/>
              <a:t>Exécution : </a:t>
            </a:r>
            <a:r>
              <a:rPr lang="fr-FR" sz="2400" dirty="0"/>
              <a:t>Histoire "semée" dans un journal pro-soviétique obscur en Inde, en </a:t>
            </a:r>
            <a:r>
              <a:rPr lang="en-US" sz="2400" dirty="0"/>
              <a:t>1983,</a:t>
            </a:r>
            <a:r>
              <a:rPr lang="fr-FR" sz="2400" dirty="0"/>
              <a:t> pour masquer son origine et amplifiée par les médias soviétiques officiels ont ensuite amplifié l'histoire, citant le journal indien comme source.   </a:t>
            </a:r>
          </a:p>
          <a:p>
            <a:pPr marL="342900" indent="-342900" algn="just">
              <a:buFont typeface="Arial" panose="020B0604020202020204" pitchFamily="34" charset="0"/>
              <a:buChar char="•"/>
            </a:pPr>
            <a:r>
              <a:rPr lang="fr-FR" sz="2400" b="1" dirty="0"/>
              <a:t>Impact : </a:t>
            </a:r>
            <a:r>
              <a:rPr lang="fr-FR" sz="2400" dirty="0"/>
              <a:t>Des décennies plus tard, un nombre important de personnes croient encore à ce canular.</a:t>
            </a:r>
            <a:endParaRPr lang="en-US" sz="2400" dirty="0"/>
          </a:p>
        </p:txBody>
      </p:sp>
      <p:pic>
        <p:nvPicPr>
          <p:cNvPr id="2050" name="Picture 2" descr="Guerre froide (1947-1991)">
            <a:extLst>
              <a:ext uri="{FF2B5EF4-FFF2-40B4-BE49-F238E27FC236}">
                <a16:creationId xmlns:a16="http://schemas.microsoft.com/office/drawing/2014/main" id="{B8CA92E6-9DDE-B729-B764-6C63B3455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0646" y="1140343"/>
            <a:ext cx="4043031"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2204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EFC8A-EA66-39AA-F428-2DB969E33F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25E9ED-A5E2-29D4-9358-1116A1313159}"/>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A9844969-148B-ED8F-6EF9-B2FFE380C808}"/>
              </a:ext>
            </a:extLst>
          </p:cNvPr>
          <p:cNvSpPr/>
          <p:nvPr/>
        </p:nvSpPr>
        <p:spPr>
          <a:xfrm>
            <a:off x="718457" y="185783"/>
            <a:ext cx="7717620"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Comment Internet a Changé la Donne?</a:t>
            </a:r>
            <a:endParaRPr lang="fr-FR" sz="3600" b="1" dirty="0">
              <a:latin typeface="+mj-lt"/>
            </a:endParaRPr>
          </a:p>
        </p:txBody>
      </p:sp>
      <p:sp>
        <p:nvSpPr>
          <p:cNvPr id="11" name="ZoneTexte 10">
            <a:extLst>
              <a:ext uri="{FF2B5EF4-FFF2-40B4-BE49-F238E27FC236}">
                <a16:creationId xmlns:a16="http://schemas.microsoft.com/office/drawing/2014/main" id="{358F073D-C0A1-C584-AA0A-462F56852DB1}"/>
              </a:ext>
            </a:extLst>
          </p:cNvPr>
          <p:cNvSpPr txBox="1"/>
          <p:nvPr/>
        </p:nvSpPr>
        <p:spPr>
          <a:xfrm rot="16200000">
            <a:off x="-3054022" y="2814477"/>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3 - Histoire Stratégique de la désinformation</a:t>
            </a:r>
          </a:p>
        </p:txBody>
      </p:sp>
      <p:pic>
        <p:nvPicPr>
          <p:cNvPr id="2" name="Espace réservé du contenu 5">
            <a:extLst>
              <a:ext uri="{FF2B5EF4-FFF2-40B4-BE49-F238E27FC236}">
                <a16:creationId xmlns:a16="http://schemas.microsoft.com/office/drawing/2014/main" id="{6E7B22BE-88D5-9D92-B197-4E1CFE886F8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flipH="1">
            <a:off x="2957051" y="1508066"/>
            <a:ext cx="1080000" cy="1080000"/>
          </a:xfrm>
        </p:spPr>
      </p:pic>
      <p:pic>
        <p:nvPicPr>
          <p:cNvPr id="3" name="Image 2">
            <a:extLst>
              <a:ext uri="{FF2B5EF4-FFF2-40B4-BE49-F238E27FC236}">
                <a16:creationId xmlns:a16="http://schemas.microsoft.com/office/drawing/2014/main" id="{F567526D-35A8-F57B-2E54-AB600DD5BF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4757" y="1497438"/>
            <a:ext cx="1080000" cy="1080000"/>
          </a:xfrm>
          <a:prstGeom prst="rect">
            <a:avLst/>
          </a:prstGeom>
        </p:spPr>
      </p:pic>
      <p:sp>
        <p:nvSpPr>
          <p:cNvPr id="6" name="ZoneTexte 5">
            <a:extLst>
              <a:ext uri="{FF2B5EF4-FFF2-40B4-BE49-F238E27FC236}">
                <a16:creationId xmlns:a16="http://schemas.microsoft.com/office/drawing/2014/main" id="{4C0D4FAD-88B5-5468-3E22-B19A4D717D4D}"/>
              </a:ext>
            </a:extLst>
          </p:cNvPr>
          <p:cNvSpPr txBox="1"/>
          <p:nvPr/>
        </p:nvSpPr>
        <p:spPr>
          <a:xfrm>
            <a:off x="1884560" y="2833629"/>
            <a:ext cx="3444524" cy="1938992"/>
          </a:xfrm>
          <a:prstGeom prst="rect">
            <a:avLst/>
          </a:prstGeom>
          <a:noFill/>
        </p:spPr>
        <p:txBody>
          <a:bodyPr wrap="square">
            <a:spAutoFit/>
          </a:bodyPr>
          <a:lstStyle/>
          <a:p>
            <a:pPr algn="just"/>
            <a:r>
              <a:rPr lang="fr-FR" sz="2400" dirty="0"/>
              <a:t>Internet a démocratisé la création de contenu, permettant à quiconque de devenir un éditeur mondial instantanément.</a:t>
            </a:r>
            <a:endParaRPr lang="en-US" sz="2400" dirty="0"/>
          </a:p>
        </p:txBody>
      </p:sp>
      <p:sp>
        <p:nvSpPr>
          <p:cNvPr id="8" name="ZoneTexte 7">
            <a:extLst>
              <a:ext uri="{FF2B5EF4-FFF2-40B4-BE49-F238E27FC236}">
                <a16:creationId xmlns:a16="http://schemas.microsoft.com/office/drawing/2014/main" id="{FA58194C-B114-5920-7F13-B239EFF97C4A}"/>
              </a:ext>
            </a:extLst>
          </p:cNvPr>
          <p:cNvSpPr txBox="1"/>
          <p:nvPr/>
        </p:nvSpPr>
        <p:spPr>
          <a:xfrm>
            <a:off x="6529898" y="2845400"/>
            <a:ext cx="4629717" cy="2677656"/>
          </a:xfrm>
          <a:prstGeom prst="rect">
            <a:avLst/>
          </a:prstGeom>
          <a:noFill/>
        </p:spPr>
        <p:txBody>
          <a:bodyPr wrap="square">
            <a:spAutoFit/>
          </a:bodyPr>
          <a:lstStyle/>
          <a:p>
            <a:pPr algn="just"/>
            <a:r>
              <a:rPr lang="fr-FR" sz="2400" dirty="0"/>
              <a:t>Le modèle économique de la plupart des plateformes de médias sociaux a créé une puissante incitation commerciale pour un contenu plus extrême, sensationnel ou inhabituel afin de capter l'engagement des utilisateurs.</a:t>
            </a:r>
            <a:endParaRPr lang="en-US" sz="2400" dirty="0"/>
          </a:p>
        </p:txBody>
      </p:sp>
    </p:spTree>
    <p:extLst>
      <p:ext uri="{BB962C8B-B14F-4D97-AF65-F5344CB8AC3E}">
        <p14:creationId xmlns:p14="http://schemas.microsoft.com/office/powerpoint/2010/main" val="358008659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1FB72-293F-91E3-B837-53596E3DD134}"/>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4DD91F34-1BE8-C634-9AB3-36AC234F9B5F}"/>
              </a:ext>
            </a:extLst>
          </p:cNvPr>
          <p:cNvSpPr txBox="1"/>
          <p:nvPr/>
        </p:nvSpPr>
        <p:spPr>
          <a:xfrm>
            <a:off x="3590539" y="2752037"/>
            <a:ext cx="8227836" cy="1318181"/>
          </a:xfrm>
          <a:prstGeom prst="rect">
            <a:avLst/>
          </a:prstGeom>
          <a:noFill/>
        </p:spPr>
        <p:txBody>
          <a:bodyPr wrap="square" rtlCol="0">
            <a:spAutoFit/>
          </a:bodyPr>
          <a:lstStyle/>
          <a:p>
            <a:pPr algn="just">
              <a:lnSpc>
                <a:spcPct val="150000"/>
              </a:lnSpc>
            </a:pPr>
            <a:r>
              <a:rPr lang="fr-FR" sz="2800" b="1" dirty="0">
                <a:solidFill>
                  <a:srgbClr val="FFC000"/>
                </a:solidFill>
                <a:latin typeface="Calibri Light" panose="020F0302020204030204" pitchFamily="34" charset="0"/>
                <a:cs typeface="Calibri Light" panose="020F0302020204030204" pitchFamily="34" charset="0"/>
              </a:rPr>
              <a:t>4 - Anatomie d'une Campagne Numérique de désinformation</a:t>
            </a:r>
          </a:p>
        </p:txBody>
      </p:sp>
      <p:sp>
        <p:nvSpPr>
          <p:cNvPr id="4" name="ZoneTexte 3">
            <a:extLst>
              <a:ext uri="{FF2B5EF4-FFF2-40B4-BE49-F238E27FC236}">
                <a16:creationId xmlns:a16="http://schemas.microsoft.com/office/drawing/2014/main" id="{80543E2B-3C81-FCB4-EE63-140CD3A8EC48}"/>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4</a:t>
            </a:r>
          </a:p>
        </p:txBody>
      </p:sp>
      <p:pic>
        <p:nvPicPr>
          <p:cNvPr id="5" name="Image 4">
            <a:extLst>
              <a:ext uri="{FF2B5EF4-FFF2-40B4-BE49-F238E27FC236}">
                <a16:creationId xmlns:a16="http://schemas.microsoft.com/office/drawing/2014/main" id="{2D8A3A11-9984-A3A5-EE7F-55879987DB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7044" y="2672443"/>
            <a:ext cx="1513114" cy="1513114"/>
          </a:xfrm>
          <a:prstGeom prst="rect">
            <a:avLst/>
          </a:prstGeom>
        </p:spPr>
      </p:pic>
    </p:spTree>
    <p:extLst>
      <p:ext uri="{BB962C8B-B14F-4D97-AF65-F5344CB8AC3E}">
        <p14:creationId xmlns:p14="http://schemas.microsoft.com/office/powerpoint/2010/main" val="133954096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C0DA-6DB1-1159-35D9-E75CD47780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870D4F-6F7E-F068-4003-8D9AA01FECE2}"/>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911179DD-0CA7-5794-7905-DDFAEA795802}"/>
              </a:ext>
            </a:extLst>
          </p:cNvPr>
          <p:cNvSpPr/>
          <p:nvPr/>
        </p:nvSpPr>
        <p:spPr>
          <a:xfrm>
            <a:off x="718457" y="185783"/>
            <a:ext cx="2319711"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mj-lt"/>
              </a:rPr>
              <a:t>Cycle de vie </a:t>
            </a:r>
          </a:p>
        </p:txBody>
      </p:sp>
      <p:sp>
        <p:nvSpPr>
          <p:cNvPr id="11" name="ZoneTexte 10">
            <a:extLst>
              <a:ext uri="{FF2B5EF4-FFF2-40B4-BE49-F238E27FC236}">
                <a16:creationId xmlns:a16="http://schemas.microsoft.com/office/drawing/2014/main" id="{47D742B4-17B2-6B86-FC45-688E4D9E93F7}"/>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4 - Anatomie d'une Campagne Numérique de désinformation</a:t>
            </a:r>
          </a:p>
        </p:txBody>
      </p:sp>
      <p:pic>
        <p:nvPicPr>
          <p:cNvPr id="6" name="Image 5">
            <a:extLst>
              <a:ext uri="{FF2B5EF4-FFF2-40B4-BE49-F238E27FC236}">
                <a16:creationId xmlns:a16="http://schemas.microsoft.com/office/drawing/2014/main" id="{4C80DBF1-8EA9-04B8-C49D-921C73DD9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215" y="1496961"/>
            <a:ext cx="11107785" cy="3864077"/>
          </a:xfrm>
          <a:prstGeom prst="rect">
            <a:avLst/>
          </a:prstGeom>
        </p:spPr>
      </p:pic>
    </p:spTree>
    <p:extLst>
      <p:ext uri="{BB962C8B-B14F-4D97-AF65-F5344CB8AC3E}">
        <p14:creationId xmlns:p14="http://schemas.microsoft.com/office/powerpoint/2010/main" val="387100930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DAF58-9A40-E121-984A-B2498305E4F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A8592E-B551-A658-2E1A-E3F0AF7B9BA4}"/>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746F7447-0B17-0CD3-C62C-979798B770B1}"/>
              </a:ext>
            </a:extLst>
          </p:cNvPr>
          <p:cNvSpPr/>
          <p:nvPr/>
        </p:nvSpPr>
        <p:spPr>
          <a:xfrm>
            <a:off x="718456" y="185783"/>
            <a:ext cx="7049027"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mj-lt"/>
              </a:rPr>
              <a:t>Le Modèle des « 4D » de la désinformation</a:t>
            </a:r>
          </a:p>
        </p:txBody>
      </p:sp>
      <p:sp>
        <p:nvSpPr>
          <p:cNvPr id="11" name="ZoneTexte 10">
            <a:extLst>
              <a:ext uri="{FF2B5EF4-FFF2-40B4-BE49-F238E27FC236}">
                <a16:creationId xmlns:a16="http://schemas.microsoft.com/office/drawing/2014/main" id="{2E4E6389-81CF-CBAB-0FB7-4B12B9654A6A}"/>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4 - Anatomie d'une Campagne Numérique de désinformation</a:t>
            </a:r>
          </a:p>
        </p:txBody>
      </p:sp>
      <p:graphicFrame>
        <p:nvGraphicFramePr>
          <p:cNvPr id="2" name="Diagramme 1">
            <a:extLst>
              <a:ext uri="{FF2B5EF4-FFF2-40B4-BE49-F238E27FC236}">
                <a16:creationId xmlns:a16="http://schemas.microsoft.com/office/drawing/2014/main" id="{91B4ED51-22BE-C20A-F4FE-EC730B2A1B53}"/>
              </a:ext>
            </a:extLst>
          </p:cNvPr>
          <p:cNvGraphicFramePr/>
          <p:nvPr>
            <p:extLst>
              <p:ext uri="{D42A27DB-BD31-4B8C-83A1-F6EECF244321}">
                <p14:modId xmlns:p14="http://schemas.microsoft.com/office/powerpoint/2010/main" val="521736217"/>
              </p:ext>
            </p:extLst>
          </p:nvPr>
        </p:nvGraphicFramePr>
        <p:xfrm>
          <a:off x="2739923" y="1098489"/>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345186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C0EC-76AB-B6F1-19FF-ED6F54A4CD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EEB931-F37F-60A7-9B8D-8A2E55BDF7B8}"/>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25F5C57C-3005-FDA2-AA15-EAA177A417F4}"/>
              </a:ext>
            </a:extLst>
          </p:cNvPr>
          <p:cNvSpPr/>
          <p:nvPr/>
        </p:nvSpPr>
        <p:spPr>
          <a:xfrm>
            <a:off x="718456" y="185783"/>
            <a:ext cx="7049027"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noProof="0" dirty="0"/>
              <a:t>L'Arsenal Technologique 1/2 </a:t>
            </a:r>
            <a:endParaRPr lang="fr-FR" sz="3200" b="1" noProof="0" dirty="0">
              <a:latin typeface="+mj-lt"/>
            </a:endParaRPr>
          </a:p>
        </p:txBody>
      </p:sp>
      <p:sp>
        <p:nvSpPr>
          <p:cNvPr id="11" name="ZoneTexte 10">
            <a:extLst>
              <a:ext uri="{FF2B5EF4-FFF2-40B4-BE49-F238E27FC236}">
                <a16:creationId xmlns:a16="http://schemas.microsoft.com/office/drawing/2014/main" id="{C0547063-56F7-3192-8DDD-C31BDEFA0394}"/>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4 - Anatomie d'une Campagne Numérique de désinformation</a:t>
            </a:r>
          </a:p>
        </p:txBody>
      </p:sp>
      <p:sp>
        <p:nvSpPr>
          <p:cNvPr id="3" name="ZoneTexte 2">
            <a:extLst>
              <a:ext uri="{FF2B5EF4-FFF2-40B4-BE49-F238E27FC236}">
                <a16:creationId xmlns:a16="http://schemas.microsoft.com/office/drawing/2014/main" id="{F4B425EF-D85C-23CF-5EDA-CBCDB4373B8C}"/>
              </a:ext>
            </a:extLst>
          </p:cNvPr>
          <p:cNvSpPr txBox="1"/>
          <p:nvPr/>
        </p:nvSpPr>
        <p:spPr>
          <a:xfrm>
            <a:off x="5732088" y="943429"/>
            <a:ext cx="1848583" cy="2215991"/>
          </a:xfrm>
          <a:prstGeom prst="rect">
            <a:avLst/>
          </a:prstGeom>
          <a:noFill/>
        </p:spPr>
        <p:txBody>
          <a:bodyPr wrap="none" rtlCol="0">
            <a:spAutoFit/>
          </a:bodyPr>
          <a:lstStyle/>
          <a:p>
            <a:r>
              <a:rPr lang="fr-FR" sz="13800" dirty="0">
                <a:solidFill>
                  <a:srgbClr val="E87722"/>
                </a:solidFill>
              </a:rPr>
              <a:t>6x</a:t>
            </a:r>
            <a:endParaRPr lang="en-US" dirty="0">
              <a:solidFill>
                <a:srgbClr val="E87722"/>
              </a:solidFill>
            </a:endParaRPr>
          </a:p>
        </p:txBody>
      </p:sp>
      <p:sp>
        <p:nvSpPr>
          <p:cNvPr id="6" name="Rectangle 1">
            <a:extLst>
              <a:ext uri="{FF2B5EF4-FFF2-40B4-BE49-F238E27FC236}">
                <a16:creationId xmlns:a16="http://schemas.microsoft.com/office/drawing/2014/main" id="{5B23731A-D4B8-8E13-A6DC-592ACFE5D4F0}"/>
              </a:ext>
            </a:extLst>
          </p:cNvPr>
          <p:cNvSpPr>
            <a:spLocks noChangeArrowheads="1"/>
          </p:cNvSpPr>
          <p:nvPr/>
        </p:nvSpPr>
        <p:spPr bwMode="auto">
          <a:xfrm>
            <a:off x="2038658" y="2869613"/>
            <a:ext cx="923544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sz="2800" b="1" i="0" u="none" strike="noStrike" cap="none" normalizeH="0" baseline="0" noProof="0" dirty="0">
                <a:ln>
                  <a:noFill/>
                </a:ln>
                <a:solidFill>
                  <a:schemeClr val="tx1"/>
                </a:solidFill>
                <a:effectLst/>
              </a:rPr>
              <a:t>L'Amplification Algorithmique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sz="2400" b="0" i="0" u="none" strike="noStrike" cap="none" normalizeH="0" baseline="0" noProof="0" dirty="0">
                <a:ln>
                  <a:noFill/>
                </a:ln>
                <a:solidFill>
                  <a:schemeClr val="tx1"/>
                </a:solidFill>
                <a:effectLst/>
              </a:rPr>
              <a:t>Le modèle économique de la plupart des plateformes est basé sur la maximisation de l'engagement des utilisateurs.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sz="2400" b="0" i="0" u="none" strike="noStrike" cap="none" normalizeH="0" baseline="0" noProof="0" dirty="0">
                <a:ln>
                  <a:noFill/>
                </a:ln>
                <a:solidFill>
                  <a:schemeClr val="tx1"/>
                </a:solidFill>
                <a:effectLst/>
              </a:rPr>
              <a:t>Les algorithmes favorisent systématiquement le contenu sensationnel, nouveau et chargé d'émotions, qui est souvent faux.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sz="2400" b="0" i="0" u="none" strike="noStrike" cap="none" normalizeH="0" baseline="0" noProof="0" dirty="0">
                <a:ln>
                  <a:noFill/>
                </a:ln>
                <a:solidFill>
                  <a:schemeClr val="tx1"/>
                </a:solidFill>
                <a:effectLst/>
              </a:rPr>
              <a:t>Une étude de la NYU en 2021 a révélé que sur Facebook, les éditeurs de mésinformation recevaient </a:t>
            </a:r>
            <a:r>
              <a:rPr kumimoji="0" lang="fr-FR" sz="2400" b="1" i="0" u="none" strike="noStrike" cap="none" normalizeH="0" baseline="0" noProof="0" dirty="0">
                <a:ln>
                  <a:noFill/>
                </a:ln>
                <a:solidFill>
                  <a:schemeClr val="tx1"/>
                </a:solidFill>
                <a:effectLst/>
              </a:rPr>
              <a:t>six fois plus</a:t>
            </a:r>
            <a:r>
              <a:rPr kumimoji="0" lang="fr-FR" sz="2400" b="0" i="0" u="none" strike="noStrike" cap="none" normalizeH="0" baseline="0" noProof="0" dirty="0">
                <a:ln>
                  <a:noFill/>
                </a:ln>
                <a:solidFill>
                  <a:schemeClr val="tx1"/>
                </a:solidFill>
                <a:effectLst/>
              </a:rPr>
              <a:t> d'engagement que les sources d'information fiables.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1521841"/>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9048D-6789-2D3B-0119-D9165CAF5E3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783D3F1-B8CB-12BA-1966-52F304F84BD1}"/>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813E1C7B-B5E7-B9CD-0EAF-C33E5631843B}"/>
              </a:ext>
            </a:extLst>
          </p:cNvPr>
          <p:cNvSpPr/>
          <p:nvPr/>
        </p:nvSpPr>
        <p:spPr>
          <a:xfrm>
            <a:off x="718456" y="185783"/>
            <a:ext cx="7049027"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noProof="0" dirty="0"/>
              <a:t>L'Arsenal Technologique 2/2 </a:t>
            </a:r>
            <a:endParaRPr lang="fr-FR" sz="3200" b="1" noProof="0" dirty="0">
              <a:latin typeface="+mj-lt"/>
            </a:endParaRPr>
          </a:p>
        </p:txBody>
      </p:sp>
      <p:sp>
        <p:nvSpPr>
          <p:cNvPr id="11" name="ZoneTexte 10">
            <a:extLst>
              <a:ext uri="{FF2B5EF4-FFF2-40B4-BE49-F238E27FC236}">
                <a16:creationId xmlns:a16="http://schemas.microsoft.com/office/drawing/2014/main" id="{F8146F5A-E0FA-FE0E-8F49-E17FF74D4A83}"/>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4 - Anatomie d'une Campagne Numérique de désinformation</a:t>
            </a:r>
          </a:p>
        </p:txBody>
      </p:sp>
      <p:sp>
        <p:nvSpPr>
          <p:cNvPr id="9" name="ZoneTexte 8">
            <a:extLst>
              <a:ext uri="{FF2B5EF4-FFF2-40B4-BE49-F238E27FC236}">
                <a16:creationId xmlns:a16="http://schemas.microsoft.com/office/drawing/2014/main" id="{02DD3CBE-59B8-C7EF-28B3-E6B670E9124F}"/>
              </a:ext>
            </a:extLst>
          </p:cNvPr>
          <p:cNvSpPr txBox="1"/>
          <p:nvPr/>
        </p:nvSpPr>
        <p:spPr>
          <a:xfrm>
            <a:off x="1779848" y="3502930"/>
            <a:ext cx="2251587" cy="461665"/>
          </a:xfrm>
          <a:prstGeom prst="rect">
            <a:avLst/>
          </a:prstGeom>
          <a:noFill/>
        </p:spPr>
        <p:txBody>
          <a:bodyPr wrap="square">
            <a:spAutoFit/>
          </a:bodyPr>
          <a:lstStyle/>
          <a:p>
            <a:pPr algn="ctr"/>
            <a:r>
              <a:rPr lang="en-US" sz="2400" b="1" dirty="0"/>
              <a:t>Armée de Bots</a:t>
            </a:r>
          </a:p>
        </p:txBody>
      </p:sp>
      <p:sp>
        <p:nvSpPr>
          <p:cNvPr id="10" name="ZoneTexte 9">
            <a:extLst>
              <a:ext uri="{FF2B5EF4-FFF2-40B4-BE49-F238E27FC236}">
                <a16:creationId xmlns:a16="http://schemas.microsoft.com/office/drawing/2014/main" id="{782AB922-5EF8-DB28-A4B0-99105E5C07DB}"/>
              </a:ext>
            </a:extLst>
          </p:cNvPr>
          <p:cNvSpPr txBox="1"/>
          <p:nvPr/>
        </p:nvSpPr>
        <p:spPr>
          <a:xfrm>
            <a:off x="5481895" y="3502931"/>
            <a:ext cx="2251587" cy="461665"/>
          </a:xfrm>
          <a:prstGeom prst="rect">
            <a:avLst/>
          </a:prstGeom>
          <a:noFill/>
        </p:spPr>
        <p:txBody>
          <a:bodyPr wrap="square">
            <a:spAutoFit/>
          </a:bodyPr>
          <a:lstStyle/>
          <a:p>
            <a:pPr algn="ctr"/>
            <a:r>
              <a:rPr lang="en-US" sz="2400" b="1" dirty="0" err="1"/>
              <a:t>Fermes</a:t>
            </a:r>
            <a:r>
              <a:rPr lang="en-US" sz="2400" b="1" dirty="0"/>
              <a:t> de Trolls</a:t>
            </a:r>
          </a:p>
        </p:txBody>
      </p:sp>
      <p:sp>
        <p:nvSpPr>
          <p:cNvPr id="12" name="ZoneTexte 11">
            <a:extLst>
              <a:ext uri="{FF2B5EF4-FFF2-40B4-BE49-F238E27FC236}">
                <a16:creationId xmlns:a16="http://schemas.microsoft.com/office/drawing/2014/main" id="{246CB9AF-0B38-C97E-BEAA-199107E93A48}"/>
              </a:ext>
            </a:extLst>
          </p:cNvPr>
          <p:cNvSpPr txBox="1"/>
          <p:nvPr/>
        </p:nvSpPr>
        <p:spPr>
          <a:xfrm>
            <a:off x="9124746" y="3535351"/>
            <a:ext cx="2251587" cy="461665"/>
          </a:xfrm>
          <a:prstGeom prst="rect">
            <a:avLst/>
          </a:prstGeom>
          <a:noFill/>
        </p:spPr>
        <p:txBody>
          <a:bodyPr wrap="square">
            <a:spAutoFit/>
          </a:bodyPr>
          <a:lstStyle/>
          <a:p>
            <a:pPr algn="ctr"/>
            <a:r>
              <a:rPr lang="en-US" sz="2400" b="1" dirty="0"/>
              <a:t>Astroturfing</a:t>
            </a:r>
          </a:p>
        </p:txBody>
      </p:sp>
      <p:sp>
        <p:nvSpPr>
          <p:cNvPr id="13" name="ZoneTexte 12">
            <a:extLst>
              <a:ext uri="{FF2B5EF4-FFF2-40B4-BE49-F238E27FC236}">
                <a16:creationId xmlns:a16="http://schemas.microsoft.com/office/drawing/2014/main" id="{DFD73D5D-F4FE-4064-EF48-E070CCE0D6B1}"/>
              </a:ext>
            </a:extLst>
          </p:cNvPr>
          <p:cNvSpPr txBox="1"/>
          <p:nvPr/>
        </p:nvSpPr>
        <p:spPr>
          <a:xfrm>
            <a:off x="1319015" y="3997016"/>
            <a:ext cx="3173254" cy="1938992"/>
          </a:xfrm>
          <a:prstGeom prst="rect">
            <a:avLst/>
          </a:prstGeom>
          <a:noFill/>
        </p:spPr>
        <p:txBody>
          <a:bodyPr wrap="square">
            <a:spAutoFit/>
          </a:bodyPr>
          <a:lstStyle/>
          <a:p>
            <a:pPr algn="just"/>
            <a:r>
              <a:rPr lang="fr-FR" sz="2000" dirty="0"/>
              <a:t>Vastes réseaux de comptes automatisés qui amplifient les messages à grande échelle pour créer des tendances et manipuler les algorithmes.</a:t>
            </a:r>
            <a:endParaRPr lang="en-US" sz="2000" dirty="0"/>
          </a:p>
        </p:txBody>
      </p:sp>
      <p:sp>
        <p:nvSpPr>
          <p:cNvPr id="14" name="ZoneTexte 13">
            <a:extLst>
              <a:ext uri="{FF2B5EF4-FFF2-40B4-BE49-F238E27FC236}">
                <a16:creationId xmlns:a16="http://schemas.microsoft.com/office/drawing/2014/main" id="{5717175C-8CDE-C2A9-1D4E-498E0DEF8847}"/>
              </a:ext>
            </a:extLst>
          </p:cNvPr>
          <p:cNvSpPr txBox="1"/>
          <p:nvPr/>
        </p:nvSpPr>
        <p:spPr>
          <a:xfrm>
            <a:off x="4786264" y="3964596"/>
            <a:ext cx="3642850" cy="2554545"/>
          </a:xfrm>
          <a:prstGeom prst="rect">
            <a:avLst/>
          </a:prstGeom>
          <a:noFill/>
        </p:spPr>
        <p:txBody>
          <a:bodyPr wrap="square">
            <a:spAutoFit/>
          </a:bodyPr>
          <a:lstStyle/>
          <a:p>
            <a:pPr algn="just"/>
            <a:r>
              <a:rPr lang="fr-FR" sz="2000" dirty="0"/>
              <a:t>Groupes organisés d'opérateurs humains rémunérés (par ex., l'Internet </a:t>
            </a:r>
            <a:r>
              <a:rPr lang="fr-FR" sz="2000" dirty="0" err="1"/>
              <a:t>Research</a:t>
            </a:r>
            <a:r>
              <a:rPr lang="fr-FR" sz="2000" dirty="0"/>
              <a:t> Agency de Russie) qui s'engagent dans des conversations directes et nuancées pour diffuser des récits, semer la discorde et harceler les opposants.</a:t>
            </a:r>
            <a:endParaRPr lang="en-US" sz="2000" dirty="0"/>
          </a:p>
        </p:txBody>
      </p:sp>
      <p:sp>
        <p:nvSpPr>
          <p:cNvPr id="15" name="ZoneTexte 14">
            <a:extLst>
              <a:ext uri="{FF2B5EF4-FFF2-40B4-BE49-F238E27FC236}">
                <a16:creationId xmlns:a16="http://schemas.microsoft.com/office/drawing/2014/main" id="{AF0E8356-5E90-CAE3-D901-A87083B772F6}"/>
              </a:ext>
            </a:extLst>
          </p:cNvPr>
          <p:cNvSpPr txBox="1"/>
          <p:nvPr/>
        </p:nvSpPr>
        <p:spPr>
          <a:xfrm>
            <a:off x="8429114" y="4067650"/>
            <a:ext cx="3642850" cy="1323439"/>
          </a:xfrm>
          <a:prstGeom prst="rect">
            <a:avLst/>
          </a:prstGeom>
          <a:noFill/>
        </p:spPr>
        <p:txBody>
          <a:bodyPr wrap="square">
            <a:spAutoFit/>
          </a:bodyPr>
          <a:lstStyle/>
          <a:p>
            <a:pPr algn="just"/>
            <a:r>
              <a:rPr lang="fr-FR" sz="2000" dirty="0"/>
              <a:t>La pratique de créer un faux mouvement citoyen pour fabriquer l'apparence d'un large consensus public. </a:t>
            </a:r>
            <a:endParaRPr lang="en-US" sz="2000" dirty="0"/>
          </a:p>
        </p:txBody>
      </p:sp>
      <p:pic>
        <p:nvPicPr>
          <p:cNvPr id="17" name="Image 16">
            <a:extLst>
              <a:ext uri="{FF2B5EF4-FFF2-40B4-BE49-F238E27FC236}">
                <a16:creationId xmlns:a16="http://schemas.microsoft.com/office/drawing/2014/main" id="{3BAC0448-7EF3-7C6A-B8B2-2F92989AD308}"/>
              </a:ext>
            </a:extLst>
          </p:cNvPr>
          <p:cNvPicPr>
            <a:picLocks noChangeAspect="1"/>
          </p:cNvPicPr>
          <p:nvPr/>
        </p:nvPicPr>
        <p:blipFill>
          <a:blip r:embed="rId2">
            <a:extLst>
              <a:ext uri="{28A0092B-C50C-407E-A947-70E740481C1C}">
                <a14:useLocalDpi xmlns:a14="http://schemas.microsoft.com/office/drawing/2010/main" val="0"/>
              </a:ext>
            </a:extLst>
          </a:blip>
          <a:srcRect l="20598" t="27097" r="20179" b="33835"/>
          <a:stretch>
            <a:fillRect/>
          </a:stretch>
        </p:blipFill>
        <p:spPr>
          <a:xfrm>
            <a:off x="1541343" y="1585374"/>
            <a:ext cx="2728595" cy="1769696"/>
          </a:xfrm>
          <a:prstGeom prst="rect">
            <a:avLst/>
          </a:prstGeom>
        </p:spPr>
      </p:pic>
      <p:pic>
        <p:nvPicPr>
          <p:cNvPr id="19" name="Image 18">
            <a:extLst>
              <a:ext uri="{FF2B5EF4-FFF2-40B4-BE49-F238E27FC236}">
                <a16:creationId xmlns:a16="http://schemas.microsoft.com/office/drawing/2014/main" id="{19E22520-5B71-5EF8-EE11-CD459E8D5C7E}"/>
              </a:ext>
            </a:extLst>
          </p:cNvPr>
          <p:cNvPicPr>
            <a:picLocks noChangeAspect="1"/>
          </p:cNvPicPr>
          <p:nvPr/>
        </p:nvPicPr>
        <p:blipFill>
          <a:blip r:embed="rId3" cstate="print">
            <a:extLst>
              <a:ext uri="{28A0092B-C50C-407E-A947-70E740481C1C}">
                <a14:useLocalDpi xmlns:a14="http://schemas.microsoft.com/office/drawing/2010/main" val="0"/>
              </a:ext>
            </a:extLst>
          </a:blip>
          <a:srcRect l="11080" t="11040" r="10717" b="11254"/>
          <a:stretch>
            <a:fillRect/>
          </a:stretch>
        </p:blipFill>
        <p:spPr>
          <a:xfrm>
            <a:off x="5748180" y="1533018"/>
            <a:ext cx="1811516" cy="1800000"/>
          </a:xfrm>
          <a:prstGeom prst="rect">
            <a:avLst/>
          </a:prstGeom>
        </p:spPr>
      </p:pic>
      <p:pic>
        <p:nvPicPr>
          <p:cNvPr id="21" name="Image 20">
            <a:extLst>
              <a:ext uri="{FF2B5EF4-FFF2-40B4-BE49-F238E27FC236}">
                <a16:creationId xmlns:a16="http://schemas.microsoft.com/office/drawing/2014/main" id="{B65E6178-11A0-2900-C861-566FB411A04D}"/>
              </a:ext>
            </a:extLst>
          </p:cNvPr>
          <p:cNvPicPr>
            <a:picLocks noChangeAspect="1"/>
          </p:cNvPicPr>
          <p:nvPr/>
        </p:nvPicPr>
        <p:blipFill>
          <a:blip r:embed="rId4" cstate="print">
            <a:extLst>
              <a:ext uri="{28A0092B-C50C-407E-A947-70E740481C1C}">
                <a14:useLocalDpi xmlns:a14="http://schemas.microsoft.com/office/drawing/2010/main" val="0"/>
              </a:ext>
            </a:extLst>
          </a:blip>
          <a:srcRect l="11434" t="11756" r="11147" b="11686"/>
          <a:stretch>
            <a:fillRect/>
          </a:stretch>
        </p:blipFill>
        <p:spPr>
          <a:xfrm>
            <a:off x="9340428" y="1533018"/>
            <a:ext cx="1820225" cy="1800000"/>
          </a:xfrm>
          <a:prstGeom prst="rect">
            <a:avLst/>
          </a:prstGeom>
        </p:spPr>
      </p:pic>
    </p:spTree>
    <p:extLst>
      <p:ext uri="{BB962C8B-B14F-4D97-AF65-F5344CB8AC3E}">
        <p14:creationId xmlns:p14="http://schemas.microsoft.com/office/powerpoint/2010/main" val="2510746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3665C-E571-D678-0595-A0F476E48B4C}"/>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3A0966E4-4685-A178-CD40-85E781AB5250}"/>
              </a:ext>
            </a:extLst>
          </p:cNvPr>
          <p:cNvSpPr txBox="1"/>
          <p:nvPr/>
        </p:nvSpPr>
        <p:spPr>
          <a:xfrm>
            <a:off x="3590538" y="2752037"/>
            <a:ext cx="8227836" cy="1318181"/>
          </a:xfrm>
          <a:prstGeom prst="rect">
            <a:avLst/>
          </a:prstGeom>
          <a:noFill/>
        </p:spPr>
        <p:txBody>
          <a:bodyPr wrap="square" rtlCol="0">
            <a:spAutoFit/>
          </a:bodyPr>
          <a:lstStyle/>
          <a:p>
            <a:pPr algn="just">
              <a:lnSpc>
                <a:spcPct val="150000"/>
              </a:lnSpc>
            </a:pPr>
            <a:r>
              <a:rPr lang="fr-FR" sz="2800" b="1" dirty="0">
                <a:solidFill>
                  <a:srgbClr val="FFC000"/>
                </a:solidFill>
                <a:latin typeface="Calibri Light" panose="020F0302020204030204" pitchFamily="34" charset="0"/>
                <a:cs typeface="Calibri Light" panose="020F0302020204030204" pitchFamily="34" charset="0"/>
              </a:rPr>
              <a:t>5 - Étude de Cas : L'Ingérence Russe dans l'Élection Américaine de 2016</a:t>
            </a:r>
          </a:p>
        </p:txBody>
      </p:sp>
      <p:sp>
        <p:nvSpPr>
          <p:cNvPr id="4" name="ZoneTexte 3">
            <a:extLst>
              <a:ext uri="{FF2B5EF4-FFF2-40B4-BE49-F238E27FC236}">
                <a16:creationId xmlns:a16="http://schemas.microsoft.com/office/drawing/2014/main" id="{90FFD945-190D-3850-65E8-AB0120DF28A9}"/>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5</a:t>
            </a:r>
          </a:p>
        </p:txBody>
      </p:sp>
      <p:pic>
        <p:nvPicPr>
          <p:cNvPr id="3" name="Image 2">
            <a:extLst>
              <a:ext uri="{FF2B5EF4-FFF2-40B4-BE49-F238E27FC236}">
                <a16:creationId xmlns:a16="http://schemas.microsoft.com/office/drawing/2014/main" id="{0FD8571F-36AE-B2A6-0261-1442D8D0C7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94951" y="2761636"/>
            <a:ext cx="1334728" cy="1334728"/>
          </a:xfrm>
          <a:prstGeom prst="rect">
            <a:avLst/>
          </a:prstGeom>
        </p:spPr>
      </p:pic>
    </p:spTree>
    <p:extLst>
      <p:ext uri="{BB962C8B-B14F-4D97-AF65-F5344CB8AC3E}">
        <p14:creationId xmlns:p14="http://schemas.microsoft.com/office/powerpoint/2010/main" val="397678848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43C1A-EB52-1E32-EEE5-1F3EFEC4D5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3D6D62D-D37A-BBDC-CD81-0B25043383C7}"/>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B1013545-1E20-C740-3839-E99F04E9CD42}"/>
              </a:ext>
            </a:extLst>
          </p:cNvPr>
          <p:cNvSpPr/>
          <p:nvPr/>
        </p:nvSpPr>
        <p:spPr>
          <a:xfrm>
            <a:off x="718456" y="185783"/>
            <a:ext cx="7049027"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Une Campagne Vaste et Systématique</a:t>
            </a:r>
            <a:endParaRPr lang="fr-FR" sz="3200" b="1" noProof="0" dirty="0">
              <a:latin typeface="+mj-lt"/>
            </a:endParaRPr>
          </a:p>
        </p:txBody>
      </p:sp>
      <p:sp>
        <p:nvSpPr>
          <p:cNvPr id="11" name="ZoneTexte 10">
            <a:extLst>
              <a:ext uri="{FF2B5EF4-FFF2-40B4-BE49-F238E27FC236}">
                <a16:creationId xmlns:a16="http://schemas.microsoft.com/office/drawing/2014/main" id="{3A10D88B-7144-8C33-753F-FA167966FCDC}"/>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5 - Étude de Cas : L'Ingérence Russe dans l'Élection Américaine de 2016</a:t>
            </a:r>
          </a:p>
        </p:txBody>
      </p:sp>
      <p:pic>
        <p:nvPicPr>
          <p:cNvPr id="4098" name="Picture 2" descr="Symbole drapeau américain de la Russie, : vidéo de stock (100 % libre de  droit) 1097242079 | Shutterstock">
            <a:extLst>
              <a:ext uri="{FF2B5EF4-FFF2-40B4-BE49-F238E27FC236}">
                <a16:creationId xmlns:a16="http://schemas.microsoft.com/office/drawing/2014/main" id="{F07EA036-632A-750B-1F3A-98BA1F77E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66" y="2270945"/>
            <a:ext cx="4374021"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D95495A7-BBBF-2C8B-CAFC-5E323542F99E}"/>
              </a:ext>
            </a:extLst>
          </p:cNvPr>
          <p:cNvSpPr txBox="1"/>
          <p:nvPr/>
        </p:nvSpPr>
        <p:spPr>
          <a:xfrm>
            <a:off x="5840360" y="1453332"/>
            <a:ext cx="6096000" cy="4708981"/>
          </a:xfrm>
          <a:prstGeom prst="rect">
            <a:avLst/>
          </a:prstGeom>
          <a:noFill/>
        </p:spPr>
        <p:txBody>
          <a:bodyPr wrap="square">
            <a:spAutoFit/>
          </a:bodyPr>
          <a:lstStyle/>
          <a:p>
            <a:pPr algn="just"/>
            <a:r>
              <a:rPr lang="fr-FR" sz="2000" dirty="0"/>
              <a:t>La communauté du renseignement américain a conclu avec une "grande confiance" que le président russe Vladimir Poutine a ordonné une campagne d'influence visant l'élection américaine de 2016.</a:t>
            </a:r>
          </a:p>
          <a:p>
            <a:pPr marL="285750" indent="-285750" algn="just">
              <a:buFont typeface="Arial" panose="020B0604020202020204" pitchFamily="34" charset="0"/>
              <a:buChar char="•"/>
            </a:pPr>
            <a:r>
              <a:rPr lang="fr-FR" sz="2000" b="1" dirty="0"/>
              <a:t>Objectifs :</a:t>
            </a:r>
            <a:r>
              <a:rPr lang="fr-FR" sz="2000" dirty="0"/>
              <a:t> Saper la confiance du public dans le processus démocratique américain, dénigrer Hillary Clinton et nuire à son éligibilité.</a:t>
            </a:r>
          </a:p>
          <a:p>
            <a:pPr marL="285750" indent="-285750" algn="just">
              <a:buFont typeface="Arial" panose="020B0604020202020204" pitchFamily="34" charset="0"/>
              <a:buChar char="•"/>
            </a:pPr>
            <a:r>
              <a:rPr lang="fr-FR" sz="2000" b="1" dirty="0"/>
              <a:t>Stratégie :</a:t>
            </a:r>
            <a:r>
              <a:rPr lang="fr-FR" sz="2000" dirty="0"/>
              <a:t> Une opération mixte combinant des actions de renseignement secrètes (piratage) avec des efforts manifestes des médias d'État et des trolls en ligne.</a:t>
            </a:r>
          </a:p>
          <a:p>
            <a:pPr marL="285750" indent="-285750" algn="just">
              <a:buFont typeface="Arial" panose="020B0604020202020204" pitchFamily="34" charset="0"/>
              <a:buChar char="•"/>
            </a:pPr>
            <a:r>
              <a:rPr lang="fr-FR" sz="2000" b="1" dirty="0"/>
              <a:t>Exécution :</a:t>
            </a:r>
            <a:r>
              <a:rPr lang="fr-FR" sz="2000" dirty="0"/>
              <a:t> Une stratégie multiplateforme impliquant des fermes de trolls, des réseaux de bots, des opérations de piratage et de fuite, et une mobilisation dans le monde réel.</a:t>
            </a:r>
          </a:p>
        </p:txBody>
      </p:sp>
    </p:spTree>
    <p:extLst>
      <p:ext uri="{BB962C8B-B14F-4D97-AF65-F5344CB8AC3E}">
        <p14:creationId xmlns:p14="http://schemas.microsoft.com/office/powerpoint/2010/main" val="233138301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2D74-DA20-5A2A-57DD-A6521B9B44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EBC9A97-5E0F-BCB3-BCDC-536B69B5ECA4}"/>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1E684BEB-5558-D35D-E6B3-0CA376C32D9F}"/>
              </a:ext>
            </a:extLst>
          </p:cNvPr>
          <p:cNvSpPr/>
          <p:nvPr/>
        </p:nvSpPr>
        <p:spPr>
          <a:xfrm>
            <a:off x="718456" y="185783"/>
            <a:ext cx="6036305"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Tactique 1 : Création de </a:t>
            </a:r>
            <a:r>
              <a:rPr lang="fr-FR" sz="3200" dirty="0" err="1"/>
              <a:t>Personas</a:t>
            </a:r>
            <a:endParaRPr lang="fr-FR" sz="3200" b="1" noProof="0" dirty="0">
              <a:latin typeface="+mj-lt"/>
            </a:endParaRPr>
          </a:p>
        </p:txBody>
      </p:sp>
      <p:sp>
        <p:nvSpPr>
          <p:cNvPr id="11" name="ZoneTexte 10">
            <a:extLst>
              <a:ext uri="{FF2B5EF4-FFF2-40B4-BE49-F238E27FC236}">
                <a16:creationId xmlns:a16="http://schemas.microsoft.com/office/drawing/2014/main" id="{D86C9196-B8FA-E97C-B06A-8E87D9B09E14}"/>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5 - Étude de Cas : L'Ingérence Russe dans l'Élection Américaine de 2016</a:t>
            </a:r>
          </a:p>
        </p:txBody>
      </p:sp>
      <p:pic>
        <p:nvPicPr>
          <p:cNvPr id="8" name="Graphique 7">
            <a:extLst>
              <a:ext uri="{FF2B5EF4-FFF2-40B4-BE49-F238E27FC236}">
                <a16:creationId xmlns:a16="http://schemas.microsoft.com/office/drawing/2014/main" id="{7E785BFD-8EB0-4DB5-2B51-0F6AAB3BB931}"/>
              </a:ext>
            </a:extLst>
          </p:cNvPr>
          <p:cNvPicPr>
            <a:picLocks noChangeAspect="1"/>
          </p:cNvPicPr>
          <p:nvPr/>
        </p:nvPicPr>
        <p:blipFill>
          <a:blip r:embed="rId2">
            <a:extLst>
              <a:ext uri="{96DAC541-7B7A-43D3-8B79-37D633B846F1}">
                <asvg:svgBlip xmlns:asvg="http://schemas.microsoft.com/office/drawing/2016/SVG/main" r:embed="rId3"/>
              </a:ext>
            </a:extLst>
          </a:blip>
          <a:srcRect l="21716" r="21138"/>
          <a:stretch>
            <a:fillRect/>
          </a:stretch>
        </p:blipFill>
        <p:spPr>
          <a:xfrm>
            <a:off x="8190272" y="2074649"/>
            <a:ext cx="3136490" cy="3043000"/>
          </a:xfrm>
          <a:prstGeom prst="rect">
            <a:avLst/>
          </a:prstGeom>
        </p:spPr>
      </p:pic>
      <p:sp>
        <p:nvSpPr>
          <p:cNvPr id="14" name="ZoneTexte 13">
            <a:extLst>
              <a:ext uri="{FF2B5EF4-FFF2-40B4-BE49-F238E27FC236}">
                <a16:creationId xmlns:a16="http://schemas.microsoft.com/office/drawing/2014/main" id="{653E03A8-2B07-FDF4-D175-74E18ED9B7FD}"/>
              </a:ext>
            </a:extLst>
          </p:cNvPr>
          <p:cNvSpPr txBox="1"/>
          <p:nvPr/>
        </p:nvSpPr>
        <p:spPr>
          <a:xfrm>
            <a:off x="1327354" y="1163017"/>
            <a:ext cx="6096000" cy="5509200"/>
          </a:xfrm>
          <a:prstGeom prst="rect">
            <a:avLst/>
          </a:prstGeom>
          <a:noFill/>
        </p:spPr>
        <p:txBody>
          <a:bodyPr wrap="square">
            <a:spAutoFit/>
          </a:bodyPr>
          <a:lstStyle/>
          <a:p>
            <a:pPr algn="just"/>
            <a:r>
              <a:rPr lang="fr-FR" sz="2200" dirty="0"/>
              <a:t>L'Internet </a:t>
            </a:r>
            <a:r>
              <a:rPr lang="fr-FR" sz="2200" dirty="0" err="1"/>
              <a:t>Research</a:t>
            </a:r>
            <a:r>
              <a:rPr lang="fr-FR" sz="2200" dirty="0"/>
              <a:t> Agency (IRA) de Russie a créé des milliers de faux comptes pour se faire passer pour des citoyens et des groupes politiques américains.</a:t>
            </a:r>
          </a:p>
          <a:p>
            <a:pPr marL="342900" indent="-342900" algn="just">
              <a:buFont typeface="Arial" panose="020B0604020202020204" pitchFamily="34" charset="0"/>
              <a:buChar char="•"/>
            </a:pPr>
            <a:r>
              <a:rPr lang="fr-FR" sz="2200" b="1" dirty="0"/>
              <a:t>Méthode :</a:t>
            </a:r>
            <a:r>
              <a:rPr lang="fr-FR" sz="2200" dirty="0"/>
              <a:t> Des </a:t>
            </a:r>
            <a:r>
              <a:rPr lang="fr-FR" sz="2200" dirty="0" err="1"/>
              <a:t>personas</a:t>
            </a:r>
            <a:r>
              <a:rPr lang="fr-FR" sz="2200" dirty="0"/>
              <a:t> très soignés ont été créés pour infiltrer les communautés militantes existantes, tant à gauche qu'à droite.   </a:t>
            </a:r>
          </a:p>
          <a:p>
            <a:pPr marL="342900" indent="-342900" algn="just">
              <a:buFont typeface="Arial" panose="020B0604020202020204" pitchFamily="34" charset="0"/>
              <a:buChar char="•"/>
            </a:pPr>
            <a:r>
              <a:rPr lang="fr-FR" sz="2200" b="1" dirty="0"/>
              <a:t>Exemples : </a:t>
            </a:r>
            <a:r>
              <a:rPr lang="fr-FR" sz="2200" dirty="0"/>
              <a:t>Certains des comptes les plus actifs imitaient des militants de Black Lives </a:t>
            </a:r>
            <a:r>
              <a:rPr lang="fr-FR" sz="2200" dirty="0" err="1"/>
              <a:t>Matter</a:t>
            </a:r>
            <a:r>
              <a:rPr lang="fr-FR" sz="2200" dirty="0"/>
              <a:t> (par ex., le compte "</a:t>
            </a:r>
            <a:r>
              <a:rPr lang="fr-FR" sz="2200" dirty="0" err="1"/>
              <a:t>Blacktivist</a:t>
            </a:r>
            <a:r>
              <a:rPr lang="fr-FR" sz="2200" dirty="0"/>
              <a:t>") et le Parti Républicain du Tennessee.</a:t>
            </a:r>
          </a:p>
          <a:p>
            <a:pPr marL="342900" indent="-342900" algn="just">
              <a:buFont typeface="Arial" panose="020B0604020202020204" pitchFamily="34" charset="0"/>
              <a:buChar char="•"/>
            </a:pPr>
            <a:r>
              <a:rPr lang="fr-FR" sz="2200" b="1" dirty="0"/>
              <a:t>Impact : </a:t>
            </a:r>
            <a:r>
              <a:rPr lang="fr-FR" sz="2200" dirty="0"/>
              <a:t>Ces </a:t>
            </a:r>
            <a:r>
              <a:rPr lang="fr-FR" sz="2200" dirty="0" err="1"/>
              <a:t>personas</a:t>
            </a:r>
            <a:r>
              <a:rPr lang="fr-FR" sz="2200" dirty="0"/>
              <a:t> ont gagné en crédibilité et en confiance, permettant à l'IRA de diffuser ses récits depuis des communautés d'apparence authentique et même de se coordonner avec de vrais militants.</a:t>
            </a:r>
          </a:p>
        </p:txBody>
      </p:sp>
    </p:spTree>
    <p:extLst>
      <p:ext uri="{BB962C8B-B14F-4D97-AF65-F5344CB8AC3E}">
        <p14:creationId xmlns:p14="http://schemas.microsoft.com/office/powerpoint/2010/main" val="19516010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7E189-0E5A-8930-AC00-CB977AD18E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B9DBDC-2601-54F5-F6DB-1E4A06C7193D}"/>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176ECDF3-6F9D-C494-EFE0-C1A6D23B3E27}"/>
              </a:ext>
            </a:extLst>
          </p:cNvPr>
          <p:cNvSpPr/>
          <p:nvPr/>
        </p:nvSpPr>
        <p:spPr>
          <a:xfrm>
            <a:off x="718456" y="185783"/>
            <a:ext cx="10303505"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Tactique</a:t>
            </a:r>
            <a:r>
              <a:rPr lang="en-US" sz="2800" dirty="0"/>
              <a:t> 2 : </a:t>
            </a:r>
            <a:r>
              <a:rPr lang="fr-FR" sz="2800" dirty="0"/>
              <a:t>Création de Contenu et Manipulation des Médias Sociaux</a:t>
            </a:r>
            <a:endParaRPr lang="fr-FR" sz="2800" b="1" noProof="0" dirty="0">
              <a:latin typeface="+mj-lt"/>
            </a:endParaRPr>
          </a:p>
        </p:txBody>
      </p:sp>
      <p:sp>
        <p:nvSpPr>
          <p:cNvPr id="11" name="ZoneTexte 10">
            <a:extLst>
              <a:ext uri="{FF2B5EF4-FFF2-40B4-BE49-F238E27FC236}">
                <a16:creationId xmlns:a16="http://schemas.microsoft.com/office/drawing/2014/main" id="{B3B17402-9E46-5823-6367-A0E1FDF3ECD4}"/>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5 - Étude de Cas : L'Ingérence Russe dans l'Élection Américaine de 2016</a:t>
            </a:r>
          </a:p>
        </p:txBody>
      </p:sp>
      <p:sp>
        <p:nvSpPr>
          <p:cNvPr id="14" name="ZoneTexte 13">
            <a:extLst>
              <a:ext uri="{FF2B5EF4-FFF2-40B4-BE49-F238E27FC236}">
                <a16:creationId xmlns:a16="http://schemas.microsoft.com/office/drawing/2014/main" id="{40035BE5-A139-9BE7-4741-EB28EA7E4726}"/>
              </a:ext>
            </a:extLst>
          </p:cNvPr>
          <p:cNvSpPr txBox="1"/>
          <p:nvPr/>
        </p:nvSpPr>
        <p:spPr>
          <a:xfrm>
            <a:off x="5535561" y="1399481"/>
            <a:ext cx="6096000" cy="5170646"/>
          </a:xfrm>
          <a:prstGeom prst="rect">
            <a:avLst/>
          </a:prstGeom>
          <a:noFill/>
        </p:spPr>
        <p:txBody>
          <a:bodyPr wrap="square">
            <a:spAutoFit/>
          </a:bodyPr>
          <a:lstStyle/>
          <a:p>
            <a:pPr algn="just"/>
            <a:r>
              <a:rPr lang="fr-FR" sz="2200" dirty="0"/>
              <a:t>L'IRA exploitait une « troll </a:t>
            </a:r>
            <a:r>
              <a:rPr lang="fr-FR" sz="2200" dirty="0" err="1"/>
              <a:t>farm</a:t>
            </a:r>
            <a:r>
              <a:rPr lang="fr-FR" sz="2200" dirty="0"/>
              <a:t> » pour produire des milliers de publications, mèmes et vidéos conçus pour devenir viraux.   </a:t>
            </a:r>
          </a:p>
          <a:p>
            <a:pPr marL="342900" indent="-342900" algn="just">
              <a:buFont typeface="Arial" panose="020B0604020202020204" pitchFamily="34" charset="0"/>
              <a:buChar char="•"/>
            </a:pPr>
            <a:r>
              <a:rPr lang="fr-FR" sz="2200" b="1" dirty="0"/>
              <a:t>Échelle : </a:t>
            </a:r>
            <a:r>
              <a:rPr lang="fr-FR" sz="2200" dirty="0"/>
              <a:t>À son apogée, le département américain de l'IRA créait 1 000 contenus uniques par semaine, atteignant 126 millions d'utilisateurs sur Facebook uniquement.</a:t>
            </a:r>
          </a:p>
          <a:p>
            <a:pPr marL="342900" indent="-342900" algn="just">
              <a:buFont typeface="Arial" panose="020B0604020202020204" pitchFamily="34" charset="0"/>
              <a:buChar char="•"/>
            </a:pPr>
            <a:r>
              <a:rPr lang="fr-FR" sz="2200" b="1" dirty="0"/>
              <a:t>Ciblage : </a:t>
            </a:r>
            <a:r>
              <a:rPr lang="fr-FR" sz="2200" dirty="0"/>
              <a:t>L'IRA a ciblé les deux côtés du spectre idéologique pour semer la division et exploiter les lignes de faille sociales existantes, telles que les tensions raciales.</a:t>
            </a:r>
          </a:p>
          <a:p>
            <a:pPr marL="342900" indent="-342900" algn="just">
              <a:buFont typeface="Arial" panose="020B0604020202020204" pitchFamily="34" charset="0"/>
              <a:buChar char="•"/>
            </a:pPr>
            <a:r>
              <a:rPr lang="fr-FR" sz="2200" b="1" dirty="0"/>
              <a:t>Amplification : </a:t>
            </a:r>
            <a:r>
              <a:rPr lang="fr-FR" sz="2200" dirty="0"/>
              <a:t>L'IRA a acheté des milliers de publicités sur les médias sociaux et a utilisé des réseaux de bots pour amplifier son contenu, atteignant des millions d'utilisateurs américains.</a:t>
            </a:r>
          </a:p>
        </p:txBody>
      </p:sp>
      <p:pic>
        <p:nvPicPr>
          <p:cNvPr id="6147" name="Picture 3" descr="Aaron Maté on X: &quot;@robogreen With all due respect to Jesus memes and  Yosemite Sam, it will never make sense to me how grown adults managed to  convince themselves that “Russian influence">
            <a:extLst>
              <a:ext uri="{FF2B5EF4-FFF2-40B4-BE49-F238E27FC236}">
                <a16:creationId xmlns:a16="http://schemas.microsoft.com/office/drawing/2014/main" id="{A02AAB0C-1399-8E0E-755F-E0A543195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891" y="943428"/>
            <a:ext cx="3917950" cy="5914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2094"/>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51EB-9605-2D58-7A11-6FABFA4F5E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9F80BD-EAA9-56D7-CAB5-CD21DAADA326}"/>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B0680E17-2FE1-BB59-8052-EA969CBD079E}"/>
              </a:ext>
            </a:extLst>
          </p:cNvPr>
          <p:cNvSpPr/>
          <p:nvPr/>
        </p:nvSpPr>
        <p:spPr>
          <a:xfrm>
            <a:off x="718456" y="185783"/>
            <a:ext cx="4443479"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Tactique</a:t>
            </a:r>
            <a:r>
              <a:rPr lang="en-US" sz="2800" dirty="0"/>
              <a:t> 3 : Hack-and-Leak</a:t>
            </a:r>
            <a:endParaRPr lang="fr-FR" sz="2800" b="1" noProof="0" dirty="0">
              <a:latin typeface="+mj-lt"/>
            </a:endParaRPr>
          </a:p>
        </p:txBody>
      </p:sp>
      <p:sp>
        <p:nvSpPr>
          <p:cNvPr id="11" name="ZoneTexte 10">
            <a:extLst>
              <a:ext uri="{FF2B5EF4-FFF2-40B4-BE49-F238E27FC236}">
                <a16:creationId xmlns:a16="http://schemas.microsoft.com/office/drawing/2014/main" id="{AEFF9CE1-69FE-0A06-BBA0-6A9868BA02B7}"/>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5 - Étude de Cas : L'Ingérence Russe dans l'Élection Américaine de 2016</a:t>
            </a:r>
          </a:p>
        </p:txBody>
      </p:sp>
      <p:sp>
        <p:nvSpPr>
          <p:cNvPr id="14" name="ZoneTexte 13">
            <a:extLst>
              <a:ext uri="{FF2B5EF4-FFF2-40B4-BE49-F238E27FC236}">
                <a16:creationId xmlns:a16="http://schemas.microsoft.com/office/drawing/2014/main" id="{0F590028-35C1-7487-8810-04B63C46B383}"/>
              </a:ext>
            </a:extLst>
          </p:cNvPr>
          <p:cNvSpPr txBox="1"/>
          <p:nvPr/>
        </p:nvSpPr>
        <p:spPr>
          <a:xfrm>
            <a:off x="1140543" y="856357"/>
            <a:ext cx="5889524" cy="6001643"/>
          </a:xfrm>
          <a:prstGeom prst="rect">
            <a:avLst/>
          </a:prstGeom>
          <a:noFill/>
        </p:spPr>
        <p:txBody>
          <a:bodyPr wrap="square">
            <a:spAutoFit/>
          </a:bodyPr>
          <a:lstStyle/>
          <a:p>
            <a:pPr algn="just"/>
            <a:r>
              <a:rPr lang="fr-FR" sz="2400" dirty="0"/>
              <a:t>L'agence de renseignement militaire russe (GRU) a mené des opérations de piratage à grande échelle contre des cibles du parti Démocrate.</a:t>
            </a:r>
          </a:p>
          <a:p>
            <a:pPr marL="342900" indent="-342900" algn="just">
              <a:buFont typeface="Arial" panose="020B0604020202020204" pitchFamily="34" charset="0"/>
              <a:buChar char="•"/>
            </a:pPr>
            <a:r>
              <a:rPr lang="fr-FR" sz="2400" b="1" dirty="0"/>
              <a:t>Cibles :</a:t>
            </a:r>
            <a:r>
              <a:rPr lang="fr-FR" sz="2400" dirty="0"/>
              <a:t> Le Comité National Démocrate (DNC) et les comptes de messagerie personnels de responsables de la campagne de Clinton.</a:t>
            </a:r>
          </a:p>
          <a:p>
            <a:pPr marL="342900" indent="-342900" algn="just">
              <a:buFont typeface="Arial" panose="020B0604020202020204" pitchFamily="34" charset="0"/>
              <a:buChar char="•"/>
            </a:pPr>
            <a:r>
              <a:rPr lang="fr-FR" sz="2400" b="1" dirty="0"/>
              <a:t>Diffusion :</a:t>
            </a:r>
            <a:r>
              <a:rPr lang="fr-FR" sz="2400" dirty="0"/>
              <a:t> Les informations volées ont été rendues publiques par des façades opérées par le GRU comme </a:t>
            </a:r>
            <a:r>
              <a:rPr lang="fr-FR" sz="2400" b="1" dirty="0" err="1"/>
              <a:t>DCLeaks</a:t>
            </a:r>
            <a:r>
              <a:rPr lang="fr-FR" sz="2400" dirty="0"/>
              <a:t> et </a:t>
            </a:r>
            <a:r>
              <a:rPr lang="fr-FR" sz="2400" b="1" dirty="0" err="1"/>
              <a:t>Guccifer</a:t>
            </a:r>
            <a:r>
              <a:rPr lang="fr-FR" sz="2400" b="1" dirty="0"/>
              <a:t> 2.0</a:t>
            </a:r>
            <a:r>
              <a:rPr lang="fr-FR" sz="2400" dirty="0"/>
              <a:t>, ainsi que par </a:t>
            </a:r>
            <a:r>
              <a:rPr lang="fr-FR" sz="2400" b="1" dirty="0" err="1"/>
              <a:t>WikiLeaks</a:t>
            </a:r>
            <a:r>
              <a:rPr lang="fr-FR" sz="2400" dirty="0"/>
              <a:t>.</a:t>
            </a:r>
          </a:p>
          <a:p>
            <a:pPr marL="342900" indent="-342900" algn="just">
              <a:buFont typeface="Arial" panose="020B0604020202020204" pitchFamily="34" charset="0"/>
              <a:buChar char="•"/>
            </a:pPr>
            <a:r>
              <a:rPr lang="fr-FR" sz="2400" b="1" dirty="0"/>
              <a:t>Objectif :</a:t>
            </a:r>
            <a:r>
              <a:rPr lang="fr-FR" sz="2400" dirty="0"/>
              <a:t> Nuire à la campagne de Clinton en publiant des communications privées embarrassantes ou politiquement sensibles.</a:t>
            </a:r>
          </a:p>
        </p:txBody>
      </p:sp>
      <p:pic>
        <p:nvPicPr>
          <p:cNvPr id="7170" name="Picture 2" descr="US House Democratic Leader Says She Received 'Obscene, Sick' Messages After  Hack">
            <a:extLst>
              <a:ext uri="{FF2B5EF4-FFF2-40B4-BE49-F238E27FC236}">
                <a16:creationId xmlns:a16="http://schemas.microsoft.com/office/drawing/2014/main" id="{47F5CB83-47DB-F408-A68E-F7D070B43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871" y="2409618"/>
            <a:ext cx="4851076" cy="286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457702"/>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16C0-E47C-5F3B-D6C3-D0340FBA8D8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797900-5DF4-3113-FC8E-9B6272D0CDC7}"/>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CB1B4340-C55E-0232-1DA1-05CEF3BC5FD1}"/>
              </a:ext>
            </a:extLst>
          </p:cNvPr>
          <p:cNvSpPr/>
          <p:nvPr/>
        </p:nvSpPr>
        <p:spPr>
          <a:xfrm>
            <a:off x="718457" y="185783"/>
            <a:ext cx="8789338"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Tactique</a:t>
            </a:r>
            <a:r>
              <a:rPr lang="en-US" sz="2800" dirty="0"/>
              <a:t> 4 : </a:t>
            </a:r>
            <a:r>
              <a:rPr lang="fr-FR" sz="2800" dirty="0"/>
              <a:t>Mobilisation pour l'Action dans le Monde Réel</a:t>
            </a:r>
            <a:endParaRPr lang="fr-FR" sz="2800" b="1" noProof="0" dirty="0">
              <a:latin typeface="+mj-lt"/>
            </a:endParaRPr>
          </a:p>
        </p:txBody>
      </p:sp>
      <p:sp>
        <p:nvSpPr>
          <p:cNvPr id="11" name="ZoneTexte 10">
            <a:extLst>
              <a:ext uri="{FF2B5EF4-FFF2-40B4-BE49-F238E27FC236}">
                <a16:creationId xmlns:a16="http://schemas.microsoft.com/office/drawing/2014/main" id="{AC21D439-D16B-5718-F7FA-4485B9BA09DE}"/>
              </a:ext>
            </a:extLst>
          </p:cNvPr>
          <p:cNvSpPr txBox="1"/>
          <p:nvPr/>
        </p:nvSpPr>
        <p:spPr>
          <a:xfrm rot="16200000">
            <a:off x="-3054022" y="2599034"/>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5 - Étude de Cas : L'Ingérence Russe dans l'Élection Américaine de 2016</a:t>
            </a:r>
          </a:p>
        </p:txBody>
      </p:sp>
      <p:sp>
        <p:nvSpPr>
          <p:cNvPr id="14" name="ZoneTexte 13">
            <a:extLst>
              <a:ext uri="{FF2B5EF4-FFF2-40B4-BE49-F238E27FC236}">
                <a16:creationId xmlns:a16="http://schemas.microsoft.com/office/drawing/2014/main" id="{DB2FCA4E-8BDD-142B-B054-9751773B95B2}"/>
              </a:ext>
            </a:extLst>
          </p:cNvPr>
          <p:cNvSpPr txBox="1"/>
          <p:nvPr/>
        </p:nvSpPr>
        <p:spPr>
          <a:xfrm>
            <a:off x="5683045" y="943428"/>
            <a:ext cx="6096000" cy="6001643"/>
          </a:xfrm>
          <a:prstGeom prst="rect">
            <a:avLst/>
          </a:prstGeom>
          <a:noFill/>
        </p:spPr>
        <p:txBody>
          <a:bodyPr wrap="square">
            <a:spAutoFit/>
          </a:bodyPr>
          <a:lstStyle/>
          <a:p>
            <a:pPr algn="just"/>
            <a:r>
              <a:rPr lang="fr-FR" sz="2400" dirty="0"/>
              <a:t>L'IRA a réussi à utiliser ses </a:t>
            </a:r>
            <a:r>
              <a:rPr lang="fr-FR" sz="2400" dirty="0" err="1"/>
              <a:t>personas</a:t>
            </a:r>
            <a:r>
              <a:rPr lang="fr-FR" sz="2400" dirty="0"/>
              <a:t> en ligne pour organiser et promouvoir de véritables rassemblements politiques aux États-Unis.</a:t>
            </a:r>
          </a:p>
          <a:p>
            <a:pPr marL="342900" indent="-342900" algn="just">
              <a:buFont typeface="Arial" panose="020B0604020202020204" pitchFamily="34" charset="0"/>
              <a:buChar char="•"/>
            </a:pPr>
            <a:r>
              <a:rPr lang="fr-FR" sz="2400" b="1" dirty="0"/>
              <a:t>Exemple :</a:t>
            </a:r>
            <a:r>
              <a:rPr lang="fr-FR" sz="2400" dirty="0"/>
              <a:t> En mai 2016, l'IRA a utilisé deux de ses pages de façade — "</a:t>
            </a:r>
            <a:r>
              <a:rPr lang="fr-FR" sz="2400" dirty="0" err="1"/>
              <a:t>Heart</a:t>
            </a:r>
            <a:r>
              <a:rPr lang="fr-FR" sz="2400" dirty="0"/>
              <a:t> of Texas" et "United </a:t>
            </a:r>
            <a:r>
              <a:rPr lang="fr-FR" sz="2400" dirty="0" err="1"/>
              <a:t>Muslims</a:t>
            </a:r>
            <a:r>
              <a:rPr lang="fr-FR" sz="2400" dirty="0"/>
              <a:t> of America" — pour organiser des manifestations opposées au même moment et au même endroit à Houston.</a:t>
            </a:r>
          </a:p>
          <a:p>
            <a:pPr marL="342900" indent="-342900" algn="just">
              <a:buFont typeface="Arial" panose="020B0604020202020204" pitchFamily="34" charset="0"/>
              <a:buChar char="•"/>
            </a:pPr>
            <a:r>
              <a:rPr lang="fr-FR" sz="2400" b="1" dirty="0"/>
              <a:t>Résultat :</a:t>
            </a:r>
            <a:r>
              <a:rPr lang="fr-FR" sz="2400" dirty="0"/>
              <a:t> Les deux groupes de militants américains involontaires se sont affrontés, toute la confrontation ayant été organisée par des agents russes pour environ 200 $ de publicité. Cela a démontré la capacité de transformer la division en ligne en conflit hors ligne.</a:t>
            </a:r>
          </a:p>
        </p:txBody>
      </p:sp>
      <p:pic>
        <p:nvPicPr>
          <p:cNvPr id="8194" name="Picture 2" descr="A Russian Facebook page organized a protest in Texas. A different Russian  page launched the counterprotest. | The Texas Tribune">
            <a:extLst>
              <a:ext uri="{FF2B5EF4-FFF2-40B4-BE49-F238E27FC236}">
                <a16:creationId xmlns:a16="http://schemas.microsoft.com/office/drawing/2014/main" id="{2DB71C15-9C8C-4A03-DFEA-8E086F801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270" y="2238353"/>
            <a:ext cx="4533775" cy="341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886940"/>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A6FCC-D3C1-B0C1-BB4F-BF24A70112E3}"/>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9FD76792-115D-E162-F72D-8927A4C72C97}"/>
              </a:ext>
            </a:extLst>
          </p:cNvPr>
          <p:cNvSpPr txBox="1"/>
          <p:nvPr/>
        </p:nvSpPr>
        <p:spPr>
          <a:xfrm>
            <a:off x="3590538" y="2752037"/>
            <a:ext cx="8227836" cy="671851"/>
          </a:xfrm>
          <a:prstGeom prst="rect">
            <a:avLst/>
          </a:prstGeom>
          <a:noFill/>
        </p:spPr>
        <p:txBody>
          <a:bodyPr wrap="square" rtlCol="0">
            <a:spAutoFit/>
          </a:bodyPr>
          <a:lstStyle/>
          <a:p>
            <a:pPr algn="just">
              <a:lnSpc>
                <a:spcPct val="150000"/>
              </a:lnSpc>
            </a:pPr>
            <a:r>
              <a:rPr lang="fr-FR" sz="2800" b="1" dirty="0">
                <a:solidFill>
                  <a:srgbClr val="FFC000"/>
                </a:solidFill>
                <a:latin typeface="Calibri Light" panose="020F0302020204030204" pitchFamily="34" charset="0"/>
                <a:cs typeface="Calibri Light" panose="020F0302020204030204" pitchFamily="34" charset="0"/>
              </a:rPr>
              <a:t>6 - L'Écosystème Mondial et l'Impact Sociétal</a:t>
            </a:r>
          </a:p>
        </p:txBody>
      </p:sp>
      <p:sp>
        <p:nvSpPr>
          <p:cNvPr id="4" name="ZoneTexte 3">
            <a:extLst>
              <a:ext uri="{FF2B5EF4-FFF2-40B4-BE49-F238E27FC236}">
                <a16:creationId xmlns:a16="http://schemas.microsoft.com/office/drawing/2014/main" id="{6CBF3D78-BE78-2AE9-E1D4-6A26A0726876}"/>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6</a:t>
            </a:r>
          </a:p>
        </p:txBody>
      </p:sp>
      <p:pic>
        <p:nvPicPr>
          <p:cNvPr id="3" name="Image 2">
            <a:extLst>
              <a:ext uri="{FF2B5EF4-FFF2-40B4-BE49-F238E27FC236}">
                <a16:creationId xmlns:a16="http://schemas.microsoft.com/office/drawing/2014/main" id="{B5CADD78-24F8-5B2F-D52D-A3ADCB2728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3609" y="2583726"/>
            <a:ext cx="1395127" cy="1395127"/>
          </a:xfrm>
          <a:prstGeom prst="rect">
            <a:avLst/>
          </a:prstGeom>
        </p:spPr>
      </p:pic>
    </p:spTree>
    <p:extLst>
      <p:ext uri="{BB962C8B-B14F-4D97-AF65-F5344CB8AC3E}">
        <p14:creationId xmlns:p14="http://schemas.microsoft.com/office/powerpoint/2010/main" val="113853652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3458E-8E36-26CC-5F5F-FCB5BCEDDA5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A4C3006-0A66-2C97-78AE-F648F2F10021}"/>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B468C51E-327B-6CB0-9A45-1144B136ED2C}"/>
              </a:ext>
            </a:extLst>
          </p:cNvPr>
          <p:cNvSpPr/>
          <p:nvPr/>
        </p:nvSpPr>
        <p:spPr>
          <a:xfrm>
            <a:off x="718457" y="185783"/>
            <a:ext cx="6537749"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L'Écosystème Mondial de la Désinformation</a:t>
            </a:r>
            <a:endParaRPr lang="fr-FR" sz="2800" b="1" noProof="0" dirty="0">
              <a:latin typeface="+mj-lt"/>
            </a:endParaRPr>
          </a:p>
        </p:txBody>
      </p:sp>
      <p:sp>
        <p:nvSpPr>
          <p:cNvPr id="11" name="ZoneTexte 10">
            <a:extLst>
              <a:ext uri="{FF2B5EF4-FFF2-40B4-BE49-F238E27FC236}">
                <a16:creationId xmlns:a16="http://schemas.microsoft.com/office/drawing/2014/main" id="{86C37FF7-DA96-5335-FC8F-C7E4B16A5D87}"/>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graphicFrame>
        <p:nvGraphicFramePr>
          <p:cNvPr id="3" name="Tableau 2">
            <a:extLst>
              <a:ext uri="{FF2B5EF4-FFF2-40B4-BE49-F238E27FC236}">
                <a16:creationId xmlns:a16="http://schemas.microsoft.com/office/drawing/2014/main" id="{F9F83F7C-C6B4-52CA-2AEB-B5FE747F128B}"/>
              </a:ext>
            </a:extLst>
          </p:cNvPr>
          <p:cNvGraphicFramePr>
            <a:graphicFrameLocks noGrp="1"/>
          </p:cNvGraphicFramePr>
          <p:nvPr>
            <p:extLst>
              <p:ext uri="{D42A27DB-BD31-4B8C-83A1-F6EECF244321}">
                <p14:modId xmlns:p14="http://schemas.microsoft.com/office/powerpoint/2010/main" val="1205797656"/>
              </p:ext>
            </p:extLst>
          </p:nvPr>
        </p:nvGraphicFramePr>
        <p:xfrm>
          <a:off x="1279453" y="1608265"/>
          <a:ext cx="10842165" cy="4028440"/>
        </p:xfrm>
        <a:graphic>
          <a:graphicData uri="http://schemas.openxmlformats.org/drawingml/2006/table">
            <a:tbl>
              <a:tblPr firstRow="1" bandRow="1">
                <a:tableStyleId>{00A15C55-8517-42AA-B614-E9B94910E393}</a:tableStyleId>
              </a:tblPr>
              <a:tblGrid>
                <a:gridCol w="2643618">
                  <a:extLst>
                    <a:ext uri="{9D8B030D-6E8A-4147-A177-3AD203B41FA5}">
                      <a16:colId xmlns:a16="http://schemas.microsoft.com/office/drawing/2014/main" val="684969989"/>
                    </a:ext>
                  </a:extLst>
                </a:gridCol>
                <a:gridCol w="3392129">
                  <a:extLst>
                    <a:ext uri="{9D8B030D-6E8A-4147-A177-3AD203B41FA5}">
                      <a16:colId xmlns:a16="http://schemas.microsoft.com/office/drawing/2014/main" val="734616711"/>
                    </a:ext>
                  </a:extLst>
                </a:gridCol>
                <a:gridCol w="4806418">
                  <a:extLst>
                    <a:ext uri="{9D8B030D-6E8A-4147-A177-3AD203B41FA5}">
                      <a16:colId xmlns:a16="http://schemas.microsoft.com/office/drawing/2014/main" val="227914401"/>
                    </a:ext>
                  </a:extLst>
                </a:gridCol>
              </a:tblGrid>
              <a:tr h="370840">
                <a:tc>
                  <a:txBody>
                    <a:bodyPr/>
                    <a:lstStyle/>
                    <a:p>
                      <a:pPr algn="ctr">
                        <a:buNone/>
                      </a:pPr>
                      <a:r>
                        <a:rPr lang="en-US" dirty="0"/>
                        <a:t>Type </a:t>
                      </a:r>
                      <a:r>
                        <a:rPr lang="en-US" dirty="0" err="1"/>
                        <a:t>d'Acteur</a:t>
                      </a:r>
                      <a:endParaRPr lang="en-US" dirty="0"/>
                    </a:p>
                  </a:txBody>
                  <a:tcPr anchor="ctr"/>
                </a:tc>
                <a:tc>
                  <a:txBody>
                    <a:bodyPr/>
                    <a:lstStyle/>
                    <a:p>
                      <a:pPr algn="ctr">
                        <a:buNone/>
                      </a:pPr>
                      <a:r>
                        <a:rPr lang="en-US"/>
                        <a:t>Motivation Principale</a:t>
                      </a:r>
                    </a:p>
                  </a:txBody>
                  <a:tcPr anchor="ctr"/>
                </a:tc>
                <a:tc>
                  <a:txBody>
                    <a:bodyPr/>
                    <a:lstStyle/>
                    <a:p>
                      <a:pPr algn="ctr">
                        <a:buNone/>
                      </a:pPr>
                      <a:r>
                        <a:rPr lang="en-US" dirty="0" err="1"/>
                        <a:t>Exemples</a:t>
                      </a:r>
                      <a:r>
                        <a:rPr lang="en-US" dirty="0"/>
                        <a:t> </a:t>
                      </a:r>
                      <a:r>
                        <a:rPr lang="en-US" dirty="0" err="1"/>
                        <a:t>Clés</a:t>
                      </a:r>
                      <a:endParaRPr lang="en-US" dirty="0"/>
                    </a:p>
                  </a:txBody>
                  <a:tcPr anchor="ctr"/>
                </a:tc>
                <a:extLst>
                  <a:ext uri="{0D108BD9-81ED-4DB2-BD59-A6C34878D82A}">
                    <a16:rowId xmlns:a16="http://schemas.microsoft.com/office/drawing/2014/main" val="2924141238"/>
                  </a:ext>
                </a:extLst>
              </a:tr>
              <a:tr h="370840">
                <a:tc>
                  <a:txBody>
                    <a:bodyPr/>
                    <a:lstStyle/>
                    <a:p>
                      <a:pPr algn="ctr">
                        <a:buNone/>
                      </a:pPr>
                      <a:r>
                        <a:rPr lang="en-US" b="1"/>
                        <a:t>Soutenu par l'État</a:t>
                      </a:r>
                      <a:endParaRPr lang="en-US"/>
                    </a:p>
                  </a:txBody>
                  <a:tcPr anchor="ctr"/>
                </a:tc>
                <a:tc>
                  <a:txBody>
                    <a:bodyPr/>
                    <a:lstStyle/>
                    <a:p>
                      <a:pPr>
                        <a:buNone/>
                      </a:pPr>
                      <a:r>
                        <a:rPr lang="fr-FR"/>
                        <a:t>Influence géopolitique, déstabilisation des adversaires.   </a:t>
                      </a:r>
                    </a:p>
                  </a:txBody>
                  <a:tcPr anchor="ctr"/>
                </a:tc>
                <a:tc>
                  <a:txBody>
                    <a:bodyPr/>
                    <a:lstStyle/>
                    <a:p>
                      <a:pPr>
                        <a:buNone/>
                      </a:pPr>
                      <a:r>
                        <a:rPr lang="fr-FR"/>
                        <a:t>Internet Research Agency (IRA) de Russie ; réseau "Spamouflage" de la Chine.   </a:t>
                      </a:r>
                    </a:p>
                  </a:txBody>
                  <a:tcPr anchor="ctr"/>
                </a:tc>
                <a:extLst>
                  <a:ext uri="{0D108BD9-81ED-4DB2-BD59-A6C34878D82A}">
                    <a16:rowId xmlns:a16="http://schemas.microsoft.com/office/drawing/2014/main" val="3467889833"/>
                  </a:ext>
                </a:extLst>
              </a:tr>
              <a:tr h="370840">
                <a:tc>
                  <a:txBody>
                    <a:bodyPr/>
                    <a:lstStyle/>
                    <a:p>
                      <a:pPr algn="ctr">
                        <a:buNone/>
                      </a:pPr>
                      <a:r>
                        <a:rPr lang="en-US" b="1"/>
                        <a:t>Politique National</a:t>
                      </a:r>
                      <a:endParaRPr lang="en-US"/>
                    </a:p>
                  </a:txBody>
                  <a:tcPr anchor="ctr"/>
                </a:tc>
                <a:tc>
                  <a:txBody>
                    <a:bodyPr/>
                    <a:lstStyle/>
                    <a:p>
                      <a:pPr>
                        <a:buNone/>
                      </a:pPr>
                      <a:r>
                        <a:rPr lang="fr-FR"/>
                        <a:t>Victoire électorale, saper les opposants, mobiliser les partisans.   </a:t>
                      </a:r>
                    </a:p>
                  </a:txBody>
                  <a:tcPr anchor="ctr"/>
                </a:tc>
                <a:tc>
                  <a:txBody>
                    <a:bodyPr/>
                    <a:lstStyle/>
                    <a:p>
                      <a:pPr>
                        <a:buNone/>
                      </a:pPr>
                      <a:r>
                        <a:rPr lang="fr-FR" dirty="0"/>
                        <a:t>Amplification du "Grand Mensonge" sur l'élection américaine de 2020.   </a:t>
                      </a:r>
                    </a:p>
                  </a:txBody>
                  <a:tcPr anchor="ctr"/>
                </a:tc>
                <a:extLst>
                  <a:ext uri="{0D108BD9-81ED-4DB2-BD59-A6C34878D82A}">
                    <a16:rowId xmlns:a16="http://schemas.microsoft.com/office/drawing/2014/main" val="4059867766"/>
                  </a:ext>
                </a:extLst>
              </a:tr>
              <a:tr h="370840">
                <a:tc>
                  <a:txBody>
                    <a:bodyPr/>
                    <a:lstStyle/>
                    <a:p>
                      <a:pPr algn="ctr">
                        <a:buNone/>
                      </a:pPr>
                      <a:r>
                        <a:rPr lang="en-US" b="1" dirty="0"/>
                        <a:t>À But </a:t>
                      </a:r>
                      <a:r>
                        <a:rPr lang="en-US" b="1" dirty="0" err="1"/>
                        <a:t>Lucratif</a:t>
                      </a:r>
                      <a:r>
                        <a:rPr lang="en-US" b="1" dirty="0"/>
                        <a:t> / DaaS</a:t>
                      </a:r>
                      <a:endParaRPr lang="en-US" dirty="0"/>
                    </a:p>
                  </a:txBody>
                  <a:tcPr anchor="ctr"/>
                </a:tc>
                <a:tc>
                  <a:txBody>
                    <a:bodyPr/>
                    <a:lstStyle/>
                    <a:p>
                      <a:pPr>
                        <a:buNone/>
                      </a:pPr>
                      <a:r>
                        <a:rPr lang="fr-FR"/>
                        <a:t>Profit financier via la publicité en ligne et les services payants.   </a:t>
                      </a:r>
                    </a:p>
                  </a:txBody>
                  <a:tcPr anchor="ctr"/>
                </a:tc>
                <a:tc>
                  <a:txBody>
                    <a:bodyPr/>
                    <a:lstStyle/>
                    <a:p>
                      <a:pPr>
                        <a:buNone/>
                      </a:pPr>
                      <a:r>
                        <a:rPr lang="fr-FR"/>
                        <a:t>Adolescents macédoniens créant de fausses nouvelles pro-Trump pour les revenus publicitaires ; entreprises commerciales offrant la "Désinformation en tant que Service".</a:t>
                      </a:r>
                    </a:p>
                  </a:txBody>
                  <a:tcPr anchor="ctr"/>
                </a:tc>
                <a:extLst>
                  <a:ext uri="{0D108BD9-81ED-4DB2-BD59-A6C34878D82A}">
                    <a16:rowId xmlns:a16="http://schemas.microsoft.com/office/drawing/2014/main" val="3099536530"/>
                  </a:ext>
                </a:extLst>
              </a:tr>
              <a:tr h="370840">
                <a:tc>
                  <a:txBody>
                    <a:bodyPr/>
                    <a:lstStyle/>
                    <a:p>
                      <a:pPr algn="ctr">
                        <a:buNone/>
                      </a:pPr>
                      <a:r>
                        <a:rPr lang="en-US" b="1" dirty="0" err="1"/>
                        <a:t>Idéologique</a:t>
                      </a:r>
                      <a:endParaRPr lang="en-US" dirty="0"/>
                    </a:p>
                  </a:txBody>
                  <a:tcPr anchor="ctr"/>
                </a:tc>
                <a:tc>
                  <a:txBody>
                    <a:bodyPr/>
                    <a:lstStyle/>
                    <a:p>
                      <a:pPr>
                        <a:buNone/>
                      </a:pPr>
                      <a:r>
                        <a:rPr lang="fr-FR"/>
                        <a:t>Promouvoir une cause spécifique (par ex., anti-vaccin, négationnisme climatique).   </a:t>
                      </a:r>
                    </a:p>
                  </a:txBody>
                  <a:tcPr anchor="ctr"/>
                </a:tc>
                <a:tc>
                  <a:txBody>
                    <a:bodyPr/>
                    <a:lstStyle/>
                    <a:p>
                      <a:pPr>
                        <a:buNone/>
                      </a:pPr>
                      <a:r>
                        <a:rPr lang="fr-FR" dirty="0"/>
                        <a:t>Mouvements </a:t>
                      </a:r>
                      <a:r>
                        <a:rPr lang="fr-FR" dirty="0" err="1"/>
                        <a:t>anti-vaccins</a:t>
                      </a:r>
                      <a:r>
                        <a:rPr lang="fr-FR" dirty="0"/>
                        <a:t> propageant de la désinformation sur la santé ; militants anti-5G liant la technologie à la COVID-19.   </a:t>
                      </a:r>
                    </a:p>
                  </a:txBody>
                  <a:tcPr anchor="ctr"/>
                </a:tc>
                <a:extLst>
                  <a:ext uri="{0D108BD9-81ED-4DB2-BD59-A6C34878D82A}">
                    <a16:rowId xmlns:a16="http://schemas.microsoft.com/office/drawing/2014/main" val="2901298059"/>
                  </a:ext>
                </a:extLst>
              </a:tr>
            </a:tbl>
          </a:graphicData>
        </a:graphic>
      </p:graphicFrame>
    </p:spTree>
    <p:extLst>
      <p:ext uri="{BB962C8B-B14F-4D97-AF65-F5344CB8AC3E}">
        <p14:creationId xmlns:p14="http://schemas.microsoft.com/office/powerpoint/2010/main" val="373609783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6689-7E09-6646-0E64-5247AF5151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6E64D9-5B0A-8925-E8D6-543F4B7E6643}"/>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BE8679B-6EFD-63B3-6BF4-E11BE774F712}"/>
              </a:ext>
            </a:extLst>
          </p:cNvPr>
          <p:cNvSpPr/>
          <p:nvPr/>
        </p:nvSpPr>
        <p:spPr>
          <a:xfrm>
            <a:off x="718457" y="185783"/>
            <a:ext cx="9949543"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Impact Sociétal 1: Atteinte à la démocratie et à l’intégrité </a:t>
            </a:r>
            <a:r>
              <a:rPr lang="fr-FR" sz="2800" dirty="0" err="1"/>
              <a:t>electorale</a:t>
            </a:r>
            <a:endParaRPr lang="fr-FR" sz="2800" b="1" noProof="0" dirty="0">
              <a:latin typeface="+mj-lt"/>
            </a:endParaRPr>
          </a:p>
        </p:txBody>
      </p:sp>
      <p:sp>
        <p:nvSpPr>
          <p:cNvPr id="11" name="ZoneTexte 10">
            <a:extLst>
              <a:ext uri="{FF2B5EF4-FFF2-40B4-BE49-F238E27FC236}">
                <a16:creationId xmlns:a16="http://schemas.microsoft.com/office/drawing/2014/main" id="{4267FAC6-47BE-F511-9A79-7B9826B46171}"/>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sp>
        <p:nvSpPr>
          <p:cNvPr id="7" name="ZoneTexte 6">
            <a:extLst>
              <a:ext uri="{FF2B5EF4-FFF2-40B4-BE49-F238E27FC236}">
                <a16:creationId xmlns:a16="http://schemas.microsoft.com/office/drawing/2014/main" id="{729F24C8-C9F0-0E2E-4B6A-A02446F7F72D}"/>
              </a:ext>
            </a:extLst>
          </p:cNvPr>
          <p:cNvSpPr txBox="1"/>
          <p:nvPr/>
        </p:nvSpPr>
        <p:spPr>
          <a:xfrm>
            <a:off x="1416843" y="1299444"/>
            <a:ext cx="6026176" cy="5016758"/>
          </a:xfrm>
          <a:prstGeom prst="rect">
            <a:avLst/>
          </a:prstGeom>
          <a:noFill/>
        </p:spPr>
        <p:txBody>
          <a:bodyPr wrap="square">
            <a:spAutoFit/>
          </a:bodyPr>
          <a:lstStyle/>
          <a:p>
            <a:pPr algn="just"/>
            <a:r>
              <a:rPr lang="fr-FR" sz="2000" dirty="0"/>
              <a:t>La désinformation constitue une menace directe pour les processus démocratiques.   </a:t>
            </a:r>
          </a:p>
          <a:p>
            <a:pPr marL="285750" indent="-285750" algn="just">
              <a:buFont typeface="Arial" panose="020B0604020202020204" pitchFamily="34" charset="0"/>
              <a:buChar char="•"/>
            </a:pPr>
            <a:r>
              <a:rPr lang="fr-FR" sz="2000" b="1" dirty="0"/>
              <a:t>Ingérence Électorale : </a:t>
            </a:r>
            <a:r>
              <a:rPr lang="fr-FR" sz="2000" dirty="0"/>
              <a:t>Les campagnes visent à influencer les résultats des élections en diffusant de fausses informations sur les candidats et le processus de vote.   </a:t>
            </a:r>
          </a:p>
          <a:p>
            <a:pPr marL="285750" indent="-285750" algn="just">
              <a:buFont typeface="Arial" panose="020B0604020202020204" pitchFamily="34" charset="0"/>
              <a:buChar char="•"/>
            </a:pPr>
            <a:r>
              <a:rPr lang="fr-FR" sz="2000" b="1" dirty="0"/>
              <a:t>Érosion de la Confiance : </a:t>
            </a:r>
            <a:r>
              <a:rPr lang="fr-FR" sz="2000" dirty="0"/>
              <a:t>Un impact encore plus dommageable est l'affaiblissement délibéré de la confiance du public dans le processus électoral lui-même.   </a:t>
            </a:r>
          </a:p>
          <a:p>
            <a:pPr marL="285750" indent="-285750" algn="just">
              <a:buFont typeface="Arial" panose="020B0604020202020204" pitchFamily="34" charset="0"/>
              <a:buChar char="•"/>
            </a:pPr>
            <a:r>
              <a:rPr lang="fr-FR" sz="2000" b="1" dirty="0"/>
              <a:t>Exemple : </a:t>
            </a:r>
            <a:r>
              <a:rPr lang="fr-FR" sz="2000" dirty="0"/>
              <a:t>Le "Grand Mensonge" selon lequel l'élection présidentielle américaine de 2020 a été "volée" a réussi à convaincre une grande partie de la population de remettre en question la légitimité du résultat, érodant la norme d'un transfert pacifique du pouvoir. </a:t>
            </a:r>
            <a:endParaRPr lang="en-US" sz="2000" dirty="0"/>
          </a:p>
        </p:txBody>
      </p:sp>
      <p:pic>
        <p:nvPicPr>
          <p:cNvPr id="10243" name="Picture 3" descr="A weak yen is the root of Japan's lurch to the right">
            <a:extLst>
              <a:ext uri="{FF2B5EF4-FFF2-40B4-BE49-F238E27FC236}">
                <a16:creationId xmlns:a16="http://schemas.microsoft.com/office/drawing/2014/main" id="{DE8FDE01-815E-9686-611D-6631B1EF9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3364" y="2632858"/>
            <a:ext cx="4003400" cy="2253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687765"/>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AE0E-9CAB-D4BB-24E6-B7CFC96663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C243B0-8664-2D5D-D737-868D6D42ADF6}"/>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21B89E83-F7F8-2BDE-C46C-B378D64C4BFD}"/>
              </a:ext>
            </a:extLst>
          </p:cNvPr>
          <p:cNvSpPr/>
          <p:nvPr/>
        </p:nvSpPr>
        <p:spPr>
          <a:xfrm>
            <a:off x="718458" y="185783"/>
            <a:ext cx="9359608"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Impact Sociétal 2: Polarisation et Erosion de la </a:t>
            </a:r>
            <a:r>
              <a:rPr lang="fr-FR" sz="2800" dirty="0" err="1"/>
              <a:t>cohesion</a:t>
            </a:r>
            <a:r>
              <a:rPr lang="fr-FR" sz="2800" dirty="0"/>
              <a:t> sociale</a:t>
            </a:r>
            <a:endParaRPr lang="fr-FR" sz="2800" b="1" noProof="0" dirty="0">
              <a:latin typeface="+mj-lt"/>
            </a:endParaRPr>
          </a:p>
        </p:txBody>
      </p:sp>
      <p:sp>
        <p:nvSpPr>
          <p:cNvPr id="11" name="ZoneTexte 10">
            <a:extLst>
              <a:ext uri="{FF2B5EF4-FFF2-40B4-BE49-F238E27FC236}">
                <a16:creationId xmlns:a16="http://schemas.microsoft.com/office/drawing/2014/main" id="{9F6427FB-3653-8453-F16E-6F749EE040C9}"/>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sp>
        <p:nvSpPr>
          <p:cNvPr id="7" name="ZoneTexte 6">
            <a:extLst>
              <a:ext uri="{FF2B5EF4-FFF2-40B4-BE49-F238E27FC236}">
                <a16:creationId xmlns:a16="http://schemas.microsoft.com/office/drawing/2014/main" id="{B5666AE9-5529-843E-809C-0971CC2CAB58}"/>
              </a:ext>
            </a:extLst>
          </p:cNvPr>
          <p:cNvSpPr txBox="1"/>
          <p:nvPr/>
        </p:nvSpPr>
        <p:spPr>
          <a:xfrm>
            <a:off x="5693228" y="1392335"/>
            <a:ext cx="6026176" cy="5016758"/>
          </a:xfrm>
          <a:prstGeom prst="rect">
            <a:avLst/>
          </a:prstGeom>
          <a:noFill/>
        </p:spPr>
        <p:txBody>
          <a:bodyPr wrap="square">
            <a:spAutoFit/>
          </a:bodyPr>
          <a:lstStyle/>
          <a:p>
            <a:pPr algn="just"/>
            <a:r>
              <a:rPr lang="fr-FR" sz="2000" dirty="0"/>
              <a:t>La désinformation est à la fois un produit et un moteur de la polarisation politique.   </a:t>
            </a:r>
          </a:p>
          <a:p>
            <a:pPr marL="342900" indent="-342900" algn="just">
              <a:buFont typeface="Arial" panose="020B0604020202020204" pitchFamily="34" charset="0"/>
              <a:buChar char="•"/>
            </a:pPr>
            <a:r>
              <a:rPr lang="fr-FR" sz="2000" b="1" dirty="0"/>
              <a:t>Exploiter les Lignes de Faille : </a:t>
            </a:r>
            <a:r>
              <a:rPr lang="fr-FR" sz="2000" dirty="0"/>
              <a:t>Les acteurs malveillants identifient et exploitent les divisions sociétales existantes — partisanes, raciales ou culturelles — pour jeter de l'huile sur le feu.</a:t>
            </a:r>
          </a:p>
          <a:p>
            <a:pPr marL="342900" indent="-342900" algn="just">
              <a:buFont typeface="Arial" panose="020B0604020202020204" pitchFamily="34" charset="0"/>
              <a:buChar char="•"/>
            </a:pPr>
            <a:r>
              <a:rPr lang="fr-FR" sz="2000" b="1" dirty="0"/>
              <a:t>Polarisation Affective : </a:t>
            </a:r>
            <a:r>
              <a:rPr lang="fr-FR" sz="2000" dirty="0"/>
              <a:t>Les campagnes contribuent à un phénomène où l'identité partisane devient si forte que les individus considèrent les opposants politiques non plus comme des rivaux, mais comme des ennemis existentiels.   </a:t>
            </a:r>
          </a:p>
          <a:p>
            <a:pPr marL="342900" indent="-342900" algn="just">
              <a:buFont typeface="Arial" panose="020B0604020202020204" pitchFamily="34" charset="0"/>
              <a:buChar char="•"/>
            </a:pPr>
            <a:r>
              <a:rPr lang="fr-FR" sz="2000" b="1" dirty="0"/>
              <a:t>Réalité Fragmentée : </a:t>
            </a:r>
            <a:r>
              <a:rPr lang="fr-FR" sz="2000" dirty="0"/>
              <a:t>Le résultat est la fragmentation de la société en tribus concurrentes qui habitent des réalités informationnelles distinctes, rendant le compromis et la délibération de bonne foi presque impossibles.</a:t>
            </a:r>
            <a:endParaRPr lang="en-US" sz="2000" dirty="0"/>
          </a:p>
        </p:txBody>
      </p:sp>
      <p:pic>
        <p:nvPicPr>
          <p:cNvPr id="11267" name="Picture 3" descr="Groupes Stock Illustrations, Vecteurs, &amp; Clipart – (44,595 Stock  Illustrations)">
            <a:extLst>
              <a:ext uri="{FF2B5EF4-FFF2-40B4-BE49-F238E27FC236}">
                <a16:creationId xmlns:a16="http://schemas.microsoft.com/office/drawing/2014/main" id="{3E8E470C-9993-2747-3FCB-6116C047C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9453" y="1582993"/>
            <a:ext cx="4250404" cy="4680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067575"/>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C12F7-264C-77EA-AA66-05034DF081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EEC65F-2633-2AF8-9804-6469D683C4AF}"/>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6706B590-D172-DDEE-9A61-8FB859D9B3BF}"/>
              </a:ext>
            </a:extLst>
          </p:cNvPr>
          <p:cNvSpPr/>
          <p:nvPr/>
        </p:nvSpPr>
        <p:spPr>
          <a:xfrm>
            <a:off x="718458" y="185783"/>
            <a:ext cx="9398936"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Impact Sociétal 3: Effondrement de la Confiance Institutionnelle</a:t>
            </a:r>
            <a:endParaRPr lang="fr-FR" sz="2800" b="1" noProof="0" dirty="0">
              <a:latin typeface="+mj-lt"/>
            </a:endParaRPr>
          </a:p>
        </p:txBody>
      </p:sp>
      <p:sp>
        <p:nvSpPr>
          <p:cNvPr id="11" name="ZoneTexte 10">
            <a:extLst>
              <a:ext uri="{FF2B5EF4-FFF2-40B4-BE49-F238E27FC236}">
                <a16:creationId xmlns:a16="http://schemas.microsoft.com/office/drawing/2014/main" id="{85C4AC77-6EE6-1A9A-B760-263237429B6D}"/>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sp>
        <p:nvSpPr>
          <p:cNvPr id="7" name="ZoneTexte 6">
            <a:extLst>
              <a:ext uri="{FF2B5EF4-FFF2-40B4-BE49-F238E27FC236}">
                <a16:creationId xmlns:a16="http://schemas.microsoft.com/office/drawing/2014/main" id="{9211E8B9-D366-1FC1-3F74-36D6FA800AA2}"/>
              </a:ext>
            </a:extLst>
          </p:cNvPr>
          <p:cNvSpPr txBox="1"/>
          <p:nvPr/>
        </p:nvSpPr>
        <p:spPr>
          <a:xfrm>
            <a:off x="1231930" y="1238447"/>
            <a:ext cx="6026176" cy="5324535"/>
          </a:xfrm>
          <a:prstGeom prst="rect">
            <a:avLst/>
          </a:prstGeom>
          <a:noFill/>
        </p:spPr>
        <p:txBody>
          <a:bodyPr wrap="square">
            <a:spAutoFit/>
          </a:bodyPr>
          <a:lstStyle/>
          <a:p>
            <a:pPr algn="just"/>
            <a:r>
              <a:rPr lang="fr-FR" sz="2000" dirty="0"/>
              <a:t>Un objectif stratégique central de nombreuses campagnes est de démanteler la confiance du public dans les institutions qui servent d'arbitres de la vérité.   </a:t>
            </a:r>
          </a:p>
          <a:p>
            <a:pPr marL="342900" indent="-342900" algn="just">
              <a:buFont typeface="Arial" panose="020B0604020202020204" pitchFamily="34" charset="0"/>
              <a:buChar char="•"/>
            </a:pPr>
            <a:r>
              <a:rPr lang="fr-FR" sz="2000" b="1" dirty="0"/>
              <a:t>Confiance dans les Médias : </a:t>
            </a:r>
            <a:r>
              <a:rPr lang="fr-FR" sz="2000" dirty="0"/>
              <a:t>La désinformation attaque sans relâche les journalistes et les organisations de presse, entraînant une baisse de la confiance dans les médias grand public.   </a:t>
            </a:r>
          </a:p>
          <a:p>
            <a:pPr marL="342900" indent="-342900" algn="just">
              <a:buFont typeface="Arial" panose="020B0604020202020204" pitchFamily="34" charset="0"/>
              <a:buChar char="•"/>
            </a:pPr>
            <a:r>
              <a:rPr lang="fr-FR" sz="2000" b="1" dirty="0"/>
              <a:t>Confiance dans le Gouvernement : </a:t>
            </a:r>
            <a:r>
              <a:rPr lang="fr-FR" sz="2000" dirty="0"/>
              <a:t>La désinformation peut être utilisée pour manipuler les perceptions de la légitimité du gouvernement, renforçant le soutien parmi les alliés tout en approfondissant le cynisme parmi les opposants.   </a:t>
            </a:r>
          </a:p>
          <a:p>
            <a:pPr marL="342900" indent="-342900" algn="just">
              <a:buFont typeface="Arial" panose="020B0604020202020204" pitchFamily="34" charset="0"/>
              <a:buChar char="•"/>
            </a:pPr>
            <a:r>
              <a:rPr lang="fr-FR" sz="2000" b="1" dirty="0"/>
              <a:t>Confiance dans la Science : </a:t>
            </a:r>
            <a:r>
              <a:rPr lang="fr-FR" sz="2000" dirty="0"/>
              <a:t>Les campagnes promeuvent des théories du complot et de la pseudo-science pour saper la crédibilité du consensus scientifique, en particulier lors des crises de santé publique.</a:t>
            </a:r>
            <a:endParaRPr lang="en-US" sz="2000" dirty="0"/>
          </a:p>
        </p:txBody>
      </p:sp>
      <p:pic>
        <p:nvPicPr>
          <p:cNvPr id="13314" name="Picture 2" descr="La politique à la recherche de la confiance perdue">
            <a:extLst>
              <a:ext uri="{FF2B5EF4-FFF2-40B4-BE49-F238E27FC236}">
                <a16:creationId xmlns:a16="http://schemas.microsoft.com/office/drawing/2014/main" id="{70B0E7AA-9E8F-F9F1-A5B5-C7B4F01F10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3866" y="2443081"/>
            <a:ext cx="4372898" cy="2915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45072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4929-6E99-2E24-166C-5A6DB77D572A}"/>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3C6F05EF-8537-F10A-07B6-DF94F502AC49}"/>
              </a:ext>
            </a:extLst>
          </p:cNvPr>
          <p:cNvSpPr txBox="1"/>
          <p:nvPr/>
        </p:nvSpPr>
        <p:spPr>
          <a:xfrm>
            <a:off x="3590538" y="2752037"/>
            <a:ext cx="7706727" cy="671851"/>
          </a:xfrm>
          <a:prstGeom prst="rect">
            <a:avLst/>
          </a:prstGeom>
          <a:noFill/>
        </p:spPr>
        <p:txBody>
          <a:bodyPr wrap="square" rtlCol="0">
            <a:spAutoFit/>
          </a:bodyPr>
          <a:lstStyle/>
          <a:p>
            <a:pPr>
              <a:lnSpc>
                <a:spcPct val="150000"/>
              </a:lnSpc>
            </a:pPr>
            <a:r>
              <a:rPr lang="fr-FR" sz="2800" b="1" dirty="0">
                <a:solidFill>
                  <a:srgbClr val="FFC000"/>
                </a:solidFill>
                <a:latin typeface="Calibri Light" panose="020F0302020204030204" pitchFamily="34" charset="0"/>
                <a:cs typeface="Calibri Light" panose="020F0302020204030204" pitchFamily="34" charset="0"/>
              </a:rPr>
              <a:t>7 - La Frontière de l’IA </a:t>
            </a:r>
          </a:p>
        </p:txBody>
      </p:sp>
      <p:sp>
        <p:nvSpPr>
          <p:cNvPr id="4" name="ZoneTexte 3">
            <a:extLst>
              <a:ext uri="{FF2B5EF4-FFF2-40B4-BE49-F238E27FC236}">
                <a16:creationId xmlns:a16="http://schemas.microsoft.com/office/drawing/2014/main" id="{A1EC61C4-84C1-9B05-1CF9-2326A31C0459}"/>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7</a:t>
            </a:r>
          </a:p>
        </p:txBody>
      </p:sp>
      <p:pic>
        <p:nvPicPr>
          <p:cNvPr id="3" name="Image 2">
            <a:extLst>
              <a:ext uri="{FF2B5EF4-FFF2-40B4-BE49-F238E27FC236}">
                <a16:creationId xmlns:a16="http://schemas.microsoft.com/office/drawing/2014/main" id="{96A472F3-622D-AFE3-4B6D-48E2F39E23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6851" y="2583726"/>
            <a:ext cx="1376517" cy="1376517"/>
          </a:xfrm>
          <a:prstGeom prst="rect">
            <a:avLst/>
          </a:prstGeom>
        </p:spPr>
      </p:pic>
    </p:spTree>
    <p:extLst>
      <p:ext uri="{BB962C8B-B14F-4D97-AF65-F5344CB8AC3E}">
        <p14:creationId xmlns:p14="http://schemas.microsoft.com/office/powerpoint/2010/main" val="107766833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A05F-9B20-CEC4-6B98-B88AA4647F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605376-6870-E9BB-00F0-B40C3896991D}"/>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565F7A54-3FC5-BB56-03BC-59A8253611F4}"/>
              </a:ext>
            </a:extLst>
          </p:cNvPr>
          <p:cNvSpPr/>
          <p:nvPr/>
        </p:nvSpPr>
        <p:spPr>
          <a:xfrm>
            <a:off x="718458" y="185783"/>
            <a:ext cx="3892871"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Réalité Synthétique</a:t>
            </a:r>
            <a:endParaRPr lang="fr-FR" sz="2800" b="1" noProof="0" dirty="0">
              <a:latin typeface="+mj-lt"/>
            </a:endParaRPr>
          </a:p>
        </p:txBody>
      </p:sp>
      <p:sp>
        <p:nvSpPr>
          <p:cNvPr id="11" name="ZoneTexte 10">
            <a:extLst>
              <a:ext uri="{FF2B5EF4-FFF2-40B4-BE49-F238E27FC236}">
                <a16:creationId xmlns:a16="http://schemas.microsoft.com/office/drawing/2014/main" id="{C9F73DD4-1331-C1C3-BB75-166D9098126C}"/>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sp>
        <p:nvSpPr>
          <p:cNvPr id="7" name="ZoneTexte 6">
            <a:extLst>
              <a:ext uri="{FF2B5EF4-FFF2-40B4-BE49-F238E27FC236}">
                <a16:creationId xmlns:a16="http://schemas.microsoft.com/office/drawing/2014/main" id="{C60567CC-7546-6753-2DFA-59FFE3A66787}"/>
              </a:ext>
            </a:extLst>
          </p:cNvPr>
          <p:cNvSpPr txBox="1"/>
          <p:nvPr/>
        </p:nvSpPr>
        <p:spPr>
          <a:xfrm>
            <a:off x="1231930" y="1238447"/>
            <a:ext cx="6026176" cy="5016758"/>
          </a:xfrm>
          <a:prstGeom prst="rect">
            <a:avLst/>
          </a:prstGeom>
          <a:noFill/>
        </p:spPr>
        <p:txBody>
          <a:bodyPr wrap="square">
            <a:spAutoFit/>
          </a:bodyPr>
          <a:lstStyle/>
          <a:p>
            <a:pPr marL="342900" indent="-342900" algn="just">
              <a:buFont typeface="Arial" panose="020B0604020202020204" pitchFamily="34" charset="0"/>
              <a:buChar char="•"/>
            </a:pPr>
            <a:r>
              <a:rPr lang="fr-FR" sz="2000" b="1" dirty="0" err="1"/>
              <a:t>Deepfakes</a:t>
            </a:r>
            <a:r>
              <a:rPr lang="fr-FR" sz="2000" b="1" dirty="0"/>
              <a:t> : </a:t>
            </a:r>
            <a:r>
              <a:rPr lang="fr-FR" sz="2000" dirty="0"/>
              <a:t>Vidéos, audios et images synthétiques très réalistes qui peuvent montrer de manière convaincante des personnes disant ou faisant des choses qu'elles n'ont jamais faites.  </a:t>
            </a:r>
          </a:p>
          <a:p>
            <a:pPr marL="342900" indent="-342900" algn="just">
              <a:buFont typeface="Arial" panose="020B0604020202020204" pitchFamily="34" charset="0"/>
              <a:buChar char="•"/>
            </a:pPr>
            <a:r>
              <a:rPr lang="fr-FR" sz="2000" b="1" dirty="0"/>
              <a:t>Texte Généré par l'IA : </a:t>
            </a:r>
            <a:r>
              <a:rPr lang="fr-FR" sz="2000" dirty="0"/>
              <a:t>Les grands modèles de langage (LLM) peuvent automatiser la création de faux articles de presse, de publications sur les médias sociaux et de propagande à une échelle énorme.   </a:t>
            </a:r>
          </a:p>
          <a:p>
            <a:pPr marL="342900" indent="-342900" algn="just">
              <a:buFont typeface="Arial" panose="020B0604020202020204" pitchFamily="34" charset="0"/>
              <a:buChar char="•"/>
            </a:pPr>
            <a:endParaRPr lang="fr-FR" sz="2000" dirty="0"/>
          </a:p>
          <a:p>
            <a:pPr algn="just"/>
            <a:r>
              <a:rPr lang="fr-FR" sz="2000" b="1" dirty="0"/>
              <a:t>L'Impact : </a:t>
            </a:r>
            <a:r>
              <a:rPr lang="fr-FR" sz="2000" dirty="0"/>
              <a:t>L'IA réduit considérablement le coût et les compétences nécessaires pour produire du contenu trompeur sophistiqué, permettant à un plus large éventail d'acteurs de mener des opérations d'influence qui étaient autrefois le domaine exclusif des États-nations. </a:t>
            </a:r>
            <a:endParaRPr lang="en-US" sz="2000" dirty="0"/>
          </a:p>
        </p:txBody>
      </p:sp>
      <p:pic>
        <p:nvPicPr>
          <p:cNvPr id="14340" name="Picture 4" descr="How the Obama / Jordan Peele DEEPFAKE actually works | Ian Hislop's Fake  News - BBC - YouTube">
            <a:extLst>
              <a:ext uri="{FF2B5EF4-FFF2-40B4-BE49-F238E27FC236}">
                <a16:creationId xmlns:a16="http://schemas.microsoft.com/office/drawing/2014/main" id="{8A943A18-AE5A-7B8E-8933-6885ED390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6929" y="1714500"/>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769528"/>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AF15D-23F3-0CD4-50B7-BEF4D9B8D7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02B352-9102-036C-12F0-E009FFD0C165}"/>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13EEEF44-4336-8F3F-6CB4-B2446EE1333E}"/>
              </a:ext>
            </a:extLst>
          </p:cNvPr>
          <p:cNvSpPr/>
          <p:nvPr/>
        </p:nvSpPr>
        <p:spPr>
          <a:xfrm>
            <a:off x="718458" y="185783"/>
            <a:ext cx="4522136"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noProof="0" dirty="0">
                <a:latin typeface="+mj-lt"/>
              </a:rPr>
              <a:t>IA : Arme à Double Tranchant</a:t>
            </a:r>
          </a:p>
        </p:txBody>
      </p:sp>
      <p:sp>
        <p:nvSpPr>
          <p:cNvPr id="11" name="ZoneTexte 10">
            <a:extLst>
              <a:ext uri="{FF2B5EF4-FFF2-40B4-BE49-F238E27FC236}">
                <a16:creationId xmlns:a16="http://schemas.microsoft.com/office/drawing/2014/main" id="{777049B3-5722-E8DF-BA37-74E227B0BED8}"/>
              </a:ext>
            </a:extLst>
          </p:cNvPr>
          <p:cNvSpPr txBox="1"/>
          <p:nvPr/>
        </p:nvSpPr>
        <p:spPr>
          <a:xfrm rot="16200000">
            <a:off x="-3139283" y="2814478"/>
            <a:ext cx="7192259" cy="523220"/>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6 - L'Écosystème Mondial et l'Impact Sociétal</a:t>
            </a:r>
          </a:p>
        </p:txBody>
      </p:sp>
      <p:pic>
        <p:nvPicPr>
          <p:cNvPr id="3" name="Image 2">
            <a:extLst>
              <a:ext uri="{FF2B5EF4-FFF2-40B4-BE49-F238E27FC236}">
                <a16:creationId xmlns:a16="http://schemas.microsoft.com/office/drawing/2014/main" id="{3DDE720A-0D6F-9DB0-5F88-612BDF488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8918200">
            <a:off x="5712633" y="2172451"/>
            <a:ext cx="2513098" cy="2513098"/>
          </a:xfrm>
          <a:prstGeom prst="rect">
            <a:avLst/>
          </a:prstGeom>
        </p:spPr>
      </p:pic>
      <p:pic>
        <p:nvPicPr>
          <p:cNvPr id="8" name="Image 7">
            <a:extLst>
              <a:ext uri="{FF2B5EF4-FFF2-40B4-BE49-F238E27FC236}">
                <a16:creationId xmlns:a16="http://schemas.microsoft.com/office/drawing/2014/main" id="{408B3A77-5C68-5678-8EB1-CA0BA427A9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526" y="2820714"/>
            <a:ext cx="1080000" cy="1080000"/>
          </a:xfrm>
          <a:prstGeom prst="rect">
            <a:avLst/>
          </a:prstGeom>
        </p:spPr>
      </p:pic>
      <p:pic>
        <p:nvPicPr>
          <p:cNvPr id="13" name="Image 12">
            <a:extLst>
              <a:ext uri="{FF2B5EF4-FFF2-40B4-BE49-F238E27FC236}">
                <a16:creationId xmlns:a16="http://schemas.microsoft.com/office/drawing/2014/main" id="{97A4AA48-0A5D-3C8C-DF0F-68D5700E54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8838" y="2889000"/>
            <a:ext cx="1080000" cy="1080000"/>
          </a:xfrm>
          <a:prstGeom prst="rect">
            <a:avLst/>
          </a:prstGeom>
        </p:spPr>
      </p:pic>
      <p:sp>
        <p:nvSpPr>
          <p:cNvPr id="14" name="ZoneTexte 13">
            <a:extLst>
              <a:ext uri="{FF2B5EF4-FFF2-40B4-BE49-F238E27FC236}">
                <a16:creationId xmlns:a16="http://schemas.microsoft.com/office/drawing/2014/main" id="{E5B14809-37BC-4C8C-326C-5A3BA42A1A66}"/>
              </a:ext>
            </a:extLst>
          </p:cNvPr>
          <p:cNvSpPr txBox="1"/>
          <p:nvPr/>
        </p:nvSpPr>
        <p:spPr>
          <a:xfrm>
            <a:off x="2761434" y="4129548"/>
            <a:ext cx="1516184" cy="461665"/>
          </a:xfrm>
          <a:prstGeom prst="rect">
            <a:avLst/>
          </a:prstGeom>
          <a:noFill/>
        </p:spPr>
        <p:txBody>
          <a:bodyPr wrap="none" rtlCol="0">
            <a:spAutoFit/>
          </a:bodyPr>
          <a:lstStyle/>
          <a:p>
            <a:r>
              <a:rPr lang="fr-FR" sz="2400" b="1" dirty="0" err="1"/>
              <a:t>Deepfakes</a:t>
            </a:r>
            <a:endParaRPr lang="en-US" b="1" dirty="0"/>
          </a:p>
        </p:txBody>
      </p:sp>
      <p:sp>
        <p:nvSpPr>
          <p:cNvPr id="15" name="ZoneTexte 14">
            <a:extLst>
              <a:ext uri="{FF2B5EF4-FFF2-40B4-BE49-F238E27FC236}">
                <a16:creationId xmlns:a16="http://schemas.microsoft.com/office/drawing/2014/main" id="{D2A04456-2DE1-A583-0684-B9CCDA94183F}"/>
              </a:ext>
            </a:extLst>
          </p:cNvPr>
          <p:cNvSpPr txBox="1"/>
          <p:nvPr/>
        </p:nvSpPr>
        <p:spPr>
          <a:xfrm>
            <a:off x="8634491" y="4129548"/>
            <a:ext cx="2488695" cy="830997"/>
          </a:xfrm>
          <a:prstGeom prst="rect">
            <a:avLst/>
          </a:prstGeom>
          <a:noFill/>
        </p:spPr>
        <p:txBody>
          <a:bodyPr wrap="none" rtlCol="0">
            <a:spAutoFit/>
          </a:bodyPr>
          <a:lstStyle/>
          <a:p>
            <a:pPr algn="ctr"/>
            <a:r>
              <a:rPr lang="fr-FR" sz="2400" b="1" dirty="0"/>
              <a:t>Détection par l’IA </a:t>
            </a:r>
          </a:p>
          <a:p>
            <a:pPr algn="ctr"/>
            <a:r>
              <a:rPr lang="fr-FR" sz="2400" b="1" dirty="0"/>
              <a:t>Fact-checking</a:t>
            </a:r>
            <a:endParaRPr lang="en-US" sz="2400" b="1" dirty="0"/>
          </a:p>
        </p:txBody>
      </p:sp>
    </p:spTree>
    <p:extLst>
      <p:ext uri="{BB962C8B-B14F-4D97-AF65-F5344CB8AC3E}">
        <p14:creationId xmlns:p14="http://schemas.microsoft.com/office/powerpoint/2010/main" val="3192793099"/>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862F-6224-D560-7EC2-9A471AC912DC}"/>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C66850AE-0FAE-F24C-BFCB-EE3D3B257A7B}"/>
              </a:ext>
            </a:extLst>
          </p:cNvPr>
          <p:cNvSpPr txBox="1"/>
          <p:nvPr/>
        </p:nvSpPr>
        <p:spPr>
          <a:xfrm>
            <a:off x="3590538" y="2752037"/>
            <a:ext cx="7706727" cy="1318181"/>
          </a:xfrm>
          <a:prstGeom prst="rect">
            <a:avLst/>
          </a:prstGeom>
          <a:noFill/>
        </p:spPr>
        <p:txBody>
          <a:bodyPr wrap="square" rtlCol="0">
            <a:spAutoFit/>
          </a:bodyPr>
          <a:lstStyle/>
          <a:p>
            <a:pPr>
              <a:lnSpc>
                <a:spcPct val="150000"/>
              </a:lnSpc>
            </a:pPr>
            <a:r>
              <a:rPr lang="fr-FR" sz="2800" b="1" dirty="0">
                <a:solidFill>
                  <a:srgbClr val="FFC000"/>
                </a:solidFill>
                <a:latin typeface="Calibri Light" panose="020F0302020204030204" pitchFamily="34" charset="0"/>
                <a:cs typeface="Calibri Light" panose="020F0302020204030204" pitchFamily="34" charset="0"/>
              </a:rPr>
              <a:t>8 - Une Réponse de l'Ensemble de la Société et Recommandations</a:t>
            </a:r>
          </a:p>
        </p:txBody>
      </p:sp>
      <p:sp>
        <p:nvSpPr>
          <p:cNvPr id="4" name="ZoneTexte 3">
            <a:extLst>
              <a:ext uri="{FF2B5EF4-FFF2-40B4-BE49-F238E27FC236}">
                <a16:creationId xmlns:a16="http://schemas.microsoft.com/office/drawing/2014/main" id="{DF177578-DD93-09E5-F1B9-7C7D1C09696D}"/>
              </a:ext>
            </a:extLst>
          </p:cNvPr>
          <p:cNvSpPr txBox="1"/>
          <p:nvPr/>
        </p:nvSpPr>
        <p:spPr>
          <a:xfrm>
            <a:off x="1462315" y="1814285"/>
            <a:ext cx="526142" cy="769441"/>
          </a:xfrm>
          <a:prstGeom prst="rect">
            <a:avLst/>
          </a:prstGeom>
          <a:noFill/>
        </p:spPr>
        <p:txBody>
          <a:bodyPr wrap="square" rtlCol="0">
            <a:spAutoFit/>
          </a:bodyPr>
          <a:lstStyle/>
          <a:p>
            <a:r>
              <a:rPr lang="fr-FR" sz="4400" b="1" dirty="0">
                <a:solidFill>
                  <a:schemeClr val="bg1"/>
                </a:solidFill>
                <a:latin typeface="Calibri" panose="020F0502020204030204" pitchFamily="34" charset="0"/>
                <a:ea typeface="Calibri" panose="020F0502020204030204" pitchFamily="34" charset="0"/>
                <a:cs typeface="Calibri" panose="020F0502020204030204" pitchFamily="34" charset="0"/>
              </a:rPr>
              <a:t>8</a:t>
            </a:r>
          </a:p>
        </p:txBody>
      </p:sp>
      <p:pic>
        <p:nvPicPr>
          <p:cNvPr id="3" name="Image 2">
            <a:extLst>
              <a:ext uri="{FF2B5EF4-FFF2-40B4-BE49-F238E27FC236}">
                <a16:creationId xmlns:a16="http://schemas.microsoft.com/office/drawing/2014/main" id="{5A5CDBB3-357A-0471-56A4-1950BA6D9A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4735" y="2583726"/>
            <a:ext cx="1411229" cy="1411229"/>
          </a:xfrm>
          <a:prstGeom prst="rect">
            <a:avLst/>
          </a:prstGeom>
        </p:spPr>
      </p:pic>
    </p:spTree>
    <p:extLst>
      <p:ext uri="{BB962C8B-B14F-4D97-AF65-F5344CB8AC3E}">
        <p14:creationId xmlns:p14="http://schemas.microsoft.com/office/powerpoint/2010/main" val="1127724639"/>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D2C1C-7E8D-7493-70D0-5697120636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BFB5AE-2535-77AE-B736-CAFDAE6B56C4}"/>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CCBAC92-4F6D-53A8-481A-AEB193F88377}"/>
              </a:ext>
            </a:extLst>
          </p:cNvPr>
          <p:cNvSpPr/>
          <p:nvPr/>
        </p:nvSpPr>
        <p:spPr>
          <a:xfrm>
            <a:off x="718458" y="185783"/>
            <a:ext cx="6213284"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Une Réponse de l'Ensemble de la Société</a:t>
            </a:r>
            <a:endParaRPr lang="fr-FR" sz="2800" b="1" noProof="0" dirty="0">
              <a:latin typeface="+mj-lt"/>
            </a:endParaRPr>
          </a:p>
        </p:txBody>
      </p:sp>
      <p:sp>
        <p:nvSpPr>
          <p:cNvPr id="11" name="ZoneTexte 10">
            <a:extLst>
              <a:ext uri="{FF2B5EF4-FFF2-40B4-BE49-F238E27FC236}">
                <a16:creationId xmlns:a16="http://schemas.microsoft.com/office/drawing/2014/main" id="{635804C4-B8E0-5F5C-0C6C-9578522F6958}"/>
              </a:ext>
            </a:extLst>
          </p:cNvPr>
          <p:cNvSpPr txBox="1"/>
          <p:nvPr/>
        </p:nvSpPr>
        <p:spPr>
          <a:xfrm rot="16200000">
            <a:off x="-3119076" y="2761320"/>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8 - Une Réponse de l'Ensemble de la Société et Recommandations</a:t>
            </a:r>
          </a:p>
        </p:txBody>
      </p:sp>
      <p:pic>
        <p:nvPicPr>
          <p:cNvPr id="12290" name="Picture 2" descr="Face à l'effondrement, comment investir dans sa capacité de résilience ?">
            <a:extLst>
              <a:ext uri="{FF2B5EF4-FFF2-40B4-BE49-F238E27FC236}">
                <a16:creationId xmlns:a16="http://schemas.microsoft.com/office/drawing/2014/main" id="{11117AC6-D976-88ED-A6C7-FF2EE38C0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604" y="1129212"/>
            <a:ext cx="5238750" cy="5238750"/>
          </a:xfrm>
          <a:prstGeom prst="rect">
            <a:avLst/>
          </a:prstGeom>
          <a:noFill/>
          <a:extLst>
            <a:ext uri="{909E8E84-426E-40DD-AFC4-6F175D3DCCD1}">
              <a14:hiddenFill xmlns:a14="http://schemas.microsoft.com/office/drawing/2010/main">
                <a:solidFill>
                  <a:srgbClr val="FFFFFF"/>
                </a:solidFill>
              </a14:hiddenFill>
            </a:ext>
          </a:extLst>
        </p:spPr>
      </p:pic>
      <p:sp>
        <p:nvSpPr>
          <p:cNvPr id="33" name="ZoneTexte 32">
            <a:extLst>
              <a:ext uri="{FF2B5EF4-FFF2-40B4-BE49-F238E27FC236}">
                <a16:creationId xmlns:a16="http://schemas.microsoft.com/office/drawing/2014/main" id="{89DEF806-3578-8D31-49AE-7E3C04ABE4C8}"/>
              </a:ext>
            </a:extLst>
          </p:cNvPr>
          <p:cNvSpPr txBox="1"/>
          <p:nvPr/>
        </p:nvSpPr>
        <p:spPr>
          <a:xfrm>
            <a:off x="6931741" y="1486429"/>
            <a:ext cx="4940358" cy="4524315"/>
          </a:xfrm>
          <a:prstGeom prst="rect">
            <a:avLst/>
          </a:prstGeom>
          <a:noFill/>
        </p:spPr>
        <p:txBody>
          <a:bodyPr wrap="square">
            <a:spAutoFit/>
          </a:bodyPr>
          <a:lstStyle/>
          <a:p>
            <a:pPr marL="342900" indent="-342900" algn="just">
              <a:buFont typeface="Arial" panose="020B0604020202020204" pitchFamily="34" charset="0"/>
              <a:buChar char="•"/>
            </a:pPr>
            <a:r>
              <a:rPr lang="fr-FR" sz="2400" dirty="0"/>
              <a:t>Il n'y a pas de "solution miracle". Lutter contre cette menace nécessite un effort coordonné et soutenu de la part des gouvernements, des plateformes, des médias, de la société civile et du public.   </a:t>
            </a:r>
          </a:p>
          <a:p>
            <a:pPr marL="342900" indent="-342900" algn="just">
              <a:buFont typeface="Arial" panose="020B0604020202020204" pitchFamily="34" charset="0"/>
              <a:buChar char="•"/>
            </a:pPr>
            <a:r>
              <a:rPr lang="fr-FR" sz="2400" dirty="0"/>
              <a:t>L'objectif n'est pas la tâche impossible d'éradiquer les mensonges, mais celui, réaliste, de construire une résilience sociétale à long terme face à eux.</a:t>
            </a:r>
            <a:endParaRPr lang="en-US" sz="2400" dirty="0"/>
          </a:p>
        </p:txBody>
      </p:sp>
    </p:spTree>
    <p:extLst>
      <p:ext uri="{BB962C8B-B14F-4D97-AF65-F5344CB8AC3E}">
        <p14:creationId xmlns:p14="http://schemas.microsoft.com/office/powerpoint/2010/main" val="2777214753"/>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A3E80-005A-8103-4F88-E63248CAAC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77D464-7FB0-4DBF-E972-05D55B334DC7}"/>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D4F99917-D196-CBE1-4E9E-1451CAD843BE}"/>
              </a:ext>
            </a:extLst>
          </p:cNvPr>
          <p:cNvSpPr/>
          <p:nvPr/>
        </p:nvSpPr>
        <p:spPr>
          <a:xfrm>
            <a:off x="718458" y="185783"/>
            <a:ext cx="4974419"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Recommandations</a:t>
            </a:r>
            <a:r>
              <a:rPr lang="en-US" sz="2800" dirty="0"/>
              <a:t> </a:t>
            </a:r>
            <a:r>
              <a:rPr lang="en-US" sz="2800" dirty="0" err="1"/>
              <a:t>Stratégiques</a:t>
            </a:r>
            <a:endParaRPr lang="fr-FR" sz="2800" b="1" noProof="0" dirty="0">
              <a:latin typeface="+mj-lt"/>
            </a:endParaRPr>
          </a:p>
        </p:txBody>
      </p:sp>
      <p:sp>
        <p:nvSpPr>
          <p:cNvPr id="11" name="ZoneTexte 10">
            <a:extLst>
              <a:ext uri="{FF2B5EF4-FFF2-40B4-BE49-F238E27FC236}">
                <a16:creationId xmlns:a16="http://schemas.microsoft.com/office/drawing/2014/main" id="{836BDC98-C29B-A518-9A29-B5719E76B007}"/>
              </a:ext>
            </a:extLst>
          </p:cNvPr>
          <p:cNvSpPr txBox="1"/>
          <p:nvPr/>
        </p:nvSpPr>
        <p:spPr>
          <a:xfrm rot="16200000">
            <a:off x="-3119076" y="2761320"/>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8 - Une Réponse de l'Ensemble de la Société et Recommandations</a:t>
            </a:r>
          </a:p>
        </p:txBody>
      </p:sp>
      <p:graphicFrame>
        <p:nvGraphicFramePr>
          <p:cNvPr id="30" name="Diagramme 29">
            <a:extLst>
              <a:ext uri="{FF2B5EF4-FFF2-40B4-BE49-F238E27FC236}">
                <a16:creationId xmlns:a16="http://schemas.microsoft.com/office/drawing/2014/main" id="{67EFA539-D042-9992-C26A-DB7C34449F37}"/>
              </a:ext>
            </a:extLst>
          </p:cNvPr>
          <p:cNvGraphicFramePr/>
          <p:nvPr/>
        </p:nvGraphicFramePr>
        <p:xfrm>
          <a:off x="1153651" y="1129212"/>
          <a:ext cx="1083187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4371004"/>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5F82D-5ABA-9D1C-3144-DE88586DDF3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B17D7A-F39F-C63A-02B9-1712ED139833}"/>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9DD92C6-570F-A16C-AD8C-1C272A572A4A}"/>
              </a:ext>
            </a:extLst>
          </p:cNvPr>
          <p:cNvSpPr/>
          <p:nvPr/>
        </p:nvSpPr>
        <p:spPr>
          <a:xfrm>
            <a:off x="718458" y="185783"/>
            <a:ext cx="8199400"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Devenez un Consommateur d'Information Averti</a:t>
            </a:r>
            <a:endParaRPr lang="fr-FR" sz="2800" b="1" noProof="0" dirty="0">
              <a:latin typeface="+mj-lt"/>
            </a:endParaRPr>
          </a:p>
        </p:txBody>
      </p:sp>
      <p:sp>
        <p:nvSpPr>
          <p:cNvPr id="11" name="ZoneTexte 10">
            <a:extLst>
              <a:ext uri="{FF2B5EF4-FFF2-40B4-BE49-F238E27FC236}">
                <a16:creationId xmlns:a16="http://schemas.microsoft.com/office/drawing/2014/main" id="{767B3D0F-4AB6-8C9B-175B-6CCF386CD393}"/>
              </a:ext>
            </a:extLst>
          </p:cNvPr>
          <p:cNvSpPr txBox="1"/>
          <p:nvPr/>
        </p:nvSpPr>
        <p:spPr>
          <a:xfrm rot="16200000">
            <a:off x="-3119076" y="2761320"/>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8 - Une Réponse de l'Ensemble de la Société et Recommandations</a:t>
            </a:r>
          </a:p>
        </p:txBody>
      </p:sp>
      <p:sp>
        <p:nvSpPr>
          <p:cNvPr id="2" name="ZoneTexte 1">
            <a:extLst>
              <a:ext uri="{FF2B5EF4-FFF2-40B4-BE49-F238E27FC236}">
                <a16:creationId xmlns:a16="http://schemas.microsoft.com/office/drawing/2014/main" id="{F6864E09-CE7A-94A1-E19A-FF005F58A1D5}"/>
              </a:ext>
            </a:extLst>
          </p:cNvPr>
          <p:cNvSpPr txBox="1"/>
          <p:nvPr/>
        </p:nvSpPr>
        <p:spPr>
          <a:xfrm>
            <a:off x="1633067" y="2822876"/>
            <a:ext cx="2581459" cy="830997"/>
          </a:xfrm>
          <a:prstGeom prst="rect">
            <a:avLst/>
          </a:prstGeom>
          <a:noFill/>
        </p:spPr>
        <p:txBody>
          <a:bodyPr wrap="square">
            <a:spAutoFit/>
          </a:bodyPr>
          <a:lstStyle/>
          <a:p>
            <a:pPr algn="ctr"/>
            <a:r>
              <a:rPr lang="fr-FR" sz="2400" b="1" dirty="0"/>
              <a:t>Faites une Pause Avant de Partager</a:t>
            </a:r>
            <a:endParaRPr lang="en-US" sz="2400" b="1" dirty="0"/>
          </a:p>
        </p:txBody>
      </p:sp>
      <p:sp>
        <p:nvSpPr>
          <p:cNvPr id="3" name="ZoneTexte 2">
            <a:extLst>
              <a:ext uri="{FF2B5EF4-FFF2-40B4-BE49-F238E27FC236}">
                <a16:creationId xmlns:a16="http://schemas.microsoft.com/office/drawing/2014/main" id="{DAA8D92F-02E8-2D2D-7E0B-7F0E6F959F86}"/>
              </a:ext>
            </a:extLst>
          </p:cNvPr>
          <p:cNvSpPr txBox="1"/>
          <p:nvPr/>
        </p:nvSpPr>
        <p:spPr>
          <a:xfrm>
            <a:off x="5131344" y="2867399"/>
            <a:ext cx="2814367" cy="830997"/>
          </a:xfrm>
          <a:prstGeom prst="rect">
            <a:avLst/>
          </a:prstGeom>
          <a:noFill/>
        </p:spPr>
        <p:txBody>
          <a:bodyPr wrap="square">
            <a:spAutoFit/>
          </a:bodyPr>
          <a:lstStyle/>
          <a:p>
            <a:pPr algn="ctr"/>
            <a:r>
              <a:rPr lang="en-US" sz="2400" b="1" dirty="0" err="1"/>
              <a:t>Méfiez-vous</a:t>
            </a:r>
            <a:r>
              <a:rPr lang="en-US" sz="2400" b="1" dirty="0"/>
              <a:t> des </a:t>
            </a:r>
            <a:r>
              <a:rPr lang="en-US" sz="2400" b="1" dirty="0" err="1"/>
              <a:t>Titres</a:t>
            </a:r>
            <a:r>
              <a:rPr lang="en-US" sz="2400" b="1" dirty="0"/>
              <a:t> </a:t>
            </a:r>
            <a:r>
              <a:rPr lang="en-US" sz="2400" b="1" dirty="0" err="1"/>
              <a:t>Sensationnels</a:t>
            </a:r>
            <a:endParaRPr lang="en-US" sz="2400" b="1" dirty="0"/>
          </a:p>
        </p:txBody>
      </p:sp>
      <p:sp>
        <p:nvSpPr>
          <p:cNvPr id="6" name="ZoneTexte 5">
            <a:extLst>
              <a:ext uri="{FF2B5EF4-FFF2-40B4-BE49-F238E27FC236}">
                <a16:creationId xmlns:a16="http://schemas.microsoft.com/office/drawing/2014/main" id="{25171C97-9DF7-4EE0-327F-C6B67E73C2A4}"/>
              </a:ext>
            </a:extLst>
          </p:cNvPr>
          <p:cNvSpPr txBox="1"/>
          <p:nvPr/>
        </p:nvSpPr>
        <p:spPr>
          <a:xfrm>
            <a:off x="9200653" y="2822876"/>
            <a:ext cx="2251587" cy="830997"/>
          </a:xfrm>
          <a:prstGeom prst="rect">
            <a:avLst/>
          </a:prstGeom>
          <a:noFill/>
        </p:spPr>
        <p:txBody>
          <a:bodyPr wrap="square">
            <a:spAutoFit/>
          </a:bodyPr>
          <a:lstStyle/>
          <a:p>
            <a:pPr algn="ctr"/>
            <a:r>
              <a:rPr lang="en-US" sz="2400" b="1" dirty="0" err="1"/>
              <a:t>Diversifiez</a:t>
            </a:r>
            <a:r>
              <a:rPr lang="en-US" sz="2400" b="1" dirty="0"/>
              <a:t> </a:t>
            </a:r>
            <a:r>
              <a:rPr lang="en-US" sz="2400" b="1" dirty="0" err="1"/>
              <a:t>vos</a:t>
            </a:r>
            <a:r>
              <a:rPr lang="en-US" sz="2400" b="1" dirty="0"/>
              <a:t> Sources</a:t>
            </a:r>
          </a:p>
        </p:txBody>
      </p:sp>
      <p:sp>
        <p:nvSpPr>
          <p:cNvPr id="8" name="ZoneTexte 7">
            <a:extLst>
              <a:ext uri="{FF2B5EF4-FFF2-40B4-BE49-F238E27FC236}">
                <a16:creationId xmlns:a16="http://schemas.microsoft.com/office/drawing/2014/main" id="{32C115C2-74FC-F965-CAE1-954DF55AF99F}"/>
              </a:ext>
            </a:extLst>
          </p:cNvPr>
          <p:cNvSpPr txBox="1"/>
          <p:nvPr/>
        </p:nvSpPr>
        <p:spPr>
          <a:xfrm>
            <a:off x="1279453" y="3823985"/>
            <a:ext cx="3173254" cy="2246769"/>
          </a:xfrm>
          <a:prstGeom prst="rect">
            <a:avLst/>
          </a:prstGeom>
          <a:noFill/>
        </p:spPr>
        <p:txBody>
          <a:bodyPr wrap="square">
            <a:spAutoFit/>
          </a:bodyPr>
          <a:lstStyle/>
          <a:p>
            <a:pPr algn="just"/>
            <a:r>
              <a:rPr lang="fr-FR" sz="2000" dirty="0"/>
              <a:t>La désinformation est conçue pour provoquer une réaction émotionnelle (colère, peur). Si une information vous choque, prenez un moment pour respirer avant de la partager.</a:t>
            </a:r>
            <a:endParaRPr lang="en-US" sz="2000" dirty="0"/>
          </a:p>
        </p:txBody>
      </p:sp>
      <p:sp>
        <p:nvSpPr>
          <p:cNvPr id="9" name="ZoneTexte 8">
            <a:extLst>
              <a:ext uri="{FF2B5EF4-FFF2-40B4-BE49-F238E27FC236}">
                <a16:creationId xmlns:a16="http://schemas.microsoft.com/office/drawing/2014/main" id="{D47F4691-C7EA-BD41-11BE-1AB2F1E11197}"/>
              </a:ext>
            </a:extLst>
          </p:cNvPr>
          <p:cNvSpPr txBox="1"/>
          <p:nvPr/>
        </p:nvSpPr>
        <p:spPr>
          <a:xfrm>
            <a:off x="4717103" y="3823985"/>
            <a:ext cx="3642850" cy="1631216"/>
          </a:xfrm>
          <a:prstGeom prst="rect">
            <a:avLst/>
          </a:prstGeom>
          <a:noFill/>
        </p:spPr>
        <p:txBody>
          <a:bodyPr wrap="square">
            <a:spAutoFit/>
          </a:bodyPr>
          <a:lstStyle/>
          <a:p>
            <a:pPr algn="just"/>
            <a:r>
              <a:rPr lang="fr-FR" sz="2000" dirty="0"/>
              <a:t>Les titres conçus pour attirer l'attention et susciter l'émotion sont souvent des pièges à clics. Lisez toujours au-delà du titre pour comprendre le contexte.</a:t>
            </a:r>
            <a:endParaRPr lang="en-US" sz="2000" dirty="0"/>
          </a:p>
        </p:txBody>
      </p:sp>
      <p:sp>
        <p:nvSpPr>
          <p:cNvPr id="10" name="ZoneTexte 9">
            <a:extLst>
              <a:ext uri="{FF2B5EF4-FFF2-40B4-BE49-F238E27FC236}">
                <a16:creationId xmlns:a16="http://schemas.microsoft.com/office/drawing/2014/main" id="{969ED07A-5D3D-00CE-809D-A35DCBCF869C}"/>
              </a:ext>
            </a:extLst>
          </p:cNvPr>
          <p:cNvSpPr txBox="1"/>
          <p:nvPr/>
        </p:nvSpPr>
        <p:spPr>
          <a:xfrm>
            <a:off x="8596993" y="3823985"/>
            <a:ext cx="3458906" cy="1938992"/>
          </a:xfrm>
          <a:prstGeom prst="rect">
            <a:avLst/>
          </a:prstGeom>
          <a:noFill/>
        </p:spPr>
        <p:txBody>
          <a:bodyPr wrap="square">
            <a:spAutoFit/>
          </a:bodyPr>
          <a:lstStyle/>
          <a:p>
            <a:pPr algn="just"/>
            <a:r>
              <a:rPr lang="fr-FR" sz="2000" dirty="0"/>
              <a:t>Ne vous fiez pas uniquement aux médias sociaux. Consultez des sources d'information réputées, locales et nationales, pour obtenir une vision équilibrée.</a:t>
            </a:r>
            <a:endParaRPr lang="en-US" sz="2000" dirty="0"/>
          </a:p>
        </p:txBody>
      </p:sp>
      <p:pic>
        <p:nvPicPr>
          <p:cNvPr id="22" name="Image 21">
            <a:extLst>
              <a:ext uri="{FF2B5EF4-FFF2-40B4-BE49-F238E27FC236}">
                <a16:creationId xmlns:a16="http://schemas.microsoft.com/office/drawing/2014/main" id="{AE45A5E7-016E-E740-8B91-0FBB96B61F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6080" y="1572764"/>
            <a:ext cx="1080000" cy="1080000"/>
          </a:xfrm>
          <a:prstGeom prst="rect">
            <a:avLst/>
          </a:prstGeom>
        </p:spPr>
      </p:pic>
      <p:pic>
        <p:nvPicPr>
          <p:cNvPr id="24" name="Image 23">
            <a:extLst>
              <a:ext uri="{FF2B5EF4-FFF2-40B4-BE49-F238E27FC236}">
                <a16:creationId xmlns:a16="http://schemas.microsoft.com/office/drawing/2014/main" id="{9C13F309-82D7-D6EC-DEF9-7E196316E1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8527" y="1724605"/>
            <a:ext cx="1080000" cy="1080000"/>
          </a:xfrm>
          <a:prstGeom prst="rect">
            <a:avLst/>
          </a:prstGeom>
        </p:spPr>
      </p:pic>
      <p:pic>
        <p:nvPicPr>
          <p:cNvPr id="26" name="Image 25">
            <a:extLst>
              <a:ext uri="{FF2B5EF4-FFF2-40B4-BE49-F238E27FC236}">
                <a16:creationId xmlns:a16="http://schemas.microsoft.com/office/drawing/2014/main" id="{61238516-13B9-EB0D-2C19-99B43D81C7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05920" y="1303707"/>
            <a:ext cx="720000" cy="720000"/>
          </a:xfrm>
          <a:prstGeom prst="rect">
            <a:avLst/>
          </a:prstGeom>
        </p:spPr>
      </p:pic>
      <p:pic>
        <p:nvPicPr>
          <p:cNvPr id="28" name="Image 27">
            <a:extLst>
              <a:ext uri="{FF2B5EF4-FFF2-40B4-BE49-F238E27FC236}">
                <a16:creationId xmlns:a16="http://schemas.microsoft.com/office/drawing/2014/main" id="{69210365-3F76-CC34-A0E7-07B61121DE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6446" y="1904605"/>
            <a:ext cx="720000" cy="720000"/>
          </a:xfrm>
          <a:prstGeom prst="rect">
            <a:avLst/>
          </a:prstGeom>
        </p:spPr>
      </p:pic>
    </p:spTree>
    <p:extLst>
      <p:ext uri="{BB962C8B-B14F-4D97-AF65-F5344CB8AC3E}">
        <p14:creationId xmlns:p14="http://schemas.microsoft.com/office/powerpoint/2010/main" val="14736930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7975-877F-6723-2DD0-95955D7AB6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B0E0AE-86DF-70CA-4C5A-66D903994702}"/>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6E5BB42-54C7-BF4C-2D22-17F30027D7BB}"/>
              </a:ext>
            </a:extLst>
          </p:cNvPr>
          <p:cNvSpPr/>
          <p:nvPr/>
        </p:nvSpPr>
        <p:spPr>
          <a:xfrm>
            <a:off x="718458" y="185783"/>
            <a:ext cx="3998645"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Vérifiez</a:t>
            </a:r>
            <a:r>
              <a:rPr lang="en-US" sz="2800" dirty="0"/>
              <a:t> Avant de </a:t>
            </a:r>
            <a:r>
              <a:rPr lang="en-US" sz="2800" dirty="0" err="1"/>
              <a:t>Partager</a:t>
            </a:r>
            <a:endParaRPr lang="fr-FR" sz="2800" b="1" noProof="0" dirty="0">
              <a:latin typeface="+mj-lt"/>
            </a:endParaRPr>
          </a:p>
        </p:txBody>
      </p:sp>
      <p:sp>
        <p:nvSpPr>
          <p:cNvPr id="7" name="ZoneTexte 6">
            <a:extLst>
              <a:ext uri="{FF2B5EF4-FFF2-40B4-BE49-F238E27FC236}">
                <a16:creationId xmlns:a16="http://schemas.microsoft.com/office/drawing/2014/main" id="{1DEDEFFA-7B56-51F4-245F-A8DA43891D94}"/>
              </a:ext>
            </a:extLst>
          </p:cNvPr>
          <p:cNvSpPr txBox="1"/>
          <p:nvPr/>
        </p:nvSpPr>
        <p:spPr>
          <a:xfrm rot="16200000">
            <a:off x="-3119076" y="2761320"/>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8 - Une Réponse de l'Ensemble de la Société et Recommandations</a:t>
            </a:r>
          </a:p>
        </p:txBody>
      </p:sp>
      <p:graphicFrame>
        <p:nvGraphicFramePr>
          <p:cNvPr id="23" name="Diagramme 22">
            <a:extLst>
              <a:ext uri="{FF2B5EF4-FFF2-40B4-BE49-F238E27FC236}">
                <a16:creationId xmlns:a16="http://schemas.microsoft.com/office/drawing/2014/main" id="{46DDCF91-24F4-EDD5-0CBF-327C7D655E6A}"/>
              </a:ext>
            </a:extLst>
          </p:cNvPr>
          <p:cNvGraphicFramePr/>
          <p:nvPr>
            <p:extLst>
              <p:ext uri="{D42A27DB-BD31-4B8C-83A1-F6EECF244321}">
                <p14:modId xmlns:p14="http://schemas.microsoft.com/office/powerpoint/2010/main" val="2489898548"/>
              </p:ext>
            </p:extLst>
          </p:nvPr>
        </p:nvGraphicFramePr>
        <p:xfrm>
          <a:off x="1432231" y="1179632"/>
          <a:ext cx="1041563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3525553"/>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D8B3-900E-A0A6-3BCB-71FB3FD4DB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A879AC-90D5-CF64-75EE-4A28613068E3}"/>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E21F306E-773F-2520-AAA7-B9BCCF735F33}"/>
              </a:ext>
            </a:extLst>
          </p:cNvPr>
          <p:cNvSpPr/>
          <p:nvPr/>
        </p:nvSpPr>
        <p:spPr>
          <a:xfrm>
            <a:off x="718458" y="185783"/>
            <a:ext cx="8199400"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Votre Rôle dans l'Écosystème : Agir avec Responsabilité</a:t>
            </a:r>
            <a:endParaRPr lang="fr-FR" sz="2800" b="1" noProof="0" dirty="0">
              <a:latin typeface="+mj-lt"/>
            </a:endParaRPr>
          </a:p>
        </p:txBody>
      </p:sp>
      <p:sp>
        <p:nvSpPr>
          <p:cNvPr id="2" name="ZoneTexte 1">
            <a:extLst>
              <a:ext uri="{FF2B5EF4-FFF2-40B4-BE49-F238E27FC236}">
                <a16:creationId xmlns:a16="http://schemas.microsoft.com/office/drawing/2014/main" id="{9E1BDB4B-D3C9-BB87-E759-EFCD5925FEC2}"/>
              </a:ext>
            </a:extLst>
          </p:cNvPr>
          <p:cNvSpPr txBox="1"/>
          <p:nvPr/>
        </p:nvSpPr>
        <p:spPr>
          <a:xfrm>
            <a:off x="1633067" y="2822876"/>
            <a:ext cx="2581459" cy="830997"/>
          </a:xfrm>
          <a:prstGeom prst="rect">
            <a:avLst/>
          </a:prstGeom>
          <a:noFill/>
        </p:spPr>
        <p:txBody>
          <a:bodyPr wrap="square">
            <a:spAutoFit/>
          </a:bodyPr>
          <a:lstStyle/>
          <a:p>
            <a:pPr algn="ctr"/>
            <a:r>
              <a:rPr lang="fr-FR" sz="2400" b="1" dirty="0"/>
              <a:t>Ne Nourrissez pas les Trolls</a:t>
            </a:r>
            <a:endParaRPr lang="en-US" sz="2400" b="1" dirty="0"/>
          </a:p>
        </p:txBody>
      </p:sp>
      <p:sp>
        <p:nvSpPr>
          <p:cNvPr id="3" name="ZoneTexte 2">
            <a:extLst>
              <a:ext uri="{FF2B5EF4-FFF2-40B4-BE49-F238E27FC236}">
                <a16:creationId xmlns:a16="http://schemas.microsoft.com/office/drawing/2014/main" id="{400D95FD-DCAE-9C5A-C746-965CB9A48C52}"/>
              </a:ext>
            </a:extLst>
          </p:cNvPr>
          <p:cNvSpPr txBox="1"/>
          <p:nvPr/>
        </p:nvSpPr>
        <p:spPr>
          <a:xfrm>
            <a:off x="5326743" y="2822876"/>
            <a:ext cx="2251587" cy="830997"/>
          </a:xfrm>
          <a:prstGeom prst="rect">
            <a:avLst/>
          </a:prstGeom>
          <a:noFill/>
        </p:spPr>
        <p:txBody>
          <a:bodyPr wrap="square">
            <a:spAutoFit/>
          </a:bodyPr>
          <a:lstStyle/>
          <a:p>
            <a:pPr algn="ctr"/>
            <a:r>
              <a:rPr lang="en-US" sz="2400" b="1" dirty="0" err="1"/>
              <a:t>Aidez</a:t>
            </a:r>
            <a:r>
              <a:rPr lang="en-US" sz="2400" b="1" dirty="0"/>
              <a:t> </a:t>
            </a:r>
            <a:r>
              <a:rPr lang="en-US" sz="2400" b="1" dirty="0" err="1"/>
              <a:t>votre</a:t>
            </a:r>
            <a:r>
              <a:rPr lang="en-US" sz="2400" b="1" dirty="0"/>
              <a:t> Entourage</a:t>
            </a:r>
          </a:p>
        </p:txBody>
      </p:sp>
      <p:sp>
        <p:nvSpPr>
          <p:cNvPr id="6" name="ZoneTexte 5">
            <a:extLst>
              <a:ext uri="{FF2B5EF4-FFF2-40B4-BE49-F238E27FC236}">
                <a16:creationId xmlns:a16="http://schemas.microsoft.com/office/drawing/2014/main" id="{3F790955-5013-0CA9-8E44-3FDD3EDE8D5D}"/>
              </a:ext>
            </a:extLst>
          </p:cNvPr>
          <p:cNvSpPr txBox="1"/>
          <p:nvPr/>
        </p:nvSpPr>
        <p:spPr>
          <a:xfrm>
            <a:off x="9200653" y="2822876"/>
            <a:ext cx="2251587" cy="830997"/>
          </a:xfrm>
          <a:prstGeom prst="rect">
            <a:avLst/>
          </a:prstGeom>
          <a:noFill/>
        </p:spPr>
        <p:txBody>
          <a:bodyPr wrap="square">
            <a:spAutoFit/>
          </a:bodyPr>
          <a:lstStyle/>
          <a:p>
            <a:pPr algn="ctr"/>
            <a:r>
              <a:rPr lang="en-US" sz="2400" b="1" dirty="0" err="1"/>
              <a:t>Signalez</a:t>
            </a:r>
            <a:r>
              <a:rPr lang="en-US" sz="2400" b="1" dirty="0"/>
              <a:t> le </a:t>
            </a:r>
            <a:r>
              <a:rPr lang="en-US" sz="2400" b="1" dirty="0" err="1"/>
              <a:t>Contenu</a:t>
            </a:r>
            <a:r>
              <a:rPr lang="en-US" sz="2400" b="1" dirty="0"/>
              <a:t> Faux</a:t>
            </a:r>
          </a:p>
        </p:txBody>
      </p:sp>
      <p:sp>
        <p:nvSpPr>
          <p:cNvPr id="8" name="ZoneTexte 7">
            <a:extLst>
              <a:ext uri="{FF2B5EF4-FFF2-40B4-BE49-F238E27FC236}">
                <a16:creationId xmlns:a16="http://schemas.microsoft.com/office/drawing/2014/main" id="{D0C422C4-169A-847A-04BC-2569DFD1B0EA}"/>
              </a:ext>
            </a:extLst>
          </p:cNvPr>
          <p:cNvSpPr txBox="1"/>
          <p:nvPr/>
        </p:nvSpPr>
        <p:spPr>
          <a:xfrm>
            <a:off x="1279453" y="3823985"/>
            <a:ext cx="3173254" cy="1938992"/>
          </a:xfrm>
          <a:prstGeom prst="rect">
            <a:avLst/>
          </a:prstGeom>
          <a:noFill/>
        </p:spPr>
        <p:txBody>
          <a:bodyPr wrap="square">
            <a:spAutoFit/>
          </a:bodyPr>
          <a:lstStyle/>
          <a:p>
            <a:pPr algn="just"/>
            <a:r>
              <a:rPr lang="fr-FR" sz="2000" dirty="0"/>
              <a:t>N'engagez pas la conversation avec des comptes qui cherchent à provoquer la colère. Le simple fait de répondre amplifie leur message.</a:t>
            </a:r>
            <a:endParaRPr lang="en-US" sz="2000" dirty="0"/>
          </a:p>
        </p:txBody>
      </p:sp>
      <p:sp>
        <p:nvSpPr>
          <p:cNvPr id="9" name="ZoneTexte 8">
            <a:extLst>
              <a:ext uri="{FF2B5EF4-FFF2-40B4-BE49-F238E27FC236}">
                <a16:creationId xmlns:a16="http://schemas.microsoft.com/office/drawing/2014/main" id="{385E94FB-635C-E6DE-F8A8-AA34CD87CF39}"/>
              </a:ext>
            </a:extLst>
          </p:cNvPr>
          <p:cNvSpPr txBox="1"/>
          <p:nvPr/>
        </p:nvSpPr>
        <p:spPr>
          <a:xfrm>
            <a:off x="4717103" y="3823985"/>
            <a:ext cx="3642850" cy="1631216"/>
          </a:xfrm>
          <a:prstGeom prst="rect">
            <a:avLst/>
          </a:prstGeom>
          <a:noFill/>
        </p:spPr>
        <p:txBody>
          <a:bodyPr wrap="square">
            <a:spAutoFit/>
          </a:bodyPr>
          <a:lstStyle/>
          <a:p>
            <a:pPr algn="just"/>
            <a:r>
              <a:rPr lang="fr-FR" sz="2000" dirty="0"/>
              <a:t>Guidez votre famille et vos amis vers des sources fiables. Discutez avec eux du problème de la désinformation de manière constructive.</a:t>
            </a:r>
            <a:endParaRPr lang="en-US" sz="2000" dirty="0"/>
          </a:p>
        </p:txBody>
      </p:sp>
      <p:sp>
        <p:nvSpPr>
          <p:cNvPr id="10" name="ZoneTexte 9">
            <a:extLst>
              <a:ext uri="{FF2B5EF4-FFF2-40B4-BE49-F238E27FC236}">
                <a16:creationId xmlns:a16="http://schemas.microsoft.com/office/drawing/2014/main" id="{D62CB91F-9D87-A5FE-7BAE-B0E00187D37B}"/>
              </a:ext>
            </a:extLst>
          </p:cNvPr>
          <p:cNvSpPr txBox="1"/>
          <p:nvPr/>
        </p:nvSpPr>
        <p:spPr>
          <a:xfrm>
            <a:off x="8596993" y="3823985"/>
            <a:ext cx="3458906" cy="1631216"/>
          </a:xfrm>
          <a:prstGeom prst="rect">
            <a:avLst/>
          </a:prstGeom>
          <a:noFill/>
        </p:spPr>
        <p:txBody>
          <a:bodyPr wrap="square">
            <a:spAutoFit/>
          </a:bodyPr>
          <a:lstStyle/>
          <a:p>
            <a:pPr algn="just"/>
            <a:r>
              <a:rPr lang="fr-FR" sz="2000" dirty="0"/>
              <a:t>Utilisez les outils de signalement des plateformes pour les contenus que vous savez être faux. Cela aide les plateformes à agir</a:t>
            </a:r>
            <a:endParaRPr lang="en-US" sz="2000" dirty="0"/>
          </a:p>
        </p:txBody>
      </p:sp>
      <p:pic>
        <p:nvPicPr>
          <p:cNvPr id="16" name="Image 15">
            <a:extLst>
              <a:ext uri="{FF2B5EF4-FFF2-40B4-BE49-F238E27FC236}">
                <a16:creationId xmlns:a16="http://schemas.microsoft.com/office/drawing/2014/main" id="{A73083A8-32F3-72F2-7FA6-C77FC0E746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83797" y="1664288"/>
            <a:ext cx="1080000" cy="1080000"/>
          </a:xfrm>
          <a:prstGeom prst="rect">
            <a:avLst/>
          </a:prstGeom>
        </p:spPr>
      </p:pic>
      <p:pic>
        <p:nvPicPr>
          <p:cNvPr id="18" name="Image 17">
            <a:extLst>
              <a:ext uri="{FF2B5EF4-FFF2-40B4-BE49-F238E27FC236}">
                <a16:creationId xmlns:a16="http://schemas.microsoft.com/office/drawing/2014/main" id="{824F1557-B2A5-1D91-0484-DF8F6CEF4D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12537" y="1661810"/>
            <a:ext cx="1080000" cy="1080000"/>
          </a:xfrm>
          <a:prstGeom prst="rect">
            <a:avLst/>
          </a:prstGeom>
        </p:spPr>
      </p:pic>
      <p:pic>
        <p:nvPicPr>
          <p:cNvPr id="20" name="Image 19">
            <a:extLst>
              <a:ext uri="{FF2B5EF4-FFF2-40B4-BE49-F238E27FC236}">
                <a16:creationId xmlns:a16="http://schemas.microsoft.com/office/drawing/2014/main" id="{133ADDC1-5720-D639-31D6-3F9CB92A33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86447" y="1661810"/>
            <a:ext cx="1080000" cy="1080000"/>
          </a:xfrm>
          <a:prstGeom prst="rect">
            <a:avLst/>
          </a:prstGeom>
        </p:spPr>
      </p:pic>
      <p:sp>
        <p:nvSpPr>
          <p:cNvPr id="7" name="ZoneTexte 6">
            <a:extLst>
              <a:ext uri="{FF2B5EF4-FFF2-40B4-BE49-F238E27FC236}">
                <a16:creationId xmlns:a16="http://schemas.microsoft.com/office/drawing/2014/main" id="{5523421E-C943-8C59-330B-EE9CD9DCD2F9}"/>
              </a:ext>
            </a:extLst>
          </p:cNvPr>
          <p:cNvSpPr txBox="1"/>
          <p:nvPr/>
        </p:nvSpPr>
        <p:spPr>
          <a:xfrm rot="16200000">
            <a:off x="-3119076" y="2761320"/>
            <a:ext cx="7192259" cy="954107"/>
          </a:xfrm>
          <a:prstGeom prst="rect">
            <a:avLst/>
          </a:prstGeom>
          <a:noFill/>
        </p:spPr>
        <p:txBody>
          <a:bodyPr wrap="square" rtlCol="0">
            <a:spAutoFit/>
          </a:bodyPr>
          <a:lstStyle/>
          <a:p>
            <a:r>
              <a:rPr lang="fr-FR" sz="2800" b="1" dirty="0">
                <a:solidFill>
                  <a:schemeClr val="bg1"/>
                </a:solidFill>
                <a:latin typeface="Calibri Light" panose="020F0302020204030204" pitchFamily="34" charset="0"/>
                <a:cs typeface="Calibri Light" panose="020F0302020204030204" pitchFamily="34" charset="0"/>
              </a:rPr>
              <a:t>8 - Une Réponse de l'Ensemble de la Société et Recommandations</a:t>
            </a:r>
          </a:p>
        </p:txBody>
      </p:sp>
    </p:spTree>
    <p:extLst>
      <p:ext uri="{BB962C8B-B14F-4D97-AF65-F5344CB8AC3E}">
        <p14:creationId xmlns:p14="http://schemas.microsoft.com/office/powerpoint/2010/main" val="25269894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57E44-234E-CCF9-4D14-AFEEA69173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1F834C-16E9-E8F4-6DF9-A74D611F3791}"/>
              </a:ext>
            </a:extLst>
          </p:cNvPr>
          <p:cNvSpPr/>
          <p:nvPr/>
        </p:nvSpPr>
        <p:spPr>
          <a:xfrm>
            <a:off x="0" y="0"/>
            <a:ext cx="108421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EA6AD6C1-D82E-04AC-F2C5-36F837D598AD}"/>
              </a:ext>
            </a:extLst>
          </p:cNvPr>
          <p:cNvSpPr/>
          <p:nvPr/>
        </p:nvSpPr>
        <p:spPr>
          <a:xfrm>
            <a:off x="718457" y="185783"/>
            <a:ext cx="8114992" cy="7576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prstClr val="white"/>
                </a:solidFill>
                <a:effectLst/>
                <a:uLnTx/>
                <a:uFillTx/>
                <a:latin typeface="Calibri Light" panose="020F0302020204030204"/>
                <a:ea typeface="+mn-ea"/>
                <a:cs typeface="+mn-cs"/>
              </a:rPr>
              <a:t>Conclusion</a:t>
            </a:r>
          </a:p>
        </p:txBody>
      </p:sp>
      <p:sp>
        <p:nvSpPr>
          <p:cNvPr id="10" name="Espace réservé du numéro de diapositive 9">
            <a:extLst>
              <a:ext uri="{FF2B5EF4-FFF2-40B4-BE49-F238E27FC236}">
                <a16:creationId xmlns:a16="http://schemas.microsoft.com/office/drawing/2014/main" id="{8F9E8040-FEF3-FB0D-0F5A-8B5FFD12CB5C}"/>
              </a:ext>
            </a:extLst>
          </p:cNvPr>
          <p:cNvSpPr>
            <a:spLocks noGrp="1"/>
          </p:cNvSpPr>
          <p:nvPr>
            <p:ph type="sldNum" sz="quarter" idx="12"/>
          </p:nvPr>
        </p:nvSpPr>
        <p:spPr>
          <a:xfrm>
            <a:off x="8560345" y="648965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D5D2-75C6-44E1-8C95-B32A4179B28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ZoneTexte 1">
            <a:extLst>
              <a:ext uri="{FF2B5EF4-FFF2-40B4-BE49-F238E27FC236}">
                <a16:creationId xmlns:a16="http://schemas.microsoft.com/office/drawing/2014/main" id="{957DE22E-0FB1-9D55-3CEE-70DF9FC44633}"/>
              </a:ext>
            </a:extLst>
          </p:cNvPr>
          <p:cNvSpPr txBox="1"/>
          <p:nvPr/>
        </p:nvSpPr>
        <p:spPr>
          <a:xfrm>
            <a:off x="1368976" y="1129212"/>
            <a:ext cx="10310326" cy="5632311"/>
          </a:xfrm>
          <a:prstGeom prst="rect">
            <a:avLst/>
          </a:prstGeom>
          <a:noFill/>
        </p:spPr>
        <p:txBody>
          <a:bodyPr wrap="square" rtlCol="0">
            <a:spAutoFit/>
          </a:bodyPr>
          <a:lstStyle/>
          <a:p>
            <a:pPr marL="342900" lvl="0" indent="-342900" algn="just">
              <a:buFont typeface="Arial" panose="020B0604020202020204" pitchFamily="34" charset="0"/>
              <a:buChar char="•"/>
            </a:pPr>
            <a:r>
              <a:rPr lang="fr-FR" sz="2400" dirty="0"/>
              <a:t>La désinformation est une condition sociétale chronique, et non un problème ponctuel, qui fusionne des tactiques de propagande anciennes avec la puissance d'amplification des technologies numériques. </a:t>
            </a:r>
          </a:p>
          <a:p>
            <a:pPr marL="342900" lvl="0" indent="-342900" algn="just">
              <a:buFont typeface="Arial" panose="020B0604020202020204" pitchFamily="34" charset="0"/>
              <a:buChar char="•"/>
            </a:pPr>
            <a:r>
              <a:rPr lang="fr-FR" sz="2400" dirty="0"/>
              <a:t>Exploitée par un écosystème hybride d'acteurs étatiques, politiques et commerciaux, son impact le plus profond n'est pas la simple diffusion de mensonges, mais l'érosion systémique de la confiance dans les institutions démocratiques, l'exacerbation de la polarisation sociale et la déstabilisation d'une réalité factuelle partagée. </a:t>
            </a:r>
          </a:p>
          <a:p>
            <a:pPr marL="342900" lvl="0" indent="-342900" algn="just">
              <a:buFont typeface="Arial" panose="020B0604020202020204" pitchFamily="34" charset="0"/>
              <a:buChar char="•"/>
            </a:pPr>
            <a:r>
              <a:rPr lang="fr-FR" sz="2400" dirty="0"/>
              <a:t>Face à l'intelligence artificielle qui menace de démocratiser les outils de persuasion de masse, il n'existe pas de solution miracle. </a:t>
            </a:r>
          </a:p>
          <a:p>
            <a:pPr marL="342900" lvl="0" indent="-342900" algn="just">
              <a:buFont typeface="Arial" panose="020B0604020202020204" pitchFamily="34" charset="0"/>
              <a:buChar char="•"/>
            </a:pPr>
            <a:r>
              <a:rPr lang="fr-FR" sz="2400" b="1" dirty="0"/>
              <a:t>La seule réponse stratégique consiste en un engagement durable de l'ensemble de la société pour bâtir une résilience à long terme, en équilibrant les contre-mesures tactiques avec des investissements structurels dans l'éducation aux médias et le soutien au journalisme indépendant, afin de cultiver un public éclairé et capable de résister à la manipulation.</a:t>
            </a:r>
            <a:endParaRPr kumimoji="0" lang="fr-FR" sz="2400" b="1" i="1" u="none" strike="noStrike" kern="1200" cap="none" spc="0" normalizeH="0" baseline="0" noProof="0" dirty="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23756488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DFEE705-8B19-470A-8505-1A8B99E56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7361" y="2397989"/>
            <a:ext cx="2577277" cy="2577277"/>
          </a:xfrm>
          <a:prstGeom prst="rect">
            <a:avLst/>
          </a:prstGeom>
        </p:spPr>
      </p:pic>
      <p:sp>
        <p:nvSpPr>
          <p:cNvPr id="5" name="ZoneTexte 4">
            <a:extLst>
              <a:ext uri="{FF2B5EF4-FFF2-40B4-BE49-F238E27FC236}">
                <a16:creationId xmlns:a16="http://schemas.microsoft.com/office/drawing/2014/main" id="{DC60CB2E-2F70-41FF-B9F5-9EF22DB46A4A}"/>
              </a:ext>
            </a:extLst>
          </p:cNvPr>
          <p:cNvSpPr txBox="1"/>
          <p:nvPr/>
        </p:nvSpPr>
        <p:spPr>
          <a:xfrm>
            <a:off x="3051629" y="1624919"/>
            <a:ext cx="608874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ED7D31"/>
                </a:solidFill>
                <a:effectLst/>
                <a:uLnTx/>
                <a:uFillTx/>
                <a:latin typeface="Calibri" panose="020F0502020204030204"/>
                <a:ea typeface="+mn-ea"/>
                <a:cs typeface="+mn-cs"/>
              </a:rPr>
              <a:t>Merci de votre attention!</a:t>
            </a:r>
          </a:p>
        </p:txBody>
      </p:sp>
      <p:sp>
        <p:nvSpPr>
          <p:cNvPr id="3" name="Espace réservé du numéro de diapositive 2">
            <a:extLst>
              <a:ext uri="{FF2B5EF4-FFF2-40B4-BE49-F238E27FC236}">
                <a16:creationId xmlns:a16="http://schemas.microsoft.com/office/drawing/2014/main" id="{32E3F626-0A43-4A2E-847F-67824C198E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D5D2-75C6-44E1-8C95-B32A4179B28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0577927"/>
      </p:ext>
    </p:extLst>
  </p:cSld>
  <p:clrMapOvr>
    <a:masterClrMapping/>
  </p:clrMapOvr>
  <p:transition spd="slow">
    <p:push dir="u"/>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dre">
  <a:themeElements>
    <a:clrScheme name="Personnalisé 2">
      <a:dk1>
        <a:srgbClr val="000000"/>
      </a:dk1>
      <a:lt1>
        <a:srgbClr val="FFFFFF"/>
      </a:lt1>
      <a:dk2>
        <a:srgbClr val="545454"/>
      </a:dk2>
      <a:lt2>
        <a:srgbClr val="BFBFBF"/>
      </a:lt2>
      <a:accent1>
        <a:srgbClr val="000000"/>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adr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adr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TM16401375[[fn=Madison]]</Template>
  <TotalTime>23337</TotalTime>
  <Words>3265</Words>
  <Application>Microsoft Office PowerPoint</Application>
  <PresentationFormat>Grand écran</PresentationFormat>
  <Paragraphs>231</Paragraphs>
  <Slides>43</Slides>
  <Notes>2</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43</vt:i4>
      </vt:variant>
    </vt:vector>
  </HeadingPairs>
  <TitlesOfParts>
    <vt:vector size="51" baseType="lpstr">
      <vt:lpstr>Adobe Devanagari</vt:lpstr>
      <vt:lpstr>Arial</vt:lpstr>
      <vt:lpstr>Calibri</vt:lpstr>
      <vt:lpstr>Calibri Light</vt:lpstr>
      <vt:lpstr>Corbel</vt:lpstr>
      <vt:lpstr>Wingdings 2</vt:lpstr>
      <vt:lpstr>Thème Office</vt:lpstr>
      <vt:lpstr>Cadre</vt:lpstr>
      <vt:lpstr>Les campagnes de désinformation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Algorithmes distribués randomisés</dc:title>
  <dc:creator>Evrard Ambara</dc:creator>
  <cp:lastModifiedBy>Evrard Ambara</cp:lastModifiedBy>
  <cp:revision>469</cp:revision>
  <dcterms:created xsi:type="dcterms:W3CDTF">2018-11-03T18:13:16Z</dcterms:created>
  <dcterms:modified xsi:type="dcterms:W3CDTF">2025-09-10T09:49:30Z</dcterms:modified>
</cp:coreProperties>
</file>