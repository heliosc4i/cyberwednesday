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1.xml" ContentType="application/vnd.openxmlformats-officedocument.drawingml.chart+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9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97"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98"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EE548FE-01D7-051E-C16D-A4CAAA5A706A}">
          <p14:sldIdLst>
            <p14:sldId id="256"/>
            <p14:sldId id="257"/>
          </p14:sldIdLst>
        </p14:section>
        <p14:section name="Why WAAP matters" id="{89949437-F7D7-9552-A818-22CA64B316C7}">
          <p14:sldIdLst>
            <p14:sldId id="296"/>
            <p14:sldId id="258"/>
            <p14:sldId id="259"/>
            <p14:sldId id="260"/>
            <p14:sldId id="261"/>
            <p14:sldId id="262"/>
            <p14:sldId id="263"/>
            <p14:sldId id="264"/>
          </p14:sldIdLst>
        </p14:section>
        <p14:section name="From WAF to WAAP" id="{2D77B96A-6D27-449F-CE8C-3D209B61F8E5}">
          <p14:sldIdLst>
            <p14:sldId id="265"/>
            <p14:sldId id="266"/>
            <p14:sldId id="267"/>
            <p14:sldId id="268"/>
            <p14:sldId id="269"/>
            <p14:sldId id="270"/>
            <p14:sldId id="271"/>
          </p14:sldIdLst>
        </p14:section>
        <p14:section name="WAAP concepts" id="{D560C38F-B8A0-7783-3988-9E3F9762B234}">
          <p14:sldIdLst>
            <p14:sldId id="297"/>
            <p14:sldId id="272"/>
            <p14:sldId id="273"/>
            <p14:sldId id="274"/>
            <p14:sldId id="275"/>
            <p14:sldId id="276"/>
          </p14:sldIdLst>
        </p14:section>
        <p14:section name="Core components" id="{C55E9F3F-6F52-C802-7A28-B8388FDF31AD}">
          <p14:sldIdLst>
            <p14:sldId id="277"/>
            <p14:sldId id="278"/>
            <p14:sldId id="279"/>
            <p14:sldId id="280"/>
            <p14:sldId id="281"/>
            <p14:sldId id="282"/>
            <p14:sldId id="283"/>
          </p14:sldIdLst>
        </p14:section>
        <p14:section name="Architecture &amp; models" id="{F7AFA4DA-416A-0319-57EE-2755D22D3752}">
          <p14:sldIdLst>
            <p14:sldId id="298"/>
            <p14:sldId id="284"/>
            <p14:sldId id="285"/>
            <p14:sldId id="286"/>
            <p14:sldId id="287"/>
            <p14:sldId id="288"/>
            <p14:sldId id="289"/>
          </p14:sldIdLst>
        </p14:section>
        <p14:section name="Applications &amp; future" id="{C082C6B0-A285-1499-2349-1924E0D40FB9}">
          <p14:sldIdLst>
            <p14:sldId id="290"/>
            <p14:sldId id="291"/>
            <p14:sldId id="292"/>
            <p14:sldId id="293"/>
            <p14:sldId id="294"/>
          </p14:sldIdLst>
        </p14:section>
        <p14:section name="Conclusion" id="{5B559B08-93BE-795D-AA19-80C2A315C71B}">
          <p14:sldIdLst>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p:restoredTop sz="94610"/>
  </p:normalViewPr>
  <p:slideViewPr>
    <p:cSldViewPr snapToGrid="0" snapToObjects="1">
      <p:cViewPr>
        <p:scale>
          <a:sx n="93" d="100"/>
          <a:sy n="93" d="100"/>
        </p:scale>
        <p:origin x="1768"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0" i="0" u="none" strike="noStrike">
                <a:solidFill>
                  <a:srgbClr val="24323F"/>
                </a:solidFill>
                <a:latin typeface="+mn-lt"/>
              </a:defRPr>
            </a:pPr>
            <a:r>
              <a:rPr lang="en-GB" sz="1400" b="0" i="0" u="none" strike="noStrike">
                <a:solidFill>
                  <a:srgbClr val="24323F"/>
                </a:solidFill>
                <a:latin typeface="+mn-lt"/>
              </a:rPr>
              <a:t>Cloud WAAP market projection (USD bn)</a:t>
            </a:r>
          </a:p>
        </c:rich>
      </c:tx>
      <c:overlay val="0"/>
    </c:title>
    <c:autoTitleDeleted val="0"/>
    <c:plotArea>
      <c:layout/>
      <c:barChart>
        <c:barDir val="col"/>
        <c:grouping val="clustered"/>
        <c:varyColors val="0"/>
        <c:ser>
          <c:idx val="0"/>
          <c:order val="0"/>
          <c:tx>
            <c:strRef>
              <c:f>Sheet1!$B$1</c:f>
              <c:strCache>
                <c:ptCount val="1"/>
                <c:pt idx="0">
                  <c:v>Market (USD bn)</c:v>
                </c:pt>
              </c:strCache>
            </c:strRef>
          </c:tx>
          <c:spPr>
            <a:solidFill>
              <a:srgbClr val="00A99D"/>
            </a:solidFill>
            <a:effectLst/>
          </c:spPr>
          <c:invertIfNegative val="0"/>
          <c:dLbls>
            <c:numFmt formatCode="0.0" sourceLinked="0"/>
            <c:spPr>
              <a:noFill/>
              <a:ln>
                <a:noFill/>
              </a:ln>
              <a:effectLst/>
            </c:spPr>
            <c:txPr>
              <a:bodyPr/>
              <a:lstStyle/>
              <a:p>
                <a:pPr>
                  <a:defRPr sz="1200" b="0" i="0" u="none" strike="noStrike">
                    <a:solidFill>
                      <a:srgbClr val="24323F"/>
                    </a:solidFill>
                    <a:latin typeface="+mn-lt"/>
                  </a:defRPr>
                </a:pPr>
                <a:endParaRPr lang="en-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2026</c:v>
                </c:pt>
                <c:pt idx="1">
                  <c:v>2029</c:v>
                </c:pt>
                <c:pt idx="2">
                  <c:v>2032</c:v>
                </c:pt>
                <c:pt idx="3">
                  <c:v>2035</c:v>
                </c:pt>
              </c:strCache>
            </c:strRef>
          </c:cat>
          <c:val>
            <c:numRef>
              <c:f>Sheet1!$B$2:$B$5</c:f>
              <c:numCache>
                <c:formatCode>General</c:formatCode>
                <c:ptCount val="4"/>
                <c:pt idx="0">
                  <c:v>7.8</c:v>
                </c:pt>
                <c:pt idx="1">
                  <c:v>11.7</c:v>
                </c:pt>
                <c:pt idx="2">
                  <c:v>17.600000000000001</c:v>
                </c:pt>
                <c:pt idx="3">
                  <c:v>26.4</c:v>
                </c:pt>
              </c:numCache>
            </c:numRef>
          </c:val>
          <c:extLst>
            <c:ext xmlns:c16="http://schemas.microsoft.com/office/drawing/2014/chart" uri="{C3380CC4-5D6E-409C-BE32-E72D297353CC}">
              <c16:uniqueId val="{00000000-EF91-EA42-B866-A235A38F551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A"/>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DDE3E7"/>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7832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explains why Web Application and API Protection (WAAP) has become the new security baseline, how it evolved from the classic WAF, how it works technically, and where it is heading.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the context, the origins, the concepts, the technical components, architecture and models, and finally applications, implementation and future trends.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apps and APIs are now the primary interfaces through which companies deliver services, transact with customers and integrate with partners. That is exactly why attackers target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Industry data highlights the urgency. Gartner predicted that APIs would become the top enterprise attack vector by 2022, and real breaches have proven that forecast correct.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incidents share a pattern: the API worked as designed, but authorisation or rate limits were missing. A WAAP with API discovery, schema enforcement and anti-enumeration controls would have limited the damage. Figures are as publicly reported.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breach costs 4.45 million dollars, higher in regulated industries. In healthcare, nearly one-third of breached providers reported a measurable drop in patient trust, and more than 116 million patient records were exposed in 2023, mainly due to application-layer weaknesses.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Automated traffic is one of the fastest-growing sources of risk. One study found that every observed site experienced malicious bot activity. Coordinated DDoS extortion groups such as KillNet have disrupted critical services.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Regulations expect enterprises to secure web-exposed services with auditable controls. WAAP provides continuous inspection, logging and governance aligned to sensitive endpoints — clear evidence of reasonable security measures. Cyber insurers increasingly ask for the same controls.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WAAP is the direct descendant of the Web Application Firewall (WAF), sometimes called web application protection. Gartner introduced the WAAP term as cloud WAF vendors added API, bot and DDoS protection.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classic WAF sits in front of web servers as a reverse proxy and inspects HTTP requests against rule sets such as the OWASP Core Rule Set. It is good at stopping known attack patterns but was designed for monolithic websites.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OWASP Top 10 (2021 edition shown) is the reference list of critical web application risks. A modern next-gen WAF aims to protect against all ten categories, in combination with secure development practices.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Gartner notes that legacy WAFs are not suited for rapidly changing applications. The first three limitations relate to how detection works.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three limitations relate to operations and architecture. Conclusion: the WAF remains a foundational control, but is no longer sufficient on its own.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most cases WAAP is a direct evolution of WAF technology, offering deeper coverage across Layers 3 to 7 and lower operational overhead.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WAAP still performs the duties of a WAF — inspecting HTTP/HTTPS traffic and blocking SQL injection and XSS — but adds API validation, bot protection, DDoS mitigation and machine learning in one unified, adaptive layer.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siloed point solutions, WAAP mandates the intersection of four critical capabilities. Each pillar is detailed in Part 4.</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engineering design principles keep a WAAP effective as applications change daily.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security blocks known bad; positive security allows only known good; the hybrid model combines both with ML risk scoring. Modern WAAPs run all three together.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rule-based WAFs, a next-gen WAF uses behavioural analysis and machine learning to understand normal behaviour, e.g. spotting repeated admin login attempts or payloads that do not match baselines even when no signature exists.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security is one of WAAP's defining capabilities. Platforms discover endpoints by passively observing traffic or integrating with API gateways, then generate allow-lists from OpenAPI schemas and block any deviation.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OWASP API Security Top 10 lists the most critical API risks. BOLA — accessing another user's objects by changing an identifier — is number one. WAAP addresses these with schema enforcement, behavioural detection, rate limiting and inventory.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half of web traffic is non-human automation. Bot engines combine machine learning, fingerprinting and behavioural telemetry, looking for unrealistic click speeds, headless browsers or known botnet signatures — without disrupting real users.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WAAP services use distributed edge networks, often with terabit-scale capacity, to absorb floods before they reach the origin. At Layer 7 they detect endpoint spikes and abnormal request patterns and apply adaptive rate limits. Strict uptime SLAs matter in banking and healthcare.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Comprehensive visibility and automation let small security teams manage protection at enterprise scale and keep policies aligned with rapid development cycles.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solves a different problem. The API gateway handles routing, authentication, quotas and versioning; the CDN caches content at the edge; the WAAP evaluates intent and context to filter malicious traffic.</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gateway and WAAP side by side in microservices architectures; keep the CDN for performance; keep an internal WAF only where traffic cannot route through a cloud provider.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WAAPs act as cloud reverse proxies: you point DNS to the provider and all traffic is inspected before reaching the origin. Responses can also be inspected to prevent data leakage.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request passes ten checks at the edge. Decisions happen within milliseconds; malicious requests are blocked and logged, clean requests are re-encrypted and forwarded to the origin.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concrete scenarios. Note for BOLA: even if the API has an authorisation flaw, WAAP limits exploitation by stopping enumeration patterns and suspicious resource access.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business exposing revenue or data through web pages and APIs benefits. Examples include hospitality booking engines protected from fake reservations and inventory hoarding.</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estimates vary by analyst; figures shown come from a single industry report and the chart compounds its stated growth rate. Machine learning is now embedded in most providers' detection engines.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most valuable surfaces — payment APIs, customer portals — and always tune in monitor mode before enforcing. Then integrate WAAP into CI/CD so new endpoints and schemas stay in sync, forward alerts to the SIEM with SOC playbooks, and monitor added latency.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apps and agents are built on APIs, so AI security is largely API security. Attackers also use AI to scale. Expect WAAP to converge with API security, CDN, SASE and CNAPP into unified application-protection platforms.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WAAP is the evolution of the WAF for an API-first, AI-driven world. Thank you for your attention.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4630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703320"/>
            <a:ext cx="10698480" cy="1097280"/>
          </a:xfrm>
          <a:prstGeom prst="rect">
            <a:avLst/>
          </a:prstGeom>
          <a:noFill/>
          <a:ln/>
        </p:spPr>
        <p:txBody>
          <a:bodyPr wrap="square" rtlCol="0"/>
          <a:lstStyle>
            <a:lvl1pPr marL="0" indent="0" algn="l">
              <a:buNone/>
              <a:defRPr lang="en-US" sz="2000" dirty="0">
                <a:solidFill>
                  <a:schemeClr val="accent5"/>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743200"/>
            <a:ext cx="10698480" cy="10058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840480"/>
            <a:ext cx="10058400" cy="1280160"/>
          </a:xfrm>
          <a:prstGeom prst="rect">
            <a:avLst/>
          </a:prstGeom>
          <a:noFill/>
          <a:ln/>
        </p:spPr>
        <p:txBody>
          <a:bodyPr wrap="square" rtlCol="0"/>
          <a:lstStyle>
            <a:lvl1pPr marL="0" indent="0" algn="l">
              <a:buNone/>
              <a:defRPr lang="en-US" sz="2000" dirty="0">
                <a:solidFill>
                  <a:schemeClr val="accent5"/>
                </a:solidFill>
              </a:defRPr>
            </a:lvl1pPr>
          </a:lstStyle>
          <a:p>
            <a:pPr marL="0" indent="0" algn="l">
              <a:buNone/>
            </a:pP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marL="0" indent="0">
              <a:buNone/>
            </a:pPr>
            <a:r>
              <a:rPr lang="en-US" sz="1000" dirty="0">
                <a:solidFill>
                  <a:schemeClr val="accent4"/>
                </a:solidFill>
              </a:rPr>
              <a:t>WAAP — Web Application &amp; API Protection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4.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4.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32.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40.pn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27.png"/><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45.png"/><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46.png"/><Relationship Id="rId7"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2.png"/></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24.png"/><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19.png"/><Relationship Id="rId7" Type="http://schemas.openxmlformats.org/officeDocument/2006/relationships/image" Target="../media/image53.png"/><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52.png"/><Relationship Id="rId10"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56.png"/><Relationship Id="rId4" Type="http://schemas.openxmlformats.org/officeDocument/2006/relationships/image" Target="../media/image55.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9.png"/><Relationship Id="rId7" Type="http://schemas.openxmlformats.org/officeDocument/2006/relationships/image" Target="../media/image59.png"/><Relationship Id="rId2" Type="http://schemas.openxmlformats.org/officeDocument/2006/relationships/notesSlide" Target="../notesSlides/notesSlide36.xml"/><Relationship Id="rId1" Type="http://schemas.openxmlformats.org/officeDocument/2006/relationships/slideLayout" Target="../slideLayouts/slideLayout4.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11.png"/><Relationship Id="rId9"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34.png"/><Relationship Id="rId4" Type="http://schemas.openxmlformats.org/officeDocument/2006/relationships/image" Target="../media/image62.png"/></Relationships>
</file>

<file path=ppt/slides/_rels/slide4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14.png"/><Relationship Id="rId7"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2.png"/></Relationships>
</file>

<file path=ppt/slides/_rels/slide4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32.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ield tile"/>
          <p:cNvSpPr/>
          <p:nvPr/>
        </p:nvSpPr>
        <p:spPr>
          <a:xfrm>
            <a:off x="731520" y="446113"/>
            <a:ext cx="822960" cy="822960"/>
          </a:xfrm>
          <a:prstGeom prst="roundRect">
            <a:avLst>
              <a:gd name="adj" fmla="val 13333"/>
            </a:avLst>
          </a:prstGeom>
          <a:solidFill>
            <a:schemeClr val="accent1"/>
          </a:solidFill>
          <a:ln/>
        </p:spPr>
        <p:txBody>
          <a:bodyPr/>
          <a:lstStyle/>
          <a:p>
            <a:endParaRPr lang="fr-FR"/>
          </a:p>
        </p:txBody>
      </p:sp>
      <p:pic>
        <p:nvPicPr>
          <p:cNvPr id="3" name="shield glyph" descr="shield"/>
          <p:cNvPicPr>
            <a:picLocks noChangeAspect="1"/>
          </p:cNvPicPr>
          <p:nvPr/>
        </p:nvPicPr>
        <p:blipFill>
          <a:blip r:embed="rId3"/>
          <a:stretch>
            <a:fillRect/>
          </a:stretch>
        </p:blipFill>
        <p:spPr>
          <a:xfrm>
            <a:off x="912571" y="654872"/>
            <a:ext cx="460858" cy="460858"/>
          </a:xfrm>
          <a:prstGeom prst="rect">
            <a:avLst/>
          </a:prstGeom>
        </p:spPr>
      </p:pic>
      <p:sp>
        <p:nvSpPr>
          <p:cNvPr id="4" name="Text 0"/>
          <p:cNvSpPr>
            <a:spLocks noGrp="1"/>
          </p:cNvSpPr>
          <p:nvPr>
            <p:ph type="title" idx="100" hasCustomPrompt="1"/>
          </p:nvPr>
        </p:nvSpPr>
        <p:spPr>
          <a:xfrm>
            <a:off x="304800" y="1739189"/>
            <a:ext cx="11389010" cy="1826971"/>
          </a:xfrm>
          <a:prstGeom prst="rect">
            <a:avLst/>
          </a:prstGeom>
          <a:noFill/>
          <a:ln/>
        </p:spPr>
        <p:txBody>
          <a:bodyPr wrap="square" lIns="0" tIns="0" rIns="0" bIns="0" rtlCol="0" anchor="b"/>
          <a:lstStyle/>
          <a:p>
            <a:pPr marL="0" indent="0" algn="l">
              <a:buNone/>
            </a:pPr>
            <a:r>
              <a:rPr lang="en-US" sz="4400" b="1" cap="all" dirty="0">
                <a:solidFill>
                  <a:schemeClr val="bg1"/>
                </a:solidFill>
              </a:rPr>
              <a:t>WAAP: Web Application &amp; API Protection</a:t>
            </a:r>
            <a:endParaRPr lang="en-US" sz="4400" cap="all" dirty="0"/>
          </a:p>
        </p:txBody>
      </p:sp>
      <p:sp>
        <p:nvSpPr>
          <p:cNvPr id="5" name="Text 0"/>
          <p:cNvSpPr>
            <a:spLocks noGrp="1"/>
          </p:cNvSpPr>
          <p:nvPr>
            <p:ph type="body" idx="101" hasCustomPrompt="1"/>
          </p:nvPr>
        </p:nvSpPr>
        <p:spPr>
          <a:xfrm>
            <a:off x="193964" y="3913913"/>
            <a:ext cx="11734226" cy="796632"/>
          </a:xfrm>
          <a:prstGeom prst="rect">
            <a:avLst/>
          </a:prstGeom>
          <a:noFill/>
          <a:ln/>
        </p:spPr>
        <p:txBody>
          <a:bodyPr wrap="square" lIns="0" tIns="0" rIns="0" bIns="0" rtlCol="0" anchor="t"/>
          <a:lstStyle/>
          <a:p>
            <a:r>
              <a:rPr lang="en-US" sz="2400" b="1" i="1" cap="all" dirty="0">
                <a:solidFill>
                  <a:schemeClr val="accent1">
                    <a:lumMod val="50000"/>
                  </a:schemeClr>
                </a:solidFill>
              </a:rPr>
              <a:t>Origins, concepts, technical features, Blocks or redacts sensitive data</a:t>
            </a:r>
          </a:p>
          <a:p>
            <a:pPr marL="0" indent="0" algn="l">
              <a:buNone/>
            </a:pPr>
            <a:r>
              <a:rPr lang="en-US" sz="2400" b="1" i="1" cap="all" dirty="0">
                <a:solidFill>
                  <a:schemeClr val="accent1">
                    <a:lumMod val="50000"/>
                  </a:schemeClr>
                </a:solidFill>
              </a:rPr>
              <a:t>models, applications and future trends</a:t>
            </a:r>
          </a:p>
        </p:txBody>
      </p:sp>
      <p:sp>
        <p:nvSpPr>
          <p:cNvPr id="6" name="Text 3"/>
          <p:cNvSpPr txBox="1"/>
          <p:nvPr/>
        </p:nvSpPr>
        <p:spPr>
          <a:xfrm>
            <a:off x="193964" y="5852160"/>
            <a:ext cx="7852756" cy="365760"/>
          </a:xfrm>
          <a:prstGeom prst="rect">
            <a:avLst/>
          </a:prstGeom>
          <a:noFill/>
          <a:ln/>
        </p:spPr>
        <p:txBody>
          <a:bodyPr wrap="square" lIns="0" tIns="0" rIns="0" bIns="0" rtlCol="0" anchor="ctr"/>
          <a:lstStyle/>
          <a:p>
            <a:pPr marL="0" indent="0">
              <a:buNone/>
            </a:pPr>
            <a:r>
              <a:rPr lang="en-US" sz="1400" dirty="0">
                <a:solidFill>
                  <a:schemeClr val="accent4"/>
                </a:solidFill>
              </a:rPr>
              <a:t>Présentation — October 2026</a:t>
            </a:r>
            <a:endParaRPr lang="en-US" sz="1400" dirty="0"/>
          </a:p>
        </p:txBody>
      </p:sp>
      <p:pic>
        <p:nvPicPr>
          <p:cNvPr id="7" name="Image 0" descr="/home/claude/unpacked/ppt/media/image1.png">
            <a:extLst>
              <a:ext uri="{FF2B5EF4-FFF2-40B4-BE49-F238E27FC236}">
                <a16:creationId xmlns:a16="http://schemas.microsoft.com/office/drawing/2014/main" id="{8CFF9637-ED84-C026-8814-64C3569660BD}"/>
              </a:ext>
            </a:extLst>
          </p:cNvPr>
          <p:cNvPicPr>
            <a:picLocks noChangeAspect="1"/>
          </p:cNvPicPr>
          <p:nvPr/>
        </p:nvPicPr>
        <p:blipFill>
          <a:blip r:embed="rId4"/>
          <a:stretch>
            <a:fillRect/>
          </a:stretch>
        </p:blipFill>
        <p:spPr>
          <a:xfrm>
            <a:off x="10733690" y="137160"/>
            <a:ext cx="960120" cy="960120"/>
          </a:xfrm>
          <a:prstGeom prst="rect">
            <a:avLst/>
          </a:prstGeom>
        </p:spPr>
      </p:pic>
      <p:sp>
        <p:nvSpPr>
          <p:cNvPr id="8" name="Text 0">
            <a:extLst>
              <a:ext uri="{FF2B5EF4-FFF2-40B4-BE49-F238E27FC236}">
                <a16:creationId xmlns:a16="http://schemas.microsoft.com/office/drawing/2014/main" id="{761CC237-653B-2C96-C439-0CA998A3F3D9}"/>
              </a:ext>
            </a:extLst>
          </p:cNvPr>
          <p:cNvSpPr txBox="1">
            <a:spLocks/>
          </p:cNvSpPr>
          <p:nvPr/>
        </p:nvSpPr>
        <p:spPr>
          <a:xfrm>
            <a:off x="8201891" y="4857399"/>
            <a:ext cx="3990109" cy="1863441"/>
          </a:xfrm>
          <a:prstGeom prst="rect">
            <a:avLst/>
          </a:prstGeom>
          <a:noFill/>
          <a:ln/>
        </p:spPr>
        <p:txBody>
          <a:bodyPr wrap="square" lIns="0" tIns="0" rIns="0" bIns="0" rtlCol="0" anchor="t"/>
          <a:lstStyle>
            <a:lvl1pPr marL="0" indent="0" algn="l" defTabSz="914400" rtl="0" eaLnBrk="1" latinLnBrk="0" hangingPunct="1">
              <a:spcBef>
                <a:spcPct val="20000"/>
              </a:spcBef>
              <a:buFont typeface="Arial" pitchFamily="34" charset="0"/>
              <a:buNone/>
              <a:defRPr lang="en-US" sz="2000" kern="1200" dirty="0">
                <a:solidFill>
                  <a:schemeClr val="accent5"/>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r>
              <a:rPr lang="en-GB" b="1" i="1" dirty="0">
                <a:solidFill>
                  <a:schemeClr val="bg1"/>
                </a:solidFill>
              </a:rPr>
              <a:t>By Col MBECK M. Jean Levrai</a:t>
            </a:r>
          </a:p>
          <a:p>
            <a:pPr algn="r"/>
            <a:r>
              <a:rPr lang="en-GB" b="1" i="1" dirty="0">
                <a:solidFill>
                  <a:schemeClr val="bg1"/>
                </a:solidFill>
              </a:rPr>
              <a:t>Helios Project EXECUTIVE MANAGER</a:t>
            </a:r>
            <a:r>
              <a:rPr lang="en-GB" b="1" i="1" cap="all" dirty="0">
                <a:solidFill>
                  <a:schemeClr val="bg1"/>
                </a:solidFill>
              </a:rPr>
              <a:t>.</a:t>
            </a:r>
          </a:p>
          <a:p>
            <a:pPr algn="r"/>
            <a:r>
              <a:rPr lang="en-GB" b="1" i="1" cap="all" dirty="0">
                <a:solidFill>
                  <a:schemeClr val="bg1"/>
                </a:solidFill>
              </a:rPr>
              <a:t>PLD @ </a:t>
            </a:r>
            <a:r>
              <a:rPr lang="en-GB" b="1" i="1" dirty="0">
                <a:solidFill>
                  <a:schemeClr val="bg1"/>
                </a:solidFill>
              </a:rPr>
              <a:t>Harvard Business School</a:t>
            </a:r>
          </a:p>
          <a:p>
            <a:pPr algn="r"/>
            <a:r>
              <a:rPr lang="en-GB" b="1" i="1" cap="all" dirty="0">
                <a:solidFill>
                  <a:schemeClr val="bg1"/>
                </a:solidFill>
              </a:rPr>
              <a:t>ICCF + </a:t>
            </a:r>
            <a:r>
              <a:rPr lang="en-GB" b="1" i="1" dirty="0" err="1">
                <a:solidFill>
                  <a:schemeClr val="bg1"/>
                </a:solidFill>
              </a:rPr>
              <a:t>e</a:t>
            </a:r>
            <a:r>
              <a:rPr lang="en-GB" b="1" i="1" cap="all" dirty="0" err="1">
                <a:solidFill>
                  <a:schemeClr val="bg1"/>
                </a:solidFill>
              </a:rPr>
              <a:t>MBA</a:t>
            </a:r>
            <a:r>
              <a:rPr lang="en-GB" b="1" i="1" cap="all" dirty="0">
                <a:solidFill>
                  <a:schemeClr val="bg1"/>
                </a:solidFill>
              </a:rPr>
              <a:t> @ HEC- Paris</a:t>
            </a:r>
          </a:p>
          <a:p>
            <a:pPr algn="r"/>
            <a:r>
              <a:rPr lang="en-GB" b="1" i="1" cap="all" dirty="0">
                <a:solidFill>
                  <a:schemeClr val="bg1"/>
                </a:solidFill>
              </a:rPr>
              <a:t>ASEP-CSEP-CISSP-CISM-CISO-</a:t>
            </a:r>
          </a:p>
          <a:p>
            <a:pPr algn="r"/>
            <a:endParaRPr lang="en-GB" b="1" i="1" cap="all" dirty="0">
              <a:solidFill>
                <a:schemeClr val="accent1">
                  <a:lumMod val="50000"/>
                </a:schemeClr>
              </a:solidFill>
            </a:endParaRPr>
          </a:p>
          <a:p>
            <a:pPr algn="r"/>
            <a:endParaRPr lang="en-GB" b="1" i="1" cap="all" dirty="0">
              <a:solidFill>
                <a:schemeClr val="accent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OUR JOURNEY ….</a:t>
            </a:r>
            <a:endParaRPr lang="en-US" sz="3400" cap="all" dirty="0"/>
          </a:p>
        </p:txBody>
      </p:sp>
      <p:sp>
        <p:nvSpPr>
          <p:cNvPr id="4" name="agenda 1"/>
          <p:cNvSpPr/>
          <p:nvPr/>
        </p:nvSpPr>
        <p:spPr>
          <a:xfrm>
            <a:off x="548640" y="1463040"/>
            <a:ext cx="5394960" cy="1280160"/>
          </a:xfrm>
          <a:prstGeom prst="roundRect">
            <a:avLst>
              <a:gd name="adj" fmla="val 7143"/>
            </a:avLst>
          </a:prstGeom>
          <a:solidFill>
            <a:schemeClr val="bg2"/>
          </a:solidFill>
          <a:ln/>
        </p:spPr>
        <p:txBody>
          <a:bodyPr/>
          <a:lstStyle/>
          <a:p>
            <a:endParaRPr lang="fr-FR"/>
          </a:p>
        </p:txBody>
      </p:sp>
      <p:sp>
        <p:nvSpPr>
          <p:cNvPr id="5" name="Why WAAP matters tile"/>
          <p:cNvSpPr/>
          <p:nvPr/>
        </p:nvSpPr>
        <p:spPr>
          <a:xfrm>
            <a:off x="822960" y="1828800"/>
            <a:ext cx="548640" cy="548640"/>
          </a:xfrm>
          <a:prstGeom prst="roundRect">
            <a:avLst>
              <a:gd name="adj" fmla="val 20000"/>
            </a:avLst>
          </a:prstGeom>
          <a:solidFill>
            <a:schemeClr val="accent1"/>
          </a:solidFill>
          <a:ln/>
        </p:spPr>
        <p:txBody>
          <a:bodyPr/>
          <a:lstStyle/>
          <a:p>
            <a:endParaRPr lang="fr-FR"/>
          </a:p>
        </p:txBody>
      </p:sp>
      <p:pic>
        <p:nvPicPr>
          <p:cNvPr id="6" name="Why WAAP matters glyph" descr="Why WAAP matters"/>
          <p:cNvPicPr>
            <a:picLocks noChangeAspect="1"/>
          </p:cNvPicPr>
          <p:nvPr/>
        </p:nvPicPr>
        <p:blipFill>
          <a:blip r:embed="rId3"/>
          <a:stretch>
            <a:fillRect/>
          </a:stretch>
        </p:blipFill>
        <p:spPr>
          <a:xfrm>
            <a:off x="943661" y="1949501"/>
            <a:ext cx="307238" cy="307238"/>
          </a:xfrm>
          <a:prstGeom prst="rect">
            <a:avLst/>
          </a:prstGeom>
        </p:spPr>
      </p:pic>
      <p:sp>
        <p:nvSpPr>
          <p:cNvPr id="7" name="Text 3"/>
          <p:cNvSpPr txBox="1"/>
          <p:nvPr/>
        </p:nvSpPr>
        <p:spPr>
          <a:xfrm>
            <a:off x="1600200" y="1645920"/>
            <a:ext cx="4160520" cy="914400"/>
          </a:xfrm>
          <a:prstGeom prst="rect">
            <a:avLst/>
          </a:prstGeom>
          <a:noFill/>
          <a:ln/>
        </p:spPr>
        <p:txBody>
          <a:bodyPr wrap="square" lIns="0" tIns="0" rIns="0" bIns="0" rtlCol="0" anchor="ctr"/>
          <a:lstStyle/>
          <a:p>
            <a:pPr marL="0" indent="0">
              <a:buNone/>
            </a:pPr>
            <a:r>
              <a:rPr lang="en-US" sz="2000" b="1" cap="all" dirty="0">
                <a:solidFill>
                  <a:schemeClr val="tx1"/>
                </a:solidFill>
              </a:rPr>
              <a:t>01  Why WAAP matters?</a:t>
            </a:r>
            <a:endParaRPr lang="en-US" sz="2000" cap="all" dirty="0"/>
          </a:p>
          <a:p>
            <a:pPr marL="0" indent="0">
              <a:buNone/>
            </a:pPr>
            <a:r>
              <a:rPr lang="en-US" sz="1600" cap="all" dirty="0">
                <a:solidFill>
                  <a:schemeClr val="accent4"/>
                </a:solidFill>
              </a:rPr>
              <a:t>Threat landscape, breaches, costs, compliance</a:t>
            </a:r>
            <a:endParaRPr lang="en-US" sz="1600" cap="all" dirty="0"/>
          </a:p>
        </p:txBody>
      </p:sp>
      <p:sp>
        <p:nvSpPr>
          <p:cNvPr id="8" name="agenda 2"/>
          <p:cNvSpPr/>
          <p:nvPr/>
        </p:nvSpPr>
        <p:spPr>
          <a:xfrm>
            <a:off x="6217920" y="1463040"/>
            <a:ext cx="5394960" cy="1280160"/>
          </a:xfrm>
          <a:prstGeom prst="roundRect">
            <a:avLst>
              <a:gd name="adj" fmla="val 7143"/>
            </a:avLst>
          </a:prstGeom>
          <a:solidFill>
            <a:schemeClr val="bg2"/>
          </a:solidFill>
          <a:ln/>
        </p:spPr>
        <p:txBody>
          <a:bodyPr/>
          <a:lstStyle/>
          <a:p>
            <a:endParaRPr lang="fr-FR"/>
          </a:p>
        </p:txBody>
      </p:sp>
      <p:sp>
        <p:nvSpPr>
          <p:cNvPr id="9" name="From WAF to WAAP tile"/>
          <p:cNvSpPr/>
          <p:nvPr/>
        </p:nvSpPr>
        <p:spPr>
          <a:xfrm>
            <a:off x="6492240" y="1828800"/>
            <a:ext cx="548640" cy="548640"/>
          </a:xfrm>
          <a:prstGeom prst="roundRect">
            <a:avLst>
              <a:gd name="adj" fmla="val 20000"/>
            </a:avLst>
          </a:prstGeom>
          <a:solidFill>
            <a:schemeClr val="accent1"/>
          </a:solidFill>
          <a:ln/>
        </p:spPr>
        <p:txBody>
          <a:bodyPr/>
          <a:lstStyle/>
          <a:p>
            <a:endParaRPr lang="fr-FR"/>
          </a:p>
        </p:txBody>
      </p:sp>
      <p:pic>
        <p:nvPicPr>
          <p:cNvPr id="10" name="From WAF to WAAP glyph" descr="From WAF to WAAP"/>
          <p:cNvPicPr>
            <a:picLocks noChangeAspect="1"/>
          </p:cNvPicPr>
          <p:nvPr/>
        </p:nvPicPr>
        <p:blipFill>
          <a:blip r:embed="rId4"/>
          <a:stretch>
            <a:fillRect/>
          </a:stretch>
        </p:blipFill>
        <p:spPr>
          <a:xfrm>
            <a:off x="6612941" y="1949501"/>
            <a:ext cx="307238" cy="307238"/>
          </a:xfrm>
          <a:prstGeom prst="rect">
            <a:avLst/>
          </a:prstGeom>
        </p:spPr>
      </p:pic>
      <p:sp>
        <p:nvSpPr>
          <p:cNvPr id="11" name="Text 6"/>
          <p:cNvSpPr txBox="1"/>
          <p:nvPr/>
        </p:nvSpPr>
        <p:spPr>
          <a:xfrm>
            <a:off x="7040880" y="1645920"/>
            <a:ext cx="4602480" cy="914400"/>
          </a:xfrm>
          <a:prstGeom prst="rect">
            <a:avLst/>
          </a:prstGeom>
          <a:noFill/>
          <a:ln/>
        </p:spPr>
        <p:txBody>
          <a:bodyPr wrap="square" lIns="0" tIns="0" rIns="0" bIns="0" rtlCol="0" anchor="ctr"/>
          <a:lstStyle/>
          <a:p>
            <a:pPr marL="0" indent="0">
              <a:buNone/>
            </a:pPr>
            <a:r>
              <a:rPr lang="en-US" sz="2000" b="1" cap="all" dirty="0">
                <a:solidFill>
                  <a:schemeClr val="tx1"/>
                </a:solidFill>
              </a:rPr>
              <a:t>02  From WAF to WAAP</a:t>
            </a:r>
            <a:endParaRPr lang="en-US" sz="2000" cap="all" dirty="0"/>
          </a:p>
          <a:p>
            <a:pPr marL="0" indent="0">
              <a:buNone/>
            </a:pPr>
            <a:r>
              <a:rPr lang="en-US" sz="1600" cap="all" dirty="0">
                <a:solidFill>
                  <a:schemeClr val="accent4"/>
                </a:solidFill>
              </a:rPr>
              <a:t>Origins, OWASP Top 10, limits of the classic WAF</a:t>
            </a:r>
          </a:p>
        </p:txBody>
      </p:sp>
      <p:sp>
        <p:nvSpPr>
          <p:cNvPr id="12" name="agenda 3"/>
          <p:cNvSpPr/>
          <p:nvPr/>
        </p:nvSpPr>
        <p:spPr>
          <a:xfrm>
            <a:off x="548640" y="3017520"/>
            <a:ext cx="5394960" cy="1280160"/>
          </a:xfrm>
          <a:prstGeom prst="roundRect">
            <a:avLst>
              <a:gd name="adj" fmla="val 7143"/>
            </a:avLst>
          </a:prstGeom>
          <a:solidFill>
            <a:schemeClr val="bg2"/>
          </a:solidFill>
          <a:ln/>
        </p:spPr>
        <p:txBody>
          <a:bodyPr/>
          <a:lstStyle/>
          <a:p>
            <a:endParaRPr lang="fr-FR"/>
          </a:p>
        </p:txBody>
      </p:sp>
      <p:sp>
        <p:nvSpPr>
          <p:cNvPr id="13" name="WAAP concepts tile"/>
          <p:cNvSpPr/>
          <p:nvPr/>
        </p:nvSpPr>
        <p:spPr>
          <a:xfrm>
            <a:off x="587425" y="3438700"/>
            <a:ext cx="548640" cy="548640"/>
          </a:xfrm>
          <a:prstGeom prst="roundRect">
            <a:avLst>
              <a:gd name="adj" fmla="val 20000"/>
            </a:avLst>
          </a:prstGeom>
          <a:solidFill>
            <a:schemeClr val="accent1"/>
          </a:solidFill>
          <a:ln/>
        </p:spPr>
        <p:txBody>
          <a:bodyPr/>
          <a:lstStyle/>
          <a:p>
            <a:endParaRPr lang="fr-FR"/>
          </a:p>
        </p:txBody>
      </p:sp>
      <p:pic>
        <p:nvPicPr>
          <p:cNvPr id="14" name="WAAP concepts glyph" descr="WAAP concepts"/>
          <p:cNvPicPr>
            <a:picLocks noChangeAspect="1"/>
          </p:cNvPicPr>
          <p:nvPr/>
        </p:nvPicPr>
        <p:blipFill>
          <a:blip r:embed="rId5"/>
          <a:stretch>
            <a:fillRect/>
          </a:stretch>
        </p:blipFill>
        <p:spPr>
          <a:xfrm>
            <a:off x="680416" y="3503981"/>
            <a:ext cx="307238" cy="307238"/>
          </a:xfrm>
          <a:prstGeom prst="rect">
            <a:avLst/>
          </a:prstGeom>
        </p:spPr>
      </p:pic>
      <p:sp>
        <p:nvSpPr>
          <p:cNvPr id="15" name="Text 9"/>
          <p:cNvSpPr txBox="1"/>
          <p:nvPr/>
        </p:nvSpPr>
        <p:spPr>
          <a:xfrm>
            <a:off x="1174850" y="3200400"/>
            <a:ext cx="4768750" cy="914400"/>
          </a:xfrm>
          <a:prstGeom prst="rect">
            <a:avLst/>
          </a:prstGeom>
          <a:noFill/>
          <a:ln/>
        </p:spPr>
        <p:txBody>
          <a:bodyPr wrap="square" lIns="0" tIns="0" rIns="0" bIns="0" rtlCol="0" anchor="ctr"/>
          <a:lstStyle/>
          <a:p>
            <a:pPr marL="0" indent="0">
              <a:buNone/>
            </a:pPr>
            <a:r>
              <a:rPr lang="en-US" sz="2000" b="1" cap="all" dirty="0">
                <a:solidFill>
                  <a:schemeClr val="tx1"/>
                </a:solidFill>
              </a:rPr>
              <a:t>03  WAAP concepts</a:t>
            </a:r>
            <a:endParaRPr lang="en-US" sz="2000" cap="all" dirty="0"/>
          </a:p>
          <a:p>
            <a:pPr marL="0" indent="0">
              <a:buNone/>
            </a:pPr>
            <a:r>
              <a:rPr lang="en-US" sz="1600" cap="all" dirty="0">
                <a:solidFill>
                  <a:schemeClr val="accent4"/>
                </a:solidFill>
              </a:rPr>
              <a:t>Definition, four pillars, principles</a:t>
            </a:r>
            <a:r>
              <a:rPr lang="en-US" sz="1400" dirty="0">
                <a:solidFill>
                  <a:schemeClr val="accent4"/>
                </a:solidFill>
              </a:rPr>
              <a:t>, </a:t>
            </a:r>
            <a:r>
              <a:rPr lang="en-US" sz="1600" cap="all" dirty="0">
                <a:solidFill>
                  <a:schemeClr val="accent4"/>
                </a:solidFill>
              </a:rPr>
              <a:t>security models</a:t>
            </a:r>
          </a:p>
        </p:txBody>
      </p:sp>
      <p:sp>
        <p:nvSpPr>
          <p:cNvPr id="16" name="agenda 4"/>
          <p:cNvSpPr/>
          <p:nvPr/>
        </p:nvSpPr>
        <p:spPr>
          <a:xfrm>
            <a:off x="6217920" y="3017520"/>
            <a:ext cx="5394960" cy="1280160"/>
          </a:xfrm>
          <a:prstGeom prst="roundRect">
            <a:avLst>
              <a:gd name="adj" fmla="val 7143"/>
            </a:avLst>
          </a:prstGeom>
          <a:solidFill>
            <a:schemeClr val="bg2"/>
          </a:solidFill>
          <a:ln/>
        </p:spPr>
        <p:txBody>
          <a:bodyPr/>
          <a:lstStyle/>
          <a:p>
            <a:endParaRPr lang="fr-FR"/>
          </a:p>
        </p:txBody>
      </p:sp>
      <p:sp>
        <p:nvSpPr>
          <p:cNvPr id="17" name="Core components tile"/>
          <p:cNvSpPr/>
          <p:nvPr/>
        </p:nvSpPr>
        <p:spPr>
          <a:xfrm>
            <a:off x="6492240" y="3383280"/>
            <a:ext cx="548640" cy="548640"/>
          </a:xfrm>
          <a:prstGeom prst="roundRect">
            <a:avLst>
              <a:gd name="adj" fmla="val 20000"/>
            </a:avLst>
          </a:prstGeom>
          <a:solidFill>
            <a:schemeClr val="accent1"/>
          </a:solidFill>
          <a:ln/>
        </p:spPr>
        <p:txBody>
          <a:bodyPr/>
          <a:lstStyle/>
          <a:p>
            <a:endParaRPr lang="fr-FR"/>
          </a:p>
        </p:txBody>
      </p:sp>
      <p:pic>
        <p:nvPicPr>
          <p:cNvPr id="18" name="Core components glyph" descr="Core components"/>
          <p:cNvPicPr>
            <a:picLocks noChangeAspect="1"/>
          </p:cNvPicPr>
          <p:nvPr/>
        </p:nvPicPr>
        <p:blipFill>
          <a:blip r:embed="rId6"/>
          <a:stretch>
            <a:fillRect/>
          </a:stretch>
        </p:blipFill>
        <p:spPr>
          <a:xfrm>
            <a:off x="6612941" y="3503981"/>
            <a:ext cx="307238" cy="307238"/>
          </a:xfrm>
          <a:prstGeom prst="rect">
            <a:avLst/>
          </a:prstGeom>
        </p:spPr>
      </p:pic>
      <p:sp>
        <p:nvSpPr>
          <p:cNvPr id="19" name="Text 12"/>
          <p:cNvSpPr txBox="1"/>
          <p:nvPr/>
        </p:nvSpPr>
        <p:spPr>
          <a:xfrm>
            <a:off x="7269479" y="3200400"/>
            <a:ext cx="4464101" cy="914400"/>
          </a:xfrm>
          <a:prstGeom prst="rect">
            <a:avLst/>
          </a:prstGeom>
          <a:noFill/>
          <a:ln/>
        </p:spPr>
        <p:txBody>
          <a:bodyPr wrap="square" lIns="0" tIns="0" rIns="0" bIns="0" rtlCol="0" anchor="ctr"/>
          <a:lstStyle/>
          <a:p>
            <a:pPr marL="0" indent="0">
              <a:buNone/>
            </a:pPr>
            <a:r>
              <a:rPr lang="en-US" sz="2000" b="1" cap="all" dirty="0">
                <a:solidFill>
                  <a:schemeClr val="tx1"/>
                </a:solidFill>
              </a:rPr>
              <a:t>04  Core components</a:t>
            </a:r>
            <a:endParaRPr lang="en-US" sz="2000" cap="all" dirty="0"/>
          </a:p>
          <a:p>
            <a:pPr marL="0" indent="0">
              <a:buNone/>
            </a:pPr>
            <a:r>
              <a:rPr lang="en-US" sz="1400" dirty="0">
                <a:solidFill>
                  <a:schemeClr val="accent4"/>
                </a:solidFill>
              </a:rPr>
              <a:t>WAF, API </a:t>
            </a:r>
            <a:r>
              <a:rPr lang="en-US" sz="1600" cap="all" dirty="0">
                <a:solidFill>
                  <a:schemeClr val="accent4"/>
                </a:solidFill>
              </a:rPr>
              <a:t>security</a:t>
            </a:r>
            <a:r>
              <a:rPr lang="en-US" sz="1400" dirty="0">
                <a:solidFill>
                  <a:schemeClr val="accent4"/>
                </a:solidFill>
              </a:rPr>
              <a:t>, </a:t>
            </a:r>
            <a:r>
              <a:rPr lang="en-US" sz="1600" cap="all" dirty="0">
                <a:solidFill>
                  <a:schemeClr val="accent4"/>
                </a:solidFill>
              </a:rPr>
              <a:t>bots</a:t>
            </a:r>
            <a:r>
              <a:rPr lang="en-US" sz="1400" dirty="0">
                <a:solidFill>
                  <a:schemeClr val="accent4"/>
                </a:solidFill>
              </a:rPr>
              <a:t>, DDoS, </a:t>
            </a:r>
            <a:r>
              <a:rPr lang="en-US" sz="1600" cap="all" dirty="0">
                <a:solidFill>
                  <a:schemeClr val="accent4"/>
                </a:solidFill>
              </a:rPr>
              <a:t>telemetry</a:t>
            </a:r>
            <a:r>
              <a:rPr lang="en-US" sz="1400" dirty="0">
                <a:solidFill>
                  <a:schemeClr val="accent4"/>
                </a:solidFill>
              </a:rPr>
              <a:t> </a:t>
            </a:r>
            <a:r>
              <a:rPr lang="en-US" sz="1600" cap="all" dirty="0">
                <a:solidFill>
                  <a:schemeClr val="accent4"/>
                </a:solidFill>
              </a:rPr>
              <a:t>in</a:t>
            </a:r>
            <a:r>
              <a:rPr lang="en-US" sz="1400" dirty="0">
                <a:solidFill>
                  <a:schemeClr val="accent4"/>
                </a:solidFill>
              </a:rPr>
              <a:t> </a:t>
            </a:r>
            <a:r>
              <a:rPr lang="en-US" sz="1600" cap="all" dirty="0">
                <a:solidFill>
                  <a:schemeClr val="accent4"/>
                </a:solidFill>
              </a:rPr>
              <a:t>depth</a:t>
            </a:r>
          </a:p>
        </p:txBody>
      </p:sp>
      <p:sp>
        <p:nvSpPr>
          <p:cNvPr id="20" name="agenda 5"/>
          <p:cNvSpPr/>
          <p:nvPr/>
        </p:nvSpPr>
        <p:spPr>
          <a:xfrm>
            <a:off x="548640" y="4572000"/>
            <a:ext cx="5394960" cy="1280160"/>
          </a:xfrm>
          <a:prstGeom prst="roundRect">
            <a:avLst>
              <a:gd name="adj" fmla="val 7143"/>
            </a:avLst>
          </a:prstGeom>
          <a:solidFill>
            <a:schemeClr val="bg2"/>
          </a:solidFill>
          <a:ln/>
        </p:spPr>
        <p:txBody>
          <a:bodyPr/>
          <a:lstStyle/>
          <a:p>
            <a:endParaRPr lang="fr-FR"/>
          </a:p>
        </p:txBody>
      </p:sp>
      <p:sp>
        <p:nvSpPr>
          <p:cNvPr id="21" name="Architecture &amp; models tile"/>
          <p:cNvSpPr/>
          <p:nvPr/>
        </p:nvSpPr>
        <p:spPr>
          <a:xfrm>
            <a:off x="822960" y="4937760"/>
            <a:ext cx="548640" cy="548640"/>
          </a:xfrm>
          <a:prstGeom prst="roundRect">
            <a:avLst>
              <a:gd name="adj" fmla="val 20000"/>
            </a:avLst>
          </a:prstGeom>
          <a:solidFill>
            <a:schemeClr val="accent1"/>
          </a:solidFill>
          <a:ln/>
        </p:spPr>
        <p:txBody>
          <a:bodyPr/>
          <a:lstStyle/>
          <a:p>
            <a:endParaRPr lang="fr-FR"/>
          </a:p>
        </p:txBody>
      </p:sp>
      <p:pic>
        <p:nvPicPr>
          <p:cNvPr id="22" name="Architecture &amp; models glyph" descr="Architecture &amp; models"/>
          <p:cNvPicPr>
            <a:picLocks noChangeAspect="1"/>
          </p:cNvPicPr>
          <p:nvPr/>
        </p:nvPicPr>
        <p:blipFill>
          <a:blip r:embed="rId7"/>
          <a:stretch>
            <a:fillRect/>
          </a:stretch>
        </p:blipFill>
        <p:spPr>
          <a:xfrm>
            <a:off x="943661" y="5058461"/>
            <a:ext cx="307238" cy="307238"/>
          </a:xfrm>
          <a:prstGeom prst="rect">
            <a:avLst/>
          </a:prstGeom>
        </p:spPr>
      </p:pic>
      <p:sp>
        <p:nvSpPr>
          <p:cNvPr id="23" name="Text 15"/>
          <p:cNvSpPr txBox="1"/>
          <p:nvPr/>
        </p:nvSpPr>
        <p:spPr>
          <a:xfrm>
            <a:off x="1600200" y="4754880"/>
            <a:ext cx="4160520" cy="914400"/>
          </a:xfrm>
          <a:prstGeom prst="rect">
            <a:avLst/>
          </a:prstGeom>
          <a:noFill/>
          <a:ln/>
        </p:spPr>
        <p:txBody>
          <a:bodyPr wrap="square" lIns="0" tIns="0" rIns="0" bIns="0" rtlCol="0" anchor="ctr"/>
          <a:lstStyle/>
          <a:p>
            <a:pPr marL="0" indent="0">
              <a:buNone/>
            </a:pPr>
            <a:r>
              <a:rPr lang="en-US" sz="2000" b="1" cap="all" dirty="0">
                <a:solidFill>
                  <a:schemeClr val="tx1"/>
                </a:solidFill>
              </a:rPr>
              <a:t>05  Architecture &amp; models</a:t>
            </a:r>
            <a:endParaRPr lang="en-US" sz="2000" cap="all" dirty="0"/>
          </a:p>
          <a:p>
            <a:pPr marL="0" indent="0">
              <a:buNone/>
            </a:pPr>
            <a:r>
              <a:rPr lang="en-US" sz="1600" cap="all" dirty="0">
                <a:solidFill>
                  <a:schemeClr val="accent4"/>
                </a:solidFill>
              </a:rPr>
              <a:t>Comparison</a:t>
            </a:r>
            <a:r>
              <a:rPr lang="en-US" sz="1400" dirty="0">
                <a:solidFill>
                  <a:schemeClr val="accent4"/>
                </a:solidFill>
              </a:rPr>
              <a:t>, </a:t>
            </a:r>
            <a:r>
              <a:rPr lang="en-US" sz="1600" cap="all" dirty="0">
                <a:solidFill>
                  <a:schemeClr val="accent4"/>
                </a:solidFill>
              </a:rPr>
              <a:t>deployment, data flow, attack journeys</a:t>
            </a:r>
          </a:p>
        </p:txBody>
      </p:sp>
      <p:sp>
        <p:nvSpPr>
          <p:cNvPr id="24" name="agenda 6"/>
          <p:cNvSpPr/>
          <p:nvPr/>
        </p:nvSpPr>
        <p:spPr>
          <a:xfrm>
            <a:off x="6217920" y="4572000"/>
            <a:ext cx="5394960" cy="1280160"/>
          </a:xfrm>
          <a:prstGeom prst="roundRect">
            <a:avLst>
              <a:gd name="adj" fmla="val 7143"/>
            </a:avLst>
          </a:prstGeom>
          <a:solidFill>
            <a:schemeClr val="bg2"/>
          </a:solidFill>
          <a:ln/>
        </p:spPr>
        <p:txBody>
          <a:bodyPr/>
          <a:lstStyle/>
          <a:p>
            <a:endParaRPr lang="fr-FR"/>
          </a:p>
        </p:txBody>
      </p:sp>
      <p:sp>
        <p:nvSpPr>
          <p:cNvPr id="25" name="Applications &amp; future tile"/>
          <p:cNvSpPr/>
          <p:nvPr/>
        </p:nvSpPr>
        <p:spPr>
          <a:xfrm>
            <a:off x="6492240" y="4937760"/>
            <a:ext cx="548640" cy="548640"/>
          </a:xfrm>
          <a:prstGeom prst="roundRect">
            <a:avLst>
              <a:gd name="adj" fmla="val 20000"/>
            </a:avLst>
          </a:prstGeom>
          <a:solidFill>
            <a:schemeClr val="accent1"/>
          </a:solidFill>
          <a:ln/>
        </p:spPr>
        <p:txBody>
          <a:bodyPr/>
          <a:lstStyle/>
          <a:p>
            <a:endParaRPr lang="fr-FR"/>
          </a:p>
        </p:txBody>
      </p:sp>
      <p:pic>
        <p:nvPicPr>
          <p:cNvPr id="26" name="Applications &amp; future glyph" descr="Applications &amp; future"/>
          <p:cNvPicPr>
            <a:picLocks noChangeAspect="1"/>
          </p:cNvPicPr>
          <p:nvPr/>
        </p:nvPicPr>
        <p:blipFill>
          <a:blip r:embed="rId8"/>
          <a:stretch>
            <a:fillRect/>
          </a:stretch>
        </p:blipFill>
        <p:spPr>
          <a:xfrm>
            <a:off x="6612941" y="5058461"/>
            <a:ext cx="307238" cy="307238"/>
          </a:xfrm>
          <a:prstGeom prst="rect">
            <a:avLst/>
          </a:prstGeom>
        </p:spPr>
      </p:pic>
      <p:sp>
        <p:nvSpPr>
          <p:cNvPr id="27" name="Text 18"/>
          <p:cNvSpPr txBox="1"/>
          <p:nvPr/>
        </p:nvSpPr>
        <p:spPr>
          <a:xfrm>
            <a:off x="7269480" y="4754880"/>
            <a:ext cx="4343400" cy="914400"/>
          </a:xfrm>
          <a:prstGeom prst="rect">
            <a:avLst/>
          </a:prstGeom>
          <a:noFill/>
          <a:ln/>
        </p:spPr>
        <p:txBody>
          <a:bodyPr wrap="square" lIns="0" tIns="0" rIns="0" bIns="0" rtlCol="0" anchor="ctr"/>
          <a:lstStyle/>
          <a:p>
            <a:pPr marL="0" indent="0">
              <a:buNone/>
            </a:pPr>
            <a:r>
              <a:rPr lang="en-US" sz="2000" b="1" cap="all" dirty="0">
                <a:solidFill>
                  <a:schemeClr val="tx1"/>
                </a:solidFill>
              </a:rPr>
              <a:t>06  Applications &amp; future</a:t>
            </a:r>
            <a:endParaRPr lang="en-US" sz="2000" cap="all" dirty="0"/>
          </a:p>
          <a:p>
            <a:pPr marL="0" indent="0">
              <a:buNone/>
            </a:pPr>
            <a:r>
              <a:rPr lang="en-US" sz="1600" cap="all" dirty="0">
                <a:solidFill>
                  <a:schemeClr val="accent4"/>
                </a:solidFill>
              </a:rPr>
              <a:t>Sectors</a:t>
            </a:r>
            <a:r>
              <a:rPr lang="en-US" sz="1400" dirty="0">
                <a:solidFill>
                  <a:schemeClr val="accent4"/>
                </a:solidFill>
              </a:rPr>
              <a:t>, </a:t>
            </a:r>
            <a:r>
              <a:rPr lang="en-US" sz="1600" cap="all" dirty="0">
                <a:solidFill>
                  <a:schemeClr val="accent4"/>
                </a:solidFill>
              </a:rPr>
              <a:t>market</a:t>
            </a:r>
            <a:r>
              <a:rPr lang="en-US" sz="1400" dirty="0">
                <a:solidFill>
                  <a:schemeClr val="accent4"/>
                </a:solidFill>
              </a:rPr>
              <a:t>, </a:t>
            </a:r>
            <a:r>
              <a:rPr lang="en-US" sz="1600" cap="all" dirty="0">
                <a:solidFill>
                  <a:schemeClr val="accent4"/>
                </a:solidFill>
              </a:rPr>
              <a:t>roadmap</a:t>
            </a:r>
            <a:r>
              <a:rPr lang="en-US" sz="1400" dirty="0">
                <a:solidFill>
                  <a:schemeClr val="accent4"/>
                </a:solidFill>
              </a:rPr>
              <a:t> </a:t>
            </a:r>
            <a:r>
              <a:rPr lang="en-US" sz="1600" cap="all" dirty="0">
                <a:solidFill>
                  <a:schemeClr val="accent4"/>
                </a:solidFill>
              </a:rPr>
              <a:t>and</a:t>
            </a:r>
            <a:r>
              <a:rPr lang="en-US" sz="1400" dirty="0">
                <a:solidFill>
                  <a:schemeClr val="accent4"/>
                </a:solidFill>
              </a:rPr>
              <a:t> </a:t>
            </a:r>
            <a:r>
              <a:rPr lang="en-US" sz="1600" cap="all" dirty="0">
                <a:solidFill>
                  <a:schemeClr val="accent4"/>
                </a:solidFill>
              </a:rPr>
              <a:t>future</a:t>
            </a:r>
            <a:r>
              <a:rPr lang="en-US" sz="1400" dirty="0">
                <a:solidFill>
                  <a:schemeClr val="accent4"/>
                </a:solidFill>
              </a:rPr>
              <a:t> </a:t>
            </a:r>
            <a:r>
              <a:rPr lang="en-US" sz="1600" cap="all" dirty="0">
                <a:solidFill>
                  <a:schemeClr val="accent4"/>
                </a:solidFill>
              </a:rPr>
              <a:t>trends</a:t>
            </a:r>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pic>
        <p:nvPicPr>
          <p:cNvPr id="28" name="Image 0" descr="/home/claude/unpacked/ppt/media/image1.png">
            <a:extLst>
              <a:ext uri="{FF2B5EF4-FFF2-40B4-BE49-F238E27FC236}">
                <a16:creationId xmlns:a16="http://schemas.microsoft.com/office/drawing/2014/main" id="{06BA69A5-5541-1978-2062-75219D04B41E}"/>
              </a:ext>
            </a:extLst>
          </p:cNvPr>
          <p:cNvPicPr>
            <a:picLocks noChangeAspect="1"/>
          </p:cNvPicPr>
          <p:nvPr/>
        </p:nvPicPr>
        <p:blipFill>
          <a:blip r:embed="rId9"/>
          <a:stretch>
            <a:fillRect/>
          </a:stretch>
        </p:blipFill>
        <p:spPr>
          <a:xfrm>
            <a:off x="11163300" y="68580"/>
            <a:ext cx="960120" cy="9601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FCA8104F-3B94-653E-3E8D-AECAC004CAB6}"/>
              </a:ext>
            </a:extLst>
          </p:cNvPr>
          <p:cNvSpPr txBox="1">
            <a:spLocks noGrp="1"/>
          </p:cNvSpPr>
          <p:nvPr>
            <p:ph type="title" idx="100"/>
          </p:nvPr>
        </p:nvSpPr>
        <p:spPr>
          <a:prstGeom prst="rect">
            <a:avLst/>
          </a:prstGeom>
          <a:noFill/>
          <a:ln/>
        </p:spPr>
        <p:txBody>
          <a:bodyPr wrap="square" lIns="0" tIns="0" rIns="0" bIns="0" rtlCol="0" anchor="b"/>
          <a:lstStyle/>
          <a:p>
            <a:pPr marL="0" indent="0">
              <a:buNone/>
            </a:pPr>
            <a:r>
              <a:rPr lang="en-US" sz="8000" b="1" dirty="0">
                <a:solidFill>
                  <a:schemeClr val="accent1"/>
                </a:solidFill>
                <a:latin typeface="Arial" pitchFamily="34" charset="0"/>
                <a:ea typeface="Arial" pitchFamily="34" charset="-122"/>
                <a:cs typeface="Arial" pitchFamily="34" charset="-120"/>
              </a:rPr>
              <a:t>PART 01: THE ISSUE</a:t>
            </a:r>
            <a:endParaRPr lang="en-US" sz="8000" dirty="0"/>
          </a:p>
        </p:txBody>
      </p:sp>
      <p:pic>
        <p:nvPicPr>
          <p:cNvPr id="5" name="Image 0" descr="/home/claude/unpacked/ppt/media/image1.png">
            <a:extLst>
              <a:ext uri="{FF2B5EF4-FFF2-40B4-BE49-F238E27FC236}">
                <a16:creationId xmlns:a16="http://schemas.microsoft.com/office/drawing/2014/main" id="{F8993076-2862-DF31-0043-B9E2838EA5C0}"/>
              </a:ext>
            </a:extLst>
          </p:cNvPr>
          <p:cNvPicPr>
            <a:picLocks noChangeAspect="1"/>
          </p:cNvPicPr>
          <p:nvPr/>
        </p:nvPicPr>
        <p:blipFill>
          <a:blip r:embed="rId2"/>
          <a:stretch>
            <a:fillRect/>
          </a:stretch>
        </p:blipFill>
        <p:spPr>
          <a:xfrm>
            <a:off x="11059510" y="0"/>
            <a:ext cx="960120" cy="960120"/>
          </a:xfrm>
          <a:prstGeom prst="rect">
            <a:avLst/>
          </a:prstGeom>
        </p:spPr>
      </p:pic>
    </p:spTree>
    <p:extLst>
      <p:ext uri="{BB962C8B-B14F-4D97-AF65-F5344CB8AC3E}">
        <p14:creationId xmlns:p14="http://schemas.microsoft.com/office/powerpoint/2010/main" val="2479182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21314" y="1408386"/>
            <a:ext cx="3104756" cy="649014"/>
          </a:xfrm>
          <a:prstGeom prst="rect">
            <a:avLst/>
          </a:prstGeom>
          <a:noFill/>
          <a:ln/>
        </p:spPr>
        <p:txBody>
          <a:bodyPr wrap="square" lIns="0" tIns="0" rIns="0" bIns="0" rtlCol="0" anchor="b"/>
          <a:lstStyle/>
          <a:p>
            <a:pPr marL="0" indent="0">
              <a:buNone/>
            </a:pPr>
            <a:r>
              <a:rPr lang="en-US" sz="4400" b="1" dirty="0">
                <a:solidFill>
                  <a:schemeClr val="accent1"/>
                </a:solidFill>
                <a:latin typeface="Arial" pitchFamily="34" charset="0"/>
                <a:ea typeface="Arial" pitchFamily="34" charset="-122"/>
                <a:cs typeface="Arial" pitchFamily="34" charset="-120"/>
                <a:sym typeface="Wingdings" pitchFamily="2" charset="2"/>
              </a:rPr>
              <a:t>Chapter </a:t>
            </a:r>
            <a:r>
              <a:rPr lang="en-US" sz="4400" b="1" dirty="0">
                <a:solidFill>
                  <a:schemeClr val="accent1"/>
                </a:solidFill>
                <a:latin typeface="Arial" pitchFamily="34" charset="0"/>
                <a:ea typeface="Arial" pitchFamily="34" charset="-122"/>
                <a:cs typeface="Arial" pitchFamily="34" charset="-120"/>
              </a:rPr>
              <a:t>1.1</a:t>
            </a:r>
            <a:endParaRPr lang="en-US" sz="4400" dirty="0"/>
          </a:p>
        </p:txBody>
      </p:sp>
      <p:sp>
        <p:nvSpPr>
          <p:cNvPr id="3" name="Text 0"/>
          <p:cNvSpPr>
            <a:spLocks noGrp="1"/>
          </p:cNvSpPr>
          <p:nvPr>
            <p:ph type="title" idx="100" hasCustomPrompt="1"/>
          </p:nvPr>
        </p:nvSpPr>
        <p:spPr>
          <a:xfrm>
            <a:off x="4540468" y="1229973"/>
            <a:ext cx="6710855" cy="1005840"/>
          </a:xfrm>
          <a:prstGeom prst="rect">
            <a:avLst/>
          </a:prstGeom>
          <a:noFill/>
          <a:ln/>
        </p:spPr>
        <p:txBody>
          <a:bodyPr wrap="square" lIns="0" tIns="0" rIns="0" bIns="0" rtlCol="0" anchor="ctr"/>
          <a:lstStyle/>
          <a:p>
            <a:pPr marL="0" indent="0" algn="l">
              <a:buNone/>
            </a:pPr>
            <a:r>
              <a:rPr lang="en-US" cap="all" dirty="0"/>
              <a:t>Why</a:t>
            </a:r>
            <a:r>
              <a:rPr lang="en-US" sz="4400" b="1" cap="all" dirty="0">
                <a:solidFill>
                  <a:schemeClr val="bg1"/>
                </a:solidFill>
              </a:rPr>
              <a:t> WAAP </a:t>
            </a:r>
            <a:r>
              <a:rPr lang="en-US" cap="all" dirty="0"/>
              <a:t>matters?</a:t>
            </a:r>
          </a:p>
        </p:txBody>
      </p:sp>
      <p:sp>
        <p:nvSpPr>
          <p:cNvPr id="4" name="Text 0"/>
          <p:cNvSpPr>
            <a:spLocks noGrp="1"/>
          </p:cNvSpPr>
          <p:nvPr>
            <p:ph type="body" idx="101" hasCustomPrompt="1"/>
          </p:nvPr>
        </p:nvSpPr>
        <p:spPr>
          <a:xfrm>
            <a:off x="731520" y="3058509"/>
            <a:ext cx="10058400" cy="2995927"/>
          </a:xfrm>
          <a:prstGeom prst="rect">
            <a:avLst/>
          </a:prstGeom>
          <a:noFill/>
          <a:ln/>
        </p:spPr>
        <p:txBody>
          <a:bodyPr wrap="square" lIns="0" tIns="0" rIns="0" bIns="0" rtlCol="0" anchor="t"/>
          <a:lstStyle/>
          <a:p>
            <a:pPr marL="0" indent="0" algn="l">
              <a:lnSpc>
                <a:spcPct val="200000"/>
              </a:lnSpc>
              <a:buNone/>
            </a:pPr>
            <a:r>
              <a:rPr lang="en-US" sz="2400" b="1" cap="all" dirty="0">
                <a:solidFill>
                  <a:schemeClr val="accent5"/>
                </a:solidFill>
              </a:rPr>
              <a:t>Web applications and API</a:t>
            </a:r>
            <a:r>
              <a:rPr lang="en-US" sz="2400" b="1" dirty="0">
                <a:solidFill>
                  <a:schemeClr val="accent5"/>
                </a:solidFill>
              </a:rPr>
              <a:t>s</a:t>
            </a:r>
            <a:r>
              <a:rPr lang="en-US" sz="2400" b="1" cap="all" dirty="0">
                <a:solidFill>
                  <a:schemeClr val="accent5"/>
                </a:solidFill>
              </a:rPr>
              <a:t> sit at the centre of every digital enterprise and all our actions and interactions in/with the internet — and have become the most active battleground for attackers. </a:t>
            </a:r>
            <a:r>
              <a:rPr lang="en-US" sz="2400" b="1" cap="all" dirty="0"/>
              <a:t>HOW TO ADDRESS THOSE THREATS, …?</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pic>
        <p:nvPicPr>
          <p:cNvPr id="5" name="Image 0" descr="/home/claude/unpacked/ppt/media/image1.png">
            <a:extLst>
              <a:ext uri="{FF2B5EF4-FFF2-40B4-BE49-F238E27FC236}">
                <a16:creationId xmlns:a16="http://schemas.microsoft.com/office/drawing/2014/main" id="{0BB0F8DD-3843-F45D-401F-262B54960942}"/>
              </a:ext>
            </a:extLst>
          </p:cNvPr>
          <p:cNvPicPr>
            <a:picLocks noChangeAspect="1"/>
          </p:cNvPicPr>
          <p:nvPr/>
        </p:nvPicPr>
        <p:blipFill>
          <a:blip r:embed="rId3"/>
          <a:stretch>
            <a:fillRect/>
          </a:stretch>
        </p:blipFill>
        <p:spPr>
          <a:xfrm>
            <a:off x="251460" y="36918"/>
            <a:ext cx="960120" cy="9601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5165" y="320040"/>
            <a:ext cx="10607040" cy="822960"/>
          </a:xfrm>
          <a:prstGeom prst="rect">
            <a:avLst/>
          </a:prstGeom>
          <a:noFill/>
          <a:ln/>
        </p:spPr>
        <p:txBody>
          <a:bodyPr wrap="square" lIns="0" tIns="0" rIns="0" bIns="0" rtlCol="0" anchor="ctr"/>
          <a:lstStyle/>
          <a:p>
            <a:pPr marL="0" indent="0" algn="l">
              <a:buNone/>
            </a:pPr>
            <a:r>
              <a:rPr lang="en-US" sz="3000" b="1" cap="all" dirty="0">
                <a:solidFill>
                  <a:schemeClr val="tx1"/>
                </a:solidFill>
              </a:rPr>
              <a:t>Applications and API</a:t>
            </a:r>
            <a:r>
              <a:rPr lang="en-US" sz="3000" b="1" dirty="0">
                <a:solidFill>
                  <a:schemeClr val="tx1"/>
                </a:solidFill>
              </a:rPr>
              <a:t>s</a:t>
            </a:r>
            <a:r>
              <a:rPr lang="en-US" sz="3000" b="1" cap="all" dirty="0">
                <a:solidFill>
                  <a:schemeClr val="tx1"/>
                </a:solidFill>
              </a:rPr>
              <a:t> run the digital enterprise</a:t>
            </a:r>
            <a:endParaRPr lang="en-US" sz="3000" cap="all" dirty="0"/>
          </a:p>
        </p:txBody>
      </p:sp>
      <p:sp>
        <p:nvSpPr>
          <p:cNvPr id="4" name="Text 1"/>
          <p:cNvSpPr txBox="1"/>
          <p:nvPr/>
        </p:nvSpPr>
        <p:spPr>
          <a:xfrm>
            <a:off x="548640" y="1280160"/>
            <a:ext cx="11064240" cy="640080"/>
          </a:xfrm>
          <a:prstGeom prst="rect">
            <a:avLst/>
          </a:prstGeom>
          <a:noFill/>
          <a:ln/>
        </p:spPr>
        <p:txBody>
          <a:bodyPr wrap="square" lIns="0" tIns="0" rIns="0" bIns="0" rtlCol="0" anchor="ctr"/>
          <a:lstStyle/>
          <a:p>
            <a:pPr marL="0" indent="0">
              <a:buNone/>
            </a:pPr>
            <a:r>
              <a:rPr lang="en-US" sz="1700" b="1" cap="all" dirty="0">
                <a:solidFill>
                  <a:schemeClr val="tx2"/>
                </a:solidFill>
              </a:rPr>
              <a:t>Web applications and APIs are the primary interfaces through which enterprises deliver services, transact with customers and integrate with partners.</a:t>
            </a:r>
            <a:endParaRPr lang="en-US" sz="1700" b="1" cap="all" dirty="0"/>
          </a:p>
        </p:txBody>
      </p:sp>
      <p:sp>
        <p:nvSpPr>
          <p:cNvPr id="5" name="dependency E-commerce engines"/>
          <p:cNvSpPr/>
          <p:nvPr/>
        </p:nvSpPr>
        <p:spPr>
          <a:xfrm>
            <a:off x="548640" y="2148840"/>
            <a:ext cx="3520440" cy="1371600"/>
          </a:xfrm>
          <a:prstGeom prst="roundRect">
            <a:avLst>
              <a:gd name="adj" fmla="val 6667"/>
            </a:avLst>
          </a:prstGeom>
          <a:solidFill>
            <a:schemeClr val="bg2"/>
          </a:solidFill>
          <a:ln/>
        </p:spPr>
        <p:txBody>
          <a:bodyPr/>
          <a:lstStyle/>
          <a:p>
            <a:endParaRPr lang="fr-FR"/>
          </a:p>
        </p:txBody>
      </p:sp>
      <p:sp>
        <p:nvSpPr>
          <p:cNvPr id="6" name="E-commerce engines tile"/>
          <p:cNvSpPr/>
          <p:nvPr/>
        </p:nvSpPr>
        <p:spPr>
          <a:xfrm>
            <a:off x="822960" y="2532888"/>
            <a:ext cx="594360" cy="594360"/>
          </a:xfrm>
          <a:prstGeom prst="roundRect">
            <a:avLst>
              <a:gd name="adj" fmla="val 18462"/>
            </a:avLst>
          </a:prstGeom>
          <a:solidFill>
            <a:schemeClr val="accent1"/>
          </a:solidFill>
          <a:ln/>
        </p:spPr>
        <p:txBody>
          <a:bodyPr/>
          <a:lstStyle/>
          <a:p>
            <a:endParaRPr lang="fr-FR"/>
          </a:p>
        </p:txBody>
      </p:sp>
      <p:pic>
        <p:nvPicPr>
          <p:cNvPr id="7" name="E-commerce engines glyph" descr="E-commerce engines"/>
          <p:cNvPicPr>
            <a:picLocks noChangeAspect="1"/>
          </p:cNvPicPr>
          <p:nvPr/>
        </p:nvPicPr>
        <p:blipFill>
          <a:blip r:embed="rId3"/>
          <a:stretch>
            <a:fillRect/>
          </a:stretch>
        </p:blipFill>
        <p:spPr>
          <a:xfrm>
            <a:off x="953719" y="2663647"/>
            <a:ext cx="332842" cy="332842"/>
          </a:xfrm>
          <a:prstGeom prst="rect">
            <a:avLst/>
          </a:prstGeom>
        </p:spPr>
      </p:pic>
      <p:sp>
        <p:nvSpPr>
          <p:cNvPr id="8" name="Text 4"/>
          <p:cNvSpPr txBox="1"/>
          <p:nvPr/>
        </p:nvSpPr>
        <p:spPr>
          <a:xfrm>
            <a:off x="1600200" y="2331720"/>
            <a:ext cx="2286000" cy="1005840"/>
          </a:xfrm>
          <a:prstGeom prst="rect">
            <a:avLst/>
          </a:prstGeom>
          <a:noFill/>
          <a:ln/>
        </p:spPr>
        <p:txBody>
          <a:bodyPr wrap="square" lIns="0" tIns="0" rIns="0" bIns="0" rtlCol="0" anchor="ctr"/>
          <a:lstStyle/>
          <a:p>
            <a:pPr marL="0" indent="0">
              <a:buNone/>
            </a:pPr>
            <a:r>
              <a:rPr lang="en-US" sz="1700" b="1" cap="all" dirty="0">
                <a:solidFill>
                  <a:schemeClr val="tx1"/>
                </a:solidFill>
              </a:rPr>
              <a:t>E-commerce engines</a:t>
            </a:r>
            <a:endParaRPr lang="en-US" sz="1700" cap="all" dirty="0"/>
          </a:p>
          <a:p>
            <a:pPr marL="0" indent="0">
              <a:buNone/>
            </a:pPr>
            <a:r>
              <a:rPr lang="en-US" sz="1400" dirty="0">
                <a:solidFill>
                  <a:schemeClr val="accent4"/>
                </a:solidFill>
              </a:rPr>
              <a:t>Catalogues, carts and checkout run on APIs</a:t>
            </a:r>
            <a:endParaRPr lang="en-US" sz="1700" dirty="0"/>
          </a:p>
        </p:txBody>
      </p:sp>
      <p:sp>
        <p:nvSpPr>
          <p:cNvPr id="9" name="dependency Mobile apps"/>
          <p:cNvSpPr/>
          <p:nvPr/>
        </p:nvSpPr>
        <p:spPr>
          <a:xfrm>
            <a:off x="4297680" y="2148840"/>
            <a:ext cx="3520440" cy="1371600"/>
          </a:xfrm>
          <a:prstGeom prst="roundRect">
            <a:avLst>
              <a:gd name="adj" fmla="val 6667"/>
            </a:avLst>
          </a:prstGeom>
          <a:solidFill>
            <a:schemeClr val="bg2"/>
          </a:solidFill>
          <a:ln/>
        </p:spPr>
        <p:txBody>
          <a:bodyPr/>
          <a:lstStyle/>
          <a:p>
            <a:endParaRPr lang="fr-FR"/>
          </a:p>
        </p:txBody>
      </p:sp>
      <p:sp>
        <p:nvSpPr>
          <p:cNvPr id="10" name="Mobile apps tile"/>
          <p:cNvSpPr/>
          <p:nvPr/>
        </p:nvSpPr>
        <p:spPr>
          <a:xfrm>
            <a:off x="4572000" y="2532888"/>
            <a:ext cx="594360" cy="594360"/>
          </a:xfrm>
          <a:prstGeom prst="roundRect">
            <a:avLst>
              <a:gd name="adj" fmla="val 18462"/>
            </a:avLst>
          </a:prstGeom>
          <a:solidFill>
            <a:schemeClr val="accent1"/>
          </a:solidFill>
          <a:ln/>
        </p:spPr>
        <p:txBody>
          <a:bodyPr/>
          <a:lstStyle/>
          <a:p>
            <a:endParaRPr lang="fr-FR"/>
          </a:p>
        </p:txBody>
      </p:sp>
      <p:pic>
        <p:nvPicPr>
          <p:cNvPr id="11" name="Mobile apps glyph" descr="Mobile apps"/>
          <p:cNvPicPr>
            <a:picLocks noChangeAspect="1"/>
          </p:cNvPicPr>
          <p:nvPr/>
        </p:nvPicPr>
        <p:blipFill>
          <a:blip r:embed="rId4"/>
          <a:stretch>
            <a:fillRect/>
          </a:stretch>
        </p:blipFill>
        <p:spPr>
          <a:xfrm>
            <a:off x="4702759" y="2663647"/>
            <a:ext cx="332842" cy="332842"/>
          </a:xfrm>
          <a:prstGeom prst="rect">
            <a:avLst/>
          </a:prstGeom>
        </p:spPr>
      </p:pic>
      <p:sp>
        <p:nvSpPr>
          <p:cNvPr id="12" name="Text 7"/>
          <p:cNvSpPr txBox="1"/>
          <p:nvPr/>
        </p:nvSpPr>
        <p:spPr>
          <a:xfrm>
            <a:off x="5349240" y="2331720"/>
            <a:ext cx="2286000" cy="1005840"/>
          </a:xfrm>
          <a:prstGeom prst="rect">
            <a:avLst/>
          </a:prstGeom>
          <a:noFill/>
          <a:ln/>
        </p:spPr>
        <p:txBody>
          <a:bodyPr wrap="square" lIns="0" tIns="0" rIns="0" bIns="0" rtlCol="0" anchor="ctr"/>
          <a:lstStyle/>
          <a:p>
            <a:pPr indent="0">
              <a:buNone/>
            </a:pPr>
            <a:r>
              <a:rPr lang="en-US" sz="1700" b="1" cap="all" dirty="0"/>
              <a:t>Mobile apps</a:t>
            </a:r>
          </a:p>
          <a:p>
            <a:pPr marL="0" indent="0">
              <a:buNone/>
            </a:pPr>
            <a:r>
              <a:rPr lang="en-US" sz="1400" dirty="0">
                <a:solidFill>
                  <a:schemeClr val="accent4"/>
                </a:solidFill>
              </a:rPr>
              <a:t>Every screen is fed by back-end API calls</a:t>
            </a:r>
            <a:endParaRPr lang="en-US" sz="1700" dirty="0"/>
          </a:p>
        </p:txBody>
      </p:sp>
      <p:sp>
        <p:nvSpPr>
          <p:cNvPr id="13" name="dependency Banking platforms"/>
          <p:cNvSpPr/>
          <p:nvPr/>
        </p:nvSpPr>
        <p:spPr>
          <a:xfrm>
            <a:off x="8046720" y="2148840"/>
            <a:ext cx="3520440" cy="1371600"/>
          </a:xfrm>
          <a:prstGeom prst="roundRect">
            <a:avLst>
              <a:gd name="adj" fmla="val 6667"/>
            </a:avLst>
          </a:prstGeom>
          <a:solidFill>
            <a:schemeClr val="bg2"/>
          </a:solidFill>
          <a:ln/>
        </p:spPr>
        <p:txBody>
          <a:bodyPr/>
          <a:lstStyle/>
          <a:p>
            <a:endParaRPr lang="fr-FR"/>
          </a:p>
        </p:txBody>
      </p:sp>
      <p:sp>
        <p:nvSpPr>
          <p:cNvPr id="14" name="Banking platforms tile"/>
          <p:cNvSpPr/>
          <p:nvPr/>
        </p:nvSpPr>
        <p:spPr>
          <a:xfrm>
            <a:off x="8321040" y="2532888"/>
            <a:ext cx="594360" cy="594360"/>
          </a:xfrm>
          <a:prstGeom prst="roundRect">
            <a:avLst>
              <a:gd name="adj" fmla="val 18462"/>
            </a:avLst>
          </a:prstGeom>
          <a:solidFill>
            <a:schemeClr val="accent1"/>
          </a:solidFill>
          <a:ln/>
        </p:spPr>
        <p:txBody>
          <a:bodyPr/>
          <a:lstStyle/>
          <a:p>
            <a:endParaRPr lang="fr-FR"/>
          </a:p>
        </p:txBody>
      </p:sp>
      <p:pic>
        <p:nvPicPr>
          <p:cNvPr id="15" name="Banking platforms glyph" descr="Banking platforms"/>
          <p:cNvPicPr>
            <a:picLocks noChangeAspect="1"/>
          </p:cNvPicPr>
          <p:nvPr/>
        </p:nvPicPr>
        <p:blipFill>
          <a:blip r:embed="rId5"/>
          <a:stretch>
            <a:fillRect/>
          </a:stretch>
        </p:blipFill>
        <p:spPr>
          <a:xfrm>
            <a:off x="8451799" y="2663647"/>
            <a:ext cx="332842" cy="332842"/>
          </a:xfrm>
          <a:prstGeom prst="rect">
            <a:avLst/>
          </a:prstGeom>
        </p:spPr>
      </p:pic>
      <p:sp>
        <p:nvSpPr>
          <p:cNvPr id="16" name="Text 10"/>
          <p:cNvSpPr txBox="1"/>
          <p:nvPr/>
        </p:nvSpPr>
        <p:spPr>
          <a:xfrm>
            <a:off x="9098280" y="2331720"/>
            <a:ext cx="2286000" cy="1005840"/>
          </a:xfrm>
          <a:prstGeom prst="rect">
            <a:avLst/>
          </a:prstGeom>
          <a:noFill/>
          <a:ln/>
        </p:spPr>
        <p:txBody>
          <a:bodyPr wrap="square" lIns="0" tIns="0" rIns="0" bIns="0" rtlCol="0" anchor="ctr"/>
          <a:lstStyle/>
          <a:p>
            <a:pPr indent="0">
              <a:buNone/>
            </a:pPr>
            <a:r>
              <a:rPr lang="en-US" sz="1700" b="1" cap="all" dirty="0"/>
              <a:t>Banking platforms</a:t>
            </a:r>
          </a:p>
          <a:p>
            <a:pPr marL="0" indent="0">
              <a:buNone/>
            </a:pPr>
            <a:r>
              <a:rPr lang="en-US" sz="1400" dirty="0">
                <a:solidFill>
                  <a:schemeClr val="accent4"/>
                </a:solidFill>
              </a:rPr>
              <a:t>Open banking and payment APIs move money</a:t>
            </a:r>
            <a:endParaRPr lang="en-US" sz="1700" dirty="0"/>
          </a:p>
        </p:txBody>
      </p:sp>
      <p:sp>
        <p:nvSpPr>
          <p:cNvPr id="17" name="dependency Logistics systems"/>
          <p:cNvSpPr/>
          <p:nvPr/>
        </p:nvSpPr>
        <p:spPr>
          <a:xfrm>
            <a:off x="548640" y="3749040"/>
            <a:ext cx="3520440" cy="1371600"/>
          </a:xfrm>
          <a:prstGeom prst="roundRect">
            <a:avLst>
              <a:gd name="adj" fmla="val 6667"/>
            </a:avLst>
          </a:prstGeom>
          <a:solidFill>
            <a:schemeClr val="bg2"/>
          </a:solidFill>
          <a:ln/>
        </p:spPr>
        <p:txBody>
          <a:bodyPr/>
          <a:lstStyle/>
          <a:p>
            <a:endParaRPr lang="fr-FR"/>
          </a:p>
        </p:txBody>
      </p:sp>
      <p:sp>
        <p:nvSpPr>
          <p:cNvPr id="18" name="Logistics systems tile"/>
          <p:cNvSpPr/>
          <p:nvPr/>
        </p:nvSpPr>
        <p:spPr>
          <a:xfrm>
            <a:off x="822960" y="4133088"/>
            <a:ext cx="594360" cy="594360"/>
          </a:xfrm>
          <a:prstGeom prst="roundRect">
            <a:avLst>
              <a:gd name="adj" fmla="val 18462"/>
            </a:avLst>
          </a:prstGeom>
          <a:solidFill>
            <a:schemeClr val="accent1"/>
          </a:solidFill>
          <a:ln/>
        </p:spPr>
        <p:txBody>
          <a:bodyPr/>
          <a:lstStyle/>
          <a:p>
            <a:endParaRPr lang="fr-FR"/>
          </a:p>
        </p:txBody>
      </p:sp>
      <p:pic>
        <p:nvPicPr>
          <p:cNvPr id="19" name="Logistics systems glyph" descr="Logistics systems"/>
          <p:cNvPicPr>
            <a:picLocks noChangeAspect="1"/>
          </p:cNvPicPr>
          <p:nvPr/>
        </p:nvPicPr>
        <p:blipFill>
          <a:blip r:embed="rId6"/>
          <a:stretch>
            <a:fillRect/>
          </a:stretch>
        </p:blipFill>
        <p:spPr>
          <a:xfrm>
            <a:off x="953719" y="4263847"/>
            <a:ext cx="332842" cy="332842"/>
          </a:xfrm>
          <a:prstGeom prst="rect">
            <a:avLst/>
          </a:prstGeom>
        </p:spPr>
      </p:pic>
      <p:sp>
        <p:nvSpPr>
          <p:cNvPr id="20" name="Text 13"/>
          <p:cNvSpPr txBox="1"/>
          <p:nvPr/>
        </p:nvSpPr>
        <p:spPr>
          <a:xfrm>
            <a:off x="1600200" y="3931920"/>
            <a:ext cx="2286000" cy="1005840"/>
          </a:xfrm>
          <a:prstGeom prst="rect">
            <a:avLst/>
          </a:prstGeom>
          <a:noFill/>
          <a:ln/>
        </p:spPr>
        <p:txBody>
          <a:bodyPr wrap="square" lIns="0" tIns="0" rIns="0" bIns="0" rtlCol="0" anchor="ctr"/>
          <a:lstStyle/>
          <a:p>
            <a:r>
              <a:rPr lang="en-US" sz="1700" b="1" cap="all" dirty="0"/>
              <a:t>Logistics systems</a:t>
            </a:r>
          </a:p>
          <a:p>
            <a:pPr marL="0" indent="0">
              <a:buNone/>
            </a:pPr>
            <a:r>
              <a:rPr lang="en-US" sz="1400" dirty="0">
                <a:solidFill>
                  <a:schemeClr val="accent4"/>
                </a:solidFill>
              </a:rPr>
              <a:t>Tracking and dispatch depend on stable APIs</a:t>
            </a:r>
            <a:endParaRPr lang="en-US" sz="1700" dirty="0"/>
          </a:p>
        </p:txBody>
      </p:sp>
      <p:sp>
        <p:nvSpPr>
          <p:cNvPr id="21" name="dependency Partner integrations"/>
          <p:cNvSpPr/>
          <p:nvPr/>
        </p:nvSpPr>
        <p:spPr>
          <a:xfrm>
            <a:off x="4297680" y="3749040"/>
            <a:ext cx="3520440" cy="1371600"/>
          </a:xfrm>
          <a:prstGeom prst="roundRect">
            <a:avLst>
              <a:gd name="adj" fmla="val 6667"/>
            </a:avLst>
          </a:prstGeom>
          <a:solidFill>
            <a:schemeClr val="bg2"/>
          </a:solidFill>
          <a:ln/>
        </p:spPr>
        <p:txBody>
          <a:bodyPr/>
          <a:lstStyle/>
          <a:p>
            <a:endParaRPr lang="fr-FR"/>
          </a:p>
        </p:txBody>
      </p:sp>
      <p:sp>
        <p:nvSpPr>
          <p:cNvPr id="22" name="Partner integrations tile"/>
          <p:cNvSpPr/>
          <p:nvPr/>
        </p:nvSpPr>
        <p:spPr>
          <a:xfrm>
            <a:off x="4572000" y="4133088"/>
            <a:ext cx="594360" cy="594360"/>
          </a:xfrm>
          <a:prstGeom prst="roundRect">
            <a:avLst>
              <a:gd name="adj" fmla="val 18462"/>
            </a:avLst>
          </a:prstGeom>
          <a:solidFill>
            <a:schemeClr val="accent1"/>
          </a:solidFill>
          <a:ln/>
        </p:spPr>
        <p:txBody>
          <a:bodyPr/>
          <a:lstStyle/>
          <a:p>
            <a:endParaRPr lang="fr-FR"/>
          </a:p>
        </p:txBody>
      </p:sp>
      <p:pic>
        <p:nvPicPr>
          <p:cNvPr id="23" name="Partner integrations glyph" descr="Partner integrations"/>
          <p:cNvPicPr>
            <a:picLocks noChangeAspect="1"/>
          </p:cNvPicPr>
          <p:nvPr/>
        </p:nvPicPr>
        <p:blipFill>
          <a:blip r:embed="rId7"/>
          <a:stretch>
            <a:fillRect/>
          </a:stretch>
        </p:blipFill>
        <p:spPr>
          <a:xfrm>
            <a:off x="4702759" y="4263847"/>
            <a:ext cx="332842" cy="332842"/>
          </a:xfrm>
          <a:prstGeom prst="rect">
            <a:avLst/>
          </a:prstGeom>
        </p:spPr>
      </p:pic>
      <p:sp>
        <p:nvSpPr>
          <p:cNvPr id="24" name="Text 16"/>
          <p:cNvSpPr txBox="1"/>
          <p:nvPr/>
        </p:nvSpPr>
        <p:spPr>
          <a:xfrm>
            <a:off x="5349240" y="3931920"/>
            <a:ext cx="2286000" cy="1005840"/>
          </a:xfrm>
          <a:prstGeom prst="rect">
            <a:avLst/>
          </a:prstGeom>
          <a:noFill/>
          <a:ln/>
        </p:spPr>
        <p:txBody>
          <a:bodyPr wrap="square" lIns="0" tIns="0" rIns="0" bIns="0" rtlCol="0" anchor="ctr"/>
          <a:lstStyle/>
          <a:p>
            <a:r>
              <a:rPr lang="en-US" sz="1700" b="1" cap="all" dirty="0"/>
              <a:t>Partner integrations</a:t>
            </a:r>
          </a:p>
          <a:p>
            <a:pPr marL="0" indent="0">
              <a:buNone/>
            </a:pPr>
            <a:r>
              <a:rPr lang="en-US" sz="1400" dirty="0">
                <a:solidFill>
                  <a:schemeClr val="accent4"/>
                </a:solidFill>
              </a:rPr>
              <a:t>B2B and revenue-generating APIs</a:t>
            </a:r>
            <a:endParaRPr lang="en-US" sz="1700" dirty="0"/>
          </a:p>
        </p:txBody>
      </p:sp>
      <p:sp>
        <p:nvSpPr>
          <p:cNvPr id="25" name="dependency AI apps &amp; agents"/>
          <p:cNvSpPr/>
          <p:nvPr/>
        </p:nvSpPr>
        <p:spPr>
          <a:xfrm>
            <a:off x="8046720" y="3749040"/>
            <a:ext cx="3520440" cy="1371600"/>
          </a:xfrm>
          <a:prstGeom prst="roundRect">
            <a:avLst>
              <a:gd name="adj" fmla="val 6667"/>
            </a:avLst>
          </a:prstGeom>
          <a:solidFill>
            <a:schemeClr val="bg2"/>
          </a:solidFill>
          <a:ln/>
        </p:spPr>
        <p:txBody>
          <a:bodyPr/>
          <a:lstStyle/>
          <a:p>
            <a:endParaRPr lang="fr-FR"/>
          </a:p>
        </p:txBody>
      </p:sp>
      <p:sp>
        <p:nvSpPr>
          <p:cNvPr id="26" name="AI apps &amp; agents tile"/>
          <p:cNvSpPr/>
          <p:nvPr/>
        </p:nvSpPr>
        <p:spPr>
          <a:xfrm>
            <a:off x="8321040" y="4133088"/>
            <a:ext cx="594360" cy="594360"/>
          </a:xfrm>
          <a:prstGeom prst="roundRect">
            <a:avLst>
              <a:gd name="adj" fmla="val 18462"/>
            </a:avLst>
          </a:prstGeom>
          <a:solidFill>
            <a:schemeClr val="accent1"/>
          </a:solidFill>
          <a:ln/>
        </p:spPr>
        <p:txBody>
          <a:bodyPr/>
          <a:lstStyle/>
          <a:p>
            <a:endParaRPr lang="fr-FR"/>
          </a:p>
        </p:txBody>
      </p:sp>
      <p:pic>
        <p:nvPicPr>
          <p:cNvPr id="27" name="AI apps &amp; agents glyph" descr="AI apps &amp; agents"/>
          <p:cNvPicPr>
            <a:picLocks noChangeAspect="1"/>
          </p:cNvPicPr>
          <p:nvPr/>
        </p:nvPicPr>
        <p:blipFill>
          <a:blip r:embed="rId8"/>
          <a:stretch>
            <a:fillRect/>
          </a:stretch>
        </p:blipFill>
        <p:spPr>
          <a:xfrm>
            <a:off x="8451799" y="4263847"/>
            <a:ext cx="332842" cy="332842"/>
          </a:xfrm>
          <a:prstGeom prst="rect">
            <a:avLst/>
          </a:prstGeom>
        </p:spPr>
      </p:pic>
      <p:sp>
        <p:nvSpPr>
          <p:cNvPr id="28" name="Text 19"/>
          <p:cNvSpPr txBox="1"/>
          <p:nvPr/>
        </p:nvSpPr>
        <p:spPr>
          <a:xfrm>
            <a:off x="9098280" y="3931920"/>
            <a:ext cx="2286000" cy="1005840"/>
          </a:xfrm>
          <a:prstGeom prst="rect">
            <a:avLst/>
          </a:prstGeom>
          <a:noFill/>
          <a:ln/>
        </p:spPr>
        <p:txBody>
          <a:bodyPr wrap="square" lIns="0" tIns="0" rIns="0" bIns="0" rtlCol="0" anchor="ctr"/>
          <a:lstStyle/>
          <a:p>
            <a:r>
              <a:rPr lang="en-US" sz="1700" b="1" cap="all" dirty="0"/>
              <a:t>AI apps &amp; agents</a:t>
            </a:r>
          </a:p>
          <a:p>
            <a:pPr marL="0" indent="0">
              <a:buNone/>
            </a:pPr>
            <a:r>
              <a:rPr lang="en-US" sz="1400" dirty="0">
                <a:solidFill>
                  <a:schemeClr val="accent4"/>
                </a:solidFill>
              </a:rPr>
              <a:t>Generative AI and agents act through APIs</a:t>
            </a:r>
            <a:endParaRPr lang="en-US" sz="1700" dirty="0"/>
          </a:p>
        </p:txBody>
      </p:sp>
      <p:sp>
        <p:nvSpPr>
          <p:cNvPr id="29" name="Text 20"/>
          <p:cNvSpPr txBox="1"/>
          <p:nvPr/>
        </p:nvSpPr>
        <p:spPr>
          <a:xfrm>
            <a:off x="548640" y="5623560"/>
            <a:ext cx="11064240" cy="411480"/>
          </a:xfrm>
          <a:prstGeom prst="rect">
            <a:avLst/>
          </a:prstGeom>
          <a:noFill/>
          <a:ln/>
        </p:spPr>
        <p:txBody>
          <a:bodyPr wrap="square" lIns="0" tIns="0" rIns="0" bIns="0" rtlCol="0" anchor="ctr"/>
          <a:lstStyle/>
          <a:p>
            <a:pPr marL="0" indent="0">
              <a:buNone/>
            </a:pPr>
            <a:r>
              <a:rPr lang="en-US" sz="1500" i="1" dirty="0">
                <a:solidFill>
                  <a:schemeClr val="tx2"/>
                </a:solidFill>
              </a:rPr>
              <a:t>When critical APIs slow down or fail, revenue and customer experience suffer immediately.</a:t>
            </a:r>
            <a:endParaRPr lang="en-US" sz="15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pic>
        <p:nvPicPr>
          <p:cNvPr id="30" name="Image 0" descr="/home/claude/unpacked/ppt/media/image1.png">
            <a:extLst>
              <a:ext uri="{FF2B5EF4-FFF2-40B4-BE49-F238E27FC236}">
                <a16:creationId xmlns:a16="http://schemas.microsoft.com/office/drawing/2014/main" id="{E6ECF561-4B4F-B451-6959-C0D598C7CFAB}"/>
              </a:ext>
            </a:extLst>
          </p:cNvPr>
          <p:cNvPicPr>
            <a:picLocks noChangeAspect="1"/>
          </p:cNvPicPr>
          <p:nvPr/>
        </p:nvPicPr>
        <p:blipFill>
          <a:blip r:embed="rId9"/>
          <a:stretch>
            <a:fillRect/>
          </a:stretch>
        </p:blipFill>
        <p:spPr>
          <a:xfrm>
            <a:off x="10707414" y="-45720"/>
            <a:ext cx="960120" cy="9601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600" b="1" cap="all" dirty="0">
                <a:solidFill>
                  <a:schemeClr val="tx1"/>
                </a:solidFill>
              </a:rPr>
              <a:t>The threat in numbers</a:t>
            </a:r>
            <a:endParaRPr lang="en-US" sz="3600" cap="all" dirty="0"/>
          </a:p>
        </p:txBody>
      </p:sp>
      <p:sp>
        <p:nvSpPr>
          <p:cNvPr id="4" name="stat 271M+"/>
          <p:cNvSpPr/>
          <p:nvPr/>
        </p:nvSpPr>
        <p:spPr>
          <a:xfrm>
            <a:off x="548640" y="1417320"/>
            <a:ext cx="2606040" cy="2743200"/>
          </a:xfrm>
          <a:prstGeom prst="roundRect">
            <a:avLst>
              <a:gd name="adj" fmla="val 3509"/>
            </a:avLst>
          </a:prstGeom>
          <a:solidFill>
            <a:schemeClr val="bg2"/>
          </a:solidFill>
          <a:ln/>
        </p:spPr>
        <p:txBody>
          <a:bodyPr/>
          <a:lstStyle/>
          <a:p>
            <a:endParaRPr lang="fr-FR"/>
          </a:p>
        </p:txBody>
      </p:sp>
      <p:sp>
        <p:nvSpPr>
          <p:cNvPr id="5" name="Text 2"/>
          <p:cNvSpPr txBox="1"/>
          <p:nvPr/>
        </p:nvSpPr>
        <p:spPr>
          <a:xfrm>
            <a:off x="777240" y="1645920"/>
            <a:ext cx="2148840" cy="1005840"/>
          </a:xfrm>
          <a:prstGeom prst="rect">
            <a:avLst/>
          </a:prstGeom>
          <a:noFill/>
          <a:ln/>
        </p:spPr>
        <p:txBody>
          <a:bodyPr wrap="square" lIns="0" tIns="0" rIns="0" bIns="0" rtlCol="0" anchor="ctr"/>
          <a:lstStyle/>
          <a:p>
            <a:pPr marL="0" indent="0">
              <a:buNone/>
            </a:pPr>
            <a:r>
              <a:rPr lang="en-US" sz="4600" b="1" dirty="0">
                <a:solidFill>
                  <a:schemeClr val="accent1"/>
                </a:solidFill>
              </a:rPr>
              <a:t>271M+</a:t>
            </a:r>
            <a:endParaRPr lang="en-US" sz="4600" dirty="0"/>
          </a:p>
        </p:txBody>
      </p:sp>
      <p:sp>
        <p:nvSpPr>
          <p:cNvPr id="6" name="Text 3"/>
          <p:cNvSpPr txBox="1"/>
          <p:nvPr/>
        </p:nvSpPr>
        <p:spPr>
          <a:xfrm>
            <a:off x="548639" y="2743200"/>
            <a:ext cx="2606039" cy="1280160"/>
          </a:xfrm>
          <a:prstGeom prst="rect">
            <a:avLst/>
          </a:prstGeom>
          <a:noFill/>
          <a:ln/>
        </p:spPr>
        <p:txBody>
          <a:bodyPr wrap="square" lIns="0" tIns="0" rIns="0" bIns="0" rtlCol="0" anchor="t"/>
          <a:lstStyle/>
          <a:p>
            <a:pPr marL="0" indent="0">
              <a:buNone/>
            </a:pPr>
            <a:r>
              <a:rPr lang="en-US" sz="2400" dirty="0">
                <a:solidFill>
                  <a:schemeClr val="tx2"/>
                </a:solidFill>
              </a:rPr>
              <a:t>API attacks recorded in a single quarter of 2024</a:t>
            </a:r>
            <a:endParaRPr lang="en-US" sz="2400" dirty="0"/>
          </a:p>
        </p:txBody>
      </p:sp>
      <p:sp>
        <p:nvSpPr>
          <p:cNvPr id="7" name="stat +85%"/>
          <p:cNvSpPr/>
          <p:nvPr/>
        </p:nvSpPr>
        <p:spPr>
          <a:xfrm>
            <a:off x="3383280" y="1417320"/>
            <a:ext cx="2606040" cy="2743200"/>
          </a:xfrm>
          <a:prstGeom prst="roundRect">
            <a:avLst>
              <a:gd name="adj" fmla="val 3509"/>
            </a:avLst>
          </a:prstGeom>
          <a:solidFill>
            <a:schemeClr val="bg2"/>
          </a:solidFill>
          <a:ln/>
        </p:spPr>
        <p:txBody>
          <a:bodyPr/>
          <a:lstStyle/>
          <a:p>
            <a:endParaRPr lang="fr-FR"/>
          </a:p>
        </p:txBody>
      </p:sp>
      <p:sp>
        <p:nvSpPr>
          <p:cNvPr id="8" name="Text 5"/>
          <p:cNvSpPr txBox="1"/>
          <p:nvPr/>
        </p:nvSpPr>
        <p:spPr>
          <a:xfrm>
            <a:off x="3611880" y="1645920"/>
            <a:ext cx="2148840" cy="1005840"/>
          </a:xfrm>
          <a:prstGeom prst="rect">
            <a:avLst/>
          </a:prstGeom>
          <a:noFill/>
          <a:ln/>
        </p:spPr>
        <p:txBody>
          <a:bodyPr wrap="square" lIns="0" tIns="0" rIns="0" bIns="0" rtlCol="0" anchor="ctr"/>
          <a:lstStyle/>
          <a:p>
            <a:pPr marL="0" indent="0">
              <a:buNone/>
            </a:pPr>
            <a:r>
              <a:rPr lang="en-US" sz="4600" b="1" dirty="0">
                <a:solidFill>
                  <a:schemeClr val="accent1"/>
                </a:solidFill>
              </a:rPr>
              <a:t>+85%</a:t>
            </a:r>
            <a:endParaRPr lang="en-US" sz="4600" dirty="0"/>
          </a:p>
        </p:txBody>
      </p:sp>
      <p:sp>
        <p:nvSpPr>
          <p:cNvPr id="9" name="Text 6"/>
          <p:cNvSpPr txBox="1"/>
          <p:nvPr/>
        </p:nvSpPr>
        <p:spPr>
          <a:xfrm>
            <a:off x="3383278" y="2743200"/>
            <a:ext cx="2606042" cy="1280160"/>
          </a:xfrm>
          <a:prstGeom prst="rect">
            <a:avLst/>
          </a:prstGeom>
          <a:noFill/>
          <a:ln/>
        </p:spPr>
        <p:txBody>
          <a:bodyPr wrap="square" lIns="0" tIns="0" rIns="0" bIns="0" rtlCol="0" anchor="t"/>
          <a:lstStyle/>
          <a:p>
            <a:pPr marL="0" indent="0">
              <a:buNone/>
            </a:pPr>
            <a:r>
              <a:rPr lang="en-US" sz="2400" dirty="0">
                <a:solidFill>
                  <a:schemeClr val="tx2"/>
                </a:solidFill>
              </a:rPr>
              <a:t>more attacks on APIs than on standard web applications</a:t>
            </a:r>
          </a:p>
        </p:txBody>
      </p:sp>
      <p:sp>
        <p:nvSpPr>
          <p:cNvPr id="10" name="stat $4.45M"/>
          <p:cNvSpPr/>
          <p:nvPr/>
        </p:nvSpPr>
        <p:spPr>
          <a:xfrm>
            <a:off x="6217920" y="1417320"/>
            <a:ext cx="2606040" cy="2743200"/>
          </a:xfrm>
          <a:prstGeom prst="roundRect">
            <a:avLst>
              <a:gd name="adj" fmla="val 3509"/>
            </a:avLst>
          </a:prstGeom>
          <a:solidFill>
            <a:schemeClr val="bg2"/>
          </a:solidFill>
          <a:ln/>
        </p:spPr>
        <p:txBody>
          <a:bodyPr/>
          <a:lstStyle/>
          <a:p>
            <a:endParaRPr lang="fr-FR"/>
          </a:p>
        </p:txBody>
      </p:sp>
      <p:sp>
        <p:nvSpPr>
          <p:cNvPr id="11" name="Text 8"/>
          <p:cNvSpPr txBox="1"/>
          <p:nvPr/>
        </p:nvSpPr>
        <p:spPr>
          <a:xfrm>
            <a:off x="6446520" y="1645920"/>
            <a:ext cx="2148840" cy="1005840"/>
          </a:xfrm>
          <a:prstGeom prst="rect">
            <a:avLst/>
          </a:prstGeom>
          <a:noFill/>
          <a:ln/>
        </p:spPr>
        <p:txBody>
          <a:bodyPr wrap="square" lIns="0" tIns="0" rIns="0" bIns="0" rtlCol="0" anchor="ctr"/>
          <a:lstStyle/>
          <a:p>
            <a:pPr marL="0" indent="0">
              <a:buNone/>
            </a:pPr>
            <a:r>
              <a:rPr lang="en-US" sz="4600" b="1" dirty="0">
                <a:solidFill>
                  <a:schemeClr val="accent3"/>
                </a:solidFill>
              </a:rPr>
              <a:t>$4.45M</a:t>
            </a:r>
            <a:endParaRPr lang="en-US" sz="4600" dirty="0"/>
          </a:p>
        </p:txBody>
      </p:sp>
      <p:sp>
        <p:nvSpPr>
          <p:cNvPr id="12" name="Text 9"/>
          <p:cNvSpPr txBox="1"/>
          <p:nvPr/>
        </p:nvSpPr>
        <p:spPr>
          <a:xfrm>
            <a:off x="6217918" y="2743200"/>
            <a:ext cx="2606042" cy="1280160"/>
          </a:xfrm>
          <a:prstGeom prst="rect">
            <a:avLst/>
          </a:prstGeom>
          <a:noFill/>
          <a:ln/>
        </p:spPr>
        <p:txBody>
          <a:bodyPr wrap="square" lIns="0" tIns="0" rIns="0" bIns="0" rtlCol="0" anchor="t"/>
          <a:lstStyle/>
          <a:p>
            <a:pPr marL="0" indent="0">
              <a:buNone/>
            </a:pPr>
            <a:r>
              <a:rPr lang="en-US" sz="2400" dirty="0">
                <a:solidFill>
                  <a:schemeClr val="tx2"/>
                </a:solidFill>
              </a:rPr>
              <a:t>average cost of a data breach for an enterprise</a:t>
            </a:r>
          </a:p>
        </p:txBody>
      </p:sp>
      <p:sp>
        <p:nvSpPr>
          <p:cNvPr id="13" name="stat 80%+"/>
          <p:cNvSpPr/>
          <p:nvPr/>
        </p:nvSpPr>
        <p:spPr>
          <a:xfrm>
            <a:off x="9052560" y="1417320"/>
            <a:ext cx="2606040" cy="2743200"/>
          </a:xfrm>
          <a:prstGeom prst="roundRect">
            <a:avLst>
              <a:gd name="adj" fmla="val 3509"/>
            </a:avLst>
          </a:prstGeom>
          <a:solidFill>
            <a:schemeClr val="bg2"/>
          </a:solidFill>
          <a:ln/>
        </p:spPr>
        <p:txBody>
          <a:bodyPr/>
          <a:lstStyle/>
          <a:p>
            <a:endParaRPr lang="fr-FR"/>
          </a:p>
        </p:txBody>
      </p:sp>
      <p:sp>
        <p:nvSpPr>
          <p:cNvPr id="14" name="Text 11"/>
          <p:cNvSpPr txBox="1"/>
          <p:nvPr/>
        </p:nvSpPr>
        <p:spPr>
          <a:xfrm>
            <a:off x="9281160" y="1645920"/>
            <a:ext cx="2148840" cy="1005840"/>
          </a:xfrm>
          <a:prstGeom prst="rect">
            <a:avLst/>
          </a:prstGeom>
          <a:noFill/>
          <a:ln/>
        </p:spPr>
        <p:txBody>
          <a:bodyPr wrap="square" lIns="0" tIns="0" rIns="0" bIns="0" rtlCol="0" anchor="ctr"/>
          <a:lstStyle/>
          <a:p>
            <a:pPr marL="0" indent="0">
              <a:buNone/>
            </a:pPr>
            <a:r>
              <a:rPr lang="en-US" sz="4600" b="1" dirty="0">
                <a:solidFill>
                  <a:schemeClr val="accent1"/>
                </a:solidFill>
              </a:rPr>
              <a:t>80%+</a:t>
            </a:r>
            <a:endParaRPr lang="en-US" sz="4600" dirty="0"/>
          </a:p>
        </p:txBody>
      </p:sp>
      <p:sp>
        <p:nvSpPr>
          <p:cNvPr id="15" name="Text 12"/>
          <p:cNvSpPr txBox="1"/>
          <p:nvPr/>
        </p:nvSpPr>
        <p:spPr>
          <a:xfrm>
            <a:off x="9052558" y="2743200"/>
            <a:ext cx="2560322" cy="1417320"/>
          </a:xfrm>
          <a:prstGeom prst="rect">
            <a:avLst/>
          </a:prstGeom>
          <a:noFill/>
          <a:ln/>
        </p:spPr>
        <p:txBody>
          <a:bodyPr wrap="square" lIns="0" tIns="0" rIns="0" bIns="0" rtlCol="0" anchor="t"/>
          <a:lstStyle/>
          <a:p>
            <a:pPr marL="0" indent="0">
              <a:buNone/>
            </a:pPr>
            <a:r>
              <a:rPr lang="en-US" sz="2400" dirty="0">
                <a:solidFill>
                  <a:schemeClr val="tx2"/>
                </a:solidFill>
              </a:rPr>
              <a:t>of web traffic is encrypted, hiding attacks from legacy tools</a:t>
            </a:r>
          </a:p>
        </p:txBody>
      </p:sp>
      <p:sp>
        <p:nvSpPr>
          <p:cNvPr id="16" name="gartner callout"/>
          <p:cNvSpPr/>
          <p:nvPr/>
        </p:nvSpPr>
        <p:spPr>
          <a:xfrm>
            <a:off x="548640" y="4434840"/>
            <a:ext cx="11064240" cy="1828800"/>
          </a:xfrm>
          <a:prstGeom prst="roundRect">
            <a:avLst>
              <a:gd name="adj" fmla="val 7407"/>
            </a:avLst>
          </a:prstGeom>
          <a:solidFill>
            <a:schemeClr val="tx1"/>
          </a:solidFill>
          <a:ln/>
        </p:spPr>
        <p:txBody>
          <a:bodyPr/>
          <a:lstStyle/>
          <a:p>
            <a:endParaRPr lang="fr-FR"/>
          </a:p>
        </p:txBody>
      </p:sp>
      <p:sp>
        <p:nvSpPr>
          <p:cNvPr id="17" name="prediction tile"/>
          <p:cNvSpPr/>
          <p:nvPr/>
        </p:nvSpPr>
        <p:spPr>
          <a:xfrm>
            <a:off x="822960" y="4727447"/>
            <a:ext cx="640080" cy="1032221"/>
          </a:xfrm>
          <a:prstGeom prst="roundRect">
            <a:avLst>
              <a:gd name="adj" fmla="val 17143"/>
            </a:avLst>
          </a:prstGeom>
          <a:solidFill>
            <a:schemeClr val="accent2"/>
          </a:solidFill>
          <a:ln/>
        </p:spPr>
        <p:txBody>
          <a:bodyPr/>
          <a:lstStyle/>
          <a:p>
            <a:endParaRPr lang="fr-FR"/>
          </a:p>
        </p:txBody>
      </p:sp>
      <p:pic>
        <p:nvPicPr>
          <p:cNvPr id="18" name="prediction glyph" descr="prediction"/>
          <p:cNvPicPr>
            <a:picLocks noChangeAspect="1"/>
          </p:cNvPicPr>
          <p:nvPr/>
        </p:nvPicPr>
        <p:blipFill>
          <a:blip r:embed="rId3"/>
          <a:stretch>
            <a:fillRect/>
          </a:stretch>
        </p:blipFill>
        <p:spPr>
          <a:xfrm>
            <a:off x="963778" y="4868266"/>
            <a:ext cx="358445" cy="723237"/>
          </a:xfrm>
          <a:prstGeom prst="rect">
            <a:avLst/>
          </a:prstGeom>
        </p:spPr>
      </p:pic>
      <p:sp>
        <p:nvSpPr>
          <p:cNvPr id="19" name="Text 15"/>
          <p:cNvSpPr txBox="1"/>
          <p:nvPr/>
        </p:nvSpPr>
        <p:spPr>
          <a:xfrm>
            <a:off x="1737360" y="4526280"/>
            <a:ext cx="9601200" cy="1569720"/>
          </a:xfrm>
          <a:prstGeom prst="rect">
            <a:avLst/>
          </a:prstGeom>
          <a:noFill/>
          <a:ln/>
        </p:spPr>
        <p:txBody>
          <a:bodyPr wrap="square" lIns="0" tIns="0" rIns="0" bIns="0" rtlCol="0" anchor="ctr"/>
          <a:lstStyle/>
          <a:p>
            <a:pPr marL="0" indent="0">
              <a:buNone/>
            </a:pPr>
            <a:r>
              <a:rPr lang="en-US" sz="3200" b="1" cap="all" dirty="0">
                <a:solidFill>
                  <a:schemeClr val="bg1"/>
                </a:solidFill>
              </a:rPr>
              <a:t>Prediction confirmed </a:t>
            </a:r>
            <a:endParaRPr lang="en-US" sz="3200" cap="all" dirty="0"/>
          </a:p>
          <a:p>
            <a:pPr marL="0" indent="0">
              <a:buNone/>
            </a:pPr>
            <a:r>
              <a:rPr lang="en-US" sz="1500" b="1" i="1" cap="all" dirty="0">
                <a:solidFill>
                  <a:schemeClr val="accent5"/>
                </a:solidFill>
                <a:latin typeface="Abadi" panose="020B0604020104020204" pitchFamily="34" charset="77"/>
                <a:cs typeface="APPLE CHANCERY" panose="03020702040506060504" pitchFamily="66" charset="-79"/>
                <a:sym typeface="Wingdings" pitchFamily="2" charset="2"/>
              </a:rPr>
              <a:t> </a:t>
            </a:r>
            <a:r>
              <a:rPr lang="en-US" sz="1500" b="1" i="1" cap="all" dirty="0">
                <a:solidFill>
                  <a:schemeClr val="accent5"/>
                </a:solidFill>
                <a:latin typeface="Abadi" panose="020B0604020104020204" pitchFamily="34" charset="77"/>
                <a:cs typeface="APPLE CHANCERY" panose="03020702040506060504" pitchFamily="66" charset="-79"/>
              </a:rPr>
              <a:t>Gartner forecast that APIs would become the #1 enterprise attack vector by 2022 — the wave of real-world API breaches has proven it right.</a:t>
            </a:r>
            <a:endParaRPr lang="en-US" sz="1800" b="1" i="1" cap="all" dirty="0">
              <a:latin typeface="Abadi" panose="020B0604020104020204" pitchFamily="34" charset="77"/>
              <a:cs typeface="APPLE CHANCERY" panose="03020702040506060504" pitchFamily="66" charset="-79"/>
            </a:endParaRP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pic>
        <p:nvPicPr>
          <p:cNvPr id="3" name="Image 0" descr="/home/claude/unpacked/ppt/media/image1.png">
            <a:extLst>
              <a:ext uri="{FF2B5EF4-FFF2-40B4-BE49-F238E27FC236}">
                <a16:creationId xmlns:a16="http://schemas.microsoft.com/office/drawing/2014/main" id="{4005C2E0-E1B9-6A03-02E5-C8719DEA4C46}"/>
              </a:ext>
            </a:extLst>
          </p:cNvPr>
          <p:cNvPicPr>
            <a:picLocks noChangeAspect="1"/>
          </p:cNvPicPr>
          <p:nvPr/>
        </p:nvPicPr>
        <p:blipFill>
          <a:blip r:embed="rId4"/>
          <a:stretch>
            <a:fillRect/>
          </a:stretch>
        </p:blipFill>
        <p:spPr>
          <a:xfrm>
            <a:off x="10702180" y="182880"/>
            <a:ext cx="960120" cy="9601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cap="all" dirty="0"/>
              <a:t>Real-world</a:t>
            </a:r>
            <a:r>
              <a:rPr lang="en-US" sz="3400" b="1" cap="all" dirty="0">
                <a:solidFill>
                  <a:schemeClr val="tx1"/>
                </a:solidFill>
              </a:rPr>
              <a:t> API </a:t>
            </a:r>
            <a:r>
              <a:rPr lang="en-US" cap="all" dirty="0"/>
              <a:t>breaches</a:t>
            </a:r>
          </a:p>
        </p:txBody>
      </p:sp>
      <p:sp>
        <p:nvSpPr>
          <p:cNvPr id="4" name="breach Peloton"/>
          <p:cNvSpPr/>
          <p:nvPr/>
        </p:nvSpPr>
        <p:spPr>
          <a:xfrm>
            <a:off x="548640" y="1417320"/>
            <a:ext cx="2606040" cy="3291840"/>
          </a:xfrm>
          <a:prstGeom prst="roundRect">
            <a:avLst>
              <a:gd name="adj" fmla="val 3509"/>
            </a:avLst>
          </a:prstGeom>
          <a:solidFill>
            <a:schemeClr val="bg2"/>
          </a:solidFill>
          <a:ln/>
        </p:spPr>
        <p:txBody>
          <a:bodyPr/>
          <a:lstStyle/>
          <a:p>
            <a:endParaRPr lang="fr-FR"/>
          </a:p>
        </p:txBody>
      </p:sp>
      <p:sp>
        <p:nvSpPr>
          <p:cNvPr id="5" name="Peloton tile"/>
          <p:cNvSpPr/>
          <p:nvPr/>
        </p:nvSpPr>
        <p:spPr>
          <a:xfrm>
            <a:off x="822960" y="1691640"/>
            <a:ext cx="594360" cy="594360"/>
          </a:xfrm>
          <a:prstGeom prst="roundRect">
            <a:avLst>
              <a:gd name="adj" fmla="val 18462"/>
            </a:avLst>
          </a:prstGeom>
          <a:solidFill>
            <a:schemeClr val="accent3"/>
          </a:solidFill>
          <a:ln/>
        </p:spPr>
        <p:txBody>
          <a:bodyPr/>
          <a:lstStyle/>
          <a:p>
            <a:endParaRPr lang="fr-FR"/>
          </a:p>
        </p:txBody>
      </p:sp>
      <p:pic>
        <p:nvPicPr>
          <p:cNvPr id="6" name="Peloton glyph" descr="Peloton"/>
          <p:cNvPicPr>
            <a:picLocks noChangeAspect="1"/>
          </p:cNvPicPr>
          <p:nvPr/>
        </p:nvPicPr>
        <p:blipFill>
          <a:blip r:embed="rId3"/>
          <a:stretch>
            <a:fillRect/>
          </a:stretch>
        </p:blipFill>
        <p:spPr>
          <a:xfrm>
            <a:off x="953719" y="1822399"/>
            <a:ext cx="332842" cy="332842"/>
          </a:xfrm>
          <a:prstGeom prst="rect">
            <a:avLst/>
          </a:prstGeom>
        </p:spPr>
      </p:pic>
      <p:sp>
        <p:nvSpPr>
          <p:cNvPr id="7" name="Text 3"/>
          <p:cNvSpPr txBox="1"/>
          <p:nvPr/>
        </p:nvSpPr>
        <p:spPr>
          <a:xfrm>
            <a:off x="822960" y="2468880"/>
            <a:ext cx="2103120" cy="457200"/>
          </a:xfrm>
          <a:prstGeom prst="rect">
            <a:avLst/>
          </a:prstGeom>
          <a:noFill/>
          <a:ln/>
        </p:spPr>
        <p:txBody>
          <a:bodyPr wrap="square" lIns="0" tIns="0" rIns="0" bIns="0" rtlCol="0" anchor="ctr"/>
          <a:lstStyle/>
          <a:p>
            <a:pPr marL="0" indent="0">
              <a:buNone/>
            </a:pPr>
            <a:r>
              <a:rPr lang="en-US" sz="2000" b="1" cap="all" dirty="0">
                <a:solidFill>
                  <a:schemeClr val="tx1"/>
                </a:solidFill>
              </a:rPr>
              <a:t>Peloton</a:t>
            </a:r>
            <a:endParaRPr lang="en-US" sz="2000" cap="all" dirty="0"/>
          </a:p>
        </p:txBody>
      </p:sp>
      <p:sp>
        <p:nvSpPr>
          <p:cNvPr id="8" name="Text 4"/>
          <p:cNvSpPr txBox="1"/>
          <p:nvPr/>
        </p:nvSpPr>
        <p:spPr>
          <a:xfrm>
            <a:off x="548640" y="2971800"/>
            <a:ext cx="2606040" cy="1645920"/>
          </a:xfrm>
          <a:prstGeom prst="rect">
            <a:avLst/>
          </a:prstGeom>
          <a:noFill/>
          <a:ln/>
        </p:spPr>
        <p:txBody>
          <a:bodyPr wrap="square" lIns="0" tIns="0" rIns="0" bIns="0" rtlCol="0" anchor="t"/>
          <a:lstStyle/>
          <a:p>
            <a:pPr marL="0" indent="0">
              <a:buNone/>
            </a:pPr>
            <a:r>
              <a:rPr lang="en-US" sz="1400" cap="all" dirty="0">
                <a:solidFill>
                  <a:schemeClr val="accent4"/>
                </a:solidFill>
              </a:rPr>
              <a:t>A flawed API exposed private account data of about 3 million customers to unauthenticated requests.</a:t>
            </a:r>
            <a:endParaRPr lang="en-US" sz="1400" cap="all" dirty="0"/>
          </a:p>
        </p:txBody>
      </p:sp>
      <p:sp>
        <p:nvSpPr>
          <p:cNvPr id="9" name="breach Venmo"/>
          <p:cNvSpPr/>
          <p:nvPr/>
        </p:nvSpPr>
        <p:spPr>
          <a:xfrm>
            <a:off x="3383280" y="1417320"/>
            <a:ext cx="2606040" cy="3291840"/>
          </a:xfrm>
          <a:prstGeom prst="roundRect">
            <a:avLst>
              <a:gd name="adj" fmla="val 3509"/>
            </a:avLst>
          </a:prstGeom>
          <a:solidFill>
            <a:schemeClr val="bg2"/>
          </a:solidFill>
          <a:ln/>
        </p:spPr>
        <p:txBody>
          <a:bodyPr/>
          <a:lstStyle/>
          <a:p>
            <a:endParaRPr lang="fr-FR"/>
          </a:p>
        </p:txBody>
      </p:sp>
      <p:sp>
        <p:nvSpPr>
          <p:cNvPr id="10" name="Venmo tile"/>
          <p:cNvSpPr/>
          <p:nvPr/>
        </p:nvSpPr>
        <p:spPr>
          <a:xfrm>
            <a:off x="3657600" y="1691640"/>
            <a:ext cx="594360" cy="594360"/>
          </a:xfrm>
          <a:prstGeom prst="roundRect">
            <a:avLst>
              <a:gd name="adj" fmla="val 18462"/>
            </a:avLst>
          </a:prstGeom>
          <a:solidFill>
            <a:schemeClr val="accent3"/>
          </a:solidFill>
          <a:ln/>
        </p:spPr>
        <p:txBody>
          <a:bodyPr/>
          <a:lstStyle/>
          <a:p>
            <a:endParaRPr lang="fr-FR"/>
          </a:p>
        </p:txBody>
      </p:sp>
      <p:pic>
        <p:nvPicPr>
          <p:cNvPr id="11" name="Venmo glyph" descr="Venmo"/>
          <p:cNvPicPr>
            <a:picLocks noChangeAspect="1"/>
          </p:cNvPicPr>
          <p:nvPr/>
        </p:nvPicPr>
        <p:blipFill>
          <a:blip r:embed="rId4"/>
          <a:stretch>
            <a:fillRect/>
          </a:stretch>
        </p:blipFill>
        <p:spPr>
          <a:xfrm>
            <a:off x="3788359" y="1822399"/>
            <a:ext cx="332842" cy="332842"/>
          </a:xfrm>
          <a:prstGeom prst="rect">
            <a:avLst/>
          </a:prstGeom>
        </p:spPr>
      </p:pic>
      <p:sp>
        <p:nvSpPr>
          <p:cNvPr id="12" name="Text 7"/>
          <p:cNvSpPr txBox="1"/>
          <p:nvPr/>
        </p:nvSpPr>
        <p:spPr>
          <a:xfrm>
            <a:off x="3657600" y="2468880"/>
            <a:ext cx="2103120" cy="457200"/>
          </a:xfrm>
          <a:prstGeom prst="rect">
            <a:avLst/>
          </a:prstGeom>
          <a:noFill/>
          <a:ln/>
        </p:spPr>
        <p:txBody>
          <a:bodyPr wrap="square" lIns="0" tIns="0" rIns="0" bIns="0" rtlCol="0" anchor="ctr"/>
          <a:lstStyle/>
          <a:p>
            <a:pPr marL="0" indent="0">
              <a:buNone/>
            </a:pPr>
            <a:r>
              <a:rPr lang="en-US" sz="2000" b="1" cap="all" dirty="0">
                <a:solidFill>
                  <a:schemeClr val="tx1"/>
                </a:solidFill>
              </a:rPr>
              <a:t>Venmo</a:t>
            </a:r>
            <a:endParaRPr lang="en-US" sz="2000" cap="all" dirty="0"/>
          </a:p>
        </p:txBody>
      </p:sp>
      <p:sp>
        <p:nvSpPr>
          <p:cNvPr id="13" name="Text 8"/>
          <p:cNvSpPr txBox="1"/>
          <p:nvPr/>
        </p:nvSpPr>
        <p:spPr>
          <a:xfrm>
            <a:off x="3657600" y="2971800"/>
            <a:ext cx="2103120" cy="1645920"/>
          </a:xfrm>
          <a:prstGeom prst="rect">
            <a:avLst/>
          </a:prstGeom>
          <a:noFill/>
          <a:ln/>
        </p:spPr>
        <p:txBody>
          <a:bodyPr wrap="square" lIns="0" tIns="0" rIns="0" bIns="0" rtlCol="0" anchor="t"/>
          <a:lstStyle/>
          <a:p>
            <a:pPr marL="0" indent="0">
              <a:buNone/>
            </a:pPr>
            <a:r>
              <a:rPr lang="en-US" sz="1400" cap="all" dirty="0">
                <a:solidFill>
                  <a:schemeClr val="accent4"/>
                </a:solidFill>
              </a:rPr>
              <a:t>A public API allowed researchers to scrape millions of payment transactions</a:t>
            </a:r>
            <a:r>
              <a:rPr lang="en-US" sz="1400" dirty="0">
                <a:solidFill>
                  <a:schemeClr val="accent4"/>
                </a:solidFill>
              </a:rPr>
              <a:t>.</a:t>
            </a:r>
            <a:endParaRPr lang="en-US" sz="1400" dirty="0"/>
          </a:p>
        </p:txBody>
      </p:sp>
      <p:sp>
        <p:nvSpPr>
          <p:cNvPr id="14" name="breach USPS"/>
          <p:cNvSpPr/>
          <p:nvPr/>
        </p:nvSpPr>
        <p:spPr>
          <a:xfrm>
            <a:off x="6217920" y="1417320"/>
            <a:ext cx="2606040" cy="3291840"/>
          </a:xfrm>
          <a:prstGeom prst="roundRect">
            <a:avLst>
              <a:gd name="adj" fmla="val 3509"/>
            </a:avLst>
          </a:prstGeom>
          <a:solidFill>
            <a:schemeClr val="bg2"/>
          </a:solidFill>
          <a:ln/>
        </p:spPr>
        <p:txBody>
          <a:bodyPr/>
          <a:lstStyle/>
          <a:p>
            <a:endParaRPr lang="fr-FR"/>
          </a:p>
        </p:txBody>
      </p:sp>
      <p:sp>
        <p:nvSpPr>
          <p:cNvPr id="15" name="USPS tile"/>
          <p:cNvSpPr/>
          <p:nvPr/>
        </p:nvSpPr>
        <p:spPr>
          <a:xfrm>
            <a:off x="6492240" y="1691640"/>
            <a:ext cx="594360" cy="594360"/>
          </a:xfrm>
          <a:prstGeom prst="roundRect">
            <a:avLst>
              <a:gd name="adj" fmla="val 18462"/>
            </a:avLst>
          </a:prstGeom>
          <a:solidFill>
            <a:schemeClr val="accent3"/>
          </a:solidFill>
          <a:ln/>
        </p:spPr>
        <p:txBody>
          <a:bodyPr/>
          <a:lstStyle/>
          <a:p>
            <a:endParaRPr lang="fr-FR"/>
          </a:p>
        </p:txBody>
      </p:sp>
      <p:pic>
        <p:nvPicPr>
          <p:cNvPr id="16" name="USPS glyph" descr="USPS"/>
          <p:cNvPicPr>
            <a:picLocks noChangeAspect="1"/>
          </p:cNvPicPr>
          <p:nvPr/>
        </p:nvPicPr>
        <p:blipFill>
          <a:blip r:embed="rId5"/>
          <a:stretch>
            <a:fillRect/>
          </a:stretch>
        </p:blipFill>
        <p:spPr>
          <a:xfrm>
            <a:off x="6622999" y="1822399"/>
            <a:ext cx="332842" cy="332842"/>
          </a:xfrm>
          <a:prstGeom prst="rect">
            <a:avLst/>
          </a:prstGeom>
        </p:spPr>
      </p:pic>
      <p:sp>
        <p:nvSpPr>
          <p:cNvPr id="17" name="Text 11"/>
          <p:cNvSpPr txBox="1"/>
          <p:nvPr/>
        </p:nvSpPr>
        <p:spPr>
          <a:xfrm>
            <a:off x="6492240" y="2468880"/>
            <a:ext cx="2103120" cy="457200"/>
          </a:xfrm>
          <a:prstGeom prst="rect">
            <a:avLst/>
          </a:prstGeom>
          <a:noFill/>
          <a:ln/>
        </p:spPr>
        <p:txBody>
          <a:bodyPr wrap="square" lIns="0" tIns="0" rIns="0" bIns="0" rtlCol="0" anchor="ctr"/>
          <a:lstStyle/>
          <a:p>
            <a:pPr marL="0" indent="0">
              <a:buNone/>
            </a:pPr>
            <a:r>
              <a:rPr lang="en-US" sz="2000" b="1" cap="all" dirty="0"/>
              <a:t>USPS</a:t>
            </a:r>
          </a:p>
        </p:txBody>
      </p:sp>
      <p:sp>
        <p:nvSpPr>
          <p:cNvPr id="18" name="Text 12"/>
          <p:cNvSpPr txBox="1"/>
          <p:nvPr/>
        </p:nvSpPr>
        <p:spPr>
          <a:xfrm>
            <a:off x="6492240" y="2971800"/>
            <a:ext cx="2103120" cy="1645920"/>
          </a:xfrm>
          <a:prstGeom prst="rect">
            <a:avLst/>
          </a:prstGeom>
          <a:noFill/>
          <a:ln/>
        </p:spPr>
        <p:txBody>
          <a:bodyPr wrap="square" lIns="0" tIns="0" rIns="0" bIns="0" rtlCol="0" anchor="t"/>
          <a:lstStyle/>
          <a:p>
            <a:pPr marL="0" indent="0">
              <a:buNone/>
            </a:pPr>
            <a:r>
              <a:rPr lang="en-US" sz="1400" cap="all" dirty="0">
                <a:solidFill>
                  <a:schemeClr val="accent4"/>
                </a:solidFill>
              </a:rPr>
              <a:t>An API weakness let any logged-in user query data on tens of millions of other users</a:t>
            </a:r>
            <a:r>
              <a:rPr lang="en-US" sz="1400" dirty="0">
                <a:solidFill>
                  <a:schemeClr val="accent4"/>
                </a:solidFill>
              </a:rPr>
              <a:t>.</a:t>
            </a:r>
            <a:endParaRPr lang="en-US" sz="1400" dirty="0"/>
          </a:p>
        </p:txBody>
      </p:sp>
      <p:sp>
        <p:nvSpPr>
          <p:cNvPr id="19" name="breach Facebook"/>
          <p:cNvSpPr/>
          <p:nvPr/>
        </p:nvSpPr>
        <p:spPr>
          <a:xfrm>
            <a:off x="9052560" y="1417320"/>
            <a:ext cx="2606040" cy="3291840"/>
          </a:xfrm>
          <a:prstGeom prst="roundRect">
            <a:avLst>
              <a:gd name="adj" fmla="val 3509"/>
            </a:avLst>
          </a:prstGeom>
          <a:solidFill>
            <a:schemeClr val="bg2"/>
          </a:solidFill>
          <a:ln/>
        </p:spPr>
        <p:txBody>
          <a:bodyPr/>
          <a:lstStyle/>
          <a:p>
            <a:endParaRPr lang="fr-FR"/>
          </a:p>
        </p:txBody>
      </p:sp>
      <p:sp>
        <p:nvSpPr>
          <p:cNvPr id="20" name="Facebook tile"/>
          <p:cNvSpPr/>
          <p:nvPr/>
        </p:nvSpPr>
        <p:spPr>
          <a:xfrm>
            <a:off x="9326880" y="1691640"/>
            <a:ext cx="594360" cy="594360"/>
          </a:xfrm>
          <a:prstGeom prst="roundRect">
            <a:avLst>
              <a:gd name="adj" fmla="val 18462"/>
            </a:avLst>
          </a:prstGeom>
          <a:solidFill>
            <a:schemeClr val="accent3"/>
          </a:solidFill>
          <a:ln/>
        </p:spPr>
        <p:txBody>
          <a:bodyPr/>
          <a:lstStyle/>
          <a:p>
            <a:endParaRPr lang="fr-FR"/>
          </a:p>
        </p:txBody>
      </p:sp>
      <p:pic>
        <p:nvPicPr>
          <p:cNvPr id="21" name="Facebook glyph" descr="Facebook"/>
          <p:cNvPicPr>
            <a:picLocks noChangeAspect="1"/>
          </p:cNvPicPr>
          <p:nvPr/>
        </p:nvPicPr>
        <p:blipFill>
          <a:blip r:embed="rId6"/>
          <a:stretch>
            <a:fillRect/>
          </a:stretch>
        </p:blipFill>
        <p:spPr>
          <a:xfrm>
            <a:off x="9457639" y="1822399"/>
            <a:ext cx="332842" cy="332842"/>
          </a:xfrm>
          <a:prstGeom prst="rect">
            <a:avLst/>
          </a:prstGeom>
        </p:spPr>
      </p:pic>
      <p:sp>
        <p:nvSpPr>
          <p:cNvPr id="22" name="Text 15"/>
          <p:cNvSpPr txBox="1"/>
          <p:nvPr/>
        </p:nvSpPr>
        <p:spPr>
          <a:xfrm>
            <a:off x="9326880" y="2468880"/>
            <a:ext cx="2103120" cy="457200"/>
          </a:xfrm>
          <a:prstGeom prst="rect">
            <a:avLst/>
          </a:prstGeom>
          <a:noFill/>
          <a:ln/>
        </p:spPr>
        <p:txBody>
          <a:bodyPr wrap="square" lIns="0" tIns="0" rIns="0" bIns="0" rtlCol="0" anchor="ctr"/>
          <a:lstStyle/>
          <a:p>
            <a:pPr marL="0" indent="0">
              <a:buNone/>
            </a:pPr>
            <a:r>
              <a:rPr lang="en-US" sz="2000" b="1" cap="all" dirty="0"/>
              <a:t>Facebook</a:t>
            </a:r>
          </a:p>
        </p:txBody>
      </p:sp>
      <p:sp>
        <p:nvSpPr>
          <p:cNvPr id="23" name="Text 16"/>
          <p:cNvSpPr txBox="1"/>
          <p:nvPr/>
        </p:nvSpPr>
        <p:spPr>
          <a:xfrm>
            <a:off x="9326880" y="2971800"/>
            <a:ext cx="2103120" cy="1645920"/>
          </a:xfrm>
          <a:prstGeom prst="rect">
            <a:avLst/>
          </a:prstGeom>
          <a:noFill/>
          <a:ln/>
        </p:spPr>
        <p:txBody>
          <a:bodyPr wrap="square" lIns="0" tIns="0" rIns="0" bIns="0" rtlCol="0" anchor="t"/>
          <a:lstStyle/>
          <a:p>
            <a:pPr marL="0" indent="0">
              <a:buNone/>
            </a:pPr>
            <a:r>
              <a:rPr lang="en-US" sz="1400" cap="all" dirty="0">
                <a:solidFill>
                  <a:schemeClr val="accent4"/>
                </a:solidFill>
              </a:rPr>
              <a:t>Abuse of a contact-import feature enabled mass scraping of user profiles.</a:t>
            </a:r>
          </a:p>
        </p:txBody>
      </p:sp>
      <p:sp>
        <p:nvSpPr>
          <p:cNvPr id="24" name="Text 17"/>
          <p:cNvSpPr txBox="1"/>
          <p:nvPr/>
        </p:nvSpPr>
        <p:spPr>
          <a:xfrm>
            <a:off x="548640" y="4937760"/>
            <a:ext cx="3657600" cy="365760"/>
          </a:xfrm>
          <a:prstGeom prst="rect">
            <a:avLst/>
          </a:prstGeom>
          <a:noFill/>
          <a:ln/>
        </p:spPr>
        <p:txBody>
          <a:bodyPr wrap="square" lIns="0" tIns="0" rIns="0" bIns="0" rtlCol="0" anchor="ctr"/>
          <a:lstStyle/>
          <a:p>
            <a:pPr marL="0" indent="0">
              <a:buNone/>
            </a:pPr>
            <a:r>
              <a:rPr lang="en-US" sz="1700" b="1" cap="all" dirty="0">
                <a:solidFill>
                  <a:schemeClr val="accent2">
                    <a:lumMod val="50000"/>
                  </a:schemeClr>
                </a:solidFill>
              </a:rPr>
              <a:t>Common lessons</a:t>
            </a:r>
            <a:endParaRPr lang="en-US" sz="1700" cap="all" dirty="0">
              <a:solidFill>
                <a:schemeClr val="accent2">
                  <a:lumMod val="50000"/>
                </a:schemeClr>
              </a:solidFill>
            </a:endParaRPr>
          </a:p>
        </p:txBody>
      </p:sp>
      <p:sp>
        <p:nvSpPr>
          <p:cNvPr id="25" name="Text 18"/>
          <p:cNvSpPr txBox="1"/>
          <p:nvPr/>
        </p:nvSpPr>
        <p:spPr>
          <a:xfrm>
            <a:off x="548640" y="5349240"/>
            <a:ext cx="11064240" cy="914400"/>
          </a:xfrm>
          <a:prstGeom prst="rect">
            <a:avLst/>
          </a:prstGeom>
          <a:noFill/>
          <a:ln/>
        </p:spPr>
        <p:txBody>
          <a:bodyPr wrap="square" lIns="0" tIns="0" rIns="0" bIns="0" rtlCol="0" anchor="ctr"/>
          <a:lstStyle/>
          <a:p>
            <a:pPr marL="0" indent="0">
              <a:buNone/>
            </a:pPr>
            <a:r>
              <a:rPr lang="en-US" sz="1600" dirty="0">
                <a:solidFill>
                  <a:schemeClr val="accent1"/>
                </a:solidFill>
                <a:sym typeface="Wingdings" pitchFamily="2" charset="2"/>
              </a:rPr>
              <a:t> </a:t>
            </a:r>
            <a:r>
              <a:rPr lang="en-US" sz="1600" i="1" cap="all" dirty="0">
                <a:solidFill>
                  <a:schemeClr val="accent1"/>
                </a:solidFill>
              </a:rPr>
              <a:t>Missing object-level authorization </a:t>
            </a:r>
          </a:p>
          <a:p>
            <a:pPr marL="0" indent="0">
              <a:buNone/>
            </a:pPr>
            <a:r>
              <a:rPr lang="en-US" sz="1600" i="1" cap="all" dirty="0">
                <a:solidFill>
                  <a:schemeClr val="accent1"/>
                </a:solidFill>
              </a:rPr>
              <a:t> </a:t>
            </a:r>
            <a:r>
              <a:rPr lang="en-US" sz="1600" i="1" cap="all" dirty="0">
                <a:solidFill>
                  <a:schemeClr val="accent1"/>
                </a:solidFill>
                <a:sym typeface="Wingdings" pitchFamily="2" charset="2"/>
              </a:rPr>
              <a:t> </a:t>
            </a:r>
            <a:r>
              <a:rPr lang="en-US" sz="1600" i="1" cap="all" dirty="0">
                <a:solidFill>
                  <a:schemeClr val="accent1"/>
                </a:solidFill>
              </a:rPr>
              <a:t>No rate limiting on enumeration </a:t>
            </a:r>
          </a:p>
          <a:p>
            <a:pPr marL="0" indent="0">
              <a:buNone/>
            </a:pPr>
            <a:r>
              <a:rPr lang="en-US" sz="1600" i="1" cap="all" dirty="0">
                <a:solidFill>
                  <a:schemeClr val="accent1"/>
                </a:solidFill>
              </a:rPr>
              <a:t> </a:t>
            </a:r>
            <a:r>
              <a:rPr lang="en-US" sz="1600" i="1" cap="all" dirty="0">
                <a:solidFill>
                  <a:schemeClr val="accent1"/>
                </a:solidFill>
                <a:sym typeface="Wingdings" pitchFamily="2" charset="2"/>
              </a:rPr>
              <a:t></a:t>
            </a:r>
            <a:r>
              <a:rPr lang="en-US" sz="1600" i="1" cap="all" dirty="0">
                <a:solidFill>
                  <a:schemeClr val="accent1"/>
                </a:solidFill>
              </a:rPr>
              <a:t>  Undocumented or excessive data in responses</a:t>
            </a:r>
            <a:endParaRPr lang="en-US" sz="1600" i="1" cap="all"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pic>
        <p:nvPicPr>
          <p:cNvPr id="26" name="Image 0" descr="/home/claude/unpacked/ppt/media/image1.png">
            <a:extLst>
              <a:ext uri="{FF2B5EF4-FFF2-40B4-BE49-F238E27FC236}">
                <a16:creationId xmlns:a16="http://schemas.microsoft.com/office/drawing/2014/main" id="{6866AB4E-67B3-8B10-B972-629DC08FE4C5}"/>
              </a:ext>
            </a:extLst>
          </p:cNvPr>
          <p:cNvPicPr>
            <a:picLocks noChangeAspect="1"/>
          </p:cNvPicPr>
          <p:nvPr/>
        </p:nvPicPr>
        <p:blipFill>
          <a:blip r:embed="rId7"/>
          <a:stretch>
            <a:fillRect/>
          </a:stretch>
        </p:blipFill>
        <p:spPr>
          <a:xfrm>
            <a:off x="10949940" y="114300"/>
            <a:ext cx="960120" cy="9601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The cost of getting it wrong</a:t>
            </a:r>
            <a:endParaRPr lang="en-US" sz="3400" cap="all" dirty="0"/>
          </a:p>
        </p:txBody>
      </p:sp>
      <p:sp>
        <p:nvSpPr>
          <p:cNvPr id="4" name="Text 1"/>
          <p:cNvSpPr txBox="1"/>
          <p:nvPr/>
        </p:nvSpPr>
        <p:spPr>
          <a:xfrm>
            <a:off x="548640" y="1463040"/>
            <a:ext cx="2651760" cy="914400"/>
          </a:xfrm>
          <a:prstGeom prst="rect">
            <a:avLst/>
          </a:prstGeom>
          <a:noFill/>
          <a:ln/>
        </p:spPr>
        <p:txBody>
          <a:bodyPr wrap="square" lIns="0" tIns="0" rIns="0" bIns="0" rtlCol="0" anchor="ctr"/>
          <a:lstStyle/>
          <a:p>
            <a:pPr marL="0" indent="0">
              <a:buNone/>
            </a:pPr>
            <a:r>
              <a:rPr lang="en-US" sz="4800" b="1" dirty="0">
                <a:solidFill>
                  <a:schemeClr val="tx1">
                    <a:lumMod val="75000"/>
                    <a:lumOff val="25000"/>
                  </a:schemeClr>
                </a:solidFill>
              </a:rPr>
              <a:t>$4.45M</a:t>
            </a:r>
          </a:p>
        </p:txBody>
      </p:sp>
      <p:sp>
        <p:nvSpPr>
          <p:cNvPr id="5" name="Text 2"/>
          <p:cNvSpPr txBox="1"/>
          <p:nvPr/>
        </p:nvSpPr>
        <p:spPr>
          <a:xfrm>
            <a:off x="2806262" y="1463040"/>
            <a:ext cx="2863018" cy="914400"/>
          </a:xfrm>
          <a:prstGeom prst="rect">
            <a:avLst/>
          </a:prstGeom>
          <a:noFill/>
          <a:ln/>
        </p:spPr>
        <p:txBody>
          <a:bodyPr wrap="square" lIns="0" tIns="0" rIns="0" bIns="0" rtlCol="0" anchor="ctr"/>
          <a:lstStyle/>
          <a:p>
            <a:pPr marL="0" indent="0">
              <a:buNone/>
            </a:pPr>
            <a:r>
              <a:rPr lang="en-US" sz="2000" b="1" cap="all" dirty="0">
                <a:solidFill>
                  <a:schemeClr val="tx2"/>
                </a:solidFill>
              </a:rPr>
              <a:t>average enterprise data breach cost</a:t>
            </a:r>
            <a:endParaRPr lang="en-US" sz="2000" b="1" cap="all" dirty="0"/>
          </a:p>
        </p:txBody>
      </p:sp>
      <p:sp>
        <p:nvSpPr>
          <p:cNvPr id="6" name="Text 3"/>
          <p:cNvSpPr txBox="1"/>
          <p:nvPr/>
        </p:nvSpPr>
        <p:spPr>
          <a:xfrm>
            <a:off x="548640" y="2926080"/>
            <a:ext cx="2651760" cy="914400"/>
          </a:xfrm>
          <a:prstGeom prst="rect">
            <a:avLst/>
          </a:prstGeom>
          <a:noFill/>
          <a:ln/>
        </p:spPr>
        <p:txBody>
          <a:bodyPr wrap="square" lIns="0" tIns="0" rIns="0" bIns="0" rtlCol="0" anchor="ctr"/>
          <a:lstStyle/>
          <a:p>
            <a:pPr marL="0" indent="0">
              <a:buNone/>
            </a:pPr>
            <a:r>
              <a:rPr lang="en-US" sz="4800" b="1" dirty="0">
                <a:solidFill>
                  <a:schemeClr val="tx1">
                    <a:lumMod val="75000"/>
                    <a:lumOff val="25000"/>
                  </a:schemeClr>
                </a:solidFill>
              </a:rPr>
              <a:t>116M+</a:t>
            </a:r>
          </a:p>
        </p:txBody>
      </p:sp>
      <p:sp>
        <p:nvSpPr>
          <p:cNvPr id="7" name="Text 4"/>
          <p:cNvSpPr txBox="1"/>
          <p:nvPr/>
        </p:nvSpPr>
        <p:spPr>
          <a:xfrm>
            <a:off x="2711669" y="2926080"/>
            <a:ext cx="2957611" cy="914400"/>
          </a:xfrm>
          <a:prstGeom prst="rect">
            <a:avLst/>
          </a:prstGeom>
          <a:noFill/>
          <a:ln/>
        </p:spPr>
        <p:txBody>
          <a:bodyPr wrap="square" lIns="0" tIns="0" rIns="0" bIns="0" rtlCol="0" anchor="ctr"/>
          <a:lstStyle/>
          <a:p>
            <a:pPr marL="0" indent="0">
              <a:buNone/>
            </a:pPr>
            <a:r>
              <a:rPr lang="en-US" sz="2000" b="1" cap="all" dirty="0">
                <a:solidFill>
                  <a:schemeClr val="tx2"/>
                </a:solidFill>
              </a:rPr>
              <a:t>patient records exposed in healthcare in 2023</a:t>
            </a:r>
          </a:p>
        </p:txBody>
      </p:sp>
      <p:sp>
        <p:nvSpPr>
          <p:cNvPr id="8" name="Text 5"/>
          <p:cNvSpPr txBox="1"/>
          <p:nvPr/>
        </p:nvSpPr>
        <p:spPr>
          <a:xfrm>
            <a:off x="548640" y="4389120"/>
            <a:ext cx="1716865" cy="914400"/>
          </a:xfrm>
          <a:prstGeom prst="rect">
            <a:avLst/>
          </a:prstGeom>
          <a:noFill/>
          <a:ln/>
        </p:spPr>
        <p:txBody>
          <a:bodyPr wrap="square" lIns="0" tIns="0" rIns="0" bIns="0" rtlCol="0" anchor="ctr"/>
          <a:lstStyle/>
          <a:p>
            <a:pPr marL="0" indent="0">
              <a:buNone/>
            </a:pPr>
            <a:r>
              <a:rPr lang="en-US" sz="4800" b="1" dirty="0">
                <a:solidFill>
                  <a:schemeClr val="tx1">
                    <a:lumMod val="75000"/>
                    <a:lumOff val="25000"/>
                  </a:schemeClr>
                </a:solidFill>
              </a:rPr>
              <a:t>~1/3</a:t>
            </a:r>
            <a:endParaRPr lang="en-US" sz="4800" dirty="0">
              <a:solidFill>
                <a:schemeClr val="tx1">
                  <a:lumMod val="75000"/>
                  <a:lumOff val="25000"/>
                </a:schemeClr>
              </a:solidFill>
            </a:endParaRPr>
          </a:p>
        </p:txBody>
      </p:sp>
      <p:sp>
        <p:nvSpPr>
          <p:cNvPr id="9" name="Text 6"/>
          <p:cNvSpPr txBox="1"/>
          <p:nvPr/>
        </p:nvSpPr>
        <p:spPr>
          <a:xfrm>
            <a:off x="2585545" y="4389120"/>
            <a:ext cx="3083735" cy="914400"/>
          </a:xfrm>
          <a:prstGeom prst="rect">
            <a:avLst/>
          </a:prstGeom>
          <a:noFill/>
          <a:ln/>
        </p:spPr>
        <p:txBody>
          <a:bodyPr wrap="square" lIns="0" tIns="0" rIns="0" bIns="0" rtlCol="0" anchor="ctr"/>
          <a:lstStyle/>
          <a:p>
            <a:pPr marL="0" indent="0">
              <a:buNone/>
            </a:pPr>
            <a:r>
              <a:rPr lang="en-US" sz="2000" b="1" cap="all" dirty="0">
                <a:solidFill>
                  <a:schemeClr val="tx2"/>
                </a:solidFill>
              </a:rPr>
              <a:t>of breached healthcare providers saw patient trust fall</a:t>
            </a:r>
          </a:p>
        </p:txBody>
      </p:sp>
      <p:sp>
        <p:nvSpPr>
          <p:cNvPr id="10" name="consequences card"/>
          <p:cNvSpPr/>
          <p:nvPr/>
        </p:nvSpPr>
        <p:spPr>
          <a:xfrm>
            <a:off x="6035040" y="1417320"/>
            <a:ext cx="5577840" cy="4389120"/>
          </a:xfrm>
          <a:prstGeom prst="roundRect">
            <a:avLst>
              <a:gd name="adj" fmla="val 2083"/>
            </a:avLst>
          </a:prstGeom>
          <a:solidFill>
            <a:schemeClr val="bg2"/>
          </a:solidFill>
          <a:ln/>
        </p:spPr>
        <p:txBody>
          <a:bodyPr/>
          <a:lstStyle/>
          <a:p>
            <a:endParaRPr lang="fr-FR"/>
          </a:p>
        </p:txBody>
      </p:sp>
      <p:sp>
        <p:nvSpPr>
          <p:cNvPr id="11" name="Text 8"/>
          <p:cNvSpPr txBox="1"/>
          <p:nvPr/>
        </p:nvSpPr>
        <p:spPr>
          <a:xfrm>
            <a:off x="6355080" y="1691640"/>
            <a:ext cx="4937760" cy="457200"/>
          </a:xfrm>
          <a:prstGeom prst="rect">
            <a:avLst/>
          </a:prstGeom>
          <a:noFill/>
          <a:ln/>
        </p:spPr>
        <p:txBody>
          <a:bodyPr wrap="square" lIns="0" tIns="0" rIns="0" bIns="0" rtlCol="0" anchor="ctr"/>
          <a:lstStyle/>
          <a:p>
            <a:pPr marL="0" indent="0">
              <a:buNone/>
            </a:pPr>
            <a:r>
              <a:rPr lang="en-US" sz="2400" b="1" cap="all" dirty="0">
                <a:solidFill>
                  <a:schemeClr val="tx1"/>
                </a:solidFill>
              </a:rPr>
              <a:t>Beyond the direct loss</a:t>
            </a:r>
            <a:endParaRPr lang="en-US" sz="2400" cap="all" dirty="0"/>
          </a:p>
        </p:txBody>
      </p:sp>
      <p:sp>
        <p:nvSpPr>
          <p:cNvPr id="12" name="Text 9"/>
          <p:cNvSpPr txBox="1"/>
          <p:nvPr/>
        </p:nvSpPr>
        <p:spPr>
          <a:xfrm>
            <a:off x="6355080" y="2286000"/>
            <a:ext cx="4937760" cy="3291840"/>
          </a:xfrm>
          <a:prstGeom prst="rect">
            <a:avLst/>
          </a:prstGeom>
          <a:noFill/>
          <a:ln/>
        </p:spPr>
        <p:txBody>
          <a:bodyPr wrap="square" lIns="0" tIns="0" rIns="0" bIns="0" rtlCol="0" anchor="t"/>
          <a:lstStyle/>
          <a:p>
            <a:pPr marL="342900" indent="-342900">
              <a:spcAft>
                <a:spcPts val="1000"/>
              </a:spcAft>
              <a:buSzPct val="100000"/>
              <a:buChar char="•"/>
            </a:pPr>
            <a:r>
              <a:rPr lang="en-US" sz="2000" b="1" dirty="0">
                <a:solidFill>
                  <a:schemeClr val="accent1">
                    <a:lumMod val="75000"/>
                  </a:schemeClr>
                </a:solidFill>
              </a:rPr>
              <a:t>Exposed customer data and compromised tokens</a:t>
            </a:r>
          </a:p>
          <a:p>
            <a:pPr marL="342900" indent="-342900">
              <a:spcAft>
                <a:spcPts val="1000"/>
              </a:spcAft>
              <a:buSzPct val="100000"/>
              <a:buChar char="•"/>
            </a:pPr>
            <a:r>
              <a:rPr lang="en-US" sz="2000" b="1" dirty="0">
                <a:solidFill>
                  <a:schemeClr val="accent1">
                    <a:lumMod val="75000"/>
                  </a:schemeClr>
                </a:solidFill>
              </a:rPr>
              <a:t>Recovery and incident-response costs</a:t>
            </a:r>
          </a:p>
          <a:p>
            <a:pPr marL="342900" indent="-342900">
              <a:spcAft>
                <a:spcPts val="1000"/>
              </a:spcAft>
              <a:buSzPct val="100000"/>
              <a:buChar char="•"/>
            </a:pPr>
            <a:r>
              <a:rPr lang="en-US" sz="2000" b="1" dirty="0">
                <a:solidFill>
                  <a:schemeClr val="accent1">
                    <a:lumMod val="75000"/>
                  </a:schemeClr>
                </a:solidFill>
              </a:rPr>
              <a:t>Legal action and regulatory fines</a:t>
            </a:r>
          </a:p>
          <a:p>
            <a:pPr marL="342900" indent="-342900">
              <a:spcAft>
                <a:spcPts val="1000"/>
              </a:spcAft>
              <a:buSzPct val="100000"/>
              <a:buChar char="•"/>
            </a:pPr>
            <a:r>
              <a:rPr lang="en-US" sz="2000" b="1" dirty="0">
                <a:solidFill>
                  <a:schemeClr val="accent1">
                    <a:lumMod val="75000"/>
                  </a:schemeClr>
                </a:solidFill>
              </a:rPr>
              <a:t>Customer churn and contract risk</a:t>
            </a:r>
          </a:p>
          <a:p>
            <a:pPr marL="342900" indent="-342900">
              <a:spcAft>
                <a:spcPts val="1000"/>
              </a:spcAft>
              <a:buSzPct val="100000"/>
              <a:buChar char="•"/>
            </a:pPr>
            <a:r>
              <a:rPr lang="en-US" sz="2000" b="1" dirty="0">
                <a:solidFill>
                  <a:schemeClr val="accent1">
                    <a:lumMod val="75000"/>
                  </a:schemeClr>
                </a:solidFill>
              </a:rPr>
              <a:t>Long-term brand erosion</a:t>
            </a:r>
          </a:p>
          <a:p>
            <a:pPr marL="342900" indent="-342900">
              <a:spcAft>
                <a:spcPts val="1000"/>
              </a:spcAft>
              <a:buSzPct val="100000"/>
              <a:buChar char="•"/>
            </a:pPr>
            <a:r>
              <a:rPr lang="en-US" sz="2000" b="1" dirty="0">
                <a:solidFill>
                  <a:schemeClr val="accent1">
                    <a:lumMod val="75000"/>
                  </a:schemeClr>
                </a:solidFill>
              </a:rPr>
              <a:t>Prevention with WAAP costs far less than recovery</a:t>
            </a: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pic>
        <p:nvPicPr>
          <p:cNvPr id="3" name="Image 0" descr="/home/claude/unpacked/ppt/media/image1.png">
            <a:extLst>
              <a:ext uri="{FF2B5EF4-FFF2-40B4-BE49-F238E27FC236}">
                <a16:creationId xmlns:a16="http://schemas.microsoft.com/office/drawing/2014/main" id="{548509EE-F852-56B9-3363-C1C64B60A529}"/>
              </a:ext>
            </a:extLst>
          </p:cNvPr>
          <p:cNvPicPr>
            <a:picLocks noChangeAspect="1"/>
          </p:cNvPicPr>
          <p:nvPr/>
        </p:nvPicPr>
        <p:blipFill>
          <a:blip r:embed="rId3"/>
          <a:stretch>
            <a:fillRect/>
          </a:stretch>
        </p:blipFill>
        <p:spPr>
          <a:xfrm>
            <a:off x="10904220" y="114300"/>
            <a:ext cx="960120" cy="9601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cap="all" dirty="0"/>
              <a:t>Automated</a:t>
            </a:r>
            <a:r>
              <a:rPr lang="en-US" sz="3400" b="1" dirty="0">
                <a:solidFill>
                  <a:schemeClr val="tx1"/>
                </a:solidFill>
              </a:rPr>
              <a:t> </a:t>
            </a:r>
            <a:r>
              <a:rPr lang="en-US" cap="all" dirty="0"/>
              <a:t>threats: bots and DDoS</a:t>
            </a:r>
          </a:p>
        </p:txBody>
      </p:sp>
      <p:sp>
        <p:nvSpPr>
          <p:cNvPr id="4" name="auto Malicious bots"/>
          <p:cNvSpPr/>
          <p:nvPr/>
        </p:nvSpPr>
        <p:spPr>
          <a:xfrm>
            <a:off x="548640" y="1417320"/>
            <a:ext cx="5394960" cy="4206240"/>
          </a:xfrm>
          <a:prstGeom prst="roundRect">
            <a:avLst>
              <a:gd name="adj" fmla="val 2174"/>
            </a:avLst>
          </a:prstGeom>
          <a:solidFill>
            <a:schemeClr val="bg2"/>
          </a:solidFill>
          <a:ln/>
        </p:spPr>
        <p:txBody>
          <a:bodyPr/>
          <a:lstStyle/>
          <a:p>
            <a:endParaRPr lang="fr-FR"/>
          </a:p>
        </p:txBody>
      </p:sp>
      <p:sp>
        <p:nvSpPr>
          <p:cNvPr id="5" name="Malicious bots tile"/>
          <p:cNvSpPr/>
          <p:nvPr/>
        </p:nvSpPr>
        <p:spPr>
          <a:xfrm>
            <a:off x="868680" y="1691640"/>
            <a:ext cx="594360" cy="594360"/>
          </a:xfrm>
          <a:prstGeom prst="roundRect">
            <a:avLst>
              <a:gd name="adj" fmla="val 18462"/>
            </a:avLst>
          </a:prstGeom>
          <a:solidFill>
            <a:schemeClr val="accent2"/>
          </a:solidFill>
          <a:ln/>
        </p:spPr>
        <p:txBody>
          <a:bodyPr/>
          <a:lstStyle/>
          <a:p>
            <a:endParaRPr lang="fr-FR"/>
          </a:p>
        </p:txBody>
      </p:sp>
      <p:pic>
        <p:nvPicPr>
          <p:cNvPr id="6" name="Malicious bots glyph" descr="Malicious bots"/>
          <p:cNvPicPr>
            <a:picLocks noChangeAspect="1"/>
          </p:cNvPicPr>
          <p:nvPr/>
        </p:nvPicPr>
        <p:blipFill>
          <a:blip r:embed="rId3"/>
          <a:stretch>
            <a:fillRect/>
          </a:stretch>
        </p:blipFill>
        <p:spPr>
          <a:xfrm>
            <a:off x="999439" y="1822399"/>
            <a:ext cx="332842" cy="332842"/>
          </a:xfrm>
          <a:prstGeom prst="rect">
            <a:avLst/>
          </a:prstGeom>
        </p:spPr>
      </p:pic>
      <p:sp>
        <p:nvSpPr>
          <p:cNvPr id="7" name="Text 3"/>
          <p:cNvSpPr txBox="1"/>
          <p:nvPr/>
        </p:nvSpPr>
        <p:spPr>
          <a:xfrm>
            <a:off x="1645920" y="1691640"/>
            <a:ext cx="4023360" cy="594360"/>
          </a:xfrm>
          <a:prstGeom prst="rect">
            <a:avLst/>
          </a:prstGeom>
          <a:noFill/>
          <a:ln/>
        </p:spPr>
        <p:txBody>
          <a:bodyPr wrap="square" lIns="0" tIns="0" rIns="0" bIns="0" rtlCol="0" anchor="ctr"/>
          <a:lstStyle/>
          <a:p>
            <a:pPr marL="0" indent="0">
              <a:buNone/>
            </a:pPr>
            <a:r>
              <a:rPr lang="en-US" sz="2400" b="1" cap="all" dirty="0"/>
              <a:t>Malicious</a:t>
            </a:r>
            <a:r>
              <a:rPr lang="en-US" sz="2200" b="1" cap="all" dirty="0">
                <a:solidFill>
                  <a:schemeClr val="tx1"/>
                </a:solidFill>
              </a:rPr>
              <a:t> </a:t>
            </a:r>
            <a:r>
              <a:rPr lang="en-US" sz="2400" b="1" cap="all" dirty="0"/>
              <a:t>bots</a:t>
            </a:r>
          </a:p>
        </p:txBody>
      </p:sp>
      <p:sp>
        <p:nvSpPr>
          <p:cNvPr id="8" name="Text 4"/>
          <p:cNvSpPr txBox="1"/>
          <p:nvPr/>
        </p:nvSpPr>
        <p:spPr>
          <a:xfrm>
            <a:off x="662152" y="2560320"/>
            <a:ext cx="5281448" cy="2926080"/>
          </a:xfrm>
          <a:prstGeom prst="rect">
            <a:avLst/>
          </a:prstGeom>
          <a:noFill/>
          <a:ln/>
        </p:spPr>
        <p:txBody>
          <a:bodyPr wrap="square" lIns="0" tIns="0" rIns="0" bIns="0" rtlCol="0" anchor="t"/>
          <a:lstStyle/>
          <a:p>
            <a:pPr marL="342900" indent="-342900">
              <a:spcAft>
                <a:spcPts val="1000"/>
              </a:spcAft>
              <a:buSzPct val="100000"/>
              <a:buChar char="•"/>
            </a:pPr>
            <a:r>
              <a:rPr lang="en-US" sz="2000" b="1" dirty="0">
                <a:solidFill>
                  <a:schemeClr val="accent1">
                    <a:lumMod val="75000"/>
                  </a:schemeClr>
                </a:solidFill>
              </a:rPr>
              <a:t>Every observed site saw malicious bot activity</a:t>
            </a:r>
          </a:p>
          <a:p>
            <a:pPr marL="342900" indent="-342900">
              <a:spcAft>
                <a:spcPts val="1000"/>
              </a:spcAft>
              <a:buSzPct val="100000"/>
              <a:buChar char="•"/>
            </a:pPr>
            <a:r>
              <a:rPr lang="en-US" sz="2000" b="1" dirty="0">
                <a:solidFill>
                  <a:schemeClr val="accent1">
                    <a:lumMod val="75000"/>
                  </a:schemeClr>
                </a:solidFill>
              </a:rPr>
              <a:t>Credential stuffing with stolen passwords</a:t>
            </a:r>
          </a:p>
          <a:p>
            <a:pPr marL="342900" indent="-342900">
              <a:spcAft>
                <a:spcPts val="1000"/>
              </a:spcAft>
              <a:buSzPct val="100000"/>
              <a:buChar char="•"/>
            </a:pPr>
            <a:r>
              <a:rPr lang="en-US" sz="2000" b="1" dirty="0">
                <a:solidFill>
                  <a:schemeClr val="accent1">
                    <a:lumMod val="75000"/>
                  </a:schemeClr>
                </a:solidFill>
              </a:rPr>
              <a:t>Price and content scraping</a:t>
            </a:r>
          </a:p>
          <a:p>
            <a:pPr marL="342900" indent="-342900">
              <a:spcAft>
                <a:spcPts val="1000"/>
              </a:spcAft>
              <a:buSzPct val="100000"/>
              <a:buChar char="•"/>
            </a:pPr>
            <a:r>
              <a:rPr lang="en-US" sz="2000" b="1" dirty="0">
                <a:solidFill>
                  <a:schemeClr val="accent1">
                    <a:lumMod val="75000"/>
                  </a:schemeClr>
                </a:solidFill>
              </a:rPr>
              <a:t>Fake account creation and promo abuse</a:t>
            </a:r>
          </a:p>
          <a:p>
            <a:pPr marL="342900" indent="-342900">
              <a:spcAft>
                <a:spcPts val="1000"/>
              </a:spcAft>
              <a:buSzPct val="100000"/>
              <a:buChar char="•"/>
            </a:pPr>
            <a:r>
              <a:rPr lang="en-US" sz="2000" b="1" dirty="0">
                <a:solidFill>
                  <a:schemeClr val="accent1">
                    <a:lumMod val="75000"/>
                  </a:schemeClr>
                </a:solidFill>
              </a:rPr>
              <a:t>Inventory hoarding that wipes out stock</a:t>
            </a:r>
          </a:p>
        </p:txBody>
      </p:sp>
      <p:sp>
        <p:nvSpPr>
          <p:cNvPr id="9" name="auto DDoS attacks"/>
          <p:cNvSpPr/>
          <p:nvPr/>
        </p:nvSpPr>
        <p:spPr>
          <a:xfrm>
            <a:off x="6217920" y="1417320"/>
            <a:ext cx="5394960" cy="4206240"/>
          </a:xfrm>
          <a:prstGeom prst="roundRect">
            <a:avLst>
              <a:gd name="adj" fmla="val 2174"/>
            </a:avLst>
          </a:prstGeom>
          <a:solidFill>
            <a:schemeClr val="bg2"/>
          </a:solidFill>
          <a:ln/>
        </p:spPr>
        <p:txBody>
          <a:bodyPr/>
          <a:lstStyle/>
          <a:p>
            <a:endParaRPr lang="fr-FR"/>
          </a:p>
        </p:txBody>
      </p:sp>
      <p:sp>
        <p:nvSpPr>
          <p:cNvPr id="10" name="DDoS attacks tile"/>
          <p:cNvSpPr/>
          <p:nvPr/>
        </p:nvSpPr>
        <p:spPr>
          <a:xfrm>
            <a:off x="6537960" y="1691640"/>
            <a:ext cx="594360" cy="594360"/>
          </a:xfrm>
          <a:prstGeom prst="roundRect">
            <a:avLst>
              <a:gd name="adj" fmla="val 18462"/>
            </a:avLst>
          </a:prstGeom>
          <a:solidFill>
            <a:schemeClr val="accent3"/>
          </a:solidFill>
          <a:ln/>
        </p:spPr>
        <p:txBody>
          <a:bodyPr/>
          <a:lstStyle/>
          <a:p>
            <a:endParaRPr lang="fr-FR"/>
          </a:p>
        </p:txBody>
      </p:sp>
      <p:pic>
        <p:nvPicPr>
          <p:cNvPr id="11" name="DDoS attacks glyph" descr="DDoS attacks"/>
          <p:cNvPicPr>
            <a:picLocks noChangeAspect="1"/>
          </p:cNvPicPr>
          <p:nvPr/>
        </p:nvPicPr>
        <p:blipFill>
          <a:blip r:embed="rId4"/>
          <a:stretch>
            <a:fillRect/>
          </a:stretch>
        </p:blipFill>
        <p:spPr>
          <a:xfrm>
            <a:off x="6668719" y="1822399"/>
            <a:ext cx="332842" cy="332842"/>
          </a:xfrm>
          <a:prstGeom prst="rect">
            <a:avLst/>
          </a:prstGeom>
        </p:spPr>
      </p:pic>
      <p:sp>
        <p:nvSpPr>
          <p:cNvPr id="12" name="Text 7"/>
          <p:cNvSpPr txBox="1"/>
          <p:nvPr/>
        </p:nvSpPr>
        <p:spPr>
          <a:xfrm>
            <a:off x="7315200" y="1691640"/>
            <a:ext cx="4023360" cy="594360"/>
          </a:xfrm>
          <a:prstGeom prst="rect">
            <a:avLst/>
          </a:prstGeom>
          <a:noFill/>
          <a:ln/>
        </p:spPr>
        <p:txBody>
          <a:bodyPr wrap="square" lIns="0" tIns="0" rIns="0" bIns="0" rtlCol="0" anchor="ctr"/>
          <a:lstStyle/>
          <a:p>
            <a:pPr marL="0" indent="0">
              <a:buNone/>
            </a:pPr>
            <a:r>
              <a:rPr lang="en-US" sz="2400" b="1" cap="all" dirty="0"/>
              <a:t>DDoS</a:t>
            </a:r>
            <a:r>
              <a:rPr lang="en-US" sz="2200" b="1" dirty="0">
                <a:solidFill>
                  <a:schemeClr val="tx1"/>
                </a:solidFill>
              </a:rPr>
              <a:t> </a:t>
            </a:r>
            <a:r>
              <a:rPr lang="en-US" sz="2400" b="1" cap="all" dirty="0"/>
              <a:t>attacks</a:t>
            </a:r>
          </a:p>
        </p:txBody>
      </p:sp>
      <p:sp>
        <p:nvSpPr>
          <p:cNvPr id="13" name="Text 8"/>
          <p:cNvSpPr txBox="1"/>
          <p:nvPr/>
        </p:nvSpPr>
        <p:spPr>
          <a:xfrm>
            <a:off x="6263640" y="2560320"/>
            <a:ext cx="5349240" cy="2926080"/>
          </a:xfrm>
          <a:prstGeom prst="rect">
            <a:avLst/>
          </a:prstGeom>
          <a:noFill/>
          <a:ln/>
        </p:spPr>
        <p:txBody>
          <a:bodyPr wrap="square" lIns="0" tIns="0" rIns="0" bIns="0" rtlCol="0" anchor="t"/>
          <a:lstStyle/>
          <a:p>
            <a:pPr marL="342900" indent="-342900">
              <a:spcAft>
                <a:spcPts val="1000"/>
              </a:spcAft>
              <a:buSzPct val="100000"/>
              <a:buChar char="•"/>
            </a:pPr>
            <a:r>
              <a:rPr lang="en-US" sz="2000" b="1" dirty="0">
                <a:solidFill>
                  <a:schemeClr val="accent1">
                    <a:lumMod val="75000"/>
                  </a:schemeClr>
                </a:solidFill>
              </a:rPr>
              <a:t>Extortion groups such as KillNet disrupted critical services</a:t>
            </a:r>
          </a:p>
          <a:p>
            <a:pPr marL="342900" indent="-342900">
              <a:spcAft>
                <a:spcPts val="1000"/>
              </a:spcAft>
              <a:buSzPct val="100000"/>
              <a:buChar char="•"/>
            </a:pPr>
            <a:r>
              <a:rPr lang="en-US" sz="2000" b="1" dirty="0">
                <a:solidFill>
                  <a:schemeClr val="accent1">
                    <a:lumMod val="75000"/>
                  </a:schemeClr>
                </a:solidFill>
              </a:rPr>
              <a:t>Volumetric floods at Layers 3 and 4</a:t>
            </a:r>
          </a:p>
          <a:p>
            <a:pPr marL="342900" indent="-342900">
              <a:spcAft>
                <a:spcPts val="1000"/>
              </a:spcAft>
              <a:buSzPct val="100000"/>
              <a:buChar char="•"/>
            </a:pPr>
            <a:r>
              <a:rPr lang="en-US" sz="2000" b="1" dirty="0">
                <a:solidFill>
                  <a:schemeClr val="accent1">
                    <a:lumMod val="75000"/>
                  </a:schemeClr>
                </a:solidFill>
              </a:rPr>
              <a:t>Application-layer (L7) floods on login and search</a:t>
            </a:r>
          </a:p>
          <a:p>
            <a:pPr marL="342900" indent="-342900">
              <a:spcAft>
                <a:spcPts val="1000"/>
              </a:spcAft>
              <a:buSzPct val="100000"/>
              <a:buChar char="•"/>
            </a:pPr>
            <a:r>
              <a:rPr lang="en-US" sz="2000" b="1" dirty="0">
                <a:solidFill>
                  <a:schemeClr val="accent1">
                    <a:lumMod val="75000"/>
                  </a:schemeClr>
                </a:solidFill>
              </a:rPr>
              <a:t>API DDoS on expensive, high-load operations</a:t>
            </a:r>
          </a:p>
          <a:p>
            <a:pPr marL="342900" indent="-342900">
              <a:spcAft>
                <a:spcPts val="1000"/>
              </a:spcAft>
              <a:buSzPct val="100000"/>
              <a:buChar char="•"/>
            </a:pPr>
            <a:r>
              <a:rPr lang="en-US" sz="2000" b="1" dirty="0">
                <a:solidFill>
                  <a:schemeClr val="accent1">
                    <a:lumMod val="75000"/>
                  </a:schemeClr>
                </a:solidFill>
              </a:rPr>
              <a:t>High-traffic services offline for hours</a:t>
            </a:r>
          </a:p>
        </p:txBody>
      </p:sp>
      <p:sp>
        <p:nvSpPr>
          <p:cNvPr id="14" name="Text 9"/>
          <p:cNvSpPr txBox="1"/>
          <p:nvPr/>
        </p:nvSpPr>
        <p:spPr>
          <a:xfrm>
            <a:off x="548640" y="5806440"/>
            <a:ext cx="11064240" cy="411480"/>
          </a:xfrm>
          <a:prstGeom prst="rect">
            <a:avLst/>
          </a:prstGeom>
          <a:noFill/>
          <a:ln/>
        </p:spPr>
        <p:txBody>
          <a:bodyPr wrap="square" lIns="0" tIns="0" rIns="0" bIns="0" rtlCol="0" anchor="ctr"/>
          <a:lstStyle/>
          <a:p>
            <a:pPr marL="0" indent="0">
              <a:buNone/>
            </a:pPr>
            <a:r>
              <a:rPr lang="en-US" sz="1500" i="1" dirty="0">
                <a:solidFill>
                  <a:schemeClr val="tx2"/>
                </a:solidFill>
              </a:rPr>
              <a:t>Automated attacks distort business metrics, drain resources and lock out real customers.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pic>
        <p:nvPicPr>
          <p:cNvPr id="3" name="Image 0" descr="/home/claude/unpacked/ppt/media/image1.png">
            <a:extLst>
              <a:ext uri="{FF2B5EF4-FFF2-40B4-BE49-F238E27FC236}">
                <a16:creationId xmlns:a16="http://schemas.microsoft.com/office/drawing/2014/main" id="{CD1B9225-FB44-13AC-F131-E742D41DA7C6}"/>
              </a:ext>
            </a:extLst>
          </p:cNvPr>
          <p:cNvPicPr>
            <a:picLocks noChangeAspect="1"/>
          </p:cNvPicPr>
          <p:nvPr/>
        </p:nvPicPr>
        <p:blipFill>
          <a:blip r:embed="rId5"/>
          <a:stretch>
            <a:fillRect/>
          </a:stretch>
        </p:blipFill>
        <p:spPr>
          <a:xfrm>
            <a:off x="10904220" y="182880"/>
            <a:ext cx="960120" cy="9601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41738" y="320040"/>
            <a:ext cx="11142542" cy="822960"/>
          </a:xfrm>
          <a:prstGeom prst="rect">
            <a:avLst/>
          </a:prstGeom>
          <a:noFill/>
          <a:ln/>
        </p:spPr>
        <p:txBody>
          <a:bodyPr wrap="square" lIns="0" tIns="0" rIns="0" bIns="0" rtlCol="0" anchor="ctr"/>
          <a:lstStyle/>
          <a:p>
            <a:pPr marL="0" indent="0" algn="l">
              <a:buNone/>
            </a:pPr>
            <a:r>
              <a:rPr lang="en-US" sz="3000" cap="all" dirty="0"/>
              <a:t>Compliance</a:t>
            </a:r>
            <a:r>
              <a:rPr lang="en-US" sz="3000" b="1" dirty="0">
                <a:solidFill>
                  <a:schemeClr val="tx1"/>
                </a:solidFill>
              </a:rPr>
              <a:t> </a:t>
            </a:r>
            <a:r>
              <a:rPr lang="en-US" sz="3000" cap="all" dirty="0"/>
              <a:t>expects application-layer </a:t>
            </a:r>
            <a:r>
              <a:rPr lang="en-US" sz="3000" cap="all" dirty="0" err="1"/>
              <a:t>defences</a:t>
            </a:r>
            <a:endParaRPr lang="en-US" sz="3000" cap="all" dirty="0"/>
          </a:p>
        </p:txBody>
      </p:sp>
      <p:graphicFrame>
        <p:nvGraphicFramePr>
          <p:cNvPr id="10" name="compliance table"/>
          <p:cNvGraphicFramePr>
            <a:graphicFrameLocks noGrp="1"/>
          </p:cNvGraphicFramePr>
          <p:nvPr>
            <p:extLst>
              <p:ext uri="{D42A27DB-BD31-4B8C-83A1-F6EECF244321}">
                <p14:modId xmlns:p14="http://schemas.microsoft.com/office/powerpoint/2010/main" val="1923053113"/>
              </p:ext>
            </p:extLst>
          </p:nvPr>
        </p:nvGraphicFramePr>
        <p:xfrm>
          <a:off x="241737" y="1463040"/>
          <a:ext cx="11729544" cy="4419600"/>
        </p:xfrm>
        <a:graphic>
          <a:graphicData uri="http://schemas.openxmlformats.org/drawingml/2006/table">
            <a:tbl>
              <a:tblPr/>
              <a:tblGrid>
                <a:gridCol w="2035706">
                  <a:extLst>
                    <a:ext uri="{9D8B030D-6E8A-4147-A177-3AD203B41FA5}">
                      <a16:colId xmlns:a16="http://schemas.microsoft.com/office/drawing/2014/main" val="20000"/>
                    </a:ext>
                  </a:extLst>
                </a:gridCol>
                <a:gridCol w="2811213">
                  <a:extLst>
                    <a:ext uri="{9D8B030D-6E8A-4147-A177-3AD203B41FA5}">
                      <a16:colId xmlns:a16="http://schemas.microsoft.com/office/drawing/2014/main" val="20001"/>
                    </a:ext>
                  </a:extLst>
                </a:gridCol>
                <a:gridCol w="3392843">
                  <a:extLst>
                    <a:ext uri="{9D8B030D-6E8A-4147-A177-3AD203B41FA5}">
                      <a16:colId xmlns:a16="http://schemas.microsoft.com/office/drawing/2014/main" val="20002"/>
                    </a:ext>
                  </a:extLst>
                </a:gridCol>
                <a:gridCol w="3489782">
                  <a:extLst>
                    <a:ext uri="{9D8B030D-6E8A-4147-A177-3AD203B41FA5}">
                      <a16:colId xmlns:a16="http://schemas.microsoft.com/office/drawing/2014/main" val="20003"/>
                    </a:ext>
                  </a:extLst>
                </a:gridCol>
              </a:tblGrid>
              <a:tr h="502920">
                <a:tc>
                  <a:txBody>
                    <a:bodyPr/>
                    <a:lstStyle/>
                    <a:p>
                      <a:pPr marL="0" indent="0">
                        <a:buNone/>
                      </a:pPr>
                      <a:r>
                        <a:rPr lang="en-US" sz="2400" b="1" kern="1200" cap="all" dirty="0">
                          <a:solidFill>
                            <a:schemeClr val="bg1"/>
                          </a:solidFill>
                          <a:latin typeface="+mn-lt"/>
                          <a:ea typeface="+mn-ea"/>
                          <a:cs typeface="+mn-cs"/>
                        </a:rPr>
                        <a:t>Framework</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tx1"/>
                    </a:solidFill>
                  </a:tcPr>
                </a:tc>
                <a:tc>
                  <a:txBody>
                    <a:bodyPr/>
                    <a:lstStyle/>
                    <a:p>
                      <a:pPr marL="0" indent="0">
                        <a:buNone/>
                      </a:pPr>
                      <a:r>
                        <a:rPr lang="en-US" sz="2400" b="1" kern="1200" cap="all" dirty="0">
                          <a:solidFill>
                            <a:schemeClr val="bg1"/>
                          </a:solidFill>
                          <a:latin typeface="+mn-lt"/>
                          <a:ea typeface="+mn-ea"/>
                          <a:cs typeface="+mn-cs"/>
                        </a:rPr>
                        <a:t>Scope</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tx1"/>
                    </a:solidFill>
                  </a:tcPr>
                </a:tc>
                <a:tc>
                  <a:txBody>
                    <a:bodyPr/>
                    <a:lstStyle/>
                    <a:p>
                      <a:pPr marL="0" indent="0">
                        <a:buNone/>
                      </a:pPr>
                      <a:r>
                        <a:rPr lang="en-US" sz="2400" b="1" kern="1200" cap="all" dirty="0">
                          <a:solidFill>
                            <a:schemeClr val="bg1"/>
                          </a:solidFill>
                          <a:latin typeface="+mn-lt"/>
                          <a:ea typeface="+mn-ea"/>
                          <a:cs typeface="+mn-cs"/>
                        </a:rPr>
                        <a:t>What it expects</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tx1"/>
                    </a:solidFill>
                  </a:tcPr>
                </a:tc>
                <a:tc>
                  <a:txBody>
                    <a:bodyPr/>
                    <a:lstStyle/>
                    <a:p>
                      <a:pPr marL="0" indent="0">
                        <a:buNone/>
                      </a:pPr>
                      <a:r>
                        <a:rPr lang="en-US" sz="2400" b="1" kern="1200" cap="all" dirty="0">
                          <a:solidFill>
                            <a:schemeClr val="bg1"/>
                          </a:solidFill>
                          <a:latin typeface="+mn-lt"/>
                          <a:ea typeface="+mn-ea"/>
                          <a:cs typeface="+mn-cs"/>
                        </a:rPr>
                        <a:t>How</a:t>
                      </a:r>
                      <a:r>
                        <a:rPr lang="en-US" sz="1400" b="1" dirty="0">
                          <a:solidFill>
                            <a:schemeClr val="bg1"/>
                          </a:solidFill>
                        </a:rPr>
                        <a:t> </a:t>
                      </a:r>
                      <a:r>
                        <a:rPr lang="en-US" sz="2400" b="1" kern="1200" cap="all" dirty="0">
                          <a:solidFill>
                            <a:schemeClr val="bg1"/>
                          </a:solidFill>
                          <a:latin typeface="+mn-lt"/>
                          <a:ea typeface="+mn-ea"/>
                          <a:cs typeface="+mn-cs"/>
                        </a:rPr>
                        <a:t>WAAP helps</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822960">
                <a:tc>
                  <a:txBody>
                    <a:bodyPr/>
                    <a:lstStyle/>
                    <a:p>
                      <a:pPr marL="0" indent="0">
                        <a:buNone/>
                      </a:pPr>
                      <a:r>
                        <a:rPr lang="en-US" sz="2800" b="1" kern="1200" dirty="0">
                          <a:solidFill>
                            <a:schemeClr val="tx1">
                              <a:lumMod val="75000"/>
                              <a:lumOff val="25000"/>
                            </a:schemeClr>
                          </a:solidFill>
                          <a:latin typeface="+mn-lt"/>
                          <a:ea typeface="+mn-ea"/>
                          <a:cs typeface="+mn-cs"/>
                        </a:rPr>
                        <a:t>PCI</a:t>
                      </a:r>
                      <a:r>
                        <a:rPr lang="en-US" sz="2800" b="1" kern="1200" dirty="0">
                          <a:solidFill>
                            <a:schemeClr val="accent1">
                              <a:lumMod val="75000"/>
                            </a:schemeClr>
                          </a:solidFill>
                          <a:latin typeface="+mn-lt"/>
                          <a:ea typeface="+mn-ea"/>
                          <a:cs typeface="+mn-cs"/>
                        </a:rPr>
                        <a:t> </a:t>
                      </a:r>
                      <a:r>
                        <a:rPr lang="en-US" sz="2800" b="1" kern="1200" dirty="0">
                          <a:solidFill>
                            <a:schemeClr val="tx1">
                              <a:lumMod val="75000"/>
                              <a:lumOff val="25000"/>
                            </a:schemeClr>
                          </a:solidFill>
                          <a:latin typeface="+mn-lt"/>
                          <a:ea typeface="+mn-ea"/>
                          <a:cs typeface="+mn-cs"/>
                        </a:rPr>
                        <a:t>DSS</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800" b="1" kern="1200" cap="all" baseline="0" dirty="0">
                          <a:solidFill>
                            <a:schemeClr val="accent1">
                              <a:lumMod val="75000"/>
                            </a:schemeClr>
                          </a:solidFill>
                          <a:latin typeface="+mn-lt"/>
                          <a:ea typeface="+mn-ea"/>
                          <a:cs typeface="+mn-cs"/>
                        </a:rPr>
                        <a:t>Payment card data</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800" b="1" kern="1200" cap="all" baseline="0" dirty="0">
                          <a:solidFill>
                            <a:schemeClr val="accent1">
                              <a:lumMod val="75000"/>
                            </a:schemeClr>
                          </a:solidFill>
                          <a:latin typeface="+mn-lt"/>
                          <a:ea typeface="+mn-ea"/>
                          <a:cs typeface="+mn-cs"/>
                        </a:rPr>
                        <a:t>Protection of public-facing web apps against attacks</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800" b="1" kern="1200" cap="all" baseline="0" dirty="0">
                          <a:solidFill>
                            <a:schemeClr val="accent1">
                              <a:lumMod val="75000"/>
                            </a:schemeClr>
                          </a:solidFill>
                          <a:latin typeface="+mn-lt"/>
                          <a:ea typeface="+mn-ea"/>
                          <a:cs typeface="+mn-cs"/>
                        </a:rPr>
                        <a:t>Automated WAF/API inspection, logging, virtual patching</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extLst>
                  <a:ext uri="{0D108BD9-81ED-4DB2-BD59-A6C34878D82A}">
                    <a16:rowId xmlns:a16="http://schemas.microsoft.com/office/drawing/2014/main" val="10001"/>
                  </a:ext>
                </a:extLst>
              </a:tr>
              <a:tr h="822960">
                <a:tc>
                  <a:txBody>
                    <a:bodyPr/>
                    <a:lstStyle/>
                    <a:p>
                      <a:pPr marL="0" indent="0" algn="l" defTabSz="914400" rtl="0" eaLnBrk="1" latinLnBrk="0" hangingPunct="1">
                        <a:buNone/>
                      </a:pPr>
                      <a:r>
                        <a:rPr lang="en-US" sz="2800" b="1" kern="1200" dirty="0">
                          <a:solidFill>
                            <a:schemeClr val="tx1">
                              <a:lumMod val="75000"/>
                              <a:lumOff val="25000"/>
                            </a:schemeClr>
                          </a:solidFill>
                          <a:latin typeface="+mn-lt"/>
                          <a:ea typeface="+mn-ea"/>
                          <a:cs typeface="+mn-cs"/>
                        </a:rPr>
                        <a:t>GDPR</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800" b="1" kern="1200" cap="all" baseline="0" dirty="0">
                          <a:solidFill>
                            <a:schemeClr val="accent1">
                              <a:lumMod val="75000"/>
                            </a:schemeClr>
                          </a:solidFill>
                          <a:latin typeface="+mn-lt"/>
                          <a:ea typeface="+mn-ea"/>
                          <a:cs typeface="+mn-cs"/>
                        </a:rPr>
                        <a:t>Personal data of EU residents</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800" b="1" kern="1200" cap="all" baseline="0" dirty="0">
                          <a:solidFill>
                            <a:schemeClr val="accent1">
                              <a:lumMod val="75000"/>
                            </a:schemeClr>
                          </a:solidFill>
                          <a:latin typeface="+mn-lt"/>
                          <a:ea typeface="+mn-ea"/>
                          <a:cs typeface="+mn-cs"/>
                        </a:rPr>
                        <a:t>Appropriate technical security measures</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800" b="1" kern="1200" cap="all" baseline="0" dirty="0">
                          <a:solidFill>
                            <a:schemeClr val="accent1">
                              <a:lumMod val="75000"/>
                            </a:schemeClr>
                          </a:solidFill>
                          <a:latin typeface="+mn-lt"/>
                          <a:ea typeface="+mn-ea"/>
                          <a:cs typeface="+mn-cs"/>
                        </a:rPr>
                        <a:t>Blocks data exfiltration; response inspection and redaction</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extLst>
                  <a:ext uri="{0D108BD9-81ED-4DB2-BD59-A6C34878D82A}">
                    <a16:rowId xmlns:a16="http://schemas.microsoft.com/office/drawing/2014/main" val="10002"/>
                  </a:ext>
                </a:extLst>
              </a:tr>
              <a:tr h="822960">
                <a:tc>
                  <a:txBody>
                    <a:bodyPr/>
                    <a:lstStyle/>
                    <a:p>
                      <a:pPr marL="0" indent="0" algn="l" defTabSz="914400" rtl="0" eaLnBrk="1" latinLnBrk="0" hangingPunct="1">
                        <a:buNone/>
                      </a:pPr>
                      <a:r>
                        <a:rPr lang="en-US" sz="2800" b="1" kern="1200" dirty="0">
                          <a:solidFill>
                            <a:schemeClr val="tx1">
                              <a:lumMod val="75000"/>
                              <a:lumOff val="25000"/>
                            </a:schemeClr>
                          </a:solidFill>
                          <a:latin typeface="+mn-lt"/>
                          <a:ea typeface="+mn-ea"/>
                          <a:cs typeface="+mn-cs"/>
                        </a:rPr>
                        <a:t>HIPAA</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800" b="1" kern="1200" cap="all" baseline="0" dirty="0">
                          <a:solidFill>
                            <a:schemeClr val="accent1">
                              <a:lumMod val="75000"/>
                            </a:schemeClr>
                          </a:solidFill>
                          <a:latin typeface="+mn-lt"/>
                          <a:ea typeface="+mn-ea"/>
                          <a:cs typeface="+mn-cs"/>
                        </a:rPr>
                        <a:t>US health information</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800" b="1" kern="1200" cap="all" baseline="0" dirty="0">
                          <a:solidFill>
                            <a:schemeClr val="accent1">
                              <a:lumMod val="75000"/>
                            </a:schemeClr>
                          </a:solidFill>
                          <a:latin typeface="+mn-lt"/>
                          <a:ea typeface="+mn-ea"/>
                          <a:cs typeface="+mn-cs"/>
                        </a:rPr>
                        <a:t>Safeguards for electronic patient data</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800" b="1" kern="1200" cap="all" baseline="0" dirty="0">
                          <a:solidFill>
                            <a:schemeClr val="accent1">
                              <a:lumMod val="75000"/>
                            </a:schemeClr>
                          </a:solidFill>
                          <a:latin typeface="+mn-lt"/>
                          <a:ea typeface="+mn-ea"/>
                          <a:cs typeface="+mn-cs"/>
                        </a:rPr>
                        <a:t>Protects patient portals and health APIs; audit trails</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extLst>
                  <a:ext uri="{0D108BD9-81ED-4DB2-BD59-A6C34878D82A}">
                    <a16:rowId xmlns:a16="http://schemas.microsoft.com/office/drawing/2014/main" val="10003"/>
                  </a:ext>
                </a:extLst>
              </a:tr>
              <a:tr h="822960">
                <a:tc>
                  <a:txBody>
                    <a:bodyPr/>
                    <a:lstStyle/>
                    <a:p>
                      <a:pPr marL="0" indent="0" algn="l" defTabSz="914400" rtl="0" eaLnBrk="1" latinLnBrk="0" hangingPunct="1">
                        <a:buNone/>
                      </a:pPr>
                      <a:r>
                        <a:rPr lang="en-US" sz="2800" b="1" kern="1200" cap="all" baseline="0" dirty="0">
                          <a:solidFill>
                            <a:schemeClr val="tx1">
                              <a:lumMod val="75000"/>
                              <a:lumOff val="25000"/>
                            </a:schemeClr>
                          </a:solidFill>
                          <a:latin typeface="+mn-lt"/>
                          <a:ea typeface="+mn-ea"/>
                          <a:cs typeface="+mn-cs"/>
                        </a:rPr>
                        <a:t>Cyber insurance</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800" b="1" kern="1200" cap="all" baseline="0" dirty="0">
                          <a:solidFill>
                            <a:schemeClr val="accent1">
                              <a:lumMod val="75000"/>
                            </a:schemeClr>
                          </a:solidFill>
                          <a:latin typeface="+mn-lt"/>
                          <a:ea typeface="+mn-ea"/>
                          <a:cs typeface="+mn-cs"/>
                        </a:rPr>
                        <a:t>Policy underwriting</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800" b="1" kern="1200" cap="all" baseline="0" dirty="0">
                          <a:solidFill>
                            <a:schemeClr val="accent1">
                              <a:lumMod val="75000"/>
                            </a:schemeClr>
                          </a:solidFill>
                          <a:latin typeface="+mn-lt"/>
                          <a:ea typeface="+mn-ea"/>
                          <a:cs typeface="+mn-cs"/>
                        </a:rPr>
                        <a:t>Proof of strong application-layer controls</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800" b="1" kern="1200" cap="all" baseline="0" dirty="0">
                          <a:solidFill>
                            <a:schemeClr val="accent1">
                              <a:lumMod val="75000"/>
                            </a:schemeClr>
                          </a:solidFill>
                          <a:latin typeface="+mn-lt"/>
                          <a:ea typeface="+mn-ea"/>
                          <a:cs typeface="+mn-cs"/>
                        </a:rPr>
                        <a:t>Dashboards and reports as evidence</a:t>
                      </a:r>
                    </a:p>
                  </a:txBody>
                  <a:tcPr marT="91440" marB="91440"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1"/>
          <p:cNvSpPr txBox="1"/>
          <p:nvPr/>
        </p:nvSpPr>
        <p:spPr>
          <a:xfrm>
            <a:off x="388883" y="5949900"/>
            <a:ext cx="11223997" cy="411480"/>
          </a:xfrm>
          <a:prstGeom prst="rect">
            <a:avLst/>
          </a:prstGeom>
          <a:noFill/>
          <a:ln/>
        </p:spPr>
        <p:txBody>
          <a:bodyPr wrap="square" lIns="0" tIns="0" rIns="0" bIns="0" rtlCol="0" anchor="ctr"/>
          <a:lstStyle/>
          <a:p>
            <a:pPr marL="0" indent="0">
              <a:buNone/>
            </a:pPr>
            <a:r>
              <a:rPr lang="en-US" sz="1500" b="1" i="1" dirty="0">
                <a:solidFill>
                  <a:schemeClr val="tx2"/>
                </a:solidFill>
              </a:rPr>
              <a:t>WAAP turns security into auditable evidence of “reasonable security measures</a:t>
            </a:r>
            <a:r>
              <a:rPr lang="en-US" sz="1500" i="1" dirty="0">
                <a:solidFill>
                  <a:schemeClr val="tx2"/>
                </a:solidFill>
              </a:rPr>
              <a: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a:t>
            </a:fld>
            <a:endParaRPr lang="en-US"/>
          </a:p>
        </p:txBody>
      </p:sp>
      <p:pic>
        <p:nvPicPr>
          <p:cNvPr id="3" name="Image 0" descr="/home/claude/unpacked/ppt/media/image1.png">
            <a:extLst>
              <a:ext uri="{FF2B5EF4-FFF2-40B4-BE49-F238E27FC236}">
                <a16:creationId xmlns:a16="http://schemas.microsoft.com/office/drawing/2014/main" id="{6643B858-6055-DA7F-0EE0-68D0CC0C4207}"/>
              </a:ext>
            </a:extLst>
          </p:cNvPr>
          <p:cNvPicPr>
            <a:picLocks noChangeAspect="1"/>
          </p:cNvPicPr>
          <p:nvPr/>
        </p:nvPicPr>
        <p:blipFill>
          <a:blip r:embed="rId3"/>
          <a:stretch>
            <a:fillRect/>
          </a:stretch>
        </p:blipFill>
        <p:spPr>
          <a:xfrm>
            <a:off x="11384280" y="0"/>
            <a:ext cx="960120" cy="9601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1280160"/>
            <a:ext cx="6047652" cy="1280160"/>
          </a:xfrm>
          <a:prstGeom prst="rect">
            <a:avLst/>
          </a:prstGeom>
          <a:noFill/>
          <a:ln/>
        </p:spPr>
        <p:txBody>
          <a:bodyPr wrap="square" lIns="0" tIns="0" rIns="0" bIns="0" rtlCol="0" anchor="b"/>
          <a:lstStyle/>
          <a:p>
            <a:pPr marL="0" indent="0">
              <a:buNone/>
            </a:pPr>
            <a:r>
              <a:rPr lang="en-US" sz="8000" b="1" dirty="0">
                <a:solidFill>
                  <a:schemeClr val="accent1"/>
                </a:solidFill>
                <a:latin typeface="Arial" pitchFamily="34" charset="0"/>
                <a:ea typeface="Arial" pitchFamily="34" charset="-122"/>
                <a:cs typeface="Arial" pitchFamily="34" charset="-120"/>
              </a:rPr>
              <a:t>Chapter 1.2</a:t>
            </a:r>
            <a:endParaRPr lang="en-US" sz="8000" dirty="0"/>
          </a:p>
        </p:txBody>
      </p:sp>
      <p:sp>
        <p:nvSpPr>
          <p:cNvPr id="3" name="Text 0"/>
          <p:cNvSpPr>
            <a:spLocks noGrp="1"/>
          </p:cNvSpPr>
          <p:nvPr>
            <p:ph type="title" idx="100" hasCustomPrompt="1"/>
          </p:nvPr>
        </p:nvSpPr>
        <p:spPr>
          <a:xfrm>
            <a:off x="731520" y="2743200"/>
            <a:ext cx="10698480" cy="1005840"/>
          </a:xfrm>
          <a:prstGeom prst="rect">
            <a:avLst/>
          </a:prstGeom>
          <a:noFill/>
          <a:ln/>
        </p:spPr>
        <p:txBody>
          <a:bodyPr wrap="square" lIns="0" tIns="0" rIns="0" bIns="0" rtlCol="0" anchor="ctr"/>
          <a:lstStyle/>
          <a:p>
            <a:pPr marL="0" indent="0" algn="l">
              <a:buNone/>
            </a:pPr>
            <a:r>
              <a:rPr lang="en-US" sz="4400" b="1" cap="all" dirty="0">
                <a:solidFill>
                  <a:schemeClr val="bg1"/>
                </a:solidFill>
              </a:rPr>
              <a:t>From WAF to WAAP</a:t>
            </a:r>
            <a:endParaRPr lang="en-US" sz="4400" cap="all" dirty="0"/>
          </a:p>
        </p:txBody>
      </p:sp>
      <p:sp>
        <p:nvSpPr>
          <p:cNvPr id="4" name="Text 0"/>
          <p:cNvSpPr>
            <a:spLocks noGrp="1"/>
          </p:cNvSpPr>
          <p:nvPr>
            <p:ph type="body" idx="101" hasCustomPrompt="1"/>
          </p:nvPr>
        </p:nvSpPr>
        <p:spPr>
          <a:xfrm>
            <a:off x="731520" y="3840480"/>
            <a:ext cx="10058400" cy="1280160"/>
          </a:xfrm>
          <a:prstGeom prst="rect">
            <a:avLst/>
          </a:prstGeom>
          <a:noFill/>
          <a:ln/>
        </p:spPr>
        <p:txBody>
          <a:bodyPr wrap="square" lIns="0" tIns="0" rIns="0" bIns="0" rtlCol="0" anchor="t"/>
          <a:lstStyle/>
          <a:p>
            <a:pPr marL="0" indent="0" algn="l">
              <a:buNone/>
            </a:pPr>
            <a:r>
              <a:rPr lang="en-US" sz="2000" dirty="0">
                <a:solidFill>
                  <a:schemeClr val="accent5"/>
                </a:solidFill>
              </a:rPr>
              <a:t>How web application protection evolved from network firewalls to a unified, cloud-native platform.</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a:t>
            </a:fld>
            <a:endParaRPr lang="en-US"/>
          </a:p>
        </p:txBody>
      </p:sp>
      <p:pic>
        <p:nvPicPr>
          <p:cNvPr id="5" name="Image 0" descr="/home/claude/unpacked/ppt/media/image1.png">
            <a:extLst>
              <a:ext uri="{FF2B5EF4-FFF2-40B4-BE49-F238E27FC236}">
                <a16:creationId xmlns:a16="http://schemas.microsoft.com/office/drawing/2014/main" id="{C40F4482-7E15-E521-9BCF-BC23307A9F9E}"/>
              </a:ext>
            </a:extLst>
          </p:cNvPr>
          <p:cNvPicPr>
            <a:picLocks noChangeAspect="1"/>
          </p:cNvPicPr>
          <p:nvPr/>
        </p:nvPicPr>
        <p:blipFill>
          <a:blip r:embed="rId3"/>
          <a:stretch>
            <a:fillRect/>
          </a:stretch>
        </p:blipFill>
        <p:spPr>
          <a:xfrm>
            <a:off x="10949940" y="457200"/>
            <a:ext cx="960120" cy="9601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Origins: three decades of evolution</a:t>
            </a:r>
            <a:endParaRPr lang="en-US" sz="3400" cap="all" dirty="0"/>
          </a:p>
        </p:txBody>
      </p:sp>
      <p:sp>
        <p:nvSpPr>
          <p:cNvPr id="4" name="timeline axis"/>
          <p:cNvSpPr/>
          <p:nvPr/>
        </p:nvSpPr>
        <p:spPr>
          <a:xfrm>
            <a:off x="1508760" y="3246120"/>
            <a:ext cx="9189720" cy="0"/>
          </a:xfrm>
          <a:prstGeom prst="line">
            <a:avLst/>
          </a:prstGeom>
          <a:noFill/>
          <a:ln w="25400">
            <a:solidFill>
              <a:schemeClr val="accent4"/>
            </a:solidFill>
            <a:prstDash val="solid"/>
          </a:ln>
        </p:spPr>
        <p:txBody>
          <a:bodyPr/>
          <a:lstStyle/>
          <a:p>
            <a:endParaRPr lang="fr-FR"/>
          </a:p>
        </p:txBody>
      </p:sp>
      <p:sp>
        <p:nvSpPr>
          <p:cNvPr id="5" name="milestone 1990s"/>
          <p:cNvSpPr/>
          <p:nvPr/>
        </p:nvSpPr>
        <p:spPr>
          <a:xfrm>
            <a:off x="1353312" y="3090672"/>
            <a:ext cx="310896" cy="310896"/>
          </a:xfrm>
          <a:prstGeom prst="ellipse">
            <a:avLst/>
          </a:prstGeom>
          <a:solidFill>
            <a:schemeClr val="accent1"/>
          </a:solidFill>
          <a:ln w="25400">
            <a:solidFill>
              <a:schemeClr val="bg1"/>
            </a:solidFill>
            <a:prstDash val="solid"/>
          </a:ln>
        </p:spPr>
        <p:txBody>
          <a:bodyPr/>
          <a:lstStyle/>
          <a:p>
            <a:endParaRPr lang="fr-FR"/>
          </a:p>
        </p:txBody>
      </p:sp>
      <p:sp>
        <p:nvSpPr>
          <p:cNvPr id="6" name="Text 3"/>
          <p:cNvSpPr txBox="1"/>
          <p:nvPr/>
        </p:nvSpPr>
        <p:spPr>
          <a:xfrm>
            <a:off x="731520" y="2560320"/>
            <a:ext cx="1554480" cy="365760"/>
          </a:xfrm>
          <a:prstGeom prst="rect">
            <a:avLst/>
          </a:prstGeom>
          <a:noFill/>
          <a:ln/>
        </p:spPr>
        <p:txBody>
          <a:bodyPr wrap="square" lIns="0" tIns="0" rIns="0" bIns="0" rtlCol="0" anchor="ctr"/>
          <a:lstStyle/>
          <a:p>
            <a:pPr marL="0" indent="0" algn="ctr">
              <a:buNone/>
            </a:pPr>
            <a:r>
              <a:rPr lang="en-US" sz="1800" b="1" dirty="0">
                <a:solidFill>
                  <a:schemeClr val="accent1"/>
                </a:solidFill>
              </a:rPr>
              <a:t>1990s</a:t>
            </a:r>
            <a:endParaRPr lang="en-US" sz="1800" dirty="0"/>
          </a:p>
        </p:txBody>
      </p:sp>
      <p:sp>
        <p:nvSpPr>
          <p:cNvPr id="7" name="Text 4"/>
          <p:cNvSpPr txBox="1"/>
          <p:nvPr/>
        </p:nvSpPr>
        <p:spPr>
          <a:xfrm>
            <a:off x="640080" y="1234440"/>
            <a:ext cx="1737360" cy="1280160"/>
          </a:xfrm>
          <a:prstGeom prst="rect">
            <a:avLst/>
          </a:prstGeom>
          <a:noFill/>
          <a:ln/>
        </p:spPr>
        <p:txBody>
          <a:bodyPr wrap="square" lIns="0" tIns="0" rIns="0" bIns="0" rtlCol="0" anchor="b"/>
          <a:lstStyle/>
          <a:p>
            <a:pPr marL="0" indent="0" algn="ctr">
              <a:buNone/>
            </a:pPr>
            <a:r>
              <a:rPr lang="en-US" sz="1500" b="1" dirty="0">
                <a:solidFill>
                  <a:schemeClr val="tx1"/>
                </a:solidFill>
              </a:rPr>
              <a:t>Network firewalls</a:t>
            </a:r>
            <a:endParaRPr lang="en-US" sz="1500" dirty="0"/>
          </a:p>
          <a:p>
            <a:pPr marL="0" indent="0" algn="ctr">
              <a:buNone/>
            </a:pPr>
            <a:r>
              <a:rPr lang="en-US" sz="1200" dirty="0">
                <a:solidFill>
                  <a:schemeClr val="accent4"/>
                </a:solidFill>
              </a:rPr>
              <a:t>Port/IP filtering at layers 3–4; blind to HTTP payloads</a:t>
            </a:r>
            <a:endParaRPr lang="en-US" sz="1500" dirty="0"/>
          </a:p>
        </p:txBody>
      </p:sp>
      <p:sp>
        <p:nvSpPr>
          <p:cNvPr id="8" name="milestone 2002"/>
          <p:cNvSpPr/>
          <p:nvPr/>
        </p:nvSpPr>
        <p:spPr>
          <a:xfrm>
            <a:off x="2884932" y="3090672"/>
            <a:ext cx="310896" cy="310896"/>
          </a:xfrm>
          <a:prstGeom prst="ellipse">
            <a:avLst/>
          </a:prstGeom>
          <a:solidFill>
            <a:schemeClr val="accent1"/>
          </a:solidFill>
          <a:ln w="25400">
            <a:solidFill>
              <a:schemeClr val="bg1"/>
            </a:solidFill>
            <a:prstDash val="solid"/>
          </a:ln>
        </p:spPr>
        <p:txBody>
          <a:bodyPr/>
          <a:lstStyle/>
          <a:p>
            <a:endParaRPr lang="fr-FR"/>
          </a:p>
        </p:txBody>
      </p:sp>
      <p:sp>
        <p:nvSpPr>
          <p:cNvPr id="9" name="Text 6"/>
          <p:cNvSpPr txBox="1"/>
          <p:nvPr/>
        </p:nvSpPr>
        <p:spPr>
          <a:xfrm>
            <a:off x="2263140" y="3520440"/>
            <a:ext cx="1554480" cy="365760"/>
          </a:xfrm>
          <a:prstGeom prst="rect">
            <a:avLst/>
          </a:prstGeom>
          <a:noFill/>
          <a:ln/>
        </p:spPr>
        <p:txBody>
          <a:bodyPr wrap="square" lIns="0" tIns="0" rIns="0" bIns="0" rtlCol="0" anchor="ctr"/>
          <a:lstStyle/>
          <a:p>
            <a:pPr marL="0" indent="0" algn="ctr">
              <a:buNone/>
            </a:pPr>
            <a:r>
              <a:rPr lang="en-US" sz="1800" b="1" dirty="0">
                <a:solidFill>
                  <a:schemeClr val="accent1"/>
                </a:solidFill>
              </a:rPr>
              <a:t>2002</a:t>
            </a:r>
            <a:endParaRPr lang="en-US" sz="1800" dirty="0"/>
          </a:p>
        </p:txBody>
      </p:sp>
      <p:sp>
        <p:nvSpPr>
          <p:cNvPr id="10" name="Text 7"/>
          <p:cNvSpPr txBox="1"/>
          <p:nvPr/>
        </p:nvSpPr>
        <p:spPr>
          <a:xfrm>
            <a:off x="2171700" y="3931920"/>
            <a:ext cx="1737360" cy="1280160"/>
          </a:xfrm>
          <a:prstGeom prst="rect">
            <a:avLst/>
          </a:prstGeom>
          <a:noFill/>
          <a:ln/>
        </p:spPr>
        <p:txBody>
          <a:bodyPr wrap="square" lIns="0" tIns="0" rIns="0" bIns="0" rtlCol="0" anchor="t"/>
          <a:lstStyle/>
          <a:p>
            <a:pPr marL="0" indent="0" algn="ctr">
              <a:buNone/>
            </a:pPr>
            <a:r>
              <a:rPr lang="en-US" sz="1500" b="1" dirty="0">
                <a:solidFill>
                  <a:schemeClr val="tx1"/>
                </a:solidFill>
              </a:rPr>
              <a:t>First WAFs</a:t>
            </a:r>
            <a:endParaRPr lang="en-US" sz="1500" dirty="0"/>
          </a:p>
          <a:p>
            <a:pPr marL="0" indent="0" algn="ctr">
              <a:buNone/>
            </a:pPr>
            <a:r>
              <a:rPr lang="en-US" sz="1200" dirty="0">
                <a:solidFill>
                  <a:schemeClr val="accent4"/>
                </a:solidFill>
              </a:rPr>
              <a:t>Open-source ModSecurity brings layer-7 rule-based inspection</a:t>
            </a:r>
            <a:endParaRPr lang="en-US" sz="1500" dirty="0"/>
          </a:p>
        </p:txBody>
      </p:sp>
      <p:sp>
        <p:nvSpPr>
          <p:cNvPr id="11" name="milestone 2003–08"/>
          <p:cNvSpPr/>
          <p:nvPr/>
        </p:nvSpPr>
        <p:spPr>
          <a:xfrm>
            <a:off x="4416552" y="3090672"/>
            <a:ext cx="310896" cy="310896"/>
          </a:xfrm>
          <a:prstGeom prst="ellipse">
            <a:avLst/>
          </a:prstGeom>
          <a:solidFill>
            <a:schemeClr val="accent1"/>
          </a:solidFill>
          <a:ln w="25400">
            <a:solidFill>
              <a:schemeClr val="bg1"/>
            </a:solidFill>
            <a:prstDash val="solid"/>
          </a:ln>
        </p:spPr>
        <p:txBody>
          <a:bodyPr/>
          <a:lstStyle/>
          <a:p>
            <a:endParaRPr lang="fr-FR"/>
          </a:p>
        </p:txBody>
      </p:sp>
      <p:sp>
        <p:nvSpPr>
          <p:cNvPr id="12" name="Text 9"/>
          <p:cNvSpPr txBox="1"/>
          <p:nvPr/>
        </p:nvSpPr>
        <p:spPr>
          <a:xfrm>
            <a:off x="3794760" y="2560320"/>
            <a:ext cx="1554480" cy="365760"/>
          </a:xfrm>
          <a:prstGeom prst="rect">
            <a:avLst/>
          </a:prstGeom>
          <a:noFill/>
          <a:ln/>
        </p:spPr>
        <p:txBody>
          <a:bodyPr wrap="square" lIns="0" tIns="0" rIns="0" bIns="0" rtlCol="0" anchor="ctr"/>
          <a:lstStyle/>
          <a:p>
            <a:pPr marL="0" indent="0" algn="ctr">
              <a:buNone/>
            </a:pPr>
            <a:r>
              <a:rPr lang="en-US" sz="1800" b="1" dirty="0">
                <a:solidFill>
                  <a:schemeClr val="accent1"/>
                </a:solidFill>
              </a:rPr>
              <a:t>2003–08</a:t>
            </a:r>
            <a:endParaRPr lang="en-US" sz="1800" dirty="0"/>
          </a:p>
        </p:txBody>
      </p:sp>
      <p:sp>
        <p:nvSpPr>
          <p:cNvPr id="13" name="Text 10"/>
          <p:cNvSpPr txBox="1"/>
          <p:nvPr/>
        </p:nvSpPr>
        <p:spPr>
          <a:xfrm>
            <a:off x="3703320" y="1234440"/>
            <a:ext cx="1737360" cy="1280160"/>
          </a:xfrm>
          <a:prstGeom prst="rect">
            <a:avLst/>
          </a:prstGeom>
          <a:noFill/>
          <a:ln/>
        </p:spPr>
        <p:txBody>
          <a:bodyPr wrap="square" lIns="0" tIns="0" rIns="0" bIns="0" rtlCol="0" anchor="b"/>
          <a:lstStyle/>
          <a:p>
            <a:pPr marL="0" indent="0" algn="ctr">
              <a:buNone/>
            </a:pPr>
            <a:r>
              <a:rPr lang="en-US" sz="1500" b="1" dirty="0">
                <a:solidFill>
                  <a:schemeClr val="tx1"/>
                </a:solidFill>
              </a:rPr>
              <a:t>Standards push</a:t>
            </a:r>
            <a:endParaRPr lang="en-US" sz="1500" dirty="0"/>
          </a:p>
          <a:p>
            <a:pPr marL="0" indent="0" algn="ctr">
              <a:buNone/>
            </a:pPr>
            <a:r>
              <a:rPr lang="en-US" sz="1200" dirty="0">
                <a:solidFill>
                  <a:schemeClr val="accent4"/>
                </a:solidFill>
              </a:rPr>
              <a:t>OWASP Top 10 published; PCI DSS makes WAFs a compliance tool</a:t>
            </a:r>
            <a:endParaRPr lang="en-US" sz="1500" dirty="0"/>
          </a:p>
        </p:txBody>
      </p:sp>
      <p:sp>
        <p:nvSpPr>
          <p:cNvPr id="14" name="milestone 2010s"/>
          <p:cNvSpPr/>
          <p:nvPr/>
        </p:nvSpPr>
        <p:spPr>
          <a:xfrm>
            <a:off x="5948172" y="3090672"/>
            <a:ext cx="310896" cy="310896"/>
          </a:xfrm>
          <a:prstGeom prst="ellipse">
            <a:avLst/>
          </a:prstGeom>
          <a:solidFill>
            <a:schemeClr val="accent1"/>
          </a:solidFill>
          <a:ln w="25400">
            <a:solidFill>
              <a:schemeClr val="bg1"/>
            </a:solidFill>
            <a:prstDash val="solid"/>
          </a:ln>
        </p:spPr>
        <p:txBody>
          <a:bodyPr/>
          <a:lstStyle/>
          <a:p>
            <a:endParaRPr lang="fr-FR"/>
          </a:p>
        </p:txBody>
      </p:sp>
      <p:sp>
        <p:nvSpPr>
          <p:cNvPr id="15" name="Text 12"/>
          <p:cNvSpPr txBox="1"/>
          <p:nvPr/>
        </p:nvSpPr>
        <p:spPr>
          <a:xfrm>
            <a:off x="5326380" y="3520440"/>
            <a:ext cx="1554480" cy="365760"/>
          </a:xfrm>
          <a:prstGeom prst="rect">
            <a:avLst/>
          </a:prstGeom>
          <a:noFill/>
          <a:ln/>
        </p:spPr>
        <p:txBody>
          <a:bodyPr wrap="square" lIns="0" tIns="0" rIns="0" bIns="0" rtlCol="0" anchor="ctr"/>
          <a:lstStyle/>
          <a:p>
            <a:pPr marL="0" indent="0" algn="ctr">
              <a:buNone/>
            </a:pPr>
            <a:r>
              <a:rPr lang="en-US" sz="1800" b="1" dirty="0">
                <a:solidFill>
                  <a:schemeClr val="accent1"/>
                </a:solidFill>
              </a:rPr>
              <a:t>2010s</a:t>
            </a:r>
            <a:endParaRPr lang="en-US" sz="1800" dirty="0"/>
          </a:p>
        </p:txBody>
      </p:sp>
      <p:sp>
        <p:nvSpPr>
          <p:cNvPr id="16" name="Text 13"/>
          <p:cNvSpPr txBox="1"/>
          <p:nvPr/>
        </p:nvSpPr>
        <p:spPr>
          <a:xfrm>
            <a:off x="5234940" y="3931920"/>
            <a:ext cx="1737360" cy="1280160"/>
          </a:xfrm>
          <a:prstGeom prst="rect">
            <a:avLst/>
          </a:prstGeom>
          <a:noFill/>
          <a:ln/>
        </p:spPr>
        <p:txBody>
          <a:bodyPr wrap="square" lIns="0" tIns="0" rIns="0" bIns="0" rtlCol="0" anchor="t"/>
          <a:lstStyle/>
          <a:p>
            <a:pPr marL="0" indent="0" algn="ctr">
              <a:buNone/>
            </a:pPr>
            <a:r>
              <a:rPr lang="en-US" sz="1500" b="1" dirty="0">
                <a:solidFill>
                  <a:schemeClr val="tx1"/>
                </a:solidFill>
              </a:rPr>
              <a:t>Cloud WAF</a:t>
            </a:r>
            <a:endParaRPr lang="en-US" sz="1500" dirty="0"/>
          </a:p>
          <a:p>
            <a:pPr marL="0" indent="0" algn="ctr">
              <a:buNone/>
            </a:pPr>
            <a:r>
              <a:rPr lang="en-US" sz="1200" dirty="0">
                <a:solidFill>
                  <a:schemeClr val="accent4"/>
                </a:solidFill>
              </a:rPr>
              <a:t>WAF moves to CDN edge; joined by DDoS and bot mitigation</a:t>
            </a:r>
            <a:endParaRPr lang="en-US" sz="1500" dirty="0"/>
          </a:p>
        </p:txBody>
      </p:sp>
      <p:sp>
        <p:nvSpPr>
          <p:cNvPr id="17" name="milestone 2017"/>
          <p:cNvSpPr/>
          <p:nvPr/>
        </p:nvSpPr>
        <p:spPr>
          <a:xfrm>
            <a:off x="7479792" y="3090672"/>
            <a:ext cx="310896" cy="310896"/>
          </a:xfrm>
          <a:prstGeom prst="ellipse">
            <a:avLst/>
          </a:prstGeom>
          <a:solidFill>
            <a:schemeClr val="accent2"/>
          </a:solidFill>
          <a:ln w="25400">
            <a:solidFill>
              <a:schemeClr val="bg1"/>
            </a:solidFill>
            <a:prstDash val="solid"/>
          </a:ln>
        </p:spPr>
        <p:txBody>
          <a:bodyPr/>
          <a:lstStyle/>
          <a:p>
            <a:endParaRPr lang="fr-FR"/>
          </a:p>
        </p:txBody>
      </p:sp>
      <p:sp>
        <p:nvSpPr>
          <p:cNvPr id="18" name="Text 15"/>
          <p:cNvSpPr txBox="1"/>
          <p:nvPr/>
        </p:nvSpPr>
        <p:spPr>
          <a:xfrm>
            <a:off x="6858000" y="2560320"/>
            <a:ext cx="1554480" cy="365760"/>
          </a:xfrm>
          <a:prstGeom prst="rect">
            <a:avLst/>
          </a:prstGeom>
          <a:noFill/>
          <a:ln/>
        </p:spPr>
        <p:txBody>
          <a:bodyPr wrap="square" lIns="0" tIns="0" rIns="0" bIns="0" rtlCol="0" anchor="ctr"/>
          <a:lstStyle/>
          <a:p>
            <a:pPr marL="0" indent="0" algn="ctr">
              <a:buNone/>
            </a:pPr>
            <a:r>
              <a:rPr lang="en-US" sz="1800" b="1" dirty="0">
                <a:solidFill>
                  <a:schemeClr val="accent2"/>
                </a:solidFill>
              </a:rPr>
              <a:t>2017</a:t>
            </a:r>
            <a:endParaRPr lang="en-US" sz="1800" dirty="0"/>
          </a:p>
        </p:txBody>
      </p:sp>
      <p:sp>
        <p:nvSpPr>
          <p:cNvPr id="19" name="Text 16"/>
          <p:cNvSpPr txBox="1"/>
          <p:nvPr/>
        </p:nvSpPr>
        <p:spPr>
          <a:xfrm>
            <a:off x="6766560" y="1234440"/>
            <a:ext cx="1737360" cy="1280160"/>
          </a:xfrm>
          <a:prstGeom prst="rect">
            <a:avLst/>
          </a:prstGeom>
          <a:noFill/>
          <a:ln/>
        </p:spPr>
        <p:txBody>
          <a:bodyPr wrap="square" lIns="0" tIns="0" rIns="0" bIns="0" rtlCol="0" anchor="b"/>
          <a:lstStyle/>
          <a:p>
            <a:pPr marL="0" indent="0" algn="ctr">
              <a:buNone/>
            </a:pPr>
            <a:r>
              <a:rPr lang="en-US" sz="1500" b="1" dirty="0">
                <a:solidFill>
                  <a:schemeClr val="tx1"/>
                </a:solidFill>
              </a:rPr>
              <a:t>WAAP coined</a:t>
            </a:r>
            <a:endParaRPr lang="en-US" sz="1500" dirty="0"/>
          </a:p>
          <a:p>
            <a:pPr marL="0" indent="0" algn="ctr">
              <a:buNone/>
            </a:pPr>
            <a:r>
              <a:rPr lang="en-US" sz="1200" dirty="0">
                <a:solidFill>
                  <a:schemeClr val="accent4"/>
                </a:solidFill>
              </a:rPr>
              <a:t>Gartner defines WAAP: WAF + API + bots + DDoS in one platform</a:t>
            </a:r>
            <a:endParaRPr lang="en-US" sz="1500" dirty="0"/>
          </a:p>
        </p:txBody>
      </p:sp>
      <p:sp>
        <p:nvSpPr>
          <p:cNvPr id="20" name="milestone 2019–23"/>
          <p:cNvSpPr/>
          <p:nvPr/>
        </p:nvSpPr>
        <p:spPr>
          <a:xfrm>
            <a:off x="9011412" y="3090672"/>
            <a:ext cx="310896" cy="310896"/>
          </a:xfrm>
          <a:prstGeom prst="ellipse">
            <a:avLst/>
          </a:prstGeom>
          <a:solidFill>
            <a:schemeClr val="accent1"/>
          </a:solidFill>
          <a:ln w="25400">
            <a:solidFill>
              <a:schemeClr val="bg1"/>
            </a:solidFill>
            <a:prstDash val="solid"/>
          </a:ln>
        </p:spPr>
        <p:txBody>
          <a:bodyPr/>
          <a:lstStyle/>
          <a:p>
            <a:endParaRPr lang="fr-FR"/>
          </a:p>
        </p:txBody>
      </p:sp>
      <p:sp>
        <p:nvSpPr>
          <p:cNvPr id="21" name="Text 18"/>
          <p:cNvSpPr txBox="1"/>
          <p:nvPr/>
        </p:nvSpPr>
        <p:spPr>
          <a:xfrm>
            <a:off x="8389620" y="3520440"/>
            <a:ext cx="1554480" cy="365760"/>
          </a:xfrm>
          <a:prstGeom prst="rect">
            <a:avLst/>
          </a:prstGeom>
          <a:noFill/>
          <a:ln/>
        </p:spPr>
        <p:txBody>
          <a:bodyPr wrap="square" lIns="0" tIns="0" rIns="0" bIns="0" rtlCol="0" anchor="ctr"/>
          <a:lstStyle/>
          <a:p>
            <a:pPr marL="0" indent="0" algn="ctr">
              <a:buNone/>
            </a:pPr>
            <a:r>
              <a:rPr lang="en-US" sz="1800" b="1" dirty="0">
                <a:solidFill>
                  <a:schemeClr val="accent1"/>
                </a:solidFill>
              </a:rPr>
              <a:t>2019–23</a:t>
            </a:r>
            <a:endParaRPr lang="en-US" sz="1800" dirty="0"/>
          </a:p>
        </p:txBody>
      </p:sp>
      <p:sp>
        <p:nvSpPr>
          <p:cNvPr id="22" name="Text 19"/>
          <p:cNvSpPr txBox="1"/>
          <p:nvPr/>
        </p:nvSpPr>
        <p:spPr>
          <a:xfrm>
            <a:off x="8298180" y="3931920"/>
            <a:ext cx="1737360" cy="1280160"/>
          </a:xfrm>
          <a:prstGeom prst="rect">
            <a:avLst/>
          </a:prstGeom>
          <a:noFill/>
          <a:ln/>
        </p:spPr>
        <p:txBody>
          <a:bodyPr wrap="square" lIns="0" tIns="0" rIns="0" bIns="0" rtlCol="0" anchor="t"/>
          <a:lstStyle/>
          <a:p>
            <a:pPr marL="0" indent="0" algn="ctr">
              <a:buNone/>
            </a:pPr>
            <a:r>
              <a:rPr lang="en-US" sz="1500" b="1" dirty="0">
                <a:solidFill>
                  <a:schemeClr val="tx1"/>
                </a:solidFill>
              </a:rPr>
              <a:t>API era</a:t>
            </a:r>
            <a:endParaRPr lang="en-US" sz="1500" dirty="0"/>
          </a:p>
          <a:p>
            <a:pPr marL="0" indent="0" algn="ctr">
              <a:buNone/>
            </a:pPr>
            <a:r>
              <a:rPr lang="en-US" sz="1200" dirty="0">
                <a:solidFill>
                  <a:schemeClr val="accent4"/>
                </a:solidFill>
              </a:rPr>
              <a:t>OWASP API Security Top 10; APIs dominate internet traffic</a:t>
            </a:r>
            <a:endParaRPr lang="en-US" sz="1500" dirty="0"/>
          </a:p>
        </p:txBody>
      </p:sp>
      <p:sp>
        <p:nvSpPr>
          <p:cNvPr id="23" name="milestone 2025+"/>
          <p:cNvSpPr/>
          <p:nvPr/>
        </p:nvSpPr>
        <p:spPr>
          <a:xfrm>
            <a:off x="10543032" y="3090672"/>
            <a:ext cx="310896" cy="310896"/>
          </a:xfrm>
          <a:prstGeom prst="ellipse">
            <a:avLst/>
          </a:prstGeom>
          <a:solidFill>
            <a:schemeClr val="accent1"/>
          </a:solidFill>
          <a:ln w="25400">
            <a:solidFill>
              <a:schemeClr val="bg1"/>
            </a:solidFill>
            <a:prstDash val="solid"/>
          </a:ln>
        </p:spPr>
        <p:txBody>
          <a:bodyPr/>
          <a:lstStyle/>
          <a:p>
            <a:endParaRPr lang="fr-FR"/>
          </a:p>
        </p:txBody>
      </p:sp>
      <p:sp>
        <p:nvSpPr>
          <p:cNvPr id="24" name="Text 21"/>
          <p:cNvSpPr txBox="1"/>
          <p:nvPr/>
        </p:nvSpPr>
        <p:spPr>
          <a:xfrm>
            <a:off x="9921240" y="2560320"/>
            <a:ext cx="1554480" cy="365760"/>
          </a:xfrm>
          <a:prstGeom prst="rect">
            <a:avLst/>
          </a:prstGeom>
          <a:noFill/>
          <a:ln/>
        </p:spPr>
        <p:txBody>
          <a:bodyPr wrap="square" lIns="0" tIns="0" rIns="0" bIns="0" rtlCol="0" anchor="ctr"/>
          <a:lstStyle/>
          <a:p>
            <a:pPr marL="0" indent="0" algn="ctr">
              <a:buNone/>
            </a:pPr>
            <a:r>
              <a:rPr lang="en-US" sz="1800" b="1" dirty="0">
                <a:solidFill>
                  <a:schemeClr val="accent1"/>
                </a:solidFill>
              </a:rPr>
              <a:t>2025+</a:t>
            </a:r>
            <a:endParaRPr lang="en-US" sz="1800" dirty="0"/>
          </a:p>
        </p:txBody>
      </p:sp>
      <p:sp>
        <p:nvSpPr>
          <p:cNvPr id="25" name="Text 22"/>
          <p:cNvSpPr txBox="1"/>
          <p:nvPr/>
        </p:nvSpPr>
        <p:spPr>
          <a:xfrm>
            <a:off x="9829800" y="1234440"/>
            <a:ext cx="1737360" cy="1280160"/>
          </a:xfrm>
          <a:prstGeom prst="rect">
            <a:avLst/>
          </a:prstGeom>
          <a:noFill/>
          <a:ln/>
        </p:spPr>
        <p:txBody>
          <a:bodyPr wrap="square" lIns="0" tIns="0" rIns="0" bIns="0" rtlCol="0" anchor="b"/>
          <a:lstStyle/>
          <a:p>
            <a:pPr marL="0" indent="0" algn="ctr">
              <a:buNone/>
            </a:pPr>
            <a:r>
              <a:rPr lang="en-US" sz="1500" b="1" dirty="0">
                <a:solidFill>
                  <a:schemeClr val="tx1"/>
                </a:solidFill>
              </a:rPr>
              <a:t>AI era</a:t>
            </a:r>
            <a:endParaRPr lang="en-US" sz="1500" dirty="0"/>
          </a:p>
          <a:p>
            <a:pPr marL="0" indent="0" algn="ctr">
              <a:buNone/>
            </a:pPr>
            <a:r>
              <a:rPr lang="en-US" sz="1200" dirty="0">
                <a:solidFill>
                  <a:schemeClr val="accent4"/>
                </a:solidFill>
              </a:rPr>
              <a:t>Protection of AI apps, agents and LLM-driven API traffic</a:t>
            </a:r>
            <a:endParaRPr lang="en-US" sz="1500" dirty="0"/>
          </a:p>
        </p:txBody>
      </p:sp>
      <p:sp>
        <p:nvSpPr>
          <p:cNvPr id="26" name="Text 23"/>
          <p:cNvSpPr txBox="1"/>
          <p:nvPr/>
        </p:nvSpPr>
        <p:spPr>
          <a:xfrm>
            <a:off x="548640" y="5623560"/>
            <a:ext cx="11064240" cy="411480"/>
          </a:xfrm>
          <a:prstGeom prst="rect">
            <a:avLst/>
          </a:prstGeom>
          <a:noFill/>
          <a:ln/>
        </p:spPr>
        <p:txBody>
          <a:bodyPr wrap="square" lIns="0" tIns="0" rIns="0" bIns="0" rtlCol="0" anchor="ctr"/>
          <a:lstStyle/>
          <a:p>
            <a:pPr marL="0" indent="0">
              <a:buNone/>
            </a:pPr>
            <a:r>
              <a:rPr lang="en-US" sz="1500" i="1" dirty="0">
                <a:solidFill>
                  <a:schemeClr val="tx2"/>
                </a:solidFill>
              </a:rPr>
              <a:t>The WAF protected websites; WAAP protects the whole application surface — web, mobile and API.</a:t>
            </a:r>
            <a:endParaRPr lang="en-US" sz="15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a:t>
            </a:fld>
            <a:endParaRPr lang="en-US"/>
          </a:p>
        </p:txBody>
      </p:sp>
      <p:pic>
        <p:nvPicPr>
          <p:cNvPr id="27" name="Image 0" descr="/home/claude/unpacked/ppt/media/image1.png">
            <a:extLst>
              <a:ext uri="{FF2B5EF4-FFF2-40B4-BE49-F238E27FC236}">
                <a16:creationId xmlns:a16="http://schemas.microsoft.com/office/drawing/2014/main" id="{C6F10D0A-2797-0311-C8F2-26B9B7DC23BE}"/>
              </a:ext>
            </a:extLst>
          </p:cNvPr>
          <p:cNvPicPr>
            <a:picLocks noChangeAspect="1"/>
          </p:cNvPicPr>
          <p:nvPr/>
        </p:nvPicPr>
        <p:blipFill>
          <a:blip r:embed="rId3"/>
          <a:stretch>
            <a:fillRect/>
          </a:stretch>
        </p:blipFill>
        <p:spPr>
          <a:xfrm>
            <a:off x="10853928" y="155448"/>
            <a:ext cx="960120" cy="9601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How a traditional WAF works?</a:t>
            </a:r>
            <a:endParaRPr lang="en-US" sz="3400" cap="all" dirty="0"/>
          </a:p>
        </p:txBody>
      </p:sp>
      <p:sp>
        <p:nvSpPr>
          <p:cNvPr id="4" name="card Layer 7 reverse proxy"/>
          <p:cNvSpPr/>
          <p:nvPr/>
        </p:nvSpPr>
        <p:spPr>
          <a:xfrm>
            <a:off x="548640" y="1417320"/>
            <a:ext cx="2560320" cy="2697480"/>
          </a:xfrm>
          <a:prstGeom prst="roundRect">
            <a:avLst>
              <a:gd name="adj" fmla="val 3571"/>
            </a:avLst>
          </a:prstGeom>
          <a:solidFill>
            <a:schemeClr val="bg2"/>
          </a:solidFill>
          <a:ln/>
        </p:spPr>
        <p:txBody>
          <a:bodyPr/>
          <a:lstStyle/>
          <a:p>
            <a:endParaRPr lang="fr-FR"/>
          </a:p>
        </p:txBody>
      </p:sp>
      <p:sp>
        <p:nvSpPr>
          <p:cNvPr id="5" name="Layer 7 reverse proxy tile"/>
          <p:cNvSpPr/>
          <p:nvPr/>
        </p:nvSpPr>
        <p:spPr>
          <a:xfrm>
            <a:off x="822960" y="1691640"/>
            <a:ext cx="548640" cy="548640"/>
          </a:xfrm>
          <a:prstGeom prst="roundRect">
            <a:avLst>
              <a:gd name="adj" fmla="val 20000"/>
            </a:avLst>
          </a:prstGeom>
          <a:solidFill>
            <a:schemeClr val="accent1"/>
          </a:solidFill>
          <a:ln/>
        </p:spPr>
        <p:txBody>
          <a:bodyPr/>
          <a:lstStyle/>
          <a:p>
            <a:endParaRPr lang="fr-FR"/>
          </a:p>
        </p:txBody>
      </p:sp>
      <p:pic>
        <p:nvPicPr>
          <p:cNvPr id="6" name="Layer 7 reverse proxy glyph" descr="Layer 7 reverse proxy"/>
          <p:cNvPicPr>
            <a:picLocks noChangeAspect="1"/>
          </p:cNvPicPr>
          <p:nvPr/>
        </p:nvPicPr>
        <p:blipFill>
          <a:blip r:embed="rId3"/>
          <a:stretch>
            <a:fillRect/>
          </a:stretch>
        </p:blipFill>
        <p:spPr>
          <a:xfrm>
            <a:off x="943661" y="1812341"/>
            <a:ext cx="307238" cy="307238"/>
          </a:xfrm>
          <a:prstGeom prst="rect">
            <a:avLst/>
          </a:prstGeom>
        </p:spPr>
      </p:pic>
      <p:sp>
        <p:nvSpPr>
          <p:cNvPr id="7" name="Text 3"/>
          <p:cNvSpPr txBox="1"/>
          <p:nvPr/>
        </p:nvSpPr>
        <p:spPr>
          <a:xfrm>
            <a:off x="1508760" y="1691640"/>
            <a:ext cx="1371600" cy="548640"/>
          </a:xfrm>
          <a:prstGeom prst="rect">
            <a:avLst/>
          </a:prstGeom>
          <a:noFill/>
          <a:ln/>
        </p:spPr>
        <p:txBody>
          <a:bodyPr wrap="square" lIns="0" tIns="0" rIns="0" bIns="0" rtlCol="0" anchor="ctr"/>
          <a:lstStyle/>
          <a:p>
            <a:pPr marL="0" indent="0">
              <a:buNone/>
            </a:pPr>
            <a:r>
              <a:rPr lang="en-US" sz="1600" b="1" dirty="0">
                <a:solidFill>
                  <a:schemeClr val="tx1"/>
                </a:solidFill>
              </a:rPr>
              <a:t>Layer 7 reverse proxy</a:t>
            </a:r>
            <a:endParaRPr lang="en-US" sz="1600" dirty="0"/>
          </a:p>
        </p:txBody>
      </p:sp>
      <p:sp>
        <p:nvSpPr>
          <p:cNvPr id="8" name="Text 4"/>
          <p:cNvSpPr txBox="1"/>
          <p:nvPr/>
        </p:nvSpPr>
        <p:spPr>
          <a:xfrm>
            <a:off x="822960" y="2377440"/>
            <a:ext cx="2011680" cy="1554480"/>
          </a:xfrm>
          <a:prstGeom prst="rect">
            <a:avLst/>
          </a:prstGeom>
          <a:noFill/>
          <a:ln/>
        </p:spPr>
        <p:txBody>
          <a:bodyPr wrap="square" lIns="0" tIns="0" rIns="0" bIns="0" rtlCol="0" anchor="t"/>
          <a:lstStyle/>
          <a:p>
            <a:pPr marL="0" indent="0">
              <a:buNone/>
            </a:pPr>
            <a:r>
              <a:rPr lang="en-US" sz="1400" dirty="0">
                <a:solidFill>
                  <a:schemeClr val="accent4"/>
                </a:solidFill>
              </a:rPr>
              <a:t>Monitors and filters HTTP/HTTPS traffic between the internet and the web server.</a:t>
            </a:r>
            <a:endParaRPr lang="en-US" sz="1400" dirty="0"/>
          </a:p>
        </p:txBody>
      </p:sp>
      <p:sp>
        <p:nvSpPr>
          <p:cNvPr id="9" name="card Signatures &amp; rule sets"/>
          <p:cNvSpPr/>
          <p:nvPr/>
        </p:nvSpPr>
        <p:spPr>
          <a:xfrm>
            <a:off x="3383280" y="1417320"/>
            <a:ext cx="2560320" cy="2697480"/>
          </a:xfrm>
          <a:prstGeom prst="roundRect">
            <a:avLst>
              <a:gd name="adj" fmla="val 3571"/>
            </a:avLst>
          </a:prstGeom>
          <a:solidFill>
            <a:schemeClr val="bg2"/>
          </a:solidFill>
          <a:ln/>
        </p:spPr>
        <p:txBody>
          <a:bodyPr/>
          <a:lstStyle/>
          <a:p>
            <a:endParaRPr lang="fr-FR"/>
          </a:p>
        </p:txBody>
      </p:sp>
      <p:sp>
        <p:nvSpPr>
          <p:cNvPr id="10" name="Signatures &amp; rule sets tile"/>
          <p:cNvSpPr/>
          <p:nvPr/>
        </p:nvSpPr>
        <p:spPr>
          <a:xfrm>
            <a:off x="3657600" y="1691640"/>
            <a:ext cx="548640" cy="548640"/>
          </a:xfrm>
          <a:prstGeom prst="roundRect">
            <a:avLst>
              <a:gd name="adj" fmla="val 20000"/>
            </a:avLst>
          </a:prstGeom>
          <a:solidFill>
            <a:schemeClr val="accent1"/>
          </a:solidFill>
          <a:ln/>
        </p:spPr>
        <p:txBody>
          <a:bodyPr/>
          <a:lstStyle/>
          <a:p>
            <a:endParaRPr lang="fr-FR"/>
          </a:p>
        </p:txBody>
      </p:sp>
      <p:pic>
        <p:nvPicPr>
          <p:cNvPr id="11" name="Signatures &amp; rule sets glyph" descr="Signatures &amp; rule sets"/>
          <p:cNvPicPr>
            <a:picLocks noChangeAspect="1"/>
          </p:cNvPicPr>
          <p:nvPr/>
        </p:nvPicPr>
        <p:blipFill>
          <a:blip r:embed="rId4"/>
          <a:stretch>
            <a:fillRect/>
          </a:stretch>
        </p:blipFill>
        <p:spPr>
          <a:xfrm>
            <a:off x="3778301" y="1812341"/>
            <a:ext cx="307238" cy="307238"/>
          </a:xfrm>
          <a:prstGeom prst="rect">
            <a:avLst/>
          </a:prstGeom>
        </p:spPr>
      </p:pic>
      <p:sp>
        <p:nvSpPr>
          <p:cNvPr id="12" name="Text 7"/>
          <p:cNvSpPr txBox="1"/>
          <p:nvPr/>
        </p:nvSpPr>
        <p:spPr>
          <a:xfrm>
            <a:off x="4343400" y="1691640"/>
            <a:ext cx="1371600" cy="548640"/>
          </a:xfrm>
          <a:prstGeom prst="rect">
            <a:avLst/>
          </a:prstGeom>
          <a:noFill/>
          <a:ln/>
        </p:spPr>
        <p:txBody>
          <a:bodyPr wrap="square" lIns="0" tIns="0" rIns="0" bIns="0" rtlCol="0" anchor="ctr"/>
          <a:lstStyle/>
          <a:p>
            <a:pPr marL="0" indent="0">
              <a:buNone/>
            </a:pPr>
            <a:r>
              <a:rPr lang="en-US" sz="1600" b="1" dirty="0">
                <a:solidFill>
                  <a:schemeClr val="tx1"/>
                </a:solidFill>
              </a:rPr>
              <a:t>Signatures &amp; rule sets</a:t>
            </a:r>
            <a:endParaRPr lang="en-US" sz="1600" dirty="0"/>
          </a:p>
        </p:txBody>
      </p:sp>
      <p:sp>
        <p:nvSpPr>
          <p:cNvPr id="13" name="Text 8"/>
          <p:cNvSpPr txBox="1"/>
          <p:nvPr/>
        </p:nvSpPr>
        <p:spPr>
          <a:xfrm>
            <a:off x="3657600" y="2377440"/>
            <a:ext cx="2011680" cy="1554480"/>
          </a:xfrm>
          <a:prstGeom prst="rect">
            <a:avLst/>
          </a:prstGeom>
          <a:noFill/>
          <a:ln/>
        </p:spPr>
        <p:txBody>
          <a:bodyPr wrap="square" lIns="0" tIns="0" rIns="0" bIns="0" rtlCol="0" anchor="t"/>
          <a:lstStyle/>
          <a:p>
            <a:pPr marL="0" indent="0">
              <a:buNone/>
            </a:pPr>
            <a:r>
              <a:rPr lang="en-US" sz="1400" dirty="0">
                <a:solidFill>
                  <a:schemeClr val="accent4"/>
                </a:solidFill>
              </a:rPr>
              <a:t>Matches requests against known attack patterns, e.g. the OWASP Core Rule Set.</a:t>
            </a:r>
            <a:endParaRPr lang="en-US" sz="1400" dirty="0"/>
          </a:p>
        </p:txBody>
      </p:sp>
      <p:sp>
        <p:nvSpPr>
          <p:cNvPr id="14" name="card Detection or prevention"/>
          <p:cNvSpPr/>
          <p:nvPr/>
        </p:nvSpPr>
        <p:spPr>
          <a:xfrm>
            <a:off x="6217920" y="1417320"/>
            <a:ext cx="2560320" cy="2697480"/>
          </a:xfrm>
          <a:prstGeom prst="roundRect">
            <a:avLst>
              <a:gd name="adj" fmla="val 3571"/>
            </a:avLst>
          </a:prstGeom>
          <a:solidFill>
            <a:schemeClr val="bg2"/>
          </a:solidFill>
          <a:ln/>
        </p:spPr>
        <p:txBody>
          <a:bodyPr/>
          <a:lstStyle/>
          <a:p>
            <a:endParaRPr lang="fr-FR"/>
          </a:p>
        </p:txBody>
      </p:sp>
      <p:sp>
        <p:nvSpPr>
          <p:cNvPr id="15" name="Detection or prevention tile"/>
          <p:cNvSpPr/>
          <p:nvPr/>
        </p:nvSpPr>
        <p:spPr>
          <a:xfrm>
            <a:off x="6492240" y="1691640"/>
            <a:ext cx="548640" cy="548640"/>
          </a:xfrm>
          <a:prstGeom prst="roundRect">
            <a:avLst>
              <a:gd name="adj" fmla="val 20000"/>
            </a:avLst>
          </a:prstGeom>
          <a:solidFill>
            <a:schemeClr val="accent1"/>
          </a:solidFill>
          <a:ln/>
        </p:spPr>
        <p:txBody>
          <a:bodyPr/>
          <a:lstStyle/>
          <a:p>
            <a:endParaRPr lang="fr-FR"/>
          </a:p>
        </p:txBody>
      </p:sp>
      <p:pic>
        <p:nvPicPr>
          <p:cNvPr id="16" name="Detection or prevention glyph" descr="Detection or prevention"/>
          <p:cNvPicPr>
            <a:picLocks noChangeAspect="1"/>
          </p:cNvPicPr>
          <p:nvPr/>
        </p:nvPicPr>
        <p:blipFill>
          <a:blip r:embed="rId5"/>
          <a:stretch>
            <a:fillRect/>
          </a:stretch>
        </p:blipFill>
        <p:spPr>
          <a:xfrm>
            <a:off x="6612941" y="1812341"/>
            <a:ext cx="307238" cy="307238"/>
          </a:xfrm>
          <a:prstGeom prst="rect">
            <a:avLst/>
          </a:prstGeom>
        </p:spPr>
      </p:pic>
      <p:sp>
        <p:nvSpPr>
          <p:cNvPr id="17" name="Text 11"/>
          <p:cNvSpPr txBox="1"/>
          <p:nvPr/>
        </p:nvSpPr>
        <p:spPr>
          <a:xfrm>
            <a:off x="7178040" y="1691640"/>
            <a:ext cx="1371600" cy="548640"/>
          </a:xfrm>
          <a:prstGeom prst="rect">
            <a:avLst/>
          </a:prstGeom>
          <a:noFill/>
          <a:ln/>
        </p:spPr>
        <p:txBody>
          <a:bodyPr wrap="square" lIns="0" tIns="0" rIns="0" bIns="0" rtlCol="0" anchor="ctr"/>
          <a:lstStyle/>
          <a:p>
            <a:pPr marL="0" indent="0">
              <a:buNone/>
            </a:pPr>
            <a:r>
              <a:rPr lang="en-US" sz="1600" b="1" dirty="0">
                <a:solidFill>
                  <a:schemeClr val="tx1"/>
                </a:solidFill>
              </a:rPr>
              <a:t>Detection or prevention</a:t>
            </a:r>
            <a:endParaRPr lang="en-US" sz="1600" dirty="0"/>
          </a:p>
        </p:txBody>
      </p:sp>
      <p:sp>
        <p:nvSpPr>
          <p:cNvPr id="18" name="Text 12"/>
          <p:cNvSpPr txBox="1"/>
          <p:nvPr/>
        </p:nvSpPr>
        <p:spPr>
          <a:xfrm>
            <a:off x="6492240" y="2377440"/>
            <a:ext cx="2011680" cy="1554480"/>
          </a:xfrm>
          <a:prstGeom prst="rect">
            <a:avLst/>
          </a:prstGeom>
          <a:noFill/>
          <a:ln/>
        </p:spPr>
        <p:txBody>
          <a:bodyPr wrap="square" lIns="0" tIns="0" rIns="0" bIns="0" rtlCol="0" anchor="t"/>
          <a:lstStyle/>
          <a:p>
            <a:pPr marL="0" indent="0">
              <a:buNone/>
            </a:pPr>
            <a:r>
              <a:rPr lang="en-US" sz="1400" dirty="0">
                <a:solidFill>
                  <a:schemeClr val="accent4"/>
                </a:solidFill>
              </a:rPr>
              <a:t>Runs in monitor mode (alert only) or blocking mode once tuned.</a:t>
            </a:r>
            <a:endParaRPr lang="en-US" sz="1400" dirty="0"/>
          </a:p>
        </p:txBody>
      </p:sp>
      <p:sp>
        <p:nvSpPr>
          <p:cNvPr id="19" name="card Appliance or VM"/>
          <p:cNvSpPr/>
          <p:nvPr/>
        </p:nvSpPr>
        <p:spPr>
          <a:xfrm>
            <a:off x="9052560" y="1417320"/>
            <a:ext cx="2560320" cy="2697480"/>
          </a:xfrm>
          <a:prstGeom prst="roundRect">
            <a:avLst>
              <a:gd name="adj" fmla="val 3571"/>
            </a:avLst>
          </a:prstGeom>
          <a:solidFill>
            <a:schemeClr val="bg2"/>
          </a:solidFill>
          <a:ln/>
        </p:spPr>
        <p:txBody>
          <a:bodyPr/>
          <a:lstStyle/>
          <a:p>
            <a:endParaRPr lang="fr-FR"/>
          </a:p>
        </p:txBody>
      </p:sp>
      <p:sp>
        <p:nvSpPr>
          <p:cNvPr id="20" name="Appliance or VM tile"/>
          <p:cNvSpPr/>
          <p:nvPr/>
        </p:nvSpPr>
        <p:spPr>
          <a:xfrm>
            <a:off x="9326880" y="1691640"/>
            <a:ext cx="548640" cy="548640"/>
          </a:xfrm>
          <a:prstGeom prst="roundRect">
            <a:avLst>
              <a:gd name="adj" fmla="val 20000"/>
            </a:avLst>
          </a:prstGeom>
          <a:solidFill>
            <a:schemeClr val="accent1"/>
          </a:solidFill>
          <a:ln/>
        </p:spPr>
        <p:txBody>
          <a:bodyPr/>
          <a:lstStyle/>
          <a:p>
            <a:endParaRPr lang="fr-FR"/>
          </a:p>
        </p:txBody>
      </p:sp>
      <p:pic>
        <p:nvPicPr>
          <p:cNvPr id="21" name="Appliance or VM glyph" descr="Appliance or VM"/>
          <p:cNvPicPr>
            <a:picLocks noChangeAspect="1"/>
          </p:cNvPicPr>
          <p:nvPr/>
        </p:nvPicPr>
        <p:blipFill>
          <a:blip r:embed="rId6"/>
          <a:stretch>
            <a:fillRect/>
          </a:stretch>
        </p:blipFill>
        <p:spPr>
          <a:xfrm>
            <a:off x="9447581" y="1812341"/>
            <a:ext cx="307238" cy="307238"/>
          </a:xfrm>
          <a:prstGeom prst="rect">
            <a:avLst/>
          </a:prstGeom>
        </p:spPr>
      </p:pic>
      <p:sp>
        <p:nvSpPr>
          <p:cNvPr id="22" name="Text 15"/>
          <p:cNvSpPr txBox="1"/>
          <p:nvPr/>
        </p:nvSpPr>
        <p:spPr>
          <a:xfrm>
            <a:off x="10012680" y="1691640"/>
            <a:ext cx="1371600" cy="548640"/>
          </a:xfrm>
          <a:prstGeom prst="rect">
            <a:avLst/>
          </a:prstGeom>
          <a:noFill/>
          <a:ln/>
        </p:spPr>
        <p:txBody>
          <a:bodyPr wrap="square" lIns="0" tIns="0" rIns="0" bIns="0" rtlCol="0" anchor="ctr"/>
          <a:lstStyle/>
          <a:p>
            <a:pPr marL="0" indent="0">
              <a:buNone/>
            </a:pPr>
            <a:r>
              <a:rPr lang="en-US" sz="1600" b="1" dirty="0">
                <a:solidFill>
                  <a:schemeClr val="tx1"/>
                </a:solidFill>
              </a:rPr>
              <a:t>Appliance or VM</a:t>
            </a:r>
            <a:endParaRPr lang="en-US" sz="1600" dirty="0"/>
          </a:p>
        </p:txBody>
      </p:sp>
      <p:sp>
        <p:nvSpPr>
          <p:cNvPr id="23" name="Text 16"/>
          <p:cNvSpPr txBox="1"/>
          <p:nvPr/>
        </p:nvSpPr>
        <p:spPr>
          <a:xfrm>
            <a:off x="9326880" y="2377440"/>
            <a:ext cx="2011680" cy="1554480"/>
          </a:xfrm>
          <a:prstGeom prst="rect">
            <a:avLst/>
          </a:prstGeom>
          <a:noFill/>
          <a:ln/>
        </p:spPr>
        <p:txBody>
          <a:bodyPr wrap="square" lIns="0" tIns="0" rIns="0" bIns="0" rtlCol="0" anchor="t"/>
          <a:lstStyle/>
          <a:p>
            <a:pPr marL="0" indent="0">
              <a:buNone/>
            </a:pPr>
            <a:r>
              <a:rPr lang="en-US" sz="1400" dirty="0">
                <a:solidFill>
                  <a:schemeClr val="accent4"/>
                </a:solidFill>
              </a:rPr>
              <a:t>Usually deployed on-premises at the data-centre perimeter.</a:t>
            </a:r>
            <a:endParaRPr lang="en-US" sz="1400" dirty="0"/>
          </a:p>
        </p:txBody>
      </p:sp>
      <p:sp>
        <p:nvSpPr>
          <p:cNvPr id="24" name="blocks well card"/>
          <p:cNvSpPr/>
          <p:nvPr/>
        </p:nvSpPr>
        <p:spPr>
          <a:xfrm>
            <a:off x="-138545" y="4389120"/>
            <a:ext cx="12330545" cy="1371600"/>
          </a:xfrm>
          <a:prstGeom prst="roundRect">
            <a:avLst>
              <a:gd name="adj" fmla="val 6667"/>
            </a:avLst>
          </a:prstGeom>
          <a:solidFill>
            <a:schemeClr val="tx1"/>
          </a:solidFill>
          <a:ln/>
        </p:spPr>
        <p:txBody>
          <a:bodyPr/>
          <a:lstStyle/>
          <a:p>
            <a:endParaRPr lang="fr-FR"/>
          </a:p>
        </p:txBody>
      </p:sp>
      <p:sp>
        <p:nvSpPr>
          <p:cNvPr id="25" name="Text 18"/>
          <p:cNvSpPr txBox="1"/>
          <p:nvPr/>
        </p:nvSpPr>
        <p:spPr>
          <a:xfrm>
            <a:off x="429491" y="4526280"/>
            <a:ext cx="4096789" cy="411480"/>
          </a:xfrm>
          <a:prstGeom prst="rect">
            <a:avLst/>
          </a:prstGeom>
          <a:noFill/>
          <a:ln/>
        </p:spPr>
        <p:txBody>
          <a:bodyPr wrap="square" lIns="0" tIns="0" rIns="0" bIns="0" rtlCol="0" anchor="ctr"/>
          <a:lstStyle/>
          <a:p>
            <a:pPr marL="0" indent="0">
              <a:buNone/>
            </a:pPr>
            <a:r>
              <a:rPr lang="en-US" sz="1800" b="1" cap="all" dirty="0">
                <a:solidFill>
                  <a:schemeClr val="accent5"/>
                </a:solidFill>
              </a:rPr>
              <a:t>What it blocks well?</a:t>
            </a:r>
            <a:endParaRPr lang="en-US" sz="1800" cap="all" dirty="0"/>
          </a:p>
        </p:txBody>
      </p:sp>
      <p:sp>
        <p:nvSpPr>
          <p:cNvPr id="26" name="Text 19"/>
          <p:cNvSpPr txBox="1"/>
          <p:nvPr/>
        </p:nvSpPr>
        <p:spPr>
          <a:xfrm>
            <a:off x="110837" y="4983480"/>
            <a:ext cx="12000810" cy="548640"/>
          </a:xfrm>
          <a:prstGeom prst="rect">
            <a:avLst/>
          </a:prstGeom>
          <a:noFill/>
          <a:ln/>
        </p:spPr>
        <p:txBody>
          <a:bodyPr wrap="square" lIns="0" tIns="0" rIns="0" bIns="0" rtlCol="0" anchor="ctr"/>
          <a:lstStyle/>
          <a:p>
            <a:pPr marL="0" indent="0">
              <a:buNone/>
            </a:pPr>
            <a:r>
              <a:rPr lang="en-US" b="1" cap="all" dirty="0">
                <a:solidFill>
                  <a:schemeClr val="bg1"/>
                </a:solidFill>
              </a:rPr>
              <a:t>SQL injection  ·  Cross-site scripting (XSS)  ·  Path traversal  ·  File inclusion  ·  Known CVE exploits  ·  Malformed requests</a:t>
            </a:r>
            <a:endParaRPr lang="en-US" b="1" cap="all"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13</a:t>
            </a:fld>
            <a:endParaRPr lang="en-US"/>
          </a:p>
        </p:txBody>
      </p:sp>
      <p:pic>
        <p:nvPicPr>
          <p:cNvPr id="27" name="Image 0" descr="/home/claude/unpacked/ppt/media/image1.png">
            <a:extLst>
              <a:ext uri="{FF2B5EF4-FFF2-40B4-BE49-F238E27FC236}">
                <a16:creationId xmlns:a16="http://schemas.microsoft.com/office/drawing/2014/main" id="{23DFD4BB-A905-692A-FDC5-FF00382C7ADA}"/>
              </a:ext>
            </a:extLst>
          </p:cNvPr>
          <p:cNvPicPr>
            <a:picLocks noChangeAspect="1"/>
          </p:cNvPicPr>
          <p:nvPr/>
        </p:nvPicPr>
        <p:blipFill>
          <a:blip r:embed="rId7"/>
          <a:stretch>
            <a:fillRect/>
          </a:stretch>
        </p:blipFill>
        <p:spPr>
          <a:xfrm>
            <a:off x="10652760" y="113512"/>
            <a:ext cx="960120" cy="9601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The OWASP Top 10 web application risks</a:t>
            </a:r>
            <a:endParaRPr lang="en-US" sz="3400" cap="all" dirty="0"/>
          </a:p>
        </p:txBody>
      </p:sp>
      <p:sp>
        <p:nvSpPr>
          <p:cNvPr id="4" name="owasp A01"/>
          <p:cNvSpPr/>
          <p:nvPr/>
        </p:nvSpPr>
        <p:spPr>
          <a:xfrm>
            <a:off x="548640" y="1463040"/>
            <a:ext cx="2011680" cy="1783080"/>
          </a:xfrm>
          <a:prstGeom prst="roundRect">
            <a:avLst>
              <a:gd name="adj" fmla="val 5128"/>
            </a:avLst>
          </a:prstGeom>
          <a:solidFill>
            <a:schemeClr val="bg2"/>
          </a:solidFill>
          <a:ln/>
        </p:spPr>
        <p:txBody>
          <a:bodyPr/>
          <a:lstStyle/>
          <a:p>
            <a:endParaRPr lang="fr-FR"/>
          </a:p>
        </p:txBody>
      </p:sp>
      <p:sp>
        <p:nvSpPr>
          <p:cNvPr id="5" name="Text 2"/>
          <p:cNvSpPr txBox="1"/>
          <p:nvPr/>
        </p:nvSpPr>
        <p:spPr>
          <a:xfrm>
            <a:off x="731520" y="1645920"/>
            <a:ext cx="1371600" cy="548640"/>
          </a:xfrm>
          <a:prstGeom prst="rect">
            <a:avLst/>
          </a:prstGeom>
          <a:noFill/>
          <a:ln/>
        </p:spPr>
        <p:txBody>
          <a:bodyPr wrap="square" lIns="0" tIns="0" rIns="0" bIns="0" rtlCol="0" anchor="ctr"/>
          <a:lstStyle/>
          <a:p>
            <a:pPr marL="0" indent="0">
              <a:buNone/>
            </a:pPr>
            <a:r>
              <a:rPr lang="en-US" sz="2800" b="1" dirty="0">
                <a:solidFill>
                  <a:schemeClr val="accent3"/>
                </a:solidFill>
              </a:rPr>
              <a:t>A01</a:t>
            </a:r>
            <a:endParaRPr lang="en-US" sz="2800" dirty="0"/>
          </a:p>
        </p:txBody>
      </p:sp>
      <p:sp>
        <p:nvSpPr>
          <p:cNvPr id="6" name="Text 3"/>
          <p:cNvSpPr txBox="1"/>
          <p:nvPr/>
        </p:nvSpPr>
        <p:spPr>
          <a:xfrm>
            <a:off x="731520" y="2286000"/>
            <a:ext cx="1645920" cy="822960"/>
          </a:xfrm>
          <a:prstGeom prst="rect">
            <a:avLst/>
          </a:prstGeom>
          <a:noFill/>
          <a:ln/>
        </p:spPr>
        <p:txBody>
          <a:bodyPr wrap="square" lIns="0" tIns="0" rIns="0" bIns="0" rtlCol="0" anchor="t"/>
          <a:lstStyle/>
          <a:p>
            <a:pPr marL="0" indent="0">
              <a:buNone/>
            </a:pPr>
            <a:r>
              <a:rPr lang="en-US" sz="1500" b="1" dirty="0">
                <a:solidFill>
                  <a:schemeClr val="tx1"/>
                </a:solidFill>
              </a:rPr>
              <a:t>Broken Access Control</a:t>
            </a:r>
            <a:endParaRPr lang="en-US" sz="1500" dirty="0"/>
          </a:p>
        </p:txBody>
      </p:sp>
      <p:sp>
        <p:nvSpPr>
          <p:cNvPr id="7" name="owasp A02"/>
          <p:cNvSpPr/>
          <p:nvPr/>
        </p:nvSpPr>
        <p:spPr>
          <a:xfrm>
            <a:off x="2811780" y="1463040"/>
            <a:ext cx="2011680" cy="1783080"/>
          </a:xfrm>
          <a:prstGeom prst="roundRect">
            <a:avLst>
              <a:gd name="adj" fmla="val 5128"/>
            </a:avLst>
          </a:prstGeom>
          <a:solidFill>
            <a:schemeClr val="bg2"/>
          </a:solidFill>
          <a:ln/>
        </p:spPr>
        <p:txBody>
          <a:bodyPr/>
          <a:lstStyle/>
          <a:p>
            <a:endParaRPr lang="fr-FR"/>
          </a:p>
        </p:txBody>
      </p:sp>
      <p:sp>
        <p:nvSpPr>
          <p:cNvPr id="8" name="Text 5"/>
          <p:cNvSpPr txBox="1"/>
          <p:nvPr/>
        </p:nvSpPr>
        <p:spPr>
          <a:xfrm>
            <a:off x="2994660" y="1645920"/>
            <a:ext cx="1371600" cy="548640"/>
          </a:xfrm>
          <a:prstGeom prst="rect">
            <a:avLst/>
          </a:prstGeom>
          <a:noFill/>
          <a:ln/>
        </p:spPr>
        <p:txBody>
          <a:bodyPr wrap="square" lIns="0" tIns="0" rIns="0" bIns="0" rtlCol="0" anchor="ctr"/>
          <a:lstStyle/>
          <a:p>
            <a:pPr marL="0" indent="0">
              <a:buNone/>
            </a:pPr>
            <a:r>
              <a:rPr lang="en-US" sz="2800" b="1" dirty="0">
                <a:solidFill>
                  <a:schemeClr val="accent1"/>
                </a:solidFill>
              </a:rPr>
              <a:t>A02</a:t>
            </a:r>
            <a:endParaRPr lang="en-US" sz="2800" dirty="0"/>
          </a:p>
        </p:txBody>
      </p:sp>
      <p:sp>
        <p:nvSpPr>
          <p:cNvPr id="9" name="Text 6"/>
          <p:cNvSpPr txBox="1"/>
          <p:nvPr/>
        </p:nvSpPr>
        <p:spPr>
          <a:xfrm>
            <a:off x="2994660" y="2286000"/>
            <a:ext cx="1645920" cy="822960"/>
          </a:xfrm>
          <a:prstGeom prst="rect">
            <a:avLst/>
          </a:prstGeom>
          <a:noFill/>
          <a:ln/>
        </p:spPr>
        <p:txBody>
          <a:bodyPr wrap="square" lIns="0" tIns="0" rIns="0" bIns="0" rtlCol="0" anchor="t"/>
          <a:lstStyle/>
          <a:p>
            <a:pPr marL="0" indent="0">
              <a:buNone/>
            </a:pPr>
            <a:r>
              <a:rPr lang="en-US" sz="1500" b="1" dirty="0">
                <a:solidFill>
                  <a:schemeClr val="tx1"/>
                </a:solidFill>
              </a:rPr>
              <a:t>Cryptographic Failures</a:t>
            </a:r>
            <a:endParaRPr lang="en-US" sz="1500" dirty="0"/>
          </a:p>
        </p:txBody>
      </p:sp>
      <p:sp>
        <p:nvSpPr>
          <p:cNvPr id="10" name="owasp A03"/>
          <p:cNvSpPr/>
          <p:nvPr/>
        </p:nvSpPr>
        <p:spPr>
          <a:xfrm>
            <a:off x="5074920" y="1463040"/>
            <a:ext cx="2011680" cy="1783080"/>
          </a:xfrm>
          <a:prstGeom prst="roundRect">
            <a:avLst>
              <a:gd name="adj" fmla="val 5128"/>
            </a:avLst>
          </a:prstGeom>
          <a:solidFill>
            <a:schemeClr val="bg2"/>
          </a:solidFill>
          <a:ln/>
        </p:spPr>
        <p:txBody>
          <a:bodyPr/>
          <a:lstStyle/>
          <a:p>
            <a:endParaRPr lang="fr-FR"/>
          </a:p>
        </p:txBody>
      </p:sp>
      <p:sp>
        <p:nvSpPr>
          <p:cNvPr id="11" name="Text 8"/>
          <p:cNvSpPr txBox="1"/>
          <p:nvPr/>
        </p:nvSpPr>
        <p:spPr>
          <a:xfrm>
            <a:off x="5257800" y="1645920"/>
            <a:ext cx="1371600" cy="548640"/>
          </a:xfrm>
          <a:prstGeom prst="rect">
            <a:avLst/>
          </a:prstGeom>
          <a:noFill/>
          <a:ln/>
        </p:spPr>
        <p:txBody>
          <a:bodyPr wrap="square" lIns="0" tIns="0" rIns="0" bIns="0" rtlCol="0" anchor="ctr"/>
          <a:lstStyle/>
          <a:p>
            <a:pPr marL="0" indent="0">
              <a:buNone/>
            </a:pPr>
            <a:r>
              <a:rPr lang="en-US" sz="2800" b="1" dirty="0">
                <a:solidFill>
                  <a:schemeClr val="accent3"/>
                </a:solidFill>
              </a:rPr>
              <a:t>A03</a:t>
            </a:r>
            <a:endParaRPr lang="en-US" sz="2800" dirty="0"/>
          </a:p>
        </p:txBody>
      </p:sp>
      <p:sp>
        <p:nvSpPr>
          <p:cNvPr id="12" name="Text 9"/>
          <p:cNvSpPr txBox="1"/>
          <p:nvPr/>
        </p:nvSpPr>
        <p:spPr>
          <a:xfrm>
            <a:off x="5257800" y="2286000"/>
            <a:ext cx="1645920" cy="822960"/>
          </a:xfrm>
          <a:prstGeom prst="rect">
            <a:avLst/>
          </a:prstGeom>
          <a:noFill/>
          <a:ln/>
        </p:spPr>
        <p:txBody>
          <a:bodyPr wrap="square" lIns="0" tIns="0" rIns="0" bIns="0" rtlCol="0" anchor="t"/>
          <a:lstStyle/>
          <a:p>
            <a:pPr marL="0" indent="0">
              <a:buNone/>
            </a:pPr>
            <a:r>
              <a:rPr lang="en-US" sz="1500" b="1" dirty="0">
                <a:solidFill>
                  <a:schemeClr val="tx1"/>
                </a:solidFill>
              </a:rPr>
              <a:t>Injection (SQLi, XSS)</a:t>
            </a:r>
            <a:endParaRPr lang="en-US" sz="1500" dirty="0"/>
          </a:p>
        </p:txBody>
      </p:sp>
      <p:sp>
        <p:nvSpPr>
          <p:cNvPr id="13" name="owasp A04"/>
          <p:cNvSpPr/>
          <p:nvPr/>
        </p:nvSpPr>
        <p:spPr>
          <a:xfrm>
            <a:off x="7338060" y="1463040"/>
            <a:ext cx="2011680" cy="1783080"/>
          </a:xfrm>
          <a:prstGeom prst="roundRect">
            <a:avLst>
              <a:gd name="adj" fmla="val 5128"/>
            </a:avLst>
          </a:prstGeom>
          <a:solidFill>
            <a:schemeClr val="bg2"/>
          </a:solidFill>
          <a:ln/>
        </p:spPr>
        <p:txBody>
          <a:bodyPr/>
          <a:lstStyle/>
          <a:p>
            <a:endParaRPr lang="fr-FR"/>
          </a:p>
        </p:txBody>
      </p:sp>
      <p:sp>
        <p:nvSpPr>
          <p:cNvPr id="14" name="Text 11"/>
          <p:cNvSpPr txBox="1"/>
          <p:nvPr/>
        </p:nvSpPr>
        <p:spPr>
          <a:xfrm>
            <a:off x="7520940" y="1645920"/>
            <a:ext cx="1371600" cy="548640"/>
          </a:xfrm>
          <a:prstGeom prst="rect">
            <a:avLst/>
          </a:prstGeom>
          <a:noFill/>
          <a:ln/>
        </p:spPr>
        <p:txBody>
          <a:bodyPr wrap="square" lIns="0" tIns="0" rIns="0" bIns="0" rtlCol="0" anchor="ctr"/>
          <a:lstStyle/>
          <a:p>
            <a:pPr marL="0" indent="0">
              <a:buNone/>
            </a:pPr>
            <a:r>
              <a:rPr lang="en-US" sz="2800" b="1" dirty="0">
                <a:solidFill>
                  <a:schemeClr val="accent1"/>
                </a:solidFill>
              </a:rPr>
              <a:t>A04</a:t>
            </a:r>
            <a:endParaRPr lang="en-US" sz="2800" dirty="0"/>
          </a:p>
        </p:txBody>
      </p:sp>
      <p:sp>
        <p:nvSpPr>
          <p:cNvPr id="15" name="Text 12"/>
          <p:cNvSpPr txBox="1"/>
          <p:nvPr/>
        </p:nvSpPr>
        <p:spPr>
          <a:xfrm>
            <a:off x="7520940" y="2286000"/>
            <a:ext cx="1645920" cy="822960"/>
          </a:xfrm>
          <a:prstGeom prst="rect">
            <a:avLst/>
          </a:prstGeom>
          <a:noFill/>
          <a:ln/>
        </p:spPr>
        <p:txBody>
          <a:bodyPr wrap="square" lIns="0" tIns="0" rIns="0" bIns="0" rtlCol="0" anchor="t"/>
          <a:lstStyle/>
          <a:p>
            <a:pPr marL="0" indent="0">
              <a:buNone/>
            </a:pPr>
            <a:r>
              <a:rPr lang="en-US" sz="1500" b="1" dirty="0">
                <a:solidFill>
                  <a:schemeClr val="tx1"/>
                </a:solidFill>
              </a:rPr>
              <a:t>Insecure Design</a:t>
            </a:r>
            <a:endParaRPr lang="en-US" sz="1500" dirty="0"/>
          </a:p>
        </p:txBody>
      </p:sp>
      <p:sp>
        <p:nvSpPr>
          <p:cNvPr id="16" name="owasp A05"/>
          <p:cNvSpPr/>
          <p:nvPr/>
        </p:nvSpPr>
        <p:spPr>
          <a:xfrm>
            <a:off x="9601200" y="1463040"/>
            <a:ext cx="2011680" cy="1783080"/>
          </a:xfrm>
          <a:prstGeom prst="roundRect">
            <a:avLst>
              <a:gd name="adj" fmla="val 5128"/>
            </a:avLst>
          </a:prstGeom>
          <a:solidFill>
            <a:schemeClr val="bg2"/>
          </a:solidFill>
          <a:ln/>
        </p:spPr>
        <p:txBody>
          <a:bodyPr/>
          <a:lstStyle/>
          <a:p>
            <a:endParaRPr lang="fr-FR"/>
          </a:p>
        </p:txBody>
      </p:sp>
      <p:sp>
        <p:nvSpPr>
          <p:cNvPr id="17" name="Text 14"/>
          <p:cNvSpPr txBox="1"/>
          <p:nvPr/>
        </p:nvSpPr>
        <p:spPr>
          <a:xfrm>
            <a:off x="9784080" y="1645920"/>
            <a:ext cx="1371600" cy="548640"/>
          </a:xfrm>
          <a:prstGeom prst="rect">
            <a:avLst/>
          </a:prstGeom>
          <a:noFill/>
          <a:ln/>
        </p:spPr>
        <p:txBody>
          <a:bodyPr wrap="square" lIns="0" tIns="0" rIns="0" bIns="0" rtlCol="0" anchor="ctr"/>
          <a:lstStyle/>
          <a:p>
            <a:pPr marL="0" indent="0">
              <a:buNone/>
            </a:pPr>
            <a:r>
              <a:rPr lang="en-US" sz="2800" b="1" dirty="0">
                <a:solidFill>
                  <a:schemeClr val="accent1"/>
                </a:solidFill>
              </a:rPr>
              <a:t>A05</a:t>
            </a:r>
            <a:endParaRPr lang="en-US" sz="2800" dirty="0"/>
          </a:p>
        </p:txBody>
      </p:sp>
      <p:sp>
        <p:nvSpPr>
          <p:cNvPr id="18" name="Text 15"/>
          <p:cNvSpPr txBox="1"/>
          <p:nvPr/>
        </p:nvSpPr>
        <p:spPr>
          <a:xfrm>
            <a:off x="9784080" y="2286000"/>
            <a:ext cx="1645920" cy="822960"/>
          </a:xfrm>
          <a:prstGeom prst="rect">
            <a:avLst/>
          </a:prstGeom>
          <a:noFill/>
          <a:ln/>
        </p:spPr>
        <p:txBody>
          <a:bodyPr wrap="square" lIns="0" tIns="0" rIns="0" bIns="0" rtlCol="0" anchor="t"/>
          <a:lstStyle/>
          <a:p>
            <a:pPr marL="0" indent="0">
              <a:buNone/>
            </a:pPr>
            <a:r>
              <a:rPr lang="en-US" sz="1500" b="1" dirty="0">
                <a:solidFill>
                  <a:schemeClr val="tx1"/>
                </a:solidFill>
              </a:rPr>
              <a:t>Security Misconfiguration</a:t>
            </a:r>
            <a:endParaRPr lang="en-US" sz="1500" dirty="0"/>
          </a:p>
        </p:txBody>
      </p:sp>
      <p:sp>
        <p:nvSpPr>
          <p:cNvPr id="19" name="owasp A06"/>
          <p:cNvSpPr/>
          <p:nvPr/>
        </p:nvSpPr>
        <p:spPr>
          <a:xfrm>
            <a:off x="548640" y="3474720"/>
            <a:ext cx="2011680" cy="1783080"/>
          </a:xfrm>
          <a:prstGeom prst="roundRect">
            <a:avLst>
              <a:gd name="adj" fmla="val 5128"/>
            </a:avLst>
          </a:prstGeom>
          <a:solidFill>
            <a:schemeClr val="bg2"/>
          </a:solidFill>
          <a:ln/>
        </p:spPr>
        <p:txBody>
          <a:bodyPr/>
          <a:lstStyle/>
          <a:p>
            <a:endParaRPr lang="fr-FR"/>
          </a:p>
        </p:txBody>
      </p:sp>
      <p:sp>
        <p:nvSpPr>
          <p:cNvPr id="20" name="Text 17"/>
          <p:cNvSpPr txBox="1"/>
          <p:nvPr/>
        </p:nvSpPr>
        <p:spPr>
          <a:xfrm>
            <a:off x="731520" y="3657600"/>
            <a:ext cx="1371600" cy="548640"/>
          </a:xfrm>
          <a:prstGeom prst="rect">
            <a:avLst/>
          </a:prstGeom>
          <a:noFill/>
          <a:ln/>
        </p:spPr>
        <p:txBody>
          <a:bodyPr wrap="square" lIns="0" tIns="0" rIns="0" bIns="0" rtlCol="0" anchor="ctr"/>
          <a:lstStyle/>
          <a:p>
            <a:pPr marL="0" indent="0">
              <a:buNone/>
            </a:pPr>
            <a:r>
              <a:rPr lang="en-US" sz="2800" b="1" dirty="0">
                <a:solidFill>
                  <a:schemeClr val="accent1"/>
                </a:solidFill>
              </a:rPr>
              <a:t>A06</a:t>
            </a:r>
            <a:endParaRPr lang="en-US" sz="2800" dirty="0"/>
          </a:p>
        </p:txBody>
      </p:sp>
      <p:sp>
        <p:nvSpPr>
          <p:cNvPr id="21" name="Text 18"/>
          <p:cNvSpPr txBox="1"/>
          <p:nvPr/>
        </p:nvSpPr>
        <p:spPr>
          <a:xfrm>
            <a:off x="731520" y="4297680"/>
            <a:ext cx="1645920" cy="822960"/>
          </a:xfrm>
          <a:prstGeom prst="rect">
            <a:avLst/>
          </a:prstGeom>
          <a:noFill/>
          <a:ln/>
        </p:spPr>
        <p:txBody>
          <a:bodyPr wrap="square" lIns="0" tIns="0" rIns="0" bIns="0" rtlCol="0" anchor="t"/>
          <a:lstStyle/>
          <a:p>
            <a:pPr marL="0" indent="0">
              <a:buNone/>
            </a:pPr>
            <a:r>
              <a:rPr lang="en-US" sz="1500" b="1" dirty="0">
                <a:solidFill>
                  <a:schemeClr val="tx1"/>
                </a:solidFill>
              </a:rPr>
              <a:t>Vulnerable &amp; Outdated Components</a:t>
            </a:r>
            <a:endParaRPr lang="en-US" sz="1500" dirty="0"/>
          </a:p>
        </p:txBody>
      </p:sp>
      <p:sp>
        <p:nvSpPr>
          <p:cNvPr id="22" name="owasp A07"/>
          <p:cNvSpPr/>
          <p:nvPr/>
        </p:nvSpPr>
        <p:spPr>
          <a:xfrm>
            <a:off x="2811780" y="3474720"/>
            <a:ext cx="2011680" cy="1783080"/>
          </a:xfrm>
          <a:prstGeom prst="roundRect">
            <a:avLst>
              <a:gd name="adj" fmla="val 5128"/>
            </a:avLst>
          </a:prstGeom>
          <a:solidFill>
            <a:schemeClr val="bg2"/>
          </a:solidFill>
          <a:ln/>
        </p:spPr>
        <p:txBody>
          <a:bodyPr/>
          <a:lstStyle/>
          <a:p>
            <a:endParaRPr lang="fr-FR"/>
          </a:p>
        </p:txBody>
      </p:sp>
      <p:sp>
        <p:nvSpPr>
          <p:cNvPr id="23" name="Text 20"/>
          <p:cNvSpPr txBox="1"/>
          <p:nvPr/>
        </p:nvSpPr>
        <p:spPr>
          <a:xfrm>
            <a:off x="2994660" y="3657600"/>
            <a:ext cx="1371600" cy="548640"/>
          </a:xfrm>
          <a:prstGeom prst="rect">
            <a:avLst/>
          </a:prstGeom>
          <a:noFill/>
          <a:ln/>
        </p:spPr>
        <p:txBody>
          <a:bodyPr wrap="square" lIns="0" tIns="0" rIns="0" bIns="0" rtlCol="0" anchor="ctr"/>
          <a:lstStyle/>
          <a:p>
            <a:pPr marL="0" indent="0">
              <a:buNone/>
            </a:pPr>
            <a:r>
              <a:rPr lang="en-US" sz="2800" b="1" dirty="0">
                <a:solidFill>
                  <a:schemeClr val="accent1"/>
                </a:solidFill>
              </a:rPr>
              <a:t>A07</a:t>
            </a:r>
            <a:endParaRPr lang="en-US" sz="2800" dirty="0"/>
          </a:p>
        </p:txBody>
      </p:sp>
      <p:sp>
        <p:nvSpPr>
          <p:cNvPr id="24" name="Text 21"/>
          <p:cNvSpPr txBox="1"/>
          <p:nvPr/>
        </p:nvSpPr>
        <p:spPr>
          <a:xfrm>
            <a:off x="2994660" y="4297680"/>
            <a:ext cx="1645920" cy="822960"/>
          </a:xfrm>
          <a:prstGeom prst="rect">
            <a:avLst/>
          </a:prstGeom>
          <a:noFill/>
          <a:ln/>
        </p:spPr>
        <p:txBody>
          <a:bodyPr wrap="square" lIns="0" tIns="0" rIns="0" bIns="0" rtlCol="0" anchor="t"/>
          <a:lstStyle/>
          <a:p>
            <a:pPr marL="0" indent="0">
              <a:buNone/>
            </a:pPr>
            <a:r>
              <a:rPr lang="en-US" sz="1500" b="1" dirty="0">
                <a:solidFill>
                  <a:schemeClr val="tx1"/>
                </a:solidFill>
              </a:rPr>
              <a:t>Identification &amp; Authentication Failures</a:t>
            </a:r>
            <a:endParaRPr lang="en-US" sz="1500" dirty="0"/>
          </a:p>
        </p:txBody>
      </p:sp>
      <p:sp>
        <p:nvSpPr>
          <p:cNvPr id="25" name="owasp A08"/>
          <p:cNvSpPr/>
          <p:nvPr/>
        </p:nvSpPr>
        <p:spPr>
          <a:xfrm>
            <a:off x="5074920" y="3474720"/>
            <a:ext cx="2011680" cy="1783080"/>
          </a:xfrm>
          <a:prstGeom prst="roundRect">
            <a:avLst>
              <a:gd name="adj" fmla="val 5128"/>
            </a:avLst>
          </a:prstGeom>
          <a:solidFill>
            <a:schemeClr val="bg2"/>
          </a:solidFill>
          <a:ln/>
        </p:spPr>
        <p:txBody>
          <a:bodyPr/>
          <a:lstStyle/>
          <a:p>
            <a:endParaRPr lang="fr-FR"/>
          </a:p>
        </p:txBody>
      </p:sp>
      <p:sp>
        <p:nvSpPr>
          <p:cNvPr id="26" name="Text 23"/>
          <p:cNvSpPr txBox="1"/>
          <p:nvPr/>
        </p:nvSpPr>
        <p:spPr>
          <a:xfrm>
            <a:off x="5257800" y="3657600"/>
            <a:ext cx="1371600" cy="548640"/>
          </a:xfrm>
          <a:prstGeom prst="rect">
            <a:avLst/>
          </a:prstGeom>
          <a:noFill/>
          <a:ln/>
        </p:spPr>
        <p:txBody>
          <a:bodyPr wrap="square" lIns="0" tIns="0" rIns="0" bIns="0" rtlCol="0" anchor="ctr"/>
          <a:lstStyle/>
          <a:p>
            <a:pPr marL="0" indent="0">
              <a:buNone/>
            </a:pPr>
            <a:r>
              <a:rPr lang="en-US" sz="2800" b="1" dirty="0">
                <a:solidFill>
                  <a:schemeClr val="accent1"/>
                </a:solidFill>
              </a:rPr>
              <a:t>A08</a:t>
            </a:r>
            <a:endParaRPr lang="en-US" sz="2800" dirty="0"/>
          </a:p>
        </p:txBody>
      </p:sp>
      <p:sp>
        <p:nvSpPr>
          <p:cNvPr id="27" name="Text 24"/>
          <p:cNvSpPr txBox="1"/>
          <p:nvPr/>
        </p:nvSpPr>
        <p:spPr>
          <a:xfrm>
            <a:off x="5257800" y="4297680"/>
            <a:ext cx="1645920" cy="822960"/>
          </a:xfrm>
          <a:prstGeom prst="rect">
            <a:avLst/>
          </a:prstGeom>
          <a:noFill/>
          <a:ln/>
        </p:spPr>
        <p:txBody>
          <a:bodyPr wrap="square" lIns="0" tIns="0" rIns="0" bIns="0" rtlCol="0" anchor="t"/>
          <a:lstStyle/>
          <a:p>
            <a:pPr marL="0" indent="0">
              <a:buNone/>
            </a:pPr>
            <a:r>
              <a:rPr lang="en-US" sz="1500" b="1" dirty="0">
                <a:solidFill>
                  <a:schemeClr val="tx1"/>
                </a:solidFill>
              </a:rPr>
              <a:t>Software &amp; Data Integrity Failures</a:t>
            </a:r>
            <a:endParaRPr lang="en-US" sz="1500" dirty="0"/>
          </a:p>
        </p:txBody>
      </p:sp>
      <p:sp>
        <p:nvSpPr>
          <p:cNvPr id="28" name="owasp A09"/>
          <p:cNvSpPr/>
          <p:nvPr/>
        </p:nvSpPr>
        <p:spPr>
          <a:xfrm>
            <a:off x="7338060" y="3474720"/>
            <a:ext cx="2011680" cy="1783080"/>
          </a:xfrm>
          <a:prstGeom prst="roundRect">
            <a:avLst>
              <a:gd name="adj" fmla="val 5128"/>
            </a:avLst>
          </a:prstGeom>
          <a:solidFill>
            <a:schemeClr val="bg2"/>
          </a:solidFill>
          <a:ln/>
        </p:spPr>
        <p:txBody>
          <a:bodyPr/>
          <a:lstStyle/>
          <a:p>
            <a:endParaRPr lang="fr-FR"/>
          </a:p>
        </p:txBody>
      </p:sp>
      <p:sp>
        <p:nvSpPr>
          <p:cNvPr id="29" name="Text 26"/>
          <p:cNvSpPr txBox="1"/>
          <p:nvPr/>
        </p:nvSpPr>
        <p:spPr>
          <a:xfrm>
            <a:off x="7520940" y="3657600"/>
            <a:ext cx="1371600" cy="548640"/>
          </a:xfrm>
          <a:prstGeom prst="rect">
            <a:avLst/>
          </a:prstGeom>
          <a:noFill/>
          <a:ln/>
        </p:spPr>
        <p:txBody>
          <a:bodyPr wrap="square" lIns="0" tIns="0" rIns="0" bIns="0" rtlCol="0" anchor="ctr"/>
          <a:lstStyle/>
          <a:p>
            <a:pPr marL="0" indent="0">
              <a:buNone/>
            </a:pPr>
            <a:r>
              <a:rPr lang="en-US" sz="2800" b="1" dirty="0">
                <a:solidFill>
                  <a:schemeClr val="accent1"/>
                </a:solidFill>
              </a:rPr>
              <a:t>A09</a:t>
            </a:r>
            <a:endParaRPr lang="en-US" sz="2800" dirty="0"/>
          </a:p>
        </p:txBody>
      </p:sp>
      <p:sp>
        <p:nvSpPr>
          <p:cNvPr id="30" name="Text 27"/>
          <p:cNvSpPr txBox="1"/>
          <p:nvPr/>
        </p:nvSpPr>
        <p:spPr>
          <a:xfrm>
            <a:off x="7520940" y="4297680"/>
            <a:ext cx="1645920" cy="822960"/>
          </a:xfrm>
          <a:prstGeom prst="rect">
            <a:avLst/>
          </a:prstGeom>
          <a:noFill/>
          <a:ln/>
        </p:spPr>
        <p:txBody>
          <a:bodyPr wrap="square" lIns="0" tIns="0" rIns="0" bIns="0" rtlCol="0" anchor="t"/>
          <a:lstStyle/>
          <a:p>
            <a:pPr marL="0" indent="0">
              <a:buNone/>
            </a:pPr>
            <a:r>
              <a:rPr lang="en-US" sz="1500" b="1" dirty="0">
                <a:solidFill>
                  <a:schemeClr val="tx1"/>
                </a:solidFill>
              </a:rPr>
              <a:t>Logging &amp; Monitoring Failures</a:t>
            </a:r>
            <a:endParaRPr lang="en-US" sz="1500" dirty="0"/>
          </a:p>
        </p:txBody>
      </p:sp>
      <p:sp>
        <p:nvSpPr>
          <p:cNvPr id="31" name="owasp A10"/>
          <p:cNvSpPr/>
          <p:nvPr/>
        </p:nvSpPr>
        <p:spPr>
          <a:xfrm>
            <a:off x="9601200" y="3474720"/>
            <a:ext cx="2011680" cy="1783080"/>
          </a:xfrm>
          <a:prstGeom prst="roundRect">
            <a:avLst>
              <a:gd name="adj" fmla="val 5128"/>
            </a:avLst>
          </a:prstGeom>
          <a:solidFill>
            <a:schemeClr val="bg2"/>
          </a:solidFill>
          <a:ln/>
        </p:spPr>
        <p:txBody>
          <a:bodyPr/>
          <a:lstStyle/>
          <a:p>
            <a:endParaRPr lang="fr-FR"/>
          </a:p>
        </p:txBody>
      </p:sp>
      <p:sp>
        <p:nvSpPr>
          <p:cNvPr id="32" name="Text 29"/>
          <p:cNvSpPr txBox="1"/>
          <p:nvPr/>
        </p:nvSpPr>
        <p:spPr>
          <a:xfrm>
            <a:off x="9784080" y="3657600"/>
            <a:ext cx="1371600" cy="548640"/>
          </a:xfrm>
          <a:prstGeom prst="rect">
            <a:avLst/>
          </a:prstGeom>
          <a:noFill/>
          <a:ln/>
        </p:spPr>
        <p:txBody>
          <a:bodyPr wrap="square" lIns="0" tIns="0" rIns="0" bIns="0" rtlCol="0" anchor="ctr"/>
          <a:lstStyle/>
          <a:p>
            <a:pPr marL="0" indent="0">
              <a:buNone/>
            </a:pPr>
            <a:r>
              <a:rPr lang="en-US" sz="2800" b="1" dirty="0">
                <a:solidFill>
                  <a:schemeClr val="accent1"/>
                </a:solidFill>
              </a:rPr>
              <a:t>A10</a:t>
            </a:r>
            <a:endParaRPr lang="en-US" sz="2800" dirty="0"/>
          </a:p>
        </p:txBody>
      </p:sp>
      <p:sp>
        <p:nvSpPr>
          <p:cNvPr id="33" name="Text 30"/>
          <p:cNvSpPr txBox="1"/>
          <p:nvPr/>
        </p:nvSpPr>
        <p:spPr>
          <a:xfrm>
            <a:off x="9784080" y="4297680"/>
            <a:ext cx="1645920" cy="822960"/>
          </a:xfrm>
          <a:prstGeom prst="rect">
            <a:avLst/>
          </a:prstGeom>
          <a:noFill/>
          <a:ln/>
        </p:spPr>
        <p:txBody>
          <a:bodyPr wrap="square" lIns="0" tIns="0" rIns="0" bIns="0" rtlCol="0" anchor="t"/>
          <a:lstStyle/>
          <a:p>
            <a:pPr marL="0" indent="0">
              <a:buNone/>
            </a:pPr>
            <a:r>
              <a:rPr lang="en-US" sz="1500" b="1" dirty="0">
                <a:solidFill>
                  <a:schemeClr val="tx1"/>
                </a:solidFill>
              </a:rPr>
              <a:t>Server-Side Request Forgery</a:t>
            </a:r>
            <a:endParaRPr lang="en-US" sz="1500" dirty="0"/>
          </a:p>
        </p:txBody>
      </p:sp>
      <p:sp>
        <p:nvSpPr>
          <p:cNvPr id="34" name="Text 31"/>
          <p:cNvSpPr txBox="1"/>
          <p:nvPr/>
        </p:nvSpPr>
        <p:spPr>
          <a:xfrm>
            <a:off x="548640" y="5669280"/>
            <a:ext cx="11064240" cy="411480"/>
          </a:xfrm>
          <a:prstGeom prst="rect">
            <a:avLst/>
          </a:prstGeom>
          <a:noFill/>
          <a:ln/>
        </p:spPr>
        <p:txBody>
          <a:bodyPr wrap="square" lIns="0" tIns="0" rIns="0" bIns="0" rtlCol="0" anchor="ctr"/>
          <a:lstStyle/>
          <a:p>
            <a:pPr marL="0" indent="0">
              <a:buNone/>
            </a:pPr>
            <a:r>
              <a:rPr lang="en-US" sz="1500" i="1" dirty="0">
                <a:solidFill>
                  <a:schemeClr val="tx2"/>
                </a:solidFill>
              </a:rPr>
              <a:t>Source: OWASP Top 10, 2021 edition. Injection and broken access control remain the most exploited.</a:t>
            </a:r>
            <a:endParaRPr lang="en-US" sz="15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14</a:t>
            </a:fld>
            <a:endParaRPr lang="en-US"/>
          </a:p>
        </p:txBody>
      </p:sp>
      <p:pic>
        <p:nvPicPr>
          <p:cNvPr id="35" name="Image 0" descr="/home/claude/unpacked/ppt/media/image1.png">
            <a:extLst>
              <a:ext uri="{FF2B5EF4-FFF2-40B4-BE49-F238E27FC236}">
                <a16:creationId xmlns:a16="http://schemas.microsoft.com/office/drawing/2014/main" id="{7D54CE41-63AD-156C-823C-B13689E960F1}"/>
              </a:ext>
            </a:extLst>
          </p:cNvPr>
          <p:cNvPicPr>
            <a:picLocks noChangeAspect="1"/>
          </p:cNvPicPr>
          <p:nvPr/>
        </p:nvPicPr>
        <p:blipFill>
          <a:blip r:embed="rId3"/>
          <a:stretch>
            <a:fillRect/>
          </a:stretch>
        </p:blipFill>
        <p:spPr>
          <a:xfrm>
            <a:off x="10904220" y="120343"/>
            <a:ext cx="960120" cy="9601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Why the classic WAF falls short (1/2)</a:t>
            </a:r>
            <a:endParaRPr lang="en-US" sz="3400" cap="all" dirty="0"/>
          </a:p>
        </p:txBody>
      </p:sp>
      <p:sp>
        <p:nvSpPr>
          <p:cNvPr id="4" name="limitation Static rules vs fast-changing apps"/>
          <p:cNvSpPr/>
          <p:nvPr/>
        </p:nvSpPr>
        <p:spPr>
          <a:xfrm>
            <a:off x="548640" y="1417320"/>
            <a:ext cx="11064240" cy="1325880"/>
          </a:xfrm>
          <a:prstGeom prst="roundRect">
            <a:avLst>
              <a:gd name="adj" fmla="val 6897"/>
            </a:avLst>
          </a:prstGeom>
          <a:solidFill>
            <a:schemeClr val="bg2"/>
          </a:solidFill>
          <a:ln/>
        </p:spPr>
        <p:txBody>
          <a:bodyPr/>
          <a:lstStyle/>
          <a:p>
            <a:endParaRPr lang="fr-FR"/>
          </a:p>
        </p:txBody>
      </p:sp>
      <p:sp>
        <p:nvSpPr>
          <p:cNvPr id="5" name="Static rules vs fast-changing apps tile"/>
          <p:cNvSpPr/>
          <p:nvPr/>
        </p:nvSpPr>
        <p:spPr>
          <a:xfrm>
            <a:off x="822960" y="1783080"/>
            <a:ext cx="594360" cy="594360"/>
          </a:xfrm>
          <a:prstGeom prst="roundRect">
            <a:avLst>
              <a:gd name="adj" fmla="val 18462"/>
            </a:avLst>
          </a:prstGeom>
          <a:solidFill>
            <a:schemeClr val="accent4"/>
          </a:solidFill>
          <a:ln/>
        </p:spPr>
        <p:txBody>
          <a:bodyPr/>
          <a:lstStyle/>
          <a:p>
            <a:endParaRPr lang="fr-FR"/>
          </a:p>
        </p:txBody>
      </p:sp>
      <p:pic>
        <p:nvPicPr>
          <p:cNvPr id="6" name="Static rules vs fast-changing apps glyph" descr="Static rules vs fast-changing apps"/>
          <p:cNvPicPr>
            <a:picLocks noChangeAspect="1"/>
          </p:cNvPicPr>
          <p:nvPr/>
        </p:nvPicPr>
        <p:blipFill>
          <a:blip r:embed="rId3"/>
          <a:stretch>
            <a:fillRect/>
          </a:stretch>
        </p:blipFill>
        <p:spPr>
          <a:xfrm>
            <a:off x="953719" y="1913839"/>
            <a:ext cx="332842" cy="332842"/>
          </a:xfrm>
          <a:prstGeom prst="rect">
            <a:avLst/>
          </a:prstGeom>
        </p:spPr>
      </p:pic>
      <p:sp>
        <p:nvSpPr>
          <p:cNvPr id="7" name="Text 3"/>
          <p:cNvSpPr txBox="1"/>
          <p:nvPr/>
        </p:nvSpPr>
        <p:spPr>
          <a:xfrm>
            <a:off x="1691640" y="1554480"/>
            <a:ext cx="5486400" cy="1051560"/>
          </a:xfrm>
          <a:prstGeom prst="rect">
            <a:avLst/>
          </a:prstGeom>
          <a:noFill/>
          <a:ln/>
        </p:spPr>
        <p:txBody>
          <a:bodyPr wrap="square" lIns="0" tIns="0" rIns="0" bIns="0" rtlCol="0" anchor="ctr"/>
          <a:lstStyle/>
          <a:p>
            <a:pPr marL="0" indent="0">
              <a:buNone/>
            </a:pPr>
            <a:r>
              <a:rPr lang="en-US" sz="1800" b="1" dirty="0">
                <a:solidFill>
                  <a:schemeClr val="tx1"/>
                </a:solidFill>
              </a:rPr>
              <a:t>Static rules vs fast-changing apps</a:t>
            </a:r>
            <a:endParaRPr lang="en-US" sz="1800" dirty="0"/>
          </a:p>
          <a:p>
            <a:pPr marL="0" indent="0">
              <a:buNone/>
            </a:pPr>
            <a:r>
              <a:rPr lang="en-US" sz="1400" dirty="0">
                <a:solidFill>
                  <a:schemeClr val="tx2"/>
                </a:solidFill>
              </a:rPr>
              <a:t>In DevOps, APIs and endpoints change constantly; manual rule tuning cannot keep pace.</a:t>
            </a:r>
            <a:endParaRPr lang="en-US" sz="1800" dirty="0"/>
          </a:p>
        </p:txBody>
      </p:sp>
      <p:sp>
        <p:nvSpPr>
          <p:cNvPr id="8" name="consequence arrow"/>
          <p:cNvSpPr/>
          <p:nvPr/>
        </p:nvSpPr>
        <p:spPr>
          <a:xfrm>
            <a:off x="7360920" y="1901952"/>
            <a:ext cx="365760" cy="365760"/>
          </a:xfrm>
          <a:prstGeom prst="rightArrow">
            <a:avLst/>
          </a:prstGeom>
          <a:solidFill>
            <a:schemeClr val="accent3"/>
          </a:solidFill>
          <a:ln/>
        </p:spPr>
        <p:txBody>
          <a:bodyPr/>
          <a:lstStyle/>
          <a:p>
            <a:endParaRPr lang="fr-FR"/>
          </a:p>
        </p:txBody>
      </p:sp>
      <p:sp>
        <p:nvSpPr>
          <p:cNvPr id="9" name="Text 5"/>
          <p:cNvSpPr txBox="1"/>
          <p:nvPr/>
        </p:nvSpPr>
        <p:spPr>
          <a:xfrm>
            <a:off x="7909560" y="1554480"/>
            <a:ext cx="3520440" cy="1051560"/>
          </a:xfrm>
          <a:prstGeom prst="rect">
            <a:avLst/>
          </a:prstGeom>
          <a:noFill/>
          <a:ln/>
        </p:spPr>
        <p:txBody>
          <a:bodyPr wrap="square" lIns="0" tIns="0" rIns="0" bIns="0" rtlCol="0" anchor="ctr"/>
          <a:lstStyle/>
          <a:p>
            <a:pPr marL="0" indent="0">
              <a:buNone/>
            </a:pPr>
            <a:r>
              <a:rPr lang="en-US" sz="1400" b="1" dirty="0">
                <a:solidFill>
                  <a:schemeClr val="accent3"/>
                </a:solidFill>
              </a:rPr>
              <a:t>Consequence</a:t>
            </a:r>
            <a:endParaRPr lang="en-US" sz="1400" dirty="0"/>
          </a:p>
          <a:p>
            <a:pPr marL="0" indent="0">
              <a:buNone/>
            </a:pPr>
            <a:r>
              <a:rPr lang="en-US" sz="1400" dirty="0">
                <a:solidFill>
                  <a:schemeClr val="tx2"/>
                </a:solidFill>
              </a:rPr>
              <a:t>Missed attacks when rules lag, false positives when they overcorrect.</a:t>
            </a:r>
            <a:endParaRPr lang="en-US" sz="1400" dirty="0"/>
          </a:p>
        </p:txBody>
      </p:sp>
      <p:sp>
        <p:nvSpPr>
          <p:cNvPr id="10" name="limitation No deep API security"/>
          <p:cNvSpPr/>
          <p:nvPr/>
        </p:nvSpPr>
        <p:spPr>
          <a:xfrm>
            <a:off x="548640" y="2971800"/>
            <a:ext cx="11064240" cy="1325880"/>
          </a:xfrm>
          <a:prstGeom prst="roundRect">
            <a:avLst>
              <a:gd name="adj" fmla="val 6897"/>
            </a:avLst>
          </a:prstGeom>
          <a:solidFill>
            <a:schemeClr val="bg2"/>
          </a:solidFill>
          <a:ln/>
        </p:spPr>
        <p:txBody>
          <a:bodyPr/>
          <a:lstStyle/>
          <a:p>
            <a:endParaRPr lang="fr-FR"/>
          </a:p>
        </p:txBody>
      </p:sp>
      <p:sp>
        <p:nvSpPr>
          <p:cNvPr id="11" name="No deep API security tile"/>
          <p:cNvSpPr/>
          <p:nvPr/>
        </p:nvSpPr>
        <p:spPr>
          <a:xfrm>
            <a:off x="822960" y="3337560"/>
            <a:ext cx="594360" cy="594360"/>
          </a:xfrm>
          <a:prstGeom prst="roundRect">
            <a:avLst>
              <a:gd name="adj" fmla="val 18462"/>
            </a:avLst>
          </a:prstGeom>
          <a:solidFill>
            <a:schemeClr val="accent4"/>
          </a:solidFill>
          <a:ln/>
        </p:spPr>
        <p:txBody>
          <a:bodyPr/>
          <a:lstStyle/>
          <a:p>
            <a:endParaRPr lang="fr-FR"/>
          </a:p>
        </p:txBody>
      </p:sp>
      <p:pic>
        <p:nvPicPr>
          <p:cNvPr id="12" name="No deep API security glyph" descr="No deep API security"/>
          <p:cNvPicPr>
            <a:picLocks noChangeAspect="1"/>
          </p:cNvPicPr>
          <p:nvPr/>
        </p:nvPicPr>
        <p:blipFill>
          <a:blip r:embed="rId4"/>
          <a:stretch>
            <a:fillRect/>
          </a:stretch>
        </p:blipFill>
        <p:spPr>
          <a:xfrm>
            <a:off x="953719" y="3468319"/>
            <a:ext cx="332842" cy="332842"/>
          </a:xfrm>
          <a:prstGeom prst="rect">
            <a:avLst/>
          </a:prstGeom>
        </p:spPr>
      </p:pic>
      <p:sp>
        <p:nvSpPr>
          <p:cNvPr id="13" name="Text 8"/>
          <p:cNvSpPr txBox="1"/>
          <p:nvPr/>
        </p:nvSpPr>
        <p:spPr>
          <a:xfrm>
            <a:off x="1691640" y="3108960"/>
            <a:ext cx="5486400" cy="1051560"/>
          </a:xfrm>
          <a:prstGeom prst="rect">
            <a:avLst/>
          </a:prstGeom>
          <a:noFill/>
          <a:ln/>
        </p:spPr>
        <p:txBody>
          <a:bodyPr wrap="square" lIns="0" tIns="0" rIns="0" bIns="0" rtlCol="0" anchor="ctr"/>
          <a:lstStyle/>
          <a:p>
            <a:pPr marL="0" indent="0">
              <a:buNone/>
            </a:pPr>
            <a:r>
              <a:rPr lang="en-US" sz="1800" b="1" dirty="0">
                <a:solidFill>
                  <a:schemeClr val="tx1"/>
                </a:solidFill>
              </a:rPr>
              <a:t>No deep API security</a:t>
            </a:r>
            <a:endParaRPr lang="en-US" sz="1800" dirty="0"/>
          </a:p>
          <a:p>
            <a:pPr marL="0" indent="0">
              <a:buNone/>
            </a:pPr>
            <a:r>
              <a:rPr lang="en-US" sz="1400" dirty="0">
                <a:solidFill>
                  <a:schemeClr val="tx2"/>
                </a:solidFill>
              </a:rPr>
              <a:t>Built for HTML forms, not REST, GraphQL or mobile APIs; no discovery, schema validation or object-level checks.</a:t>
            </a:r>
            <a:endParaRPr lang="en-US" sz="1800" dirty="0"/>
          </a:p>
        </p:txBody>
      </p:sp>
      <p:sp>
        <p:nvSpPr>
          <p:cNvPr id="14" name="consequence arrow"/>
          <p:cNvSpPr/>
          <p:nvPr/>
        </p:nvSpPr>
        <p:spPr>
          <a:xfrm>
            <a:off x="7360920" y="3456432"/>
            <a:ext cx="365760" cy="365760"/>
          </a:xfrm>
          <a:prstGeom prst="rightArrow">
            <a:avLst/>
          </a:prstGeom>
          <a:solidFill>
            <a:schemeClr val="accent3"/>
          </a:solidFill>
          <a:ln/>
        </p:spPr>
        <p:txBody>
          <a:bodyPr/>
          <a:lstStyle/>
          <a:p>
            <a:endParaRPr lang="fr-FR"/>
          </a:p>
        </p:txBody>
      </p:sp>
      <p:sp>
        <p:nvSpPr>
          <p:cNvPr id="15" name="Text 10"/>
          <p:cNvSpPr txBox="1"/>
          <p:nvPr/>
        </p:nvSpPr>
        <p:spPr>
          <a:xfrm>
            <a:off x="7909560" y="3108960"/>
            <a:ext cx="3520440" cy="1051560"/>
          </a:xfrm>
          <a:prstGeom prst="rect">
            <a:avLst/>
          </a:prstGeom>
          <a:noFill/>
          <a:ln/>
        </p:spPr>
        <p:txBody>
          <a:bodyPr wrap="square" lIns="0" tIns="0" rIns="0" bIns="0" rtlCol="0" anchor="ctr"/>
          <a:lstStyle/>
          <a:p>
            <a:pPr marL="0" indent="0">
              <a:buNone/>
            </a:pPr>
            <a:r>
              <a:rPr lang="en-US" sz="1400" b="1" dirty="0">
                <a:solidFill>
                  <a:schemeClr val="accent3"/>
                </a:solidFill>
              </a:rPr>
              <a:t>Consequence</a:t>
            </a:r>
            <a:endParaRPr lang="en-US" sz="1400" dirty="0"/>
          </a:p>
          <a:p>
            <a:pPr marL="0" indent="0">
              <a:buNone/>
            </a:pPr>
            <a:r>
              <a:rPr lang="en-US" sz="1400" dirty="0">
                <a:solidFill>
                  <a:schemeClr val="tx2"/>
                </a:solidFill>
              </a:rPr>
              <a:t>BOLA, mass assignment and excessive data exposure bypass the WAF.</a:t>
            </a:r>
            <a:endParaRPr lang="en-US" sz="1400" dirty="0"/>
          </a:p>
        </p:txBody>
      </p:sp>
      <p:sp>
        <p:nvSpPr>
          <p:cNvPr id="16" name="limitation Signatures are easy to evade"/>
          <p:cNvSpPr/>
          <p:nvPr/>
        </p:nvSpPr>
        <p:spPr>
          <a:xfrm>
            <a:off x="548640" y="4526280"/>
            <a:ext cx="11064240" cy="1325880"/>
          </a:xfrm>
          <a:prstGeom prst="roundRect">
            <a:avLst>
              <a:gd name="adj" fmla="val 6897"/>
            </a:avLst>
          </a:prstGeom>
          <a:solidFill>
            <a:schemeClr val="bg2"/>
          </a:solidFill>
          <a:ln/>
        </p:spPr>
        <p:txBody>
          <a:bodyPr/>
          <a:lstStyle/>
          <a:p>
            <a:endParaRPr lang="fr-FR"/>
          </a:p>
        </p:txBody>
      </p:sp>
      <p:sp>
        <p:nvSpPr>
          <p:cNvPr id="17" name="Signatures are easy to evade tile"/>
          <p:cNvSpPr/>
          <p:nvPr/>
        </p:nvSpPr>
        <p:spPr>
          <a:xfrm>
            <a:off x="822960" y="4892040"/>
            <a:ext cx="594360" cy="594360"/>
          </a:xfrm>
          <a:prstGeom prst="roundRect">
            <a:avLst>
              <a:gd name="adj" fmla="val 18462"/>
            </a:avLst>
          </a:prstGeom>
          <a:solidFill>
            <a:schemeClr val="accent4"/>
          </a:solidFill>
          <a:ln/>
        </p:spPr>
        <p:txBody>
          <a:bodyPr/>
          <a:lstStyle/>
          <a:p>
            <a:endParaRPr lang="fr-FR"/>
          </a:p>
        </p:txBody>
      </p:sp>
      <p:pic>
        <p:nvPicPr>
          <p:cNvPr id="18" name="Signatures are easy to evade glyph" descr="Signatures are easy to evade"/>
          <p:cNvPicPr>
            <a:picLocks noChangeAspect="1"/>
          </p:cNvPicPr>
          <p:nvPr/>
        </p:nvPicPr>
        <p:blipFill>
          <a:blip r:embed="rId5"/>
          <a:stretch>
            <a:fillRect/>
          </a:stretch>
        </p:blipFill>
        <p:spPr>
          <a:xfrm>
            <a:off x="953719" y="5022799"/>
            <a:ext cx="332842" cy="332842"/>
          </a:xfrm>
          <a:prstGeom prst="rect">
            <a:avLst/>
          </a:prstGeom>
        </p:spPr>
      </p:pic>
      <p:sp>
        <p:nvSpPr>
          <p:cNvPr id="19" name="Text 13"/>
          <p:cNvSpPr txBox="1"/>
          <p:nvPr/>
        </p:nvSpPr>
        <p:spPr>
          <a:xfrm>
            <a:off x="1691640" y="4663440"/>
            <a:ext cx="5486400" cy="1051560"/>
          </a:xfrm>
          <a:prstGeom prst="rect">
            <a:avLst/>
          </a:prstGeom>
          <a:noFill/>
          <a:ln/>
        </p:spPr>
        <p:txBody>
          <a:bodyPr wrap="square" lIns="0" tIns="0" rIns="0" bIns="0" rtlCol="0" anchor="ctr"/>
          <a:lstStyle/>
          <a:p>
            <a:pPr marL="0" indent="0">
              <a:buNone/>
            </a:pPr>
            <a:r>
              <a:rPr lang="en-US" sz="1800" b="1" dirty="0">
                <a:solidFill>
                  <a:schemeClr val="tx1"/>
                </a:solidFill>
              </a:rPr>
              <a:t>Signatures are easy to evade</a:t>
            </a:r>
            <a:endParaRPr lang="en-US" sz="1800" dirty="0"/>
          </a:p>
          <a:p>
            <a:pPr marL="0" indent="0">
              <a:buNone/>
            </a:pPr>
            <a:r>
              <a:rPr lang="en-US" sz="1400" dirty="0">
                <a:solidFill>
                  <a:schemeClr val="tx2"/>
                </a:solidFill>
              </a:rPr>
              <a:t>Encoding, small mutations or fragmentation defeat signature matching.</a:t>
            </a:r>
            <a:endParaRPr lang="en-US" sz="1800" dirty="0"/>
          </a:p>
        </p:txBody>
      </p:sp>
      <p:sp>
        <p:nvSpPr>
          <p:cNvPr id="20" name="consequence arrow"/>
          <p:cNvSpPr/>
          <p:nvPr/>
        </p:nvSpPr>
        <p:spPr>
          <a:xfrm>
            <a:off x="7360920" y="5010912"/>
            <a:ext cx="365760" cy="365760"/>
          </a:xfrm>
          <a:prstGeom prst="rightArrow">
            <a:avLst/>
          </a:prstGeom>
          <a:solidFill>
            <a:schemeClr val="accent3"/>
          </a:solidFill>
          <a:ln/>
        </p:spPr>
        <p:txBody>
          <a:bodyPr/>
          <a:lstStyle/>
          <a:p>
            <a:endParaRPr lang="fr-FR"/>
          </a:p>
        </p:txBody>
      </p:sp>
      <p:sp>
        <p:nvSpPr>
          <p:cNvPr id="21" name="Text 15"/>
          <p:cNvSpPr txBox="1"/>
          <p:nvPr/>
        </p:nvSpPr>
        <p:spPr>
          <a:xfrm>
            <a:off x="7909560" y="4663440"/>
            <a:ext cx="3520440" cy="1051560"/>
          </a:xfrm>
          <a:prstGeom prst="rect">
            <a:avLst/>
          </a:prstGeom>
          <a:noFill/>
          <a:ln/>
        </p:spPr>
        <p:txBody>
          <a:bodyPr wrap="square" lIns="0" tIns="0" rIns="0" bIns="0" rtlCol="0" anchor="ctr"/>
          <a:lstStyle/>
          <a:p>
            <a:pPr marL="0" indent="0">
              <a:buNone/>
            </a:pPr>
            <a:r>
              <a:rPr lang="en-US" sz="1400" b="1" dirty="0">
                <a:solidFill>
                  <a:schemeClr val="accent3"/>
                </a:solidFill>
              </a:rPr>
              <a:t>Consequence</a:t>
            </a:r>
            <a:endParaRPr lang="en-US" sz="1400" dirty="0"/>
          </a:p>
          <a:p>
            <a:pPr marL="0" indent="0">
              <a:buNone/>
            </a:pPr>
            <a:r>
              <a:rPr lang="en-US" sz="1400" dirty="0">
                <a:solidFill>
                  <a:schemeClr val="tx2"/>
                </a:solidFill>
              </a:rPr>
              <a:t>Zero-days stay invisible until the vendor updates rules.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a:t>
            </a:fld>
            <a:endParaRPr lang="en-US"/>
          </a:p>
        </p:txBody>
      </p:sp>
      <p:pic>
        <p:nvPicPr>
          <p:cNvPr id="3" name="Image 0" descr="/home/claude/unpacked/ppt/media/image1.png">
            <a:extLst>
              <a:ext uri="{FF2B5EF4-FFF2-40B4-BE49-F238E27FC236}">
                <a16:creationId xmlns:a16="http://schemas.microsoft.com/office/drawing/2014/main" id="{224A1766-4D3A-F575-2AF3-BD80D503C351}"/>
              </a:ext>
            </a:extLst>
          </p:cNvPr>
          <p:cNvPicPr>
            <a:picLocks noChangeAspect="1"/>
          </p:cNvPicPr>
          <p:nvPr/>
        </p:nvPicPr>
        <p:blipFill>
          <a:blip r:embed="rId6"/>
          <a:stretch>
            <a:fillRect/>
          </a:stretch>
        </p:blipFill>
        <p:spPr>
          <a:xfrm>
            <a:off x="10683240" y="228600"/>
            <a:ext cx="960120" cy="9601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Why the classic WAF falls short (2/2)</a:t>
            </a:r>
            <a:endParaRPr lang="en-US" sz="3400" cap="all" dirty="0"/>
          </a:p>
        </p:txBody>
      </p:sp>
      <p:sp>
        <p:nvSpPr>
          <p:cNvPr id="4" name="limitation High overhead, alert fatigue"/>
          <p:cNvSpPr/>
          <p:nvPr/>
        </p:nvSpPr>
        <p:spPr>
          <a:xfrm>
            <a:off x="548640" y="1417320"/>
            <a:ext cx="11064240" cy="1325880"/>
          </a:xfrm>
          <a:prstGeom prst="roundRect">
            <a:avLst>
              <a:gd name="adj" fmla="val 6897"/>
            </a:avLst>
          </a:prstGeom>
          <a:solidFill>
            <a:schemeClr val="bg2"/>
          </a:solidFill>
          <a:ln/>
        </p:spPr>
        <p:txBody>
          <a:bodyPr/>
          <a:lstStyle/>
          <a:p>
            <a:endParaRPr lang="fr-FR"/>
          </a:p>
        </p:txBody>
      </p:sp>
      <p:sp>
        <p:nvSpPr>
          <p:cNvPr id="5" name="High overhead, alert fatigue tile"/>
          <p:cNvSpPr/>
          <p:nvPr/>
        </p:nvSpPr>
        <p:spPr>
          <a:xfrm>
            <a:off x="822960" y="1783080"/>
            <a:ext cx="594360" cy="594360"/>
          </a:xfrm>
          <a:prstGeom prst="roundRect">
            <a:avLst>
              <a:gd name="adj" fmla="val 18462"/>
            </a:avLst>
          </a:prstGeom>
          <a:solidFill>
            <a:schemeClr val="accent4"/>
          </a:solidFill>
          <a:ln/>
        </p:spPr>
        <p:txBody>
          <a:bodyPr/>
          <a:lstStyle/>
          <a:p>
            <a:endParaRPr lang="fr-FR"/>
          </a:p>
        </p:txBody>
      </p:sp>
      <p:pic>
        <p:nvPicPr>
          <p:cNvPr id="6" name="High overhead, alert fatigue glyph" descr="High overhead, alert fatigue"/>
          <p:cNvPicPr>
            <a:picLocks noChangeAspect="1"/>
          </p:cNvPicPr>
          <p:nvPr/>
        </p:nvPicPr>
        <p:blipFill>
          <a:blip r:embed="rId3"/>
          <a:stretch>
            <a:fillRect/>
          </a:stretch>
        </p:blipFill>
        <p:spPr>
          <a:xfrm>
            <a:off x="953719" y="1913839"/>
            <a:ext cx="332842" cy="332842"/>
          </a:xfrm>
          <a:prstGeom prst="rect">
            <a:avLst/>
          </a:prstGeom>
        </p:spPr>
      </p:pic>
      <p:sp>
        <p:nvSpPr>
          <p:cNvPr id="7" name="Text 3"/>
          <p:cNvSpPr txBox="1"/>
          <p:nvPr/>
        </p:nvSpPr>
        <p:spPr>
          <a:xfrm>
            <a:off x="1691640" y="1554480"/>
            <a:ext cx="5486400" cy="1051560"/>
          </a:xfrm>
          <a:prstGeom prst="rect">
            <a:avLst/>
          </a:prstGeom>
          <a:noFill/>
          <a:ln/>
        </p:spPr>
        <p:txBody>
          <a:bodyPr wrap="square" lIns="0" tIns="0" rIns="0" bIns="0" rtlCol="0" anchor="ctr"/>
          <a:lstStyle/>
          <a:p>
            <a:pPr marL="0" indent="0">
              <a:buNone/>
            </a:pPr>
            <a:r>
              <a:rPr lang="en-US" sz="1800" b="1" dirty="0">
                <a:solidFill>
                  <a:schemeClr val="tx1"/>
                </a:solidFill>
              </a:rPr>
              <a:t>High overhead, alert fatigue</a:t>
            </a:r>
            <a:endParaRPr lang="en-US" sz="1800" dirty="0"/>
          </a:p>
          <a:p>
            <a:pPr marL="0" indent="0">
              <a:buNone/>
            </a:pPr>
            <a:r>
              <a:rPr lang="en-US" sz="1400" dirty="0">
                <a:solidFill>
                  <a:schemeClr val="tx2"/>
                </a:solidFill>
              </a:rPr>
              <a:t>Constant configuration, signature updates and false-positive triage across microservices and clouds.</a:t>
            </a:r>
            <a:endParaRPr lang="en-US" sz="1800" dirty="0"/>
          </a:p>
        </p:txBody>
      </p:sp>
      <p:sp>
        <p:nvSpPr>
          <p:cNvPr id="8" name="consequence arrow"/>
          <p:cNvSpPr/>
          <p:nvPr/>
        </p:nvSpPr>
        <p:spPr>
          <a:xfrm>
            <a:off x="7360920" y="1901952"/>
            <a:ext cx="365760" cy="365760"/>
          </a:xfrm>
          <a:prstGeom prst="rightArrow">
            <a:avLst/>
          </a:prstGeom>
          <a:solidFill>
            <a:schemeClr val="accent3"/>
          </a:solidFill>
          <a:ln/>
        </p:spPr>
        <p:txBody>
          <a:bodyPr/>
          <a:lstStyle/>
          <a:p>
            <a:endParaRPr lang="fr-FR"/>
          </a:p>
        </p:txBody>
      </p:sp>
      <p:sp>
        <p:nvSpPr>
          <p:cNvPr id="9" name="Text 5"/>
          <p:cNvSpPr txBox="1"/>
          <p:nvPr/>
        </p:nvSpPr>
        <p:spPr>
          <a:xfrm>
            <a:off x="7909560" y="1554480"/>
            <a:ext cx="3520440" cy="1051560"/>
          </a:xfrm>
          <a:prstGeom prst="rect">
            <a:avLst/>
          </a:prstGeom>
          <a:noFill/>
          <a:ln/>
        </p:spPr>
        <p:txBody>
          <a:bodyPr wrap="square" lIns="0" tIns="0" rIns="0" bIns="0" rtlCol="0" anchor="ctr"/>
          <a:lstStyle/>
          <a:p>
            <a:pPr marL="0" indent="0">
              <a:buNone/>
            </a:pPr>
            <a:r>
              <a:rPr lang="en-US" sz="1400" b="1" dirty="0">
                <a:solidFill>
                  <a:schemeClr val="accent3"/>
                </a:solidFill>
              </a:rPr>
              <a:t>Consequence</a:t>
            </a:r>
            <a:endParaRPr lang="en-US" sz="1400" dirty="0"/>
          </a:p>
          <a:p>
            <a:pPr marL="0" indent="0">
              <a:buNone/>
            </a:pPr>
            <a:r>
              <a:rPr lang="en-US" sz="1400" dirty="0">
                <a:solidFill>
                  <a:schemeClr val="tx2"/>
                </a:solidFill>
              </a:rPr>
              <a:t>Many deployments never reach blocking mode.</a:t>
            </a:r>
            <a:endParaRPr lang="en-US" sz="1400" dirty="0"/>
          </a:p>
        </p:txBody>
      </p:sp>
      <p:sp>
        <p:nvSpPr>
          <p:cNvPr id="10" name="limitation Encrypted, distributed traffic"/>
          <p:cNvSpPr/>
          <p:nvPr/>
        </p:nvSpPr>
        <p:spPr>
          <a:xfrm>
            <a:off x="548640" y="2971800"/>
            <a:ext cx="11064240" cy="1325880"/>
          </a:xfrm>
          <a:prstGeom prst="roundRect">
            <a:avLst>
              <a:gd name="adj" fmla="val 6897"/>
            </a:avLst>
          </a:prstGeom>
          <a:solidFill>
            <a:schemeClr val="bg2"/>
          </a:solidFill>
          <a:ln/>
        </p:spPr>
        <p:txBody>
          <a:bodyPr/>
          <a:lstStyle/>
          <a:p>
            <a:endParaRPr lang="fr-FR"/>
          </a:p>
        </p:txBody>
      </p:sp>
      <p:sp>
        <p:nvSpPr>
          <p:cNvPr id="11" name="Encrypted, distributed traffic tile"/>
          <p:cNvSpPr/>
          <p:nvPr/>
        </p:nvSpPr>
        <p:spPr>
          <a:xfrm>
            <a:off x="822960" y="3337560"/>
            <a:ext cx="594360" cy="594360"/>
          </a:xfrm>
          <a:prstGeom prst="roundRect">
            <a:avLst>
              <a:gd name="adj" fmla="val 18462"/>
            </a:avLst>
          </a:prstGeom>
          <a:solidFill>
            <a:schemeClr val="accent4"/>
          </a:solidFill>
          <a:ln/>
        </p:spPr>
        <p:txBody>
          <a:bodyPr/>
          <a:lstStyle/>
          <a:p>
            <a:endParaRPr lang="fr-FR"/>
          </a:p>
        </p:txBody>
      </p:sp>
      <p:pic>
        <p:nvPicPr>
          <p:cNvPr id="12" name="Encrypted, distributed traffic glyph" descr="Encrypted, distributed traffic"/>
          <p:cNvPicPr>
            <a:picLocks noChangeAspect="1"/>
          </p:cNvPicPr>
          <p:nvPr/>
        </p:nvPicPr>
        <p:blipFill>
          <a:blip r:embed="rId4"/>
          <a:stretch>
            <a:fillRect/>
          </a:stretch>
        </p:blipFill>
        <p:spPr>
          <a:xfrm>
            <a:off x="953719" y="3468319"/>
            <a:ext cx="332842" cy="332842"/>
          </a:xfrm>
          <a:prstGeom prst="rect">
            <a:avLst/>
          </a:prstGeom>
        </p:spPr>
      </p:pic>
      <p:sp>
        <p:nvSpPr>
          <p:cNvPr id="13" name="Text 8"/>
          <p:cNvSpPr txBox="1"/>
          <p:nvPr/>
        </p:nvSpPr>
        <p:spPr>
          <a:xfrm>
            <a:off x="1691640" y="3108960"/>
            <a:ext cx="5486400" cy="1051560"/>
          </a:xfrm>
          <a:prstGeom prst="rect">
            <a:avLst/>
          </a:prstGeom>
          <a:noFill/>
          <a:ln/>
        </p:spPr>
        <p:txBody>
          <a:bodyPr wrap="square" lIns="0" tIns="0" rIns="0" bIns="0" rtlCol="0" anchor="ctr"/>
          <a:lstStyle/>
          <a:p>
            <a:pPr marL="0" indent="0">
              <a:buNone/>
            </a:pPr>
            <a:r>
              <a:rPr lang="en-US" sz="1800" b="1" dirty="0">
                <a:solidFill>
                  <a:schemeClr val="tx1"/>
                </a:solidFill>
              </a:rPr>
              <a:t>Encrypted, distributed traffic</a:t>
            </a:r>
            <a:endParaRPr lang="en-US" sz="1800" dirty="0"/>
          </a:p>
          <a:p>
            <a:pPr marL="0" indent="0">
              <a:buNone/>
            </a:pPr>
            <a:r>
              <a:rPr lang="en-US" sz="1400" dirty="0">
                <a:solidFill>
                  <a:schemeClr val="tx2"/>
                </a:solidFill>
              </a:rPr>
              <a:t>80%+ of traffic is encrypted; apps span cloud, edge and serverless.</a:t>
            </a:r>
            <a:endParaRPr lang="en-US" sz="1800" dirty="0"/>
          </a:p>
        </p:txBody>
      </p:sp>
      <p:sp>
        <p:nvSpPr>
          <p:cNvPr id="14" name="consequence arrow"/>
          <p:cNvSpPr/>
          <p:nvPr/>
        </p:nvSpPr>
        <p:spPr>
          <a:xfrm>
            <a:off x="7360920" y="3456432"/>
            <a:ext cx="365760" cy="365760"/>
          </a:xfrm>
          <a:prstGeom prst="rightArrow">
            <a:avLst/>
          </a:prstGeom>
          <a:solidFill>
            <a:schemeClr val="accent3"/>
          </a:solidFill>
          <a:ln/>
        </p:spPr>
        <p:txBody>
          <a:bodyPr/>
          <a:lstStyle/>
          <a:p>
            <a:endParaRPr lang="fr-FR"/>
          </a:p>
        </p:txBody>
      </p:sp>
      <p:sp>
        <p:nvSpPr>
          <p:cNvPr id="15" name="Text 10"/>
          <p:cNvSpPr txBox="1"/>
          <p:nvPr/>
        </p:nvSpPr>
        <p:spPr>
          <a:xfrm>
            <a:off x="7909560" y="3108960"/>
            <a:ext cx="3520440" cy="1051560"/>
          </a:xfrm>
          <a:prstGeom prst="rect">
            <a:avLst/>
          </a:prstGeom>
          <a:noFill/>
          <a:ln/>
        </p:spPr>
        <p:txBody>
          <a:bodyPr wrap="square" lIns="0" tIns="0" rIns="0" bIns="0" rtlCol="0" anchor="ctr"/>
          <a:lstStyle/>
          <a:p>
            <a:pPr marL="0" indent="0">
              <a:buNone/>
            </a:pPr>
            <a:r>
              <a:rPr lang="en-US" sz="1400" b="1" dirty="0">
                <a:solidFill>
                  <a:schemeClr val="accent3"/>
                </a:solidFill>
              </a:rPr>
              <a:t>Consequence</a:t>
            </a:r>
            <a:endParaRPr lang="en-US" sz="1400" dirty="0"/>
          </a:p>
          <a:p>
            <a:pPr marL="0" indent="0">
              <a:buNone/>
            </a:pPr>
            <a:r>
              <a:rPr lang="en-US" sz="1400" dirty="0">
                <a:solidFill>
                  <a:schemeClr val="tx2"/>
                </a:solidFill>
              </a:rPr>
              <a:t>Appliances struggle with TLS at scale and lose visibility outside chokepoints.</a:t>
            </a:r>
            <a:endParaRPr lang="en-US" sz="1400" dirty="0"/>
          </a:p>
        </p:txBody>
      </p:sp>
      <p:sp>
        <p:nvSpPr>
          <p:cNvPr id="16" name="limitation Limited scalability"/>
          <p:cNvSpPr/>
          <p:nvPr/>
        </p:nvSpPr>
        <p:spPr>
          <a:xfrm>
            <a:off x="548640" y="4526280"/>
            <a:ext cx="11064240" cy="1325880"/>
          </a:xfrm>
          <a:prstGeom prst="roundRect">
            <a:avLst>
              <a:gd name="adj" fmla="val 6897"/>
            </a:avLst>
          </a:prstGeom>
          <a:solidFill>
            <a:schemeClr val="bg2"/>
          </a:solidFill>
          <a:ln/>
        </p:spPr>
        <p:txBody>
          <a:bodyPr/>
          <a:lstStyle/>
          <a:p>
            <a:endParaRPr lang="fr-FR"/>
          </a:p>
        </p:txBody>
      </p:sp>
      <p:sp>
        <p:nvSpPr>
          <p:cNvPr id="17" name="Limited scalability tile"/>
          <p:cNvSpPr/>
          <p:nvPr/>
        </p:nvSpPr>
        <p:spPr>
          <a:xfrm>
            <a:off x="822960" y="4892040"/>
            <a:ext cx="594360" cy="594360"/>
          </a:xfrm>
          <a:prstGeom prst="roundRect">
            <a:avLst>
              <a:gd name="adj" fmla="val 18462"/>
            </a:avLst>
          </a:prstGeom>
          <a:solidFill>
            <a:schemeClr val="accent4"/>
          </a:solidFill>
          <a:ln/>
        </p:spPr>
        <p:txBody>
          <a:bodyPr/>
          <a:lstStyle/>
          <a:p>
            <a:endParaRPr lang="fr-FR"/>
          </a:p>
        </p:txBody>
      </p:sp>
      <p:pic>
        <p:nvPicPr>
          <p:cNvPr id="18" name="Limited scalability glyph" descr="Limited scalability"/>
          <p:cNvPicPr>
            <a:picLocks noChangeAspect="1"/>
          </p:cNvPicPr>
          <p:nvPr/>
        </p:nvPicPr>
        <p:blipFill>
          <a:blip r:embed="rId5"/>
          <a:stretch>
            <a:fillRect/>
          </a:stretch>
        </p:blipFill>
        <p:spPr>
          <a:xfrm>
            <a:off x="953719" y="5022799"/>
            <a:ext cx="332842" cy="332842"/>
          </a:xfrm>
          <a:prstGeom prst="rect">
            <a:avLst/>
          </a:prstGeom>
        </p:spPr>
      </p:pic>
      <p:sp>
        <p:nvSpPr>
          <p:cNvPr id="19" name="Text 13"/>
          <p:cNvSpPr txBox="1"/>
          <p:nvPr/>
        </p:nvSpPr>
        <p:spPr>
          <a:xfrm>
            <a:off x="1691640" y="4663440"/>
            <a:ext cx="5486400" cy="1051560"/>
          </a:xfrm>
          <a:prstGeom prst="rect">
            <a:avLst/>
          </a:prstGeom>
          <a:noFill/>
          <a:ln/>
        </p:spPr>
        <p:txBody>
          <a:bodyPr wrap="square" lIns="0" tIns="0" rIns="0" bIns="0" rtlCol="0" anchor="ctr"/>
          <a:lstStyle/>
          <a:p>
            <a:pPr marL="0" indent="0">
              <a:buNone/>
            </a:pPr>
            <a:r>
              <a:rPr lang="en-US" sz="1800" b="1" dirty="0">
                <a:solidFill>
                  <a:schemeClr val="tx1"/>
                </a:solidFill>
              </a:rPr>
              <a:t>Limited scalability</a:t>
            </a:r>
            <a:endParaRPr lang="en-US" sz="1800" dirty="0"/>
          </a:p>
          <a:p>
            <a:pPr marL="0" indent="0">
              <a:buNone/>
            </a:pPr>
            <a:r>
              <a:rPr lang="en-US" sz="1400" dirty="0">
                <a:solidFill>
                  <a:schemeClr val="tx2"/>
                </a:solidFill>
              </a:rPr>
              <a:t>Appliance and VM WAFs cannot autoscale with global demand.</a:t>
            </a:r>
            <a:endParaRPr lang="en-US" sz="1800" dirty="0"/>
          </a:p>
        </p:txBody>
      </p:sp>
      <p:sp>
        <p:nvSpPr>
          <p:cNvPr id="20" name="consequence arrow"/>
          <p:cNvSpPr/>
          <p:nvPr/>
        </p:nvSpPr>
        <p:spPr>
          <a:xfrm>
            <a:off x="7360920" y="5010912"/>
            <a:ext cx="365760" cy="365760"/>
          </a:xfrm>
          <a:prstGeom prst="rightArrow">
            <a:avLst/>
          </a:prstGeom>
          <a:solidFill>
            <a:schemeClr val="accent3"/>
          </a:solidFill>
          <a:ln/>
        </p:spPr>
        <p:txBody>
          <a:bodyPr/>
          <a:lstStyle/>
          <a:p>
            <a:endParaRPr lang="fr-FR"/>
          </a:p>
        </p:txBody>
      </p:sp>
      <p:sp>
        <p:nvSpPr>
          <p:cNvPr id="21" name="Text 15"/>
          <p:cNvSpPr txBox="1"/>
          <p:nvPr/>
        </p:nvSpPr>
        <p:spPr>
          <a:xfrm>
            <a:off x="7909560" y="4663440"/>
            <a:ext cx="3520440" cy="1051560"/>
          </a:xfrm>
          <a:prstGeom prst="rect">
            <a:avLst/>
          </a:prstGeom>
          <a:noFill/>
          <a:ln/>
        </p:spPr>
        <p:txBody>
          <a:bodyPr wrap="square" lIns="0" tIns="0" rIns="0" bIns="0" rtlCol="0" anchor="ctr"/>
          <a:lstStyle/>
          <a:p>
            <a:pPr marL="0" indent="0">
              <a:buNone/>
            </a:pPr>
            <a:r>
              <a:rPr lang="en-US" sz="1400" b="1" dirty="0">
                <a:solidFill>
                  <a:schemeClr val="accent3"/>
                </a:solidFill>
              </a:rPr>
              <a:t>Consequence</a:t>
            </a:r>
            <a:endParaRPr lang="en-US" sz="1400" dirty="0"/>
          </a:p>
          <a:p>
            <a:pPr marL="0" indent="0">
              <a:buNone/>
            </a:pPr>
            <a:r>
              <a:rPr lang="en-US" sz="1400" dirty="0">
                <a:solidFill>
                  <a:schemeClr val="tx2"/>
                </a:solidFill>
              </a:rPr>
              <a:t>They become bottlenecks under heavy load or DDoS pressure.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a:t>
            </a:fld>
            <a:endParaRPr lang="en-US"/>
          </a:p>
        </p:txBody>
      </p:sp>
      <p:pic>
        <p:nvPicPr>
          <p:cNvPr id="3" name="Image 0" descr="/home/claude/unpacked/ppt/media/image1.png">
            <a:extLst>
              <a:ext uri="{FF2B5EF4-FFF2-40B4-BE49-F238E27FC236}">
                <a16:creationId xmlns:a16="http://schemas.microsoft.com/office/drawing/2014/main" id="{51CDEC43-B416-208C-4B14-33C1C34A7F32}"/>
              </a:ext>
            </a:extLst>
          </p:cNvPr>
          <p:cNvPicPr>
            <a:picLocks noChangeAspect="1"/>
          </p:cNvPicPr>
          <p:nvPr/>
        </p:nvPicPr>
        <p:blipFill>
          <a:blip r:embed="rId6"/>
          <a:stretch>
            <a:fillRect/>
          </a:stretch>
        </p:blipFill>
        <p:spPr>
          <a:xfrm>
            <a:off x="10683240" y="70945"/>
            <a:ext cx="960120" cy="9601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Traditional</a:t>
            </a:r>
            <a:r>
              <a:rPr lang="en-US" sz="3400" b="1" dirty="0">
                <a:solidFill>
                  <a:schemeClr val="tx1"/>
                </a:solidFill>
              </a:rPr>
              <a:t> WAF vs WAAP</a:t>
            </a:r>
            <a:endParaRPr lang="en-US" sz="3400" dirty="0"/>
          </a:p>
        </p:txBody>
      </p:sp>
      <p:sp>
        <p:nvSpPr>
          <p:cNvPr id="4" name="compare Traditional WAF"/>
          <p:cNvSpPr/>
          <p:nvPr/>
        </p:nvSpPr>
        <p:spPr>
          <a:xfrm>
            <a:off x="548640" y="1417320"/>
            <a:ext cx="5394960" cy="4663440"/>
          </a:xfrm>
          <a:prstGeom prst="roundRect">
            <a:avLst>
              <a:gd name="adj" fmla="val 1961"/>
            </a:avLst>
          </a:prstGeom>
          <a:solidFill>
            <a:schemeClr val="bg2"/>
          </a:solidFill>
          <a:ln/>
        </p:spPr>
        <p:txBody>
          <a:bodyPr/>
          <a:lstStyle/>
          <a:p>
            <a:endParaRPr lang="fr-FR"/>
          </a:p>
        </p:txBody>
      </p:sp>
      <p:sp>
        <p:nvSpPr>
          <p:cNvPr id="5" name="Traditional WAF tile"/>
          <p:cNvSpPr/>
          <p:nvPr/>
        </p:nvSpPr>
        <p:spPr>
          <a:xfrm>
            <a:off x="868680" y="1691640"/>
            <a:ext cx="548640" cy="548640"/>
          </a:xfrm>
          <a:prstGeom prst="roundRect">
            <a:avLst>
              <a:gd name="adj" fmla="val 20000"/>
            </a:avLst>
          </a:prstGeom>
          <a:solidFill>
            <a:schemeClr val="accent4"/>
          </a:solidFill>
          <a:ln/>
        </p:spPr>
        <p:txBody>
          <a:bodyPr/>
          <a:lstStyle/>
          <a:p>
            <a:endParaRPr lang="fr-FR"/>
          </a:p>
        </p:txBody>
      </p:sp>
      <p:pic>
        <p:nvPicPr>
          <p:cNvPr id="6" name="Traditional WAF glyph" descr="Traditional WAF"/>
          <p:cNvPicPr>
            <a:picLocks noChangeAspect="1"/>
          </p:cNvPicPr>
          <p:nvPr/>
        </p:nvPicPr>
        <p:blipFill>
          <a:blip r:embed="rId3"/>
          <a:stretch>
            <a:fillRect/>
          </a:stretch>
        </p:blipFill>
        <p:spPr>
          <a:xfrm>
            <a:off x="989381" y="1812341"/>
            <a:ext cx="307238" cy="307238"/>
          </a:xfrm>
          <a:prstGeom prst="rect">
            <a:avLst/>
          </a:prstGeom>
        </p:spPr>
      </p:pic>
      <p:sp>
        <p:nvSpPr>
          <p:cNvPr id="7" name="Text 3"/>
          <p:cNvSpPr txBox="1"/>
          <p:nvPr/>
        </p:nvSpPr>
        <p:spPr>
          <a:xfrm>
            <a:off x="1600200" y="1691640"/>
            <a:ext cx="4023360" cy="548640"/>
          </a:xfrm>
          <a:prstGeom prst="rect">
            <a:avLst/>
          </a:prstGeom>
          <a:noFill/>
          <a:ln/>
        </p:spPr>
        <p:txBody>
          <a:bodyPr wrap="square" lIns="0" tIns="0" rIns="0" bIns="0" rtlCol="0" anchor="ctr"/>
          <a:lstStyle/>
          <a:p>
            <a:pPr marL="0" indent="0">
              <a:buNone/>
            </a:pPr>
            <a:r>
              <a:rPr lang="en-US" sz="2200" b="1" dirty="0">
                <a:solidFill>
                  <a:schemeClr val="accent4"/>
                </a:solidFill>
              </a:rPr>
              <a:t>Traditional WAF</a:t>
            </a:r>
            <a:endParaRPr lang="en-US" sz="2200" dirty="0"/>
          </a:p>
        </p:txBody>
      </p:sp>
      <p:sp>
        <p:nvSpPr>
          <p:cNvPr id="8" name="Text 4"/>
          <p:cNvSpPr txBox="1"/>
          <p:nvPr/>
        </p:nvSpPr>
        <p:spPr>
          <a:xfrm>
            <a:off x="868680" y="2468880"/>
            <a:ext cx="4754880" cy="34290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Signature rules against known attacks</a:t>
            </a:r>
            <a:endParaRPr lang="en-US" sz="1600" dirty="0"/>
          </a:p>
          <a:p>
            <a:pPr marL="342900" indent="-342900">
              <a:spcAft>
                <a:spcPts val="1000"/>
              </a:spcAft>
              <a:buSzPct val="100000"/>
              <a:buChar char="•"/>
            </a:pPr>
            <a:r>
              <a:rPr lang="en-US" sz="1600" dirty="0">
                <a:solidFill>
                  <a:schemeClr val="tx1"/>
                </a:solidFill>
              </a:rPr>
              <a:t>Built for HTML websites and human users</a:t>
            </a:r>
            <a:endParaRPr lang="en-US" sz="1600" dirty="0"/>
          </a:p>
          <a:p>
            <a:pPr marL="342900" indent="-342900">
              <a:spcAft>
                <a:spcPts val="1000"/>
              </a:spcAft>
              <a:buSzPct val="100000"/>
              <a:buChar char="•"/>
            </a:pPr>
            <a:r>
              <a:rPr lang="en-US" sz="1600" dirty="0">
                <a:solidFill>
                  <a:schemeClr val="tx1"/>
                </a:solidFill>
              </a:rPr>
              <a:t>Layer 7 only</a:t>
            </a:r>
            <a:endParaRPr lang="en-US" sz="1600" dirty="0"/>
          </a:p>
          <a:p>
            <a:pPr marL="342900" indent="-342900">
              <a:spcAft>
                <a:spcPts val="1000"/>
              </a:spcAft>
              <a:buSzPct val="100000"/>
              <a:buChar char="•"/>
            </a:pPr>
            <a:r>
              <a:rPr lang="en-US" sz="1600" dirty="0">
                <a:solidFill>
                  <a:schemeClr val="tx1"/>
                </a:solidFill>
              </a:rPr>
              <a:t>Manual tuning, many false positives</a:t>
            </a:r>
            <a:endParaRPr lang="en-US" sz="1600" dirty="0"/>
          </a:p>
          <a:p>
            <a:pPr marL="342900" indent="-342900">
              <a:spcAft>
                <a:spcPts val="1000"/>
              </a:spcAft>
              <a:buSzPct val="100000"/>
              <a:buChar char="•"/>
            </a:pPr>
            <a:r>
              <a:rPr lang="en-US" sz="1600" dirty="0">
                <a:solidFill>
                  <a:schemeClr val="tx1"/>
                </a:solidFill>
              </a:rPr>
              <a:t>On-prem appliance or VM</a:t>
            </a:r>
            <a:endParaRPr lang="en-US" sz="1600" dirty="0"/>
          </a:p>
          <a:p>
            <a:pPr marL="342900" indent="-342900">
              <a:spcAft>
                <a:spcPts val="1000"/>
              </a:spcAft>
              <a:buSzPct val="100000"/>
              <a:buChar char="•"/>
            </a:pPr>
            <a:r>
              <a:rPr lang="en-US" sz="1600" dirty="0">
                <a:solidFill>
                  <a:schemeClr val="tx1"/>
                </a:solidFill>
              </a:rPr>
              <a:t>Blind to API logic abuse and bots</a:t>
            </a:r>
            <a:endParaRPr lang="en-US" sz="1600" dirty="0"/>
          </a:p>
        </p:txBody>
      </p:sp>
      <p:sp>
        <p:nvSpPr>
          <p:cNvPr id="9" name="compare WAAP"/>
          <p:cNvSpPr/>
          <p:nvPr/>
        </p:nvSpPr>
        <p:spPr>
          <a:xfrm>
            <a:off x="6217920" y="1417320"/>
            <a:ext cx="5394960" cy="4663440"/>
          </a:xfrm>
          <a:prstGeom prst="roundRect">
            <a:avLst>
              <a:gd name="adj" fmla="val 1961"/>
            </a:avLst>
          </a:prstGeom>
          <a:solidFill>
            <a:schemeClr val="bg1"/>
          </a:solidFill>
          <a:ln w="19050">
            <a:solidFill>
              <a:srgbClr val="00A99D"/>
            </a:solidFill>
            <a:prstDash val="solid"/>
          </a:ln>
        </p:spPr>
        <p:txBody>
          <a:bodyPr/>
          <a:lstStyle/>
          <a:p>
            <a:endParaRPr lang="fr-FR"/>
          </a:p>
        </p:txBody>
      </p:sp>
      <p:sp>
        <p:nvSpPr>
          <p:cNvPr id="10" name="WAAP tile"/>
          <p:cNvSpPr/>
          <p:nvPr/>
        </p:nvSpPr>
        <p:spPr>
          <a:xfrm>
            <a:off x="6537960" y="1691640"/>
            <a:ext cx="548640" cy="548640"/>
          </a:xfrm>
          <a:prstGeom prst="roundRect">
            <a:avLst>
              <a:gd name="adj" fmla="val 20000"/>
            </a:avLst>
          </a:prstGeom>
          <a:solidFill>
            <a:schemeClr val="accent1"/>
          </a:solidFill>
          <a:ln/>
        </p:spPr>
        <p:txBody>
          <a:bodyPr/>
          <a:lstStyle/>
          <a:p>
            <a:endParaRPr lang="fr-FR"/>
          </a:p>
        </p:txBody>
      </p:sp>
      <p:pic>
        <p:nvPicPr>
          <p:cNvPr id="11" name="WAAP glyph" descr="WAAP"/>
          <p:cNvPicPr>
            <a:picLocks noChangeAspect="1"/>
          </p:cNvPicPr>
          <p:nvPr/>
        </p:nvPicPr>
        <p:blipFill>
          <a:blip r:embed="rId4"/>
          <a:stretch>
            <a:fillRect/>
          </a:stretch>
        </p:blipFill>
        <p:spPr>
          <a:xfrm>
            <a:off x="6658661" y="1812341"/>
            <a:ext cx="307238" cy="307238"/>
          </a:xfrm>
          <a:prstGeom prst="rect">
            <a:avLst/>
          </a:prstGeom>
        </p:spPr>
      </p:pic>
      <p:sp>
        <p:nvSpPr>
          <p:cNvPr id="12" name="Text 7"/>
          <p:cNvSpPr txBox="1"/>
          <p:nvPr/>
        </p:nvSpPr>
        <p:spPr>
          <a:xfrm>
            <a:off x="7269480" y="1691640"/>
            <a:ext cx="4023360" cy="548640"/>
          </a:xfrm>
          <a:prstGeom prst="rect">
            <a:avLst/>
          </a:prstGeom>
          <a:noFill/>
          <a:ln/>
        </p:spPr>
        <p:txBody>
          <a:bodyPr wrap="square" lIns="0" tIns="0" rIns="0" bIns="0" rtlCol="0" anchor="ctr"/>
          <a:lstStyle/>
          <a:p>
            <a:pPr marL="0" indent="0">
              <a:buNone/>
            </a:pPr>
            <a:r>
              <a:rPr lang="en-US" sz="2200" b="1" dirty="0">
                <a:solidFill>
                  <a:schemeClr val="accent1"/>
                </a:solidFill>
              </a:rPr>
              <a:t>WAAP</a:t>
            </a:r>
            <a:endParaRPr lang="en-US" sz="2200" dirty="0"/>
          </a:p>
        </p:txBody>
      </p:sp>
      <p:sp>
        <p:nvSpPr>
          <p:cNvPr id="13" name="Text 8"/>
          <p:cNvSpPr txBox="1"/>
          <p:nvPr/>
        </p:nvSpPr>
        <p:spPr>
          <a:xfrm>
            <a:off x="6537960" y="2468880"/>
            <a:ext cx="4754880" cy="34290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Signatures + positive model + ML</a:t>
            </a:r>
            <a:endParaRPr lang="en-US" sz="1600" dirty="0"/>
          </a:p>
          <a:p>
            <a:pPr marL="342900" indent="-342900">
              <a:spcAft>
                <a:spcPts val="1000"/>
              </a:spcAft>
              <a:buSzPct val="100000"/>
              <a:buChar char="•"/>
            </a:pPr>
            <a:r>
              <a:rPr lang="en-US" sz="1600" dirty="0">
                <a:solidFill>
                  <a:schemeClr val="tx1"/>
                </a:solidFill>
              </a:rPr>
              <a:t>Protects REST, GraphQL, gRPC and mobile APIs</a:t>
            </a:r>
            <a:endParaRPr lang="en-US" sz="1600" dirty="0"/>
          </a:p>
          <a:p>
            <a:pPr marL="342900" indent="-342900">
              <a:spcAft>
                <a:spcPts val="1000"/>
              </a:spcAft>
              <a:buSzPct val="100000"/>
              <a:buChar char="•"/>
            </a:pPr>
            <a:r>
              <a:rPr lang="en-US" sz="1600" dirty="0">
                <a:solidFill>
                  <a:schemeClr val="tx1"/>
                </a:solidFill>
              </a:rPr>
              <a:t>Layers 3 to 7, including DDoS</a:t>
            </a:r>
            <a:endParaRPr lang="en-US" sz="1600" dirty="0"/>
          </a:p>
          <a:p>
            <a:pPr marL="342900" indent="-342900">
              <a:spcAft>
                <a:spcPts val="1000"/>
              </a:spcAft>
              <a:buSzPct val="100000"/>
              <a:buChar char="•"/>
            </a:pPr>
            <a:r>
              <a:rPr lang="en-US" sz="1600" dirty="0">
                <a:solidFill>
                  <a:schemeClr val="tx1"/>
                </a:solidFill>
              </a:rPr>
              <a:t>Auto-learning, auto-tuning policies</a:t>
            </a:r>
            <a:endParaRPr lang="en-US" sz="1600" dirty="0"/>
          </a:p>
          <a:p>
            <a:pPr marL="342900" indent="-342900">
              <a:spcAft>
                <a:spcPts val="1000"/>
              </a:spcAft>
              <a:buSzPct val="100000"/>
              <a:buChar char="•"/>
            </a:pPr>
            <a:r>
              <a:rPr lang="en-US" sz="1600" dirty="0">
                <a:solidFill>
                  <a:schemeClr val="tx1"/>
                </a:solidFill>
              </a:rPr>
              <a:t>Cloud-native at the edge or in Kubernetes</a:t>
            </a:r>
            <a:endParaRPr lang="en-US" sz="1600" dirty="0"/>
          </a:p>
          <a:p>
            <a:pPr marL="342900" indent="-342900">
              <a:spcAft>
                <a:spcPts val="1000"/>
              </a:spcAft>
              <a:buSzPct val="100000"/>
              <a:buChar char="•"/>
            </a:pPr>
            <a:r>
              <a:rPr lang="en-US" sz="1600" dirty="0">
                <a:solidFill>
                  <a:schemeClr val="tx1"/>
                </a:solidFill>
              </a:rPr>
              <a:t>Built-in bot management and API discovery</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a:t>
            </a:fld>
            <a:endParaRPr lang="en-US"/>
          </a:p>
        </p:txBody>
      </p:sp>
      <p:pic>
        <p:nvPicPr>
          <p:cNvPr id="3" name="Image 0" descr="/home/claude/unpacked/ppt/media/image1.png">
            <a:extLst>
              <a:ext uri="{FF2B5EF4-FFF2-40B4-BE49-F238E27FC236}">
                <a16:creationId xmlns:a16="http://schemas.microsoft.com/office/drawing/2014/main" id="{42F0C462-33F5-C83A-9D46-9ABCE785B134}"/>
              </a:ext>
            </a:extLst>
          </p:cNvPr>
          <p:cNvPicPr>
            <a:picLocks noChangeAspect="1"/>
          </p:cNvPicPr>
          <p:nvPr/>
        </p:nvPicPr>
        <p:blipFill>
          <a:blip r:embed="rId5"/>
          <a:stretch>
            <a:fillRect/>
          </a:stretch>
        </p:blipFill>
        <p:spPr>
          <a:xfrm>
            <a:off x="9997966" y="228600"/>
            <a:ext cx="960120" cy="9601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A8B60EF8-48EF-1970-13D2-DFA8D88106DC}"/>
              </a:ext>
            </a:extLst>
          </p:cNvPr>
          <p:cNvSpPr txBox="1">
            <a:spLocks noGrp="1"/>
          </p:cNvSpPr>
          <p:nvPr>
            <p:ph type="title" idx="100"/>
          </p:nvPr>
        </p:nvSpPr>
        <p:spPr>
          <a:prstGeom prst="rect">
            <a:avLst/>
          </a:prstGeom>
          <a:noFill/>
          <a:ln/>
        </p:spPr>
        <p:txBody>
          <a:bodyPr wrap="square" lIns="0" tIns="0" rIns="0" bIns="0" rtlCol="0" anchor="b"/>
          <a:lstStyle/>
          <a:p>
            <a:pPr marL="0" indent="0">
              <a:buNone/>
            </a:pPr>
            <a:r>
              <a:rPr lang="en-US" sz="8000" b="1" dirty="0">
                <a:solidFill>
                  <a:schemeClr val="accent1"/>
                </a:solidFill>
                <a:latin typeface="Arial" pitchFamily="34" charset="0"/>
                <a:ea typeface="Arial" pitchFamily="34" charset="-122"/>
                <a:cs typeface="Arial" pitchFamily="34" charset="-120"/>
              </a:rPr>
              <a:t>PART 02: WHAT?</a:t>
            </a:r>
            <a:endParaRPr lang="en-US" sz="8000" dirty="0"/>
          </a:p>
        </p:txBody>
      </p:sp>
      <p:pic>
        <p:nvPicPr>
          <p:cNvPr id="5" name="Image 0" descr="/home/claude/unpacked/ppt/media/image1.png">
            <a:extLst>
              <a:ext uri="{FF2B5EF4-FFF2-40B4-BE49-F238E27FC236}">
                <a16:creationId xmlns:a16="http://schemas.microsoft.com/office/drawing/2014/main" id="{5480EB9E-D429-7DC6-5D5B-78D402FE3039}"/>
              </a:ext>
            </a:extLst>
          </p:cNvPr>
          <p:cNvPicPr>
            <a:picLocks noChangeAspect="1"/>
          </p:cNvPicPr>
          <p:nvPr/>
        </p:nvPicPr>
        <p:blipFill>
          <a:blip r:embed="rId2"/>
          <a:stretch>
            <a:fillRect/>
          </a:stretch>
        </p:blipFill>
        <p:spPr>
          <a:xfrm>
            <a:off x="10330841" y="331314"/>
            <a:ext cx="960120" cy="960120"/>
          </a:xfrm>
          <a:prstGeom prst="rect">
            <a:avLst/>
          </a:prstGeom>
        </p:spPr>
      </p:pic>
    </p:spTree>
    <p:extLst>
      <p:ext uri="{BB962C8B-B14F-4D97-AF65-F5344CB8AC3E}">
        <p14:creationId xmlns:p14="http://schemas.microsoft.com/office/powerpoint/2010/main" val="553430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19" y="1280160"/>
            <a:ext cx="5700811" cy="1280160"/>
          </a:xfrm>
          <a:prstGeom prst="rect">
            <a:avLst/>
          </a:prstGeom>
          <a:noFill/>
          <a:ln/>
        </p:spPr>
        <p:txBody>
          <a:bodyPr wrap="square" lIns="0" tIns="0" rIns="0" bIns="0" rtlCol="0" anchor="b"/>
          <a:lstStyle/>
          <a:p>
            <a:pPr marL="0" indent="0">
              <a:buNone/>
            </a:pPr>
            <a:r>
              <a:rPr lang="en-US" sz="8000" b="1" dirty="0">
                <a:solidFill>
                  <a:schemeClr val="accent1"/>
                </a:solidFill>
                <a:latin typeface="Arial" pitchFamily="34" charset="0"/>
                <a:ea typeface="Arial" pitchFamily="34" charset="-122"/>
                <a:cs typeface="Arial" pitchFamily="34" charset="-120"/>
              </a:rPr>
              <a:t>Chapter 2.1</a:t>
            </a:r>
            <a:endParaRPr lang="en-US" sz="8000" dirty="0"/>
          </a:p>
        </p:txBody>
      </p:sp>
      <p:sp>
        <p:nvSpPr>
          <p:cNvPr id="3" name="Text 0"/>
          <p:cNvSpPr>
            <a:spLocks noGrp="1"/>
          </p:cNvSpPr>
          <p:nvPr>
            <p:ph type="title" idx="100" hasCustomPrompt="1"/>
          </p:nvPr>
        </p:nvSpPr>
        <p:spPr>
          <a:xfrm>
            <a:off x="731520" y="2743200"/>
            <a:ext cx="10698480" cy="1005840"/>
          </a:xfrm>
          <a:prstGeom prst="rect">
            <a:avLst/>
          </a:prstGeom>
          <a:noFill/>
          <a:ln/>
        </p:spPr>
        <p:txBody>
          <a:bodyPr wrap="square" lIns="0" tIns="0" rIns="0" bIns="0" rtlCol="0" anchor="ctr"/>
          <a:lstStyle/>
          <a:p>
            <a:pPr marL="0" indent="0" algn="l">
              <a:buNone/>
            </a:pPr>
            <a:r>
              <a:rPr lang="en-US" sz="4400" b="1" cap="all" dirty="0">
                <a:solidFill>
                  <a:schemeClr val="bg1"/>
                </a:solidFill>
              </a:rPr>
              <a:t>WAAP concepts</a:t>
            </a:r>
            <a:endParaRPr lang="en-US" sz="4400" cap="all" dirty="0"/>
          </a:p>
        </p:txBody>
      </p:sp>
      <p:sp>
        <p:nvSpPr>
          <p:cNvPr id="4" name="Text 0"/>
          <p:cNvSpPr>
            <a:spLocks noGrp="1"/>
          </p:cNvSpPr>
          <p:nvPr>
            <p:ph type="body" idx="101" hasCustomPrompt="1"/>
          </p:nvPr>
        </p:nvSpPr>
        <p:spPr>
          <a:xfrm>
            <a:off x="731520" y="3840480"/>
            <a:ext cx="10058400" cy="1280160"/>
          </a:xfrm>
          <a:prstGeom prst="rect">
            <a:avLst/>
          </a:prstGeom>
          <a:noFill/>
          <a:ln/>
        </p:spPr>
        <p:txBody>
          <a:bodyPr wrap="square" lIns="0" tIns="0" rIns="0" bIns="0" rtlCol="0" anchor="t"/>
          <a:lstStyle/>
          <a:p>
            <a:pPr marL="0" indent="0" algn="ctr">
              <a:lnSpc>
                <a:spcPct val="200000"/>
              </a:lnSpc>
              <a:buNone/>
            </a:pPr>
            <a:r>
              <a:rPr lang="en-US" sz="2000" cap="all" dirty="0">
                <a:solidFill>
                  <a:schemeClr val="accent5"/>
                </a:solidFill>
              </a:rPr>
              <a:t>Definition, the four foundational pillars, the operating principles and the security models behind every decision.</a:t>
            </a:r>
            <a:endParaRPr lang="en-US" sz="2000" cap="all"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19</a:t>
            </a:fld>
            <a:endParaRPr lang="en-US"/>
          </a:p>
        </p:txBody>
      </p:sp>
      <p:pic>
        <p:nvPicPr>
          <p:cNvPr id="5" name="Image 0" descr="/home/claude/unpacked/ppt/media/image1.png">
            <a:extLst>
              <a:ext uri="{FF2B5EF4-FFF2-40B4-BE49-F238E27FC236}">
                <a16:creationId xmlns:a16="http://schemas.microsoft.com/office/drawing/2014/main" id="{A62C7B7C-3DE9-DCE0-11C8-263358831FBA}"/>
              </a:ext>
            </a:extLst>
          </p:cNvPr>
          <p:cNvPicPr>
            <a:picLocks noChangeAspect="1"/>
          </p:cNvPicPr>
          <p:nvPr/>
        </p:nvPicPr>
        <p:blipFill>
          <a:blip r:embed="rId3"/>
          <a:stretch>
            <a:fillRect/>
          </a:stretch>
        </p:blipFill>
        <p:spPr>
          <a:xfrm>
            <a:off x="251459" y="137160"/>
            <a:ext cx="960120" cy="9601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What is WAAP?</a:t>
            </a:r>
            <a:endParaRPr lang="en-US" sz="3400" cap="all" dirty="0"/>
          </a:p>
        </p:txBody>
      </p:sp>
      <p:sp>
        <p:nvSpPr>
          <p:cNvPr id="4" name="definition panel"/>
          <p:cNvSpPr/>
          <p:nvPr/>
        </p:nvSpPr>
        <p:spPr>
          <a:xfrm>
            <a:off x="199697" y="1188720"/>
            <a:ext cx="5835343" cy="4480560"/>
          </a:xfrm>
          <a:prstGeom prst="roundRect">
            <a:avLst>
              <a:gd name="adj" fmla="val 2449"/>
            </a:avLst>
          </a:prstGeom>
          <a:solidFill>
            <a:schemeClr val="tx1"/>
          </a:solidFill>
          <a:ln/>
        </p:spPr>
        <p:txBody>
          <a:bodyPr/>
          <a:lstStyle/>
          <a:p>
            <a:endParaRPr lang="fr-FR"/>
          </a:p>
        </p:txBody>
      </p:sp>
      <p:sp>
        <p:nvSpPr>
          <p:cNvPr id="5" name="WAAP tile"/>
          <p:cNvSpPr/>
          <p:nvPr/>
        </p:nvSpPr>
        <p:spPr>
          <a:xfrm>
            <a:off x="443589" y="1215075"/>
            <a:ext cx="685800" cy="685800"/>
          </a:xfrm>
          <a:prstGeom prst="roundRect">
            <a:avLst>
              <a:gd name="adj" fmla="val 16000"/>
            </a:avLst>
          </a:prstGeom>
          <a:solidFill>
            <a:schemeClr val="accent1"/>
          </a:solidFill>
          <a:ln/>
        </p:spPr>
        <p:txBody>
          <a:bodyPr/>
          <a:lstStyle/>
          <a:p>
            <a:endParaRPr lang="fr-FR"/>
          </a:p>
        </p:txBody>
      </p:sp>
      <p:pic>
        <p:nvPicPr>
          <p:cNvPr id="6" name="WAAP glyph" descr="WAAP"/>
          <p:cNvPicPr>
            <a:picLocks noChangeAspect="1"/>
          </p:cNvPicPr>
          <p:nvPr/>
        </p:nvPicPr>
        <p:blipFill>
          <a:blip r:embed="rId3"/>
          <a:stretch>
            <a:fillRect/>
          </a:stretch>
        </p:blipFill>
        <p:spPr>
          <a:xfrm>
            <a:off x="579120" y="1330452"/>
            <a:ext cx="384048" cy="384048"/>
          </a:xfrm>
          <a:prstGeom prst="rect">
            <a:avLst/>
          </a:prstGeom>
        </p:spPr>
      </p:pic>
      <p:sp>
        <p:nvSpPr>
          <p:cNvPr id="7" name="Text 3"/>
          <p:cNvSpPr txBox="1"/>
          <p:nvPr/>
        </p:nvSpPr>
        <p:spPr>
          <a:xfrm>
            <a:off x="1403604" y="1179576"/>
            <a:ext cx="4023360" cy="685800"/>
          </a:xfrm>
          <a:prstGeom prst="rect">
            <a:avLst/>
          </a:prstGeom>
          <a:noFill/>
          <a:ln/>
        </p:spPr>
        <p:txBody>
          <a:bodyPr wrap="square" lIns="0" tIns="0" rIns="0" bIns="0" rtlCol="0" anchor="ctr"/>
          <a:lstStyle/>
          <a:p>
            <a:pPr marL="0" indent="0">
              <a:buNone/>
            </a:pPr>
            <a:r>
              <a:rPr lang="en-US" sz="2200" b="1" dirty="0">
                <a:solidFill>
                  <a:schemeClr val="accent5"/>
                </a:solidFill>
              </a:rPr>
              <a:t>Definition</a:t>
            </a:r>
            <a:endParaRPr lang="en-US" sz="2200" dirty="0"/>
          </a:p>
        </p:txBody>
      </p:sp>
      <p:sp>
        <p:nvSpPr>
          <p:cNvPr id="8" name="Text 4"/>
          <p:cNvSpPr txBox="1"/>
          <p:nvPr/>
        </p:nvSpPr>
        <p:spPr>
          <a:xfrm>
            <a:off x="199697" y="1934692"/>
            <a:ext cx="5835343" cy="3738089"/>
          </a:xfrm>
          <a:prstGeom prst="rect">
            <a:avLst/>
          </a:prstGeom>
          <a:noFill/>
          <a:ln/>
        </p:spPr>
        <p:txBody>
          <a:bodyPr wrap="square" lIns="0" tIns="0" rIns="0" bIns="0" rtlCol="0" anchor="t"/>
          <a:lstStyle/>
          <a:p>
            <a:pPr marL="0" indent="0">
              <a:lnSpc>
                <a:spcPct val="200000"/>
              </a:lnSpc>
              <a:buNone/>
            </a:pPr>
            <a:r>
              <a:rPr lang="en-US" sz="1700" dirty="0">
                <a:solidFill>
                  <a:schemeClr val="bg1"/>
                </a:solidFill>
              </a:rPr>
              <a:t>A </a:t>
            </a:r>
            <a:r>
              <a:rPr lang="en-US" sz="1700" cap="all" spc="100" dirty="0">
                <a:solidFill>
                  <a:schemeClr val="bg1"/>
                </a:solidFill>
              </a:rPr>
              <a:t>modern, cloud-native security layer that protects web applications and APIs. Gartner introduced the term for the next generation of WAF technology — extending WAF defence to APIs and API-specific exploits such as broken access control, business-logic flaws and sensitive data exposure.</a:t>
            </a:r>
            <a:endParaRPr lang="en-US" sz="1700" cap="all" spc="100" dirty="0"/>
          </a:p>
        </p:txBody>
      </p:sp>
      <p:sp>
        <p:nvSpPr>
          <p:cNvPr id="9" name="Text 5"/>
          <p:cNvSpPr txBox="1"/>
          <p:nvPr/>
        </p:nvSpPr>
        <p:spPr>
          <a:xfrm>
            <a:off x="6400800" y="1417320"/>
            <a:ext cx="5212080" cy="457200"/>
          </a:xfrm>
          <a:prstGeom prst="rect">
            <a:avLst/>
          </a:prstGeom>
          <a:noFill/>
          <a:ln/>
        </p:spPr>
        <p:txBody>
          <a:bodyPr wrap="square" lIns="0" tIns="0" rIns="0" bIns="0" rtlCol="0" anchor="ctr"/>
          <a:lstStyle/>
          <a:p>
            <a:pPr marL="0" indent="0">
              <a:buNone/>
            </a:pPr>
            <a:r>
              <a:rPr lang="en-US" sz="2000" b="1" cap="all" dirty="0">
                <a:solidFill>
                  <a:schemeClr val="tx1"/>
                </a:solidFill>
              </a:rPr>
              <a:t>What WAAP adds to the WAF?</a:t>
            </a:r>
            <a:endParaRPr lang="en-US" sz="2000" cap="all" dirty="0"/>
          </a:p>
        </p:txBody>
      </p:sp>
      <p:sp>
        <p:nvSpPr>
          <p:cNvPr id="10" name="API schema validation tile"/>
          <p:cNvSpPr/>
          <p:nvPr/>
        </p:nvSpPr>
        <p:spPr>
          <a:xfrm>
            <a:off x="6400800" y="2057400"/>
            <a:ext cx="548640" cy="548640"/>
          </a:xfrm>
          <a:prstGeom prst="roundRect">
            <a:avLst>
              <a:gd name="adj" fmla="val 20000"/>
            </a:avLst>
          </a:prstGeom>
          <a:solidFill>
            <a:schemeClr val="accent1"/>
          </a:solidFill>
          <a:ln/>
        </p:spPr>
        <p:txBody>
          <a:bodyPr/>
          <a:lstStyle/>
          <a:p>
            <a:endParaRPr lang="fr-FR"/>
          </a:p>
        </p:txBody>
      </p:sp>
      <p:pic>
        <p:nvPicPr>
          <p:cNvPr id="11" name="API schema validation glyph" descr="API schema validation"/>
          <p:cNvPicPr>
            <a:picLocks noChangeAspect="1"/>
          </p:cNvPicPr>
          <p:nvPr/>
        </p:nvPicPr>
        <p:blipFill>
          <a:blip r:embed="rId4"/>
          <a:stretch>
            <a:fillRect/>
          </a:stretch>
        </p:blipFill>
        <p:spPr>
          <a:xfrm>
            <a:off x="6521501" y="2178101"/>
            <a:ext cx="307238" cy="307238"/>
          </a:xfrm>
          <a:prstGeom prst="rect">
            <a:avLst/>
          </a:prstGeom>
        </p:spPr>
      </p:pic>
      <p:sp>
        <p:nvSpPr>
          <p:cNvPr id="12" name="Text 7"/>
          <p:cNvSpPr txBox="1"/>
          <p:nvPr/>
        </p:nvSpPr>
        <p:spPr>
          <a:xfrm>
            <a:off x="7132320" y="1965960"/>
            <a:ext cx="4480560" cy="777240"/>
          </a:xfrm>
          <a:prstGeom prst="rect">
            <a:avLst/>
          </a:prstGeom>
          <a:noFill/>
          <a:ln/>
        </p:spPr>
        <p:txBody>
          <a:bodyPr wrap="square" lIns="0" tIns="0" rIns="0" bIns="0" rtlCol="0" anchor="ctr"/>
          <a:lstStyle/>
          <a:p>
            <a:pPr marL="0" indent="0">
              <a:buNone/>
            </a:pPr>
            <a:r>
              <a:rPr lang="en-US" sz="1600" b="1" dirty="0">
                <a:solidFill>
                  <a:schemeClr val="tx1"/>
                </a:solidFill>
              </a:rPr>
              <a:t>API </a:t>
            </a:r>
            <a:r>
              <a:rPr lang="en-US" sz="1600" b="1" cap="all" dirty="0"/>
              <a:t>schema</a:t>
            </a:r>
            <a:r>
              <a:rPr lang="en-US" sz="1600" b="1" dirty="0">
                <a:solidFill>
                  <a:schemeClr val="tx1"/>
                </a:solidFill>
              </a:rPr>
              <a:t> </a:t>
            </a:r>
            <a:r>
              <a:rPr lang="en-US" sz="1600" b="1" cap="all" dirty="0"/>
              <a:t>validation</a:t>
            </a:r>
          </a:p>
          <a:p>
            <a:pPr marL="0" indent="0">
              <a:buNone/>
            </a:pPr>
            <a:r>
              <a:rPr lang="en-US" sz="1400" dirty="0">
                <a:solidFill>
                  <a:schemeClr val="accent4"/>
                </a:solidFill>
              </a:rPr>
              <a:t>Blocks attacks exploiting JSON or XML structures</a:t>
            </a:r>
            <a:endParaRPr lang="en-US" sz="1600" dirty="0"/>
          </a:p>
        </p:txBody>
      </p:sp>
      <p:sp>
        <p:nvSpPr>
          <p:cNvPr id="13" name="Advanced bot protection tile"/>
          <p:cNvSpPr/>
          <p:nvPr/>
        </p:nvSpPr>
        <p:spPr>
          <a:xfrm>
            <a:off x="6400800" y="3035808"/>
            <a:ext cx="548640" cy="548640"/>
          </a:xfrm>
          <a:prstGeom prst="roundRect">
            <a:avLst>
              <a:gd name="adj" fmla="val 20000"/>
            </a:avLst>
          </a:prstGeom>
          <a:solidFill>
            <a:schemeClr val="accent1"/>
          </a:solidFill>
          <a:ln/>
        </p:spPr>
        <p:txBody>
          <a:bodyPr/>
          <a:lstStyle/>
          <a:p>
            <a:endParaRPr lang="fr-FR"/>
          </a:p>
        </p:txBody>
      </p:sp>
      <p:pic>
        <p:nvPicPr>
          <p:cNvPr id="14" name="Advanced bot protection glyph" descr="Advanced bot protection"/>
          <p:cNvPicPr>
            <a:picLocks noChangeAspect="1"/>
          </p:cNvPicPr>
          <p:nvPr/>
        </p:nvPicPr>
        <p:blipFill>
          <a:blip r:embed="rId5"/>
          <a:stretch>
            <a:fillRect/>
          </a:stretch>
        </p:blipFill>
        <p:spPr>
          <a:xfrm>
            <a:off x="6521501" y="3156509"/>
            <a:ext cx="307238" cy="307238"/>
          </a:xfrm>
          <a:prstGeom prst="rect">
            <a:avLst/>
          </a:prstGeom>
        </p:spPr>
      </p:pic>
      <p:sp>
        <p:nvSpPr>
          <p:cNvPr id="15" name="Text 9"/>
          <p:cNvSpPr txBox="1"/>
          <p:nvPr/>
        </p:nvSpPr>
        <p:spPr>
          <a:xfrm>
            <a:off x="7132320" y="2944368"/>
            <a:ext cx="4480560" cy="777240"/>
          </a:xfrm>
          <a:prstGeom prst="rect">
            <a:avLst/>
          </a:prstGeom>
          <a:noFill/>
          <a:ln/>
        </p:spPr>
        <p:txBody>
          <a:bodyPr wrap="square" lIns="0" tIns="0" rIns="0" bIns="0" rtlCol="0" anchor="ctr"/>
          <a:lstStyle/>
          <a:p>
            <a:pPr marL="0" indent="0">
              <a:buNone/>
            </a:pPr>
            <a:r>
              <a:rPr lang="en-US" sz="1600" b="1" cap="all" dirty="0">
                <a:solidFill>
                  <a:schemeClr val="tx1"/>
                </a:solidFill>
              </a:rPr>
              <a:t>Advanced bot protection</a:t>
            </a:r>
            <a:endParaRPr lang="en-US" sz="1600" cap="all" dirty="0"/>
          </a:p>
          <a:p>
            <a:pPr marL="0" indent="0">
              <a:buNone/>
            </a:pPr>
            <a:r>
              <a:rPr lang="en-US" sz="1400" dirty="0">
                <a:solidFill>
                  <a:schemeClr val="accent4"/>
                </a:solidFill>
              </a:rPr>
              <a:t>Separates real users and trusted crawlers from malicious automation</a:t>
            </a:r>
            <a:endParaRPr lang="en-US" sz="1600" dirty="0"/>
          </a:p>
        </p:txBody>
      </p:sp>
      <p:sp>
        <p:nvSpPr>
          <p:cNvPr id="16" name="Integrated DDoS mitigation tile"/>
          <p:cNvSpPr/>
          <p:nvPr/>
        </p:nvSpPr>
        <p:spPr>
          <a:xfrm>
            <a:off x="6400800" y="4014216"/>
            <a:ext cx="548640" cy="548640"/>
          </a:xfrm>
          <a:prstGeom prst="roundRect">
            <a:avLst>
              <a:gd name="adj" fmla="val 20000"/>
            </a:avLst>
          </a:prstGeom>
          <a:solidFill>
            <a:schemeClr val="accent1"/>
          </a:solidFill>
          <a:ln/>
        </p:spPr>
        <p:txBody>
          <a:bodyPr/>
          <a:lstStyle/>
          <a:p>
            <a:endParaRPr lang="fr-FR"/>
          </a:p>
        </p:txBody>
      </p:sp>
      <p:pic>
        <p:nvPicPr>
          <p:cNvPr id="17" name="Integrated DDoS mitigation glyph" descr="Integrated DDoS mitigation"/>
          <p:cNvPicPr>
            <a:picLocks noChangeAspect="1"/>
          </p:cNvPicPr>
          <p:nvPr/>
        </p:nvPicPr>
        <p:blipFill>
          <a:blip r:embed="rId6"/>
          <a:stretch>
            <a:fillRect/>
          </a:stretch>
        </p:blipFill>
        <p:spPr>
          <a:xfrm>
            <a:off x="6521501" y="4134917"/>
            <a:ext cx="307238" cy="307238"/>
          </a:xfrm>
          <a:prstGeom prst="rect">
            <a:avLst/>
          </a:prstGeom>
        </p:spPr>
      </p:pic>
      <p:sp>
        <p:nvSpPr>
          <p:cNvPr id="18" name="Text 11"/>
          <p:cNvSpPr txBox="1"/>
          <p:nvPr/>
        </p:nvSpPr>
        <p:spPr>
          <a:xfrm>
            <a:off x="7132320" y="3922776"/>
            <a:ext cx="4480560" cy="777240"/>
          </a:xfrm>
          <a:prstGeom prst="rect">
            <a:avLst/>
          </a:prstGeom>
          <a:noFill/>
          <a:ln/>
        </p:spPr>
        <p:txBody>
          <a:bodyPr wrap="square" lIns="0" tIns="0" rIns="0" bIns="0" rtlCol="0" anchor="ctr"/>
          <a:lstStyle/>
          <a:p>
            <a:pPr marL="0" indent="0">
              <a:buNone/>
            </a:pPr>
            <a:r>
              <a:rPr lang="en-US" sz="1600" b="1" cap="all" dirty="0"/>
              <a:t>Integrated</a:t>
            </a:r>
            <a:r>
              <a:rPr lang="en-US" sz="1600" b="1" dirty="0">
                <a:solidFill>
                  <a:schemeClr val="tx1"/>
                </a:solidFill>
              </a:rPr>
              <a:t> DDoS </a:t>
            </a:r>
            <a:r>
              <a:rPr lang="en-US" sz="1600" b="1" cap="all" dirty="0"/>
              <a:t>mitigation</a:t>
            </a:r>
          </a:p>
          <a:p>
            <a:pPr marL="0" indent="0">
              <a:buNone/>
            </a:pPr>
            <a:r>
              <a:rPr lang="en-US" sz="1400" dirty="0">
                <a:solidFill>
                  <a:schemeClr val="accent4"/>
                </a:solidFill>
              </a:rPr>
              <a:t>Absorbs floods that could take an application offline</a:t>
            </a:r>
            <a:endParaRPr lang="en-US" sz="1600" dirty="0"/>
          </a:p>
        </p:txBody>
      </p:sp>
      <p:sp>
        <p:nvSpPr>
          <p:cNvPr id="19" name="Machine learning tile"/>
          <p:cNvSpPr/>
          <p:nvPr/>
        </p:nvSpPr>
        <p:spPr>
          <a:xfrm>
            <a:off x="6400800" y="4992624"/>
            <a:ext cx="548640" cy="548640"/>
          </a:xfrm>
          <a:prstGeom prst="roundRect">
            <a:avLst>
              <a:gd name="adj" fmla="val 20000"/>
            </a:avLst>
          </a:prstGeom>
          <a:solidFill>
            <a:schemeClr val="accent1"/>
          </a:solidFill>
          <a:ln/>
        </p:spPr>
        <p:txBody>
          <a:bodyPr/>
          <a:lstStyle/>
          <a:p>
            <a:endParaRPr lang="fr-FR"/>
          </a:p>
        </p:txBody>
      </p:sp>
      <p:pic>
        <p:nvPicPr>
          <p:cNvPr id="20" name="Machine learning glyph" descr="Machine learning"/>
          <p:cNvPicPr>
            <a:picLocks noChangeAspect="1"/>
          </p:cNvPicPr>
          <p:nvPr/>
        </p:nvPicPr>
        <p:blipFill>
          <a:blip r:embed="rId7"/>
          <a:stretch>
            <a:fillRect/>
          </a:stretch>
        </p:blipFill>
        <p:spPr>
          <a:xfrm>
            <a:off x="6521501" y="5113325"/>
            <a:ext cx="307238" cy="307238"/>
          </a:xfrm>
          <a:prstGeom prst="rect">
            <a:avLst/>
          </a:prstGeom>
        </p:spPr>
      </p:pic>
      <p:sp>
        <p:nvSpPr>
          <p:cNvPr id="21" name="Text 13"/>
          <p:cNvSpPr txBox="1"/>
          <p:nvPr/>
        </p:nvSpPr>
        <p:spPr>
          <a:xfrm>
            <a:off x="7132320" y="4901184"/>
            <a:ext cx="4480560" cy="777240"/>
          </a:xfrm>
          <a:prstGeom prst="rect">
            <a:avLst/>
          </a:prstGeom>
          <a:noFill/>
          <a:ln/>
        </p:spPr>
        <p:txBody>
          <a:bodyPr wrap="square" lIns="0" tIns="0" rIns="0" bIns="0" rtlCol="0" anchor="ctr"/>
          <a:lstStyle/>
          <a:p>
            <a:pPr marL="0" indent="0">
              <a:buNone/>
            </a:pPr>
            <a:r>
              <a:rPr lang="en-US" sz="1600" b="1" cap="all" dirty="0"/>
              <a:t>Machine</a:t>
            </a:r>
            <a:r>
              <a:rPr lang="en-US" sz="1600" b="1" dirty="0">
                <a:solidFill>
                  <a:schemeClr val="tx1"/>
                </a:solidFill>
              </a:rPr>
              <a:t> </a:t>
            </a:r>
            <a:r>
              <a:rPr lang="en-US" sz="1600" b="1" cap="all" dirty="0"/>
              <a:t>learning</a:t>
            </a:r>
          </a:p>
          <a:p>
            <a:pPr marL="0" indent="0">
              <a:buNone/>
            </a:pPr>
            <a:r>
              <a:rPr lang="en-US" sz="1400" dirty="0" err="1">
                <a:solidFill>
                  <a:schemeClr val="accent4"/>
                </a:solidFill>
              </a:rPr>
              <a:t>Behavioural</a:t>
            </a:r>
            <a:r>
              <a:rPr lang="en-US" sz="1400" dirty="0">
                <a:solidFill>
                  <a:schemeClr val="accent4"/>
                </a:solidFill>
              </a:rPr>
              <a:t> baselines detect anomalies and new attacks in real time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20</a:t>
            </a:fld>
            <a:endParaRPr lang="en-US"/>
          </a:p>
        </p:txBody>
      </p:sp>
      <p:pic>
        <p:nvPicPr>
          <p:cNvPr id="3" name="Image 0" descr="/home/claude/unpacked/ppt/media/image1.png">
            <a:extLst>
              <a:ext uri="{FF2B5EF4-FFF2-40B4-BE49-F238E27FC236}">
                <a16:creationId xmlns:a16="http://schemas.microsoft.com/office/drawing/2014/main" id="{C7496C70-C702-B6EE-D81E-BE197D1AB38C}"/>
              </a:ext>
            </a:extLst>
          </p:cNvPr>
          <p:cNvPicPr>
            <a:picLocks noChangeAspect="1"/>
          </p:cNvPicPr>
          <p:nvPr/>
        </p:nvPicPr>
        <p:blipFill>
          <a:blip r:embed="rId8"/>
          <a:stretch>
            <a:fillRect/>
          </a:stretch>
        </p:blipFill>
        <p:spPr>
          <a:xfrm>
            <a:off x="10675620" y="320040"/>
            <a:ext cx="960120" cy="9601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Four pillars, one defensive layer</a:t>
            </a:r>
            <a:endParaRPr lang="en-US" sz="3400" cap="all" dirty="0"/>
          </a:p>
        </p:txBody>
      </p:sp>
      <p:sp>
        <p:nvSpPr>
          <p:cNvPr id="4" name="Text 1"/>
          <p:cNvSpPr txBox="1"/>
          <p:nvPr/>
        </p:nvSpPr>
        <p:spPr>
          <a:xfrm>
            <a:off x="548640" y="1234440"/>
            <a:ext cx="11349070" cy="457200"/>
          </a:xfrm>
          <a:prstGeom prst="rect">
            <a:avLst/>
          </a:prstGeom>
          <a:noFill/>
          <a:ln/>
        </p:spPr>
        <p:txBody>
          <a:bodyPr wrap="square" lIns="0" tIns="0" rIns="0" bIns="0" rtlCol="0" anchor="ctr"/>
          <a:lstStyle/>
          <a:p>
            <a:pPr marL="0" indent="0">
              <a:buNone/>
            </a:pPr>
            <a:r>
              <a:rPr lang="en-US" sz="1600" i="1" cap="all" dirty="0">
                <a:solidFill>
                  <a:schemeClr val="tx2"/>
                </a:solidFill>
              </a:rPr>
              <a:t>Rather than independent point solutions, WAAP unifies four critical capabilities into a single cloud-native platform.</a:t>
            </a:r>
            <a:endParaRPr lang="en-US" sz="1600" i="1" cap="all" dirty="0"/>
          </a:p>
        </p:txBody>
      </p:sp>
      <p:sp>
        <p:nvSpPr>
          <p:cNvPr id="5" name="pillar Next-Gen WAF"/>
          <p:cNvSpPr/>
          <p:nvPr/>
        </p:nvSpPr>
        <p:spPr>
          <a:xfrm>
            <a:off x="548640" y="1920240"/>
            <a:ext cx="2606040" cy="4160520"/>
          </a:xfrm>
          <a:prstGeom prst="roundRect">
            <a:avLst>
              <a:gd name="adj" fmla="val 3509"/>
            </a:avLst>
          </a:prstGeom>
          <a:solidFill>
            <a:schemeClr val="bg2"/>
          </a:solidFill>
          <a:ln/>
        </p:spPr>
        <p:txBody>
          <a:bodyPr/>
          <a:lstStyle/>
          <a:p>
            <a:endParaRPr lang="fr-FR"/>
          </a:p>
        </p:txBody>
      </p:sp>
      <p:sp>
        <p:nvSpPr>
          <p:cNvPr id="6" name="Next-Gen WAF tile"/>
          <p:cNvSpPr/>
          <p:nvPr/>
        </p:nvSpPr>
        <p:spPr>
          <a:xfrm>
            <a:off x="822960" y="2194560"/>
            <a:ext cx="640080" cy="640080"/>
          </a:xfrm>
          <a:prstGeom prst="roundRect">
            <a:avLst>
              <a:gd name="adj" fmla="val 17143"/>
            </a:avLst>
          </a:prstGeom>
          <a:solidFill>
            <a:schemeClr val="accent1"/>
          </a:solidFill>
          <a:ln/>
        </p:spPr>
        <p:txBody>
          <a:bodyPr/>
          <a:lstStyle/>
          <a:p>
            <a:endParaRPr lang="fr-FR"/>
          </a:p>
        </p:txBody>
      </p:sp>
      <p:pic>
        <p:nvPicPr>
          <p:cNvPr id="7" name="Next-Gen WAF glyph" descr="Next-Gen WAF"/>
          <p:cNvPicPr>
            <a:picLocks noChangeAspect="1"/>
          </p:cNvPicPr>
          <p:nvPr/>
        </p:nvPicPr>
        <p:blipFill>
          <a:blip r:embed="rId3"/>
          <a:stretch>
            <a:fillRect/>
          </a:stretch>
        </p:blipFill>
        <p:spPr>
          <a:xfrm>
            <a:off x="963778" y="2335378"/>
            <a:ext cx="358445" cy="358445"/>
          </a:xfrm>
          <a:prstGeom prst="rect">
            <a:avLst/>
          </a:prstGeom>
        </p:spPr>
      </p:pic>
      <p:sp>
        <p:nvSpPr>
          <p:cNvPr id="8" name="Text 4"/>
          <p:cNvSpPr txBox="1"/>
          <p:nvPr/>
        </p:nvSpPr>
        <p:spPr>
          <a:xfrm>
            <a:off x="822960" y="3017520"/>
            <a:ext cx="2103120" cy="411480"/>
          </a:xfrm>
          <a:prstGeom prst="rect">
            <a:avLst/>
          </a:prstGeom>
          <a:noFill/>
          <a:ln/>
        </p:spPr>
        <p:txBody>
          <a:bodyPr wrap="square" lIns="0" tIns="0" rIns="0" bIns="0" rtlCol="0" anchor="ctr"/>
          <a:lstStyle/>
          <a:p>
            <a:pPr marL="0" indent="0">
              <a:buNone/>
            </a:pPr>
            <a:r>
              <a:rPr lang="en-US" sz="1900" b="1" cap="all" dirty="0">
                <a:solidFill>
                  <a:schemeClr val="tx1"/>
                </a:solidFill>
              </a:rPr>
              <a:t>1. Next-Gen WAF</a:t>
            </a:r>
            <a:endParaRPr lang="en-US" sz="1900" cap="all" dirty="0"/>
          </a:p>
        </p:txBody>
      </p:sp>
      <p:sp>
        <p:nvSpPr>
          <p:cNvPr id="9" name="Text 5"/>
          <p:cNvSpPr txBox="1"/>
          <p:nvPr/>
        </p:nvSpPr>
        <p:spPr>
          <a:xfrm>
            <a:off x="822960" y="3474720"/>
            <a:ext cx="2103120" cy="548640"/>
          </a:xfrm>
          <a:prstGeom prst="rect">
            <a:avLst/>
          </a:prstGeom>
          <a:noFill/>
          <a:ln/>
        </p:spPr>
        <p:txBody>
          <a:bodyPr wrap="square" lIns="0" tIns="0" rIns="0" bIns="0" rtlCol="0" anchor="t"/>
          <a:lstStyle/>
          <a:p>
            <a:pPr marL="0" indent="0">
              <a:buNone/>
            </a:pPr>
            <a:r>
              <a:rPr lang="en-US" sz="1400" b="1" dirty="0">
                <a:solidFill>
                  <a:schemeClr val="accent1"/>
                </a:solidFill>
              </a:rPr>
              <a:t>Filters Layer 7 HTTP/HTTPS traffic</a:t>
            </a:r>
            <a:endParaRPr lang="en-US" sz="1400" dirty="0"/>
          </a:p>
        </p:txBody>
      </p:sp>
      <p:sp>
        <p:nvSpPr>
          <p:cNvPr id="10" name="Text 6"/>
          <p:cNvSpPr txBox="1"/>
          <p:nvPr/>
        </p:nvSpPr>
        <p:spPr>
          <a:xfrm>
            <a:off x="822960" y="4069080"/>
            <a:ext cx="2103120" cy="1828800"/>
          </a:xfrm>
          <a:prstGeom prst="rect">
            <a:avLst/>
          </a:prstGeom>
          <a:noFill/>
          <a:ln/>
        </p:spPr>
        <p:txBody>
          <a:bodyPr wrap="square" lIns="0" tIns="0" rIns="0" bIns="0" rtlCol="0" anchor="t"/>
          <a:lstStyle/>
          <a:p>
            <a:pPr marL="0" indent="0">
              <a:buNone/>
            </a:pPr>
            <a:r>
              <a:rPr lang="en-US" sz="1400" dirty="0">
                <a:solidFill>
                  <a:schemeClr val="accent4"/>
                </a:solidFill>
              </a:rPr>
              <a:t>Stops OWASP Top 10 exploits (SQLi, XSS, RCE); ML augments static rules to catch zero-days.</a:t>
            </a:r>
            <a:endParaRPr lang="en-US" sz="1400" dirty="0"/>
          </a:p>
        </p:txBody>
      </p:sp>
      <p:sp>
        <p:nvSpPr>
          <p:cNvPr id="11" name="pillar API Security"/>
          <p:cNvSpPr/>
          <p:nvPr/>
        </p:nvSpPr>
        <p:spPr>
          <a:xfrm>
            <a:off x="3383280" y="1920240"/>
            <a:ext cx="2606040" cy="4160520"/>
          </a:xfrm>
          <a:prstGeom prst="roundRect">
            <a:avLst>
              <a:gd name="adj" fmla="val 3509"/>
            </a:avLst>
          </a:prstGeom>
          <a:solidFill>
            <a:schemeClr val="bg2"/>
          </a:solidFill>
          <a:ln/>
        </p:spPr>
        <p:txBody>
          <a:bodyPr/>
          <a:lstStyle/>
          <a:p>
            <a:endParaRPr lang="fr-FR"/>
          </a:p>
        </p:txBody>
      </p:sp>
      <p:sp>
        <p:nvSpPr>
          <p:cNvPr id="12" name="API Security tile"/>
          <p:cNvSpPr/>
          <p:nvPr/>
        </p:nvSpPr>
        <p:spPr>
          <a:xfrm>
            <a:off x="3657600" y="2194560"/>
            <a:ext cx="640080" cy="640080"/>
          </a:xfrm>
          <a:prstGeom prst="roundRect">
            <a:avLst>
              <a:gd name="adj" fmla="val 17143"/>
            </a:avLst>
          </a:prstGeom>
          <a:solidFill>
            <a:schemeClr val="accent1"/>
          </a:solidFill>
          <a:ln/>
        </p:spPr>
        <p:txBody>
          <a:bodyPr/>
          <a:lstStyle/>
          <a:p>
            <a:endParaRPr lang="fr-FR"/>
          </a:p>
        </p:txBody>
      </p:sp>
      <p:pic>
        <p:nvPicPr>
          <p:cNvPr id="13" name="API Security glyph" descr="API Security"/>
          <p:cNvPicPr>
            <a:picLocks noChangeAspect="1"/>
          </p:cNvPicPr>
          <p:nvPr/>
        </p:nvPicPr>
        <p:blipFill>
          <a:blip r:embed="rId4"/>
          <a:stretch>
            <a:fillRect/>
          </a:stretch>
        </p:blipFill>
        <p:spPr>
          <a:xfrm>
            <a:off x="3798418" y="2335378"/>
            <a:ext cx="358445" cy="358445"/>
          </a:xfrm>
          <a:prstGeom prst="rect">
            <a:avLst/>
          </a:prstGeom>
        </p:spPr>
      </p:pic>
      <p:sp>
        <p:nvSpPr>
          <p:cNvPr id="14" name="Text 9"/>
          <p:cNvSpPr txBox="1"/>
          <p:nvPr/>
        </p:nvSpPr>
        <p:spPr>
          <a:xfrm>
            <a:off x="3657600" y="3017520"/>
            <a:ext cx="2103120" cy="411480"/>
          </a:xfrm>
          <a:prstGeom prst="rect">
            <a:avLst/>
          </a:prstGeom>
          <a:noFill/>
          <a:ln/>
        </p:spPr>
        <p:txBody>
          <a:bodyPr wrap="square" lIns="0" tIns="0" rIns="0" bIns="0" rtlCol="0" anchor="ctr"/>
          <a:lstStyle/>
          <a:p>
            <a:pPr marL="0" indent="0">
              <a:buNone/>
            </a:pPr>
            <a:r>
              <a:rPr lang="en-US" sz="1900" b="1" cap="all" dirty="0">
                <a:solidFill>
                  <a:schemeClr val="tx1"/>
                </a:solidFill>
              </a:rPr>
              <a:t>2. API Security</a:t>
            </a:r>
            <a:endParaRPr lang="en-US" sz="1900" cap="all" dirty="0"/>
          </a:p>
        </p:txBody>
      </p:sp>
      <p:sp>
        <p:nvSpPr>
          <p:cNvPr id="15" name="Text 10"/>
          <p:cNvSpPr txBox="1"/>
          <p:nvPr/>
        </p:nvSpPr>
        <p:spPr>
          <a:xfrm>
            <a:off x="3657600" y="3474720"/>
            <a:ext cx="2103120" cy="548640"/>
          </a:xfrm>
          <a:prstGeom prst="rect">
            <a:avLst/>
          </a:prstGeom>
          <a:noFill/>
          <a:ln/>
        </p:spPr>
        <p:txBody>
          <a:bodyPr wrap="square" lIns="0" tIns="0" rIns="0" bIns="0" rtlCol="0" anchor="t"/>
          <a:lstStyle/>
          <a:p>
            <a:pPr marL="0" indent="0">
              <a:buNone/>
            </a:pPr>
            <a:r>
              <a:rPr lang="en-US" sz="1400" b="1" dirty="0">
                <a:solidFill>
                  <a:schemeClr val="accent1"/>
                </a:solidFill>
              </a:rPr>
              <a:t>Inspects API logic in JSON/XML</a:t>
            </a:r>
            <a:endParaRPr lang="en-US" sz="1400" dirty="0"/>
          </a:p>
        </p:txBody>
      </p:sp>
      <p:sp>
        <p:nvSpPr>
          <p:cNvPr id="16" name="Text 11"/>
          <p:cNvSpPr txBox="1"/>
          <p:nvPr/>
        </p:nvSpPr>
        <p:spPr>
          <a:xfrm>
            <a:off x="3657600" y="4069080"/>
            <a:ext cx="2103120" cy="1828800"/>
          </a:xfrm>
          <a:prstGeom prst="rect">
            <a:avLst/>
          </a:prstGeom>
          <a:noFill/>
          <a:ln/>
        </p:spPr>
        <p:txBody>
          <a:bodyPr wrap="square" lIns="0" tIns="0" rIns="0" bIns="0" rtlCol="0" anchor="t"/>
          <a:lstStyle/>
          <a:p>
            <a:pPr marL="0" indent="0">
              <a:buNone/>
            </a:pPr>
            <a:r>
              <a:rPr lang="en-US" sz="1400" dirty="0">
                <a:solidFill>
                  <a:schemeClr val="accent4"/>
                </a:solidFill>
              </a:rPr>
              <a:t>Discovery of shadow and zombie APIs, OpenAPI schema validation, OWASP API Top 10 (BOLA).</a:t>
            </a:r>
            <a:endParaRPr lang="en-US" sz="1400" dirty="0"/>
          </a:p>
        </p:txBody>
      </p:sp>
      <p:sp>
        <p:nvSpPr>
          <p:cNvPr id="17" name="pillar Bot Management"/>
          <p:cNvSpPr/>
          <p:nvPr/>
        </p:nvSpPr>
        <p:spPr>
          <a:xfrm>
            <a:off x="6217920" y="1920240"/>
            <a:ext cx="2606040" cy="4160520"/>
          </a:xfrm>
          <a:prstGeom prst="roundRect">
            <a:avLst>
              <a:gd name="adj" fmla="val 3509"/>
            </a:avLst>
          </a:prstGeom>
          <a:solidFill>
            <a:schemeClr val="bg2"/>
          </a:solidFill>
          <a:ln/>
        </p:spPr>
        <p:txBody>
          <a:bodyPr/>
          <a:lstStyle/>
          <a:p>
            <a:endParaRPr lang="fr-FR"/>
          </a:p>
        </p:txBody>
      </p:sp>
      <p:sp>
        <p:nvSpPr>
          <p:cNvPr id="18" name="Bot Management tile"/>
          <p:cNvSpPr/>
          <p:nvPr/>
        </p:nvSpPr>
        <p:spPr>
          <a:xfrm>
            <a:off x="6492240" y="2194560"/>
            <a:ext cx="640080" cy="640080"/>
          </a:xfrm>
          <a:prstGeom prst="roundRect">
            <a:avLst>
              <a:gd name="adj" fmla="val 17143"/>
            </a:avLst>
          </a:prstGeom>
          <a:solidFill>
            <a:schemeClr val="accent1"/>
          </a:solidFill>
          <a:ln/>
        </p:spPr>
        <p:txBody>
          <a:bodyPr/>
          <a:lstStyle/>
          <a:p>
            <a:endParaRPr lang="fr-FR"/>
          </a:p>
        </p:txBody>
      </p:sp>
      <p:pic>
        <p:nvPicPr>
          <p:cNvPr id="19" name="Bot Management glyph" descr="Bot Management"/>
          <p:cNvPicPr>
            <a:picLocks noChangeAspect="1"/>
          </p:cNvPicPr>
          <p:nvPr/>
        </p:nvPicPr>
        <p:blipFill>
          <a:blip r:embed="rId5"/>
          <a:stretch>
            <a:fillRect/>
          </a:stretch>
        </p:blipFill>
        <p:spPr>
          <a:xfrm>
            <a:off x="6633058" y="2335378"/>
            <a:ext cx="358445" cy="358445"/>
          </a:xfrm>
          <a:prstGeom prst="rect">
            <a:avLst/>
          </a:prstGeom>
        </p:spPr>
      </p:pic>
      <p:sp>
        <p:nvSpPr>
          <p:cNvPr id="20" name="Text 14"/>
          <p:cNvSpPr txBox="1"/>
          <p:nvPr/>
        </p:nvSpPr>
        <p:spPr>
          <a:xfrm>
            <a:off x="6492240" y="3017520"/>
            <a:ext cx="2331720" cy="411480"/>
          </a:xfrm>
          <a:prstGeom prst="rect">
            <a:avLst/>
          </a:prstGeom>
          <a:noFill/>
          <a:ln/>
        </p:spPr>
        <p:txBody>
          <a:bodyPr wrap="square" lIns="0" tIns="0" rIns="0" bIns="0" rtlCol="0" anchor="ctr"/>
          <a:lstStyle/>
          <a:p>
            <a:pPr marL="0" indent="0">
              <a:buNone/>
            </a:pPr>
            <a:r>
              <a:rPr lang="en-US" sz="1900" b="1" cap="all" dirty="0">
                <a:solidFill>
                  <a:schemeClr val="tx1"/>
                </a:solidFill>
              </a:rPr>
              <a:t>3. Bot Management</a:t>
            </a:r>
            <a:endParaRPr lang="en-US" sz="1900" cap="all" dirty="0"/>
          </a:p>
        </p:txBody>
      </p:sp>
      <p:sp>
        <p:nvSpPr>
          <p:cNvPr id="21" name="Text 15"/>
          <p:cNvSpPr txBox="1"/>
          <p:nvPr/>
        </p:nvSpPr>
        <p:spPr>
          <a:xfrm>
            <a:off x="6492240" y="3474720"/>
            <a:ext cx="2103120" cy="548640"/>
          </a:xfrm>
          <a:prstGeom prst="rect">
            <a:avLst/>
          </a:prstGeom>
          <a:noFill/>
          <a:ln/>
        </p:spPr>
        <p:txBody>
          <a:bodyPr wrap="square" lIns="0" tIns="0" rIns="0" bIns="0" rtlCol="0" anchor="t"/>
          <a:lstStyle/>
          <a:p>
            <a:pPr marL="0" indent="0">
              <a:buNone/>
            </a:pPr>
            <a:r>
              <a:rPr lang="en-US" sz="1400" b="1" dirty="0">
                <a:solidFill>
                  <a:schemeClr val="accent1"/>
                </a:solidFill>
              </a:rPr>
              <a:t>Separates good bots from bad</a:t>
            </a:r>
            <a:endParaRPr lang="en-US" sz="1400" dirty="0"/>
          </a:p>
        </p:txBody>
      </p:sp>
      <p:sp>
        <p:nvSpPr>
          <p:cNvPr id="22" name="Text 16"/>
          <p:cNvSpPr txBox="1"/>
          <p:nvPr/>
        </p:nvSpPr>
        <p:spPr>
          <a:xfrm>
            <a:off x="6492240" y="4069080"/>
            <a:ext cx="2103120" cy="1828800"/>
          </a:xfrm>
          <a:prstGeom prst="rect">
            <a:avLst/>
          </a:prstGeom>
          <a:noFill/>
          <a:ln/>
        </p:spPr>
        <p:txBody>
          <a:bodyPr wrap="square" lIns="0" tIns="0" rIns="0" bIns="0" rtlCol="0" anchor="t"/>
          <a:lstStyle/>
          <a:p>
            <a:pPr marL="0" indent="0">
              <a:buNone/>
            </a:pPr>
            <a:r>
              <a:rPr lang="en-US" sz="1400" dirty="0">
                <a:solidFill>
                  <a:schemeClr val="accent4"/>
                </a:solidFill>
              </a:rPr>
              <a:t>Behaviour and telemetry analysis stops fraud, credential stuffing, scraping and fake accounts.</a:t>
            </a:r>
            <a:endParaRPr lang="en-US" sz="1400" dirty="0"/>
          </a:p>
        </p:txBody>
      </p:sp>
      <p:sp>
        <p:nvSpPr>
          <p:cNvPr id="23" name="pillar DDoS Protection"/>
          <p:cNvSpPr/>
          <p:nvPr/>
        </p:nvSpPr>
        <p:spPr>
          <a:xfrm>
            <a:off x="9052560" y="1920240"/>
            <a:ext cx="2606040" cy="4160520"/>
          </a:xfrm>
          <a:prstGeom prst="roundRect">
            <a:avLst>
              <a:gd name="adj" fmla="val 3509"/>
            </a:avLst>
          </a:prstGeom>
          <a:solidFill>
            <a:schemeClr val="bg2"/>
          </a:solidFill>
          <a:ln/>
        </p:spPr>
        <p:txBody>
          <a:bodyPr/>
          <a:lstStyle/>
          <a:p>
            <a:endParaRPr lang="fr-FR"/>
          </a:p>
        </p:txBody>
      </p:sp>
      <p:sp>
        <p:nvSpPr>
          <p:cNvPr id="24" name="DDoS Protection tile"/>
          <p:cNvSpPr/>
          <p:nvPr/>
        </p:nvSpPr>
        <p:spPr>
          <a:xfrm>
            <a:off x="9326880" y="2194560"/>
            <a:ext cx="640080" cy="640080"/>
          </a:xfrm>
          <a:prstGeom prst="roundRect">
            <a:avLst>
              <a:gd name="adj" fmla="val 17143"/>
            </a:avLst>
          </a:prstGeom>
          <a:solidFill>
            <a:schemeClr val="accent1"/>
          </a:solidFill>
          <a:ln/>
        </p:spPr>
        <p:txBody>
          <a:bodyPr/>
          <a:lstStyle/>
          <a:p>
            <a:endParaRPr lang="fr-FR"/>
          </a:p>
        </p:txBody>
      </p:sp>
      <p:pic>
        <p:nvPicPr>
          <p:cNvPr id="25" name="DDoS Protection glyph" descr="DDoS Protection"/>
          <p:cNvPicPr>
            <a:picLocks noChangeAspect="1"/>
          </p:cNvPicPr>
          <p:nvPr/>
        </p:nvPicPr>
        <p:blipFill>
          <a:blip r:embed="rId6"/>
          <a:stretch>
            <a:fillRect/>
          </a:stretch>
        </p:blipFill>
        <p:spPr>
          <a:xfrm>
            <a:off x="9467698" y="2335378"/>
            <a:ext cx="358445" cy="358445"/>
          </a:xfrm>
          <a:prstGeom prst="rect">
            <a:avLst/>
          </a:prstGeom>
        </p:spPr>
      </p:pic>
      <p:sp>
        <p:nvSpPr>
          <p:cNvPr id="26" name="Text 19"/>
          <p:cNvSpPr txBox="1"/>
          <p:nvPr/>
        </p:nvSpPr>
        <p:spPr>
          <a:xfrm>
            <a:off x="9326880" y="3017520"/>
            <a:ext cx="2316480" cy="411480"/>
          </a:xfrm>
          <a:prstGeom prst="rect">
            <a:avLst/>
          </a:prstGeom>
          <a:noFill/>
          <a:ln/>
        </p:spPr>
        <p:txBody>
          <a:bodyPr wrap="square" lIns="0" tIns="0" rIns="0" bIns="0" rtlCol="0" anchor="ctr"/>
          <a:lstStyle/>
          <a:p>
            <a:pPr marL="0" indent="0">
              <a:buNone/>
            </a:pPr>
            <a:r>
              <a:rPr lang="en-US" sz="1900" b="1" dirty="0">
                <a:solidFill>
                  <a:schemeClr val="tx1"/>
                </a:solidFill>
              </a:rPr>
              <a:t>4. DDoS </a:t>
            </a:r>
            <a:r>
              <a:rPr lang="en-US" sz="1900" b="1" cap="all" dirty="0">
                <a:solidFill>
                  <a:schemeClr val="tx1"/>
                </a:solidFill>
              </a:rPr>
              <a:t>Protection</a:t>
            </a:r>
            <a:endParaRPr lang="en-US" sz="1900" cap="all" dirty="0"/>
          </a:p>
        </p:txBody>
      </p:sp>
      <p:sp>
        <p:nvSpPr>
          <p:cNvPr id="27" name="Text 20"/>
          <p:cNvSpPr txBox="1"/>
          <p:nvPr/>
        </p:nvSpPr>
        <p:spPr>
          <a:xfrm>
            <a:off x="9326880" y="3474720"/>
            <a:ext cx="2103120" cy="548640"/>
          </a:xfrm>
          <a:prstGeom prst="rect">
            <a:avLst/>
          </a:prstGeom>
          <a:noFill/>
          <a:ln/>
        </p:spPr>
        <p:txBody>
          <a:bodyPr wrap="square" lIns="0" tIns="0" rIns="0" bIns="0" rtlCol="0" anchor="t"/>
          <a:lstStyle/>
          <a:p>
            <a:pPr marL="0" indent="0">
              <a:buNone/>
            </a:pPr>
            <a:r>
              <a:rPr lang="en-US" sz="1400" b="1" dirty="0">
                <a:solidFill>
                  <a:schemeClr val="accent1"/>
                </a:solidFill>
              </a:rPr>
              <a:t>Keeps services available</a:t>
            </a:r>
            <a:endParaRPr lang="en-US" sz="1400" dirty="0"/>
          </a:p>
        </p:txBody>
      </p:sp>
      <p:sp>
        <p:nvSpPr>
          <p:cNvPr id="28" name="Text 21"/>
          <p:cNvSpPr txBox="1"/>
          <p:nvPr/>
        </p:nvSpPr>
        <p:spPr>
          <a:xfrm>
            <a:off x="9326880" y="4069080"/>
            <a:ext cx="2103120" cy="1828800"/>
          </a:xfrm>
          <a:prstGeom prst="rect">
            <a:avLst/>
          </a:prstGeom>
          <a:noFill/>
          <a:ln/>
        </p:spPr>
        <p:txBody>
          <a:bodyPr wrap="square" lIns="0" tIns="0" rIns="0" bIns="0" rtlCol="0" anchor="t"/>
          <a:lstStyle/>
          <a:p>
            <a:pPr marL="0" indent="0">
              <a:buNone/>
            </a:pPr>
            <a:r>
              <a:rPr lang="en-US" sz="1400" dirty="0">
                <a:solidFill>
                  <a:schemeClr val="accent4"/>
                </a:solidFill>
              </a:rPr>
              <a:t>Absorbs, disperses or filters Layer 3, 4 and 7 spikes at the edge before they reach servers.</a:t>
            </a:r>
            <a:endParaRPr lang="en-US" sz="14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21</a:t>
            </a:fld>
            <a:endParaRPr lang="en-US"/>
          </a:p>
        </p:txBody>
      </p:sp>
      <p:pic>
        <p:nvPicPr>
          <p:cNvPr id="29" name="Image 0" descr="/home/claude/unpacked/ppt/media/image1.png">
            <a:extLst>
              <a:ext uri="{FF2B5EF4-FFF2-40B4-BE49-F238E27FC236}">
                <a16:creationId xmlns:a16="http://schemas.microsoft.com/office/drawing/2014/main" id="{0409BD69-BA22-9B8F-3C49-003DD11E5379}"/>
              </a:ext>
            </a:extLst>
          </p:cNvPr>
          <p:cNvPicPr>
            <a:picLocks noChangeAspect="1"/>
          </p:cNvPicPr>
          <p:nvPr/>
        </p:nvPicPr>
        <p:blipFill>
          <a:blip r:embed="rId7"/>
          <a:stretch>
            <a:fillRect/>
          </a:stretch>
        </p:blipFill>
        <p:spPr>
          <a:xfrm>
            <a:off x="10378440" y="228600"/>
            <a:ext cx="960120" cy="9601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Key operational principles</a:t>
            </a:r>
            <a:endParaRPr lang="en-US" sz="3400" cap="all" dirty="0"/>
          </a:p>
        </p:txBody>
      </p:sp>
      <p:sp>
        <p:nvSpPr>
          <p:cNvPr id="4" name="card Adaptive security &amp; ML"/>
          <p:cNvSpPr/>
          <p:nvPr/>
        </p:nvSpPr>
        <p:spPr>
          <a:xfrm>
            <a:off x="548640" y="1417320"/>
            <a:ext cx="5394960" cy="2194560"/>
          </a:xfrm>
          <a:prstGeom prst="roundRect">
            <a:avLst>
              <a:gd name="adj" fmla="val 4167"/>
            </a:avLst>
          </a:prstGeom>
          <a:solidFill>
            <a:schemeClr val="bg2"/>
          </a:solidFill>
          <a:ln/>
        </p:spPr>
        <p:txBody>
          <a:bodyPr/>
          <a:lstStyle/>
          <a:p>
            <a:endParaRPr lang="fr-FR"/>
          </a:p>
        </p:txBody>
      </p:sp>
      <p:sp>
        <p:nvSpPr>
          <p:cNvPr id="5" name="Adaptive security &amp; ML tile"/>
          <p:cNvSpPr/>
          <p:nvPr/>
        </p:nvSpPr>
        <p:spPr>
          <a:xfrm>
            <a:off x="822960" y="1691640"/>
            <a:ext cx="548640" cy="548640"/>
          </a:xfrm>
          <a:prstGeom prst="roundRect">
            <a:avLst>
              <a:gd name="adj" fmla="val 20000"/>
            </a:avLst>
          </a:prstGeom>
          <a:solidFill>
            <a:schemeClr val="accent1"/>
          </a:solidFill>
          <a:ln/>
        </p:spPr>
        <p:txBody>
          <a:bodyPr/>
          <a:lstStyle/>
          <a:p>
            <a:endParaRPr lang="fr-FR"/>
          </a:p>
        </p:txBody>
      </p:sp>
      <p:pic>
        <p:nvPicPr>
          <p:cNvPr id="6" name="Adaptive security &amp; ML glyph" descr="Adaptive security &amp; ML"/>
          <p:cNvPicPr>
            <a:picLocks noChangeAspect="1"/>
          </p:cNvPicPr>
          <p:nvPr/>
        </p:nvPicPr>
        <p:blipFill>
          <a:blip r:embed="rId3"/>
          <a:stretch>
            <a:fillRect/>
          </a:stretch>
        </p:blipFill>
        <p:spPr>
          <a:xfrm>
            <a:off x="943661" y="1812341"/>
            <a:ext cx="307238" cy="307238"/>
          </a:xfrm>
          <a:prstGeom prst="rect">
            <a:avLst/>
          </a:prstGeom>
        </p:spPr>
      </p:pic>
      <p:sp>
        <p:nvSpPr>
          <p:cNvPr id="7" name="Text 3"/>
          <p:cNvSpPr txBox="1"/>
          <p:nvPr/>
        </p:nvSpPr>
        <p:spPr>
          <a:xfrm>
            <a:off x="1508760" y="1691640"/>
            <a:ext cx="4206240" cy="548640"/>
          </a:xfrm>
          <a:prstGeom prst="rect">
            <a:avLst/>
          </a:prstGeom>
          <a:noFill/>
          <a:ln/>
        </p:spPr>
        <p:txBody>
          <a:bodyPr wrap="square" lIns="0" tIns="0" rIns="0" bIns="0" rtlCol="0" anchor="ctr"/>
          <a:lstStyle/>
          <a:p>
            <a:pPr marL="0" indent="0">
              <a:buNone/>
            </a:pPr>
            <a:r>
              <a:rPr lang="en-US" sz="1900" b="1" cap="all" dirty="0">
                <a:solidFill>
                  <a:schemeClr val="tx1"/>
                </a:solidFill>
              </a:rPr>
              <a:t>Adaptive security &amp; ML</a:t>
            </a:r>
            <a:endParaRPr lang="en-US" sz="1900" cap="all" dirty="0"/>
          </a:p>
        </p:txBody>
      </p:sp>
      <p:sp>
        <p:nvSpPr>
          <p:cNvPr id="8" name="Text 4"/>
          <p:cNvSpPr txBox="1"/>
          <p:nvPr/>
        </p:nvSpPr>
        <p:spPr>
          <a:xfrm>
            <a:off x="822960" y="2377440"/>
            <a:ext cx="4846320" cy="1051560"/>
          </a:xfrm>
          <a:prstGeom prst="rect">
            <a:avLst/>
          </a:prstGeom>
          <a:noFill/>
          <a:ln/>
        </p:spPr>
        <p:txBody>
          <a:bodyPr wrap="square" lIns="0" tIns="0" rIns="0" bIns="0" rtlCol="0" anchor="t"/>
          <a:lstStyle/>
          <a:p>
            <a:pPr marL="0" indent="0">
              <a:buNone/>
            </a:pPr>
            <a:r>
              <a:rPr lang="en-US" sz="1400" dirty="0">
                <a:solidFill>
                  <a:schemeClr val="accent4"/>
                </a:solidFill>
              </a:rPr>
              <a:t>Learns what normal application behaviour looks like and alerts or blocks automatically on anomalies — no reliance on manual signature updates.</a:t>
            </a:r>
            <a:endParaRPr lang="en-US" sz="1400" dirty="0"/>
          </a:p>
        </p:txBody>
      </p:sp>
      <p:sp>
        <p:nvSpPr>
          <p:cNvPr id="9" name="card Unified visibility"/>
          <p:cNvSpPr/>
          <p:nvPr/>
        </p:nvSpPr>
        <p:spPr>
          <a:xfrm>
            <a:off x="6217920" y="1417320"/>
            <a:ext cx="5394960" cy="2194560"/>
          </a:xfrm>
          <a:prstGeom prst="roundRect">
            <a:avLst>
              <a:gd name="adj" fmla="val 4167"/>
            </a:avLst>
          </a:prstGeom>
          <a:solidFill>
            <a:schemeClr val="bg2"/>
          </a:solidFill>
          <a:ln/>
        </p:spPr>
        <p:txBody>
          <a:bodyPr/>
          <a:lstStyle/>
          <a:p>
            <a:endParaRPr lang="fr-FR"/>
          </a:p>
        </p:txBody>
      </p:sp>
      <p:sp>
        <p:nvSpPr>
          <p:cNvPr id="10" name="Unified visibility tile"/>
          <p:cNvSpPr/>
          <p:nvPr/>
        </p:nvSpPr>
        <p:spPr>
          <a:xfrm>
            <a:off x="6492240" y="1691640"/>
            <a:ext cx="548640" cy="548640"/>
          </a:xfrm>
          <a:prstGeom prst="roundRect">
            <a:avLst>
              <a:gd name="adj" fmla="val 20000"/>
            </a:avLst>
          </a:prstGeom>
          <a:solidFill>
            <a:schemeClr val="accent1"/>
          </a:solidFill>
          <a:ln/>
        </p:spPr>
        <p:txBody>
          <a:bodyPr/>
          <a:lstStyle/>
          <a:p>
            <a:endParaRPr lang="fr-FR"/>
          </a:p>
        </p:txBody>
      </p:sp>
      <p:pic>
        <p:nvPicPr>
          <p:cNvPr id="11" name="Unified visibility glyph" descr="Unified visibility"/>
          <p:cNvPicPr>
            <a:picLocks noChangeAspect="1"/>
          </p:cNvPicPr>
          <p:nvPr/>
        </p:nvPicPr>
        <p:blipFill>
          <a:blip r:embed="rId4"/>
          <a:stretch>
            <a:fillRect/>
          </a:stretch>
        </p:blipFill>
        <p:spPr>
          <a:xfrm>
            <a:off x="6612941" y="1812341"/>
            <a:ext cx="307238" cy="307238"/>
          </a:xfrm>
          <a:prstGeom prst="rect">
            <a:avLst/>
          </a:prstGeom>
        </p:spPr>
      </p:pic>
      <p:sp>
        <p:nvSpPr>
          <p:cNvPr id="12" name="Text 7"/>
          <p:cNvSpPr txBox="1"/>
          <p:nvPr/>
        </p:nvSpPr>
        <p:spPr>
          <a:xfrm>
            <a:off x="7178040" y="1691640"/>
            <a:ext cx="4206240" cy="548640"/>
          </a:xfrm>
          <a:prstGeom prst="rect">
            <a:avLst/>
          </a:prstGeom>
          <a:noFill/>
          <a:ln/>
        </p:spPr>
        <p:txBody>
          <a:bodyPr wrap="square" lIns="0" tIns="0" rIns="0" bIns="0" rtlCol="0" anchor="ctr"/>
          <a:lstStyle/>
          <a:p>
            <a:pPr marL="0" indent="0">
              <a:buNone/>
            </a:pPr>
            <a:r>
              <a:rPr lang="en-US" sz="1900" b="1" cap="all" dirty="0"/>
              <a:t>Unified</a:t>
            </a:r>
            <a:r>
              <a:rPr lang="en-US" sz="1900" b="1" dirty="0">
                <a:solidFill>
                  <a:schemeClr val="tx1"/>
                </a:solidFill>
              </a:rPr>
              <a:t> </a:t>
            </a:r>
            <a:r>
              <a:rPr lang="en-US" sz="1900" b="1" cap="all" dirty="0"/>
              <a:t>visibility</a:t>
            </a:r>
          </a:p>
        </p:txBody>
      </p:sp>
      <p:sp>
        <p:nvSpPr>
          <p:cNvPr id="13" name="Text 8"/>
          <p:cNvSpPr txBox="1"/>
          <p:nvPr/>
        </p:nvSpPr>
        <p:spPr>
          <a:xfrm>
            <a:off x="6492240" y="2377440"/>
            <a:ext cx="4846320" cy="1051560"/>
          </a:xfrm>
          <a:prstGeom prst="rect">
            <a:avLst/>
          </a:prstGeom>
          <a:noFill/>
          <a:ln/>
        </p:spPr>
        <p:txBody>
          <a:bodyPr wrap="square" lIns="0" tIns="0" rIns="0" bIns="0" rtlCol="0" anchor="t"/>
          <a:lstStyle/>
          <a:p>
            <a:pPr marL="0" indent="0">
              <a:buNone/>
            </a:pPr>
            <a:r>
              <a:rPr lang="en-US" sz="1400" dirty="0">
                <a:solidFill>
                  <a:schemeClr val="accent4"/>
                </a:solidFill>
              </a:rPr>
              <a:t>WAF, API, bot and DDoS telemetry in one dashboard gives client-to-cloud visibility and removes blind spots between tools.</a:t>
            </a:r>
            <a:endParaRPr lang="en-US" sz="1400" dirty="0"/>
          </a:p>
        </p:txBody>
      </p:sp>
      <p:sp>
        <p:nvSpPr>
          <p:cNvPr id="14" name="card Positive security model"/>
          <p:cNvSpPr/>
          <p:nvPr/>
        </p:nvSpPr>
        <p:spPr>
          <a:xfrm>
            <a:off x="548640" y="3886200"/>
            <a:ext cx="5394960" cy="2194560"/>
          </a:xfrm>
          <a:prstGeom prst="roundRect">
            <a:avLst>
              <a:gd name="adj" fmla="val 4167"/>
            </a:avLst>
          </a:prstGeom>
          <a:solidFill>
            <a:schemeClr val="bg2"/>
          </a:solidFill>
          <a:ln/>
        </p:spPr>
        <p:txBody>
          <a:bodyPr/>
          <a:lstStyle/>
          <a:p>
            <a:endParaRPr lang="fr-FR"/>
          </a:p>
        </p:txBody>
      </p:sp>
      <p:sp>
        <p:nvSpPr>
          <p:cNvPr id="15" name="Positive security model tile"/>
          <p:cNvSpPr/>
          <p:nvPr/>
        </p:nvSpPr>
        <p:spPr>
          <a:xfrm>
            <a:off x="822960" y="4160520"/>
            <a:ext cx="548640" cy="548640"/>
          </a:xfrm>
          <a:prstGeom prst="roundRect">
            <a:avLst>
              <a:gd name="adj" fmla="val 20000"/>
            </a:avLst>
          </a:prstGeom>
          <a:solidFill>
            <a:schemeClr val="accent1"/>
          </a:solidFill>
          <a:ln/>
        </p:spPr>
        <p:txBody>
          <a:bodyPr/>
          <a:lstStyle/>
          <a:p>
            <a:endParaRPr lang="fr-FR"/>
          </a:p>
        </p:txBody>
      </p:sp>
      <p:pic>
        <p:nvPicPr>
          <p:cNvPr id="16" name="Positive security model glyph" descr="Positive security model"/>
          <p:cNvPicPr>
            <a:picLocks noChangeAspect="1"/>
          </p:cNvPicPr>
          <p:nvPr/>
        </p:nvPicPr>
        <p:blipFill>
          <a:blip r:embed="rId5"/>
          <a:stretch>
            <a:fillRect/>
          </a:stretch>
        </p:blipFill>
        <p:spPr>
          <a:xfrm>
            <a:off x="943661" y="4281221"/>
            <a:ext cx="307238" cy="307238"/>
          </a:xfrm>
          <a:prstGeom prst="rect">
            <a:avLst/>
          </a:prstGeom>
        </p:spPr>
      </p:pic>
      <p:sp>
        <p:nvSpPr>
          <p:cNvPr id="17" name="Text 11"/>
          <p:cNvSpPr txBox="1"/>
          <p:nvPr/>
        </p:nvSpPr>
        <p:spPr>
          <a:xfrm>
            <a:off x="1508760" y="4160520"/>
            <a:ext cx="4206240" cy="548640"/>
          </a:xfrm>
          <a:prstGeom prst="rect">
            <a:avLst/>
          </a:prstGeom>
          <a:noFill/>
          <a:ln/>
        </p:spPr>
        <p:txBody>
          <a:bodyPr wrap="square" lIns="0" tIns="0" rIns="0" bIns="0" rtlCol="0" anchor="ctr"/>
          <a:lstStyle/>
          <a:p>
            <a:pPr marL="0" indent="0">
              <a:buNone/>
            </a:pPr>
            <a:r>
              <a:rPr lang="en-US" sz="1900" b="1" cap="all" dirty="0"/>
              <a:t>Positive</a:t>
            </a:r>
            <a:r>
              <a:rPr lang="en-US" sz="1900" b="1" dirty="0">
                <a:solidFill>
                  <a:schemeClr val="tx1"/>
                </a:solidFill>
              </a:rPr>
              <a:t> </a:t>
            </a:r>
            <a:r>
              <a:rPr lang="en-US" sz="1900" b="1" cap="all" dirty="0"/>
              <a:t>security</a:t>
            </a:r>
            <a:r>
              <a:rPr lang="en-US" sz="1900" b="1" dirty="0">
                <a:solidFill>
                  <a:schemeClr val="tx1"/>
                </a:solidFill>
              </a:rPr>
              <a:t> </a:t>
            </a:r>
            <a:r>
              <a:rPr lang="en-US" sz="1900" b="1" cap="all" dirty="0"/>
              <a:t>model</a:t>
            </a:r>
          </a:p>
        </p:txBody>
      </p:sp>
      <p:sp>
        <p:nvSpPr>
          <p:cNvPr id="18" name="Text 12"/>
          <p:cNvSpPr txBox="1"/>
          <p:nvPr/>
        </p:nvSpPr>
        <p:spPr>
          <a:xfrm>
            <a:off x="822960" y="4846320"/>
            <a:ext cx="4846320" cy="1051560"/>
          </a:xfrm>
          <a:prstGeom prst="rect">
            <a:avLst/>
          </a:prstGeom>
          <a:noFill/>
          <a:ln/>
        </p:spPr>
        <p:txBody>
          <a:bodyPr wrap="square" lIns="0" tIns="0" rIns="0" bIns="0" rtlCol="0" anchor="t"/>
          <a:lstStyle/>
          <a:p>
            <a:pPr marL="0" indent="0">
              <a:buNone/>
            </a:pPr>
            <a:r>
              <a:rPr lang="en-US" sz="1400" dirty="0">
                <a:solidFill>
                  <a:schemeClr val="accent4"/>
                </a:solidFill>
              </a:rPr>
              <a:t>Defines exactly what good API requests look like and drops everything else — instead of only hunting known-bad signatures.</a:t>
            </a:r>
            <a:endParaRPr lang="en-US" sz="1400" dirty="0"/>
          </a:p>
        </p:txBody>
      </p:sp>
      <p:sp>
        <p:nvSpPr>
          <p:cNvPr id="19" name="card Edge architecture"/>
          <p:cNvSpPr/>
          <p:nvPr/>
        </p:nvSpPr>
        <p:spPr>
          <a:xfrm>
            <a:off x="6217920" y="3886200"/>
            <a:ext cx="5394960" cy="2194560"/>
          </a:xfrm>
          <a:prstGeom prst="roundRect">
            <a:avLst>
              <a:gd name="adj" fmla="val 4167"/>
            </a:avLst>
          </a:prstGeom>
          <a:solidFill>
            <a:schemeClr val="bg2"/>
          </a:solidFill>
          <a:ln/>
        </p:spPr>
        <p:txBody>
          <a:bodyPr/>
          <a:lstStyle/>
          <a:p>
            <a:endParaRPr lang="fr-FR"/>
          </a:p>
        </p:txBody>
      </p:sp>
      <p:sp>
        <p:nvSpPr>
          <p:cNvPr id="20" name="Edge architecture tile"/>
          <p:cNvSpPr/>
          <p:nvPr/>
        </p:nvSpPr>
        <p:spPr>
          <a:xfrm>
            <a:off x="6492240" y="4160520"/>
            <a:ext cx="548640" cy="548640"/>
          </a:xfrm>
          <a:prstGeom prst="roundRect">
            <a:avLst>
              <a:gd name="adj" fmla="val 20000"/>
            </a:avLst>
          </a:prstGeom>
          <a:solidFill>
            <a:schemeClr val="accent1"/>
          </a:solidFill>
          <a:ln/>
        </p:spPr>
        <p:txBody>
          <a:bodyPr/>
          <a:lstStyle/>
          <a:p>
            <a:endParaRPr lang="fr-FR"/>
          </a:p>
        </p:txBody>
      </p:sp>
      <p:pic>
        <p:nvPicPr>
          <p:cNvPr id="21" name="Edge architecture glyph" descr="Edge architecture"/>
          <p:cNvPicPr>
            <a:picLocks noChangeAspect="1"/>
          </p:cNvPicPr>
          <p:nvPr/>
        </p:nvPicPr>
        <p:blipFill>
          <a:blip r:embed="rId6"/>
          <a:stretch>
            <a:fillRect/>
          </a:stretch>
        </p:blipFill>
        <p:spPr>
          <a:xfrm>
            <a:off x="6612941" y="4281221"/>
            <a:ext cx="307238" cy="307238"/>
          </a:xfrm>
          <a:prstGeom prst="rect">
            <a:avLst/>
          </a:prstGeom>
        </p:spPr>
      </p:pic>
      <p:sp>
        <p:nvSpPr>
          <p:cNvPr id="22" name="Text 15"/>
          <p:cNvSpPr txBox="1"/>
          <p:nvPr/>
        </p:nvSpPr>
        <p:spPr>
          <a:xfrm>
            <a:off x="7178040" y="4160520"/>
            <a:ext cx="4206240" cy="548640"/>
          </a:xfrm>
          <a:prstGeom prst="rect">
            <a:avLst/>
          </a:prstGeom>
          <a:noFill/>
          <a:ln/>
        </p:spPr>
        <p:txBody>
          <a:bodyPr wrap="square" lIns="0" tIns="0" rIns="0" bIns="0" rtlCol="0" anchor="ctr"/>
          <a:lstStyle/>
          <a:p>
            <a:pPr marL="0" indent="0">
              <a:buNone/>
            </a:pPr>
            <a:r>
              <a:rPr lang="en-US" sz="1900" b="1" cap="all" dirty="0"/>
              <a:t>Edge</a:t>
            </a:r>
            <a:r>
              <a:rPr lang="en-US" sz="1900" b="1" dirty="0">
                <a:solidFill>
                  <a:schemeClr val="tx1"/>
                </a:solidFill>
              </a:rPr>
              <a:t> </a:t>
            </a:r>
            <a:r>
              <a:rPr lang="en-US" sz="1900" b="1" cap="all" dirty="0"/>
              <a:t>architecture</a:t>
            </a:r>
          </a:p>
        </p:txBody>
      </p:sp>
      <p:sp>
        <p:nvSpPr>
          <p:cNvPr id="23" name="Text 16"/>
          <p:cNvSpPr txBox="1"/>
          <p:nvPr/>
        </p:nvSpPr>
        <p:spPr>
          <a:xfrm>
            <a:off x="6492240" y="4846320"/>
            <a:ext cx="4846320" cy="1051560"/>
          </a:xfrm>
          <a:prstGeom prst="rect">
            <a:avLst/>
          </a:prstGeom>
          <a:noFill/>
          <a:ln/>
        </p:spPr>
        <p:txBody>
          <a:bodyPr wrap="square" lIns="0" tIns="0" rIns="0" bIns="0" rtlCol="0" anchor="t"/>
          <a:lstStyle/>
          <a:p>
            <a:pPr marL="0" indent="0">
              <a:buNone/>
            </a:pPr>
            <a:r>
              <a:rPr lang="en-US" sz="1400" dirty="0">
                <a:solidFill>
                  <a:schemeClr val="accent4"/>
                </a:solidFill>
              </a:rPr>
              <a:t>Cloud-delivered at the network perimeter: malicious payloads are stopped milliseconds from the user, far from critical infrastructure.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22</a:t>
            </a:fld>
            <a:endParaRPr lang="en-US"/>
          </a:p>
        </p:txBody>
      </p:sp>
      <p:pic>
        <p:nvPicPr>
          <p:cNvPr id="3" name="Image 0" descr="/home/claude/unpacked/ppt/media/image1.png">
            <a:extLst>
              <a:ext uri="{FF2B5EF4-FFF2-40B4-BE49-F238E27FC236}">
                <a16:creationId xmlns:a16="http://schemas.microsoft.com/office/drawing/2014/main" id="{BEE8C69E-9AE7-4EA3-75A8-0E434229B559}"/>
              </a:ext>
            </a:extLst>
          </p:cNvPr>
          <p:cNvPicPr>
            <a:picLocks noChangeAspect="1"/>
          </p:cNvPicPr>
          <p:nvPr/>
        </p:nvPicPr>
        <p:blipFill>
          <a:blip r:embed="rId7"/>
          <a:stretch>
            <a:fillRect/>
          </a:stretch>
        </p:blipFill>
        <p:spPr>
          <a:xfrm>
            <a:off x="10424160" y="182880"/>
            <a:ext cx="960120" cy="9601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Security models</a:t>
            </a:r>
            <a:r>
              <a:rPr lang="en-US" sz="3400" b="1" dirty="0">
                <a:solidFill>
                  <a:schemeClr val="tx1"/>
                </a:solidFill>
              </a:rPr>
              <a:t>: </a:t>
            </a:r>
            <a:r>
              <a:rPr lang="en-US" sz="3400" b="1" cap="all" dirty="0">
                <a:solidFill>
                  <a:schemeClr val="tx1"/>
                </a:solidFill>
              </a:rPr>
              <a:t>how</a:t>
            </a:r>
            <a:r>
              <a:rPr lang="en-US" sz="3400" b="1" dirty="0">
                <a:solidFill>
                  <a:schemeClr val="tx1"/>
                </a:solidFill>
              </a:rPr>
              <a:t> WAAP </a:t>
            </a:r>
            <a:r>
              <a:rPr lang="en-US" sz="3400" b="1" cap="all" dirty="0">
                <a:solidFill>
                  <a:schemeClr val="tx1"/>
                </a:solidFill>
              </a:rPr>
              <a:t>decides?</a:t>
            </a:r>
            <a:endParaRPr lang="en-US" sz="3400" cap="all" dirty="0"/>
          </a:p>
        </p:txBody>
      </p:sp>
      <p:sp>
        <p:nvSpPr>
          <p:cNvPr id="4" name="model Negative model"/>
          <p:cNvSpPr/>
          <p:nvPr/>
        </p:nvSpPr>
        <p:spPr>
          <a:xfrm>
            <a:off x="548640" y="1417320"/>
            <a:ext cx="3520440" cy="3840480"/>
          </a:xfrm>
          <a:prstGeom prst="roundRect">
            <a:avLst>
              <a:gd name="adj" fmla="val 2597"/>
            </a:avLst>
          </a:prstGeom>
          <a:solidFill>
            <a:schemeClr val="bg2"/>
          </a:solidFill>
          <a:ln/>
        </p:spPr>
        <p:txBody>
          <a:bodyPr/>
          <a:lstStyle/>
          <a:p>
            <a:endParaRPr lang="fr-FR"/>
          </a:p>
        </p:txBody>
      </p:sp>
      <p:sp>
        <p:nvSpPr>
          <p:cNvPr id="5" name="Negative model tile"/>
          <p:cNvSpPr/>
          <p:nvPr/>
        </p:nvSpPr>
        <p:spPr>
          <a:xfrm>
            <a:off x="822960" y="1691640"/>
            <a:ext cx="640080" cy="640080"/>
          </a:xfrm>
          <a:prstGeom prst="roundRect">
            <a:avLst>
              <a:gd name="adj" fmla="val 17143"/>
            </a:avLst>
          </a:prstGeom>
          <a:solidFill>
            <a:schemeClr val="accent3"/>
          </a:solidFill>
          <a:ln/>
        </p:spPr>
        <p:txBody>
          <a:bodyPr/>
          <a:lstStyle/>
          <a:p>
            <a:endParaRPr lang="fr-FR"/>
          </a:p>
        </p:txBody>
      </p:sp>
      <p:pic>
        <p:nvPicPr>
          <p:cNvPr id="6" name="Negative model glyph" descr="Negative model"/>
          <p:cNvPicPr>
            <a:picLocks noChangeAspect="1"/>
          </p:cNvPicPr>
          <p:nvPr/>
        </p:nvPicPr>
        <p:blipFill>
          <a:blip r:embed="rId3"/>
          <a:stretch>
            <a:fillRect/>
          </a:stretch>
        </p:blipFill>
        <p:spPr>
          <a:xfrm>
            <a:off x="963778" y="1832458"/>
            <a:ext cx="358445" cy="358445"/>
          </a:xfrm>
          <a:prstGeom prst="rect">
            <a:avLst/>
          </a:prstGeom>
        </p:spPr>
      </p:pic>
      <p:sp>
        <p:nvSpPr>
          <p:cNvPr id="7" name="Text 3"/>
          <p:cNvSpPr txBox="1"/>
          <p:nvPr/>
        </p:nvSpPr>
        <p:spPr>
          <a:xfrm>
            <a:off x="1645920" y="1691640"/>
            <a:ext cx="2194560" cy="274320"/>
          </a:xfrm>
          <a:prstGeom prst="rect">
            <a:avLst/>
          </a:prstGeom>
          <a:noFill/>
          <a:ln/>
        </p:spPr>
        <p:txBody>
          <a:bodyPr wrap="square" lIns="0" tIns="0" rIns="0" bIns="0" rtlCol="0" anchor="ctr"/>
          <a:lstStyle/>
          <a:p>
            <a:pPr marL="0" indent="0">
              <a:buNone/>
            </a:pPr>
            <a:r>
              <a:rPr lang="en-US" sz="1200" b="1" kern="0" spc="200" dirty="0">
                <a:solidFill>
                  <a:schemeClr val="accent4"/>
                </a:solidFill>
              </a:rPr>
              <a:t>DENYLIST</a:t>
            </a:r>
            <a:endParaRPr lang="en-US" sz="1200" dirty="0"/>
          </a:p>
        </p:txBody>
      </p:sp>
      <p:sp>
        <p:nvSpPr>
          <p:cNvPr id="8" name="Text 4"/>
          <p:cNvSpPr txBox="1"/>
          <p:nvPr/>
        </p:nvSpPr>
        <p:spPr>
          <a:xfrm>
            <a:off x="1645920" y="1965960"/>
            <a:ext cx="2286000" cy="411480"/>
          </a:xfrm>
          <a:prstGeom prst="rect">
            <a:avLst/>
          </a:prstGeom>
          <a:noFill/>
          <a:ln/>
        </p:spPr>
        <p:txBody>
          <a:bodyPr wrap="square" lIns="0" tIns="0" rIns="0" bIns="0" rtlCol="0" anchor="ctr"/>
          <a:lstStyle/>
          <a:p>
            <a:pPr marL="0" indent="0">
              <a:buNone/>
            </a:pPr>
            <a:r>
              <a:rPr lang="en-US" sz="1900" b="1" cap="all" dirty="0"/>
              <a:t>Negative</a:t>
            </a:r>
            <a:r>
              <a:rPr lang="en-US" sz="2000" b="1" dirty="0">
                <a:solidFill>
                  <a:schemeClr val="tx1"/>
                </a:solidFill>
              </a:rPr>
              <a:t> </a:t>
            </a:r>
            <a:r>
              <a:rPr lang="en-US" sz="1900" b="1" cap="all" dirty="0"/>
              <a:t>model</a:t>
            </a:r>
          </a:p>
        </p:txBody>
      </p:sp>
      <p:sp>
        <p:nvSpPr>
          <p:cNvPr id="9" name="Text 5"/>
          <p:cNvSpPr txBox="1"/>
          <p:nvPr/>
        </p:nvSpPr>
        <p:spPr>
          <a:xfrm>
            <a:off x="822960" y="2651760"/>
            <a:ext cx="3017520" cy="1463040"/>
          </a:xfrm>
          <a:prstGeom prst="rect">
            <a:avLst/>
          </a:prstGeom>
          <a:noFill/>
          <a:ln/>
        </p:spPr>
        <p:txBody>
          <a:bodyPr wrap="square" lIns="0" tIns="0" rIns="0" bIns="0" rtlCol="0" anchor="t"/>
          <a:lstStyle/>
          <a:p>
            <a:pPr marL="0" indent="0">
              <a:buNone/>
            </a:pPr>
            <a:r>
              <a:rPr lang="en-US" sz="1600" dirty="0">
                <a:solidFill>
                  <a:schemeClr val="tx2"/>
                </a:solidFill>
              </a:rPr>
              <a:t>Blocks what is known to be bad: signatures and rule sets such as the OWASP Core Rule Set.</a:t>
            </a:r>
            <a:endParaRPr lang="en-US" sz="1600" dirty="0"/>
          </a:p>
        </p:txBody>
      </p:sp>
      <p:sp>
        <p:nvSpPr>
          <p:cNvPr id="10" name="Text 6"/>
          <p:cNvSpPr txBox="1"/>
          <p:nvPr/>
        </p:nvSpPr>
        <p:spPr>
          <a:xfrm>
            <a:off x="822960" y="4343400"/>
            <a:ext cx="3017520" cy="731520"/>
          </a:xfrm>
          <a:prstGeom prst="rect">
            <a:avLst/>
          </a:prstGeom>
          <a:noFill/>
          <a:ln/>
        </p:spPr>
        <p:txBody>
          <a:bodyPr wrap="square" lIns="0" tIns="0" rIns="0" bIns="0" rtlCol="0" anchor="t"/>
          <a:lstStyle/>
          <a:p>
            <a:pPr marL="0" indent="0">
              <a:buNone/>
            </a:pPr>
            <a:r>
              <a:rPr lang="en-US" sz="1300" dirty="0">
                <a:solidFill>
                  <a:schemeClr val="accent4"/>
                </a:solidFill>
              </a:rPr>
              <a:t>+ Fast to deploy   − Misses unknown attacks</a:t>
            </a:r>
            <a:endParaRPr lang="en-US" sz="1300" dirty="0"/>
          </a:p>
        </p:txBody>
      </p:sp>
      <p:sp>
        <p:nvSpPr>
          <p:cNvPr id="11" name="model Positive model"/>
          <p:cNvSpPr/>
          <p:nvPr/>
        </p:nvSpPr>
        <p:spPr>
          <a:xfrm>
            <a:off x="4297680" y="1417320"/>
            <a:ext cx="3520440" cy="3840480"/>
          </a:xfrm>
          <a:prstGeom prst="roundRect">
            <a:avLst>
              <a:gd name="adj" fmla="val 2597"/>
            </a:avLst>
          </a:prstGeom>
          <a:solidFill>
            <a:schemeClr val="bg2"/>
          </a:solidFill>
          <a:ln/>
        </p:spPr>
        <p:txBody>
          <a:bodyPr/>
          <a:lstStyle/>
          <a:p>
            <a:endParaRPr lang="fr-FR"/>
          </a:p>
        </p:txBody>
      </p:sp>
      <p:sp>
        <p:nvSpPr>
          <p:cNvPr id="12" name="Positive model tile"/>
          <p:cNvSpPr/>
          <p:nvPr/>
        </p:nvSpPr>
        <p:spPr>
          <a:xfrm>
            <a:off x="4572000" y="1691640"/>
            <a:ext cx="640080" cy="640080"/>
          </a:xfrm>
          <a:prstGeom prst="roundRect">
            <a:avLst>
              <a:gd name="adj" fmla="val 17143"/>
            </a:avLst>
          </a:prstGeom>
          <a:solidFill>
            <a:schemeClr val="accent1"/>
          </a:solidFill>
          <a:ln/>
        </p:spPr>
        <p:txBody>
          <a:bodyPr/>
          <a:lstStyle/>
          <a:p>
            <a:endParaRPr lang="fr-FR"/>
          </a:p>
        </p:txBody>
      </p:sp>
      <p:pic>
        <p:nvPicPr>
          <p:cNvPr id="13" name="Positive model glyph" descr="Positive model"/>
          <p:cNvPicPr>
            <a:picLocks noChangeAspect="1"/>
          </p:cNvPicPr>
          <p:nvPr/>
        </p:nvPicPr>
        <p:blipFill>
          <a:blip r:embed="rId4"/>
          <a:stretch>
            <a:fillRect/>
          </a:stretch>
        </p:blipFill>
        <p:spPr>
          <a:xfrm>
            <a:off x="4712818" y="1832458"/>
            <a:ext cx="358445" cy="358445"/>
          </a:xfrm>
          <a:prstGeom prst="rect">
            <a:avLst/>
          </a:prstGeom>
        </p:spPr>
      </p:pic>
      <p:sp>
        <p:nvSpPr>
          <p:cNvPr id="14" name="Text 9"/>
          <p:cNvSpPr txBox="1"/>
          <p:nvPr/>
        </p:nvSpPr>
        <p:spPr>
          <a:xfrm>
            <a:off x="5394960" y="1691640"/>
            <a:ext cx="2194560" cy="274320"/>
          </a:xfrm>
          <a:prstGeom prst="rect">
            <a:avLst/>
          </a:prstGeom>
          <a:noFill/>
          <a:ln/>
        </p:spPr>
        <p:txBody>
          <a:bodyPr wrap="square" lIns="0" tIns="0" rIns="0" bIns="0" rtlCol="0" anchor="ctr"/>
          <a:lstStyle/>
          <a:p>
            <a:pPr marL="0" indent="0">
              <a:buNone/>
            </a:pPr>
            <a:r>
              <a:rPr lang="en-US" sz="1200" b="1" kern="0" spc="200" dirty="0">
                <a:solidFill>
                  <a:schemeClr val="accent4"/>
                </a:solidFill>
              </a:rPr>
              <a:t>ALLOWLIST</a:t>
            </a:r>
            <a:endParaRPr lang="en-US" sz="1200" dirty="0"/>
          </a:p>
        </p:txBody>
      </p:sp>
      <p:sp>
        <p:nvSpPr>
          <p:cNvPr id="15" name="Text 10"/>
          <p:cNvSpPr txBox="1"/>
          <p:nvPr/>
        </p:nvSpPr>
        <p:spPr>
          <a:xfrm>
            <a:off x="5394960" y="1965960"/>
            <a:ext cx="2286000" cy="411480"/>
          </a:xfrm>
          <a:prstGeom prst="rect">
            <a:avLst/>
          </a:prstGeom>
          <a:noFill/>
          <a:ln/>
        </p:spPr>
        <p:txBody>
          <a:bodyPr wrap="square" lIns="0" tIns="0" rIns="0" bIns="0" rtlCol="0" anchor="ctr"/>
          <a:lstStyle/>
          <a:p>
            <a:pPr marL="0" indent="0">
              <a:buNone/>
            </a:pPr>
            <a:r>
              <a:rPr lang="en-US" sz="1900" b="1" cap="all" dirty="0"/>
              <a:t>Positive</a:t>
            </a:r>
            <a:r>
              <a:rPr lang="en-US" sz="2000" b="1" dirty="0">
                <a:solidFill>
                  <a:schemeClr val="tx1"/>
                </a:solidFill>
              </a:rPr>
              <a:t> model</a:t>
            </a:r>
            <a:endParaRPr lang="en-US" sz="2000" dirty="0"/>
          </a:p>
        </p:txBody>
      </p:sp>
      <p:sp>
        <p:nvSpPr>
          <p:cNvPr id="16" name="Text 11"/>
          <p:cNvSpPr txBox="1"/>
          <p:nvPr/>
        </p:nvSpPr>
        <p:spPr>
          <a:xfrm>
            <a:off x="4572000" y="2651760"/>
            <a:ext cx="3017520" cy="1463040"/>
          </a:xfrm>
          <a:prstGeom prst="rect">
            <a:avLst/>
          </a:prstGeom>
          <a:noFill/>
          <a:ln/>
        </p:spPr>
        <p:txBody>
          <a:bodyPr wrap="square" lIns="0" tIns="0" rIns="0" bIns="0" rtlCol="0" anchor="t"/>
          <a:lstStyle/>
          <a:p>
            <a:pPr marL="0" indent="0">
              <a:buNone/>
            </a:pPr>
            <a:r>
              <a:rPr lang="en-US" sz="1600" dirty="0">
                <a:solidFill>
                  <a:schemeClr val="tx2"/>
                </a:solidFill>
              </a:rPr>
              <a:t>Allows only what is known to be good: the API schema, expected parameters and flows.</a:t>
            </a:r>
            <a:endParaRPr lang="en-US" sz="1600" dirty="0"/>
          </a:p>
        </p:txBody>
      </p:sp>
      <p:sp>
        <p:nvSpPr>
          <p:cNvPr id="17" name="Text 12"/>
          <p:cNvSpPr txBox="1"/>
          <p:nvPr/>
        </p:nvSpPr>
        <p:spPr>
          <a:xfrm>
            <a:off x="4572000" y="4343400"/>
            <a:ext cx="3017520" cy="731520"/>
          </a:xfrm>
          <a:prstGeom prst="rect">
            <a:avLst/>
          </a:prstGeom>
          <a:noFill/>
          <a:ln/>
        </p:spPr>
        <p:txBody>
          <a:bodyPr wrap="square" lIns="0" tIns="0" rIns="0" bIns="0" rtlCol="0" anchor="t"/>
          <a:lstStyle/>
          <a:p>
            <a:pPr marL="0" indent="0">
              <a:buNone/>
            </a:pPr>
            <a:r>
              <a:rPr lang="en-US" sz="1300" dirty="0">
                <a:solidFill>
                  <a:schemeClr val="accent4"/>
                </a:solidFill>
              </a:rPr>
              <a:t>+ Stops zero-days   − Needs accurate specs</a:t>
            </a:r>
            <a:endParaRPr lang="en-US" sz="1300" dirty="0"/>
          </a:p>
        </p:txBody>
      </p:sp>
      <p:sp>
        <p:nvSpPr>
          <p:cNvPr id="18" name="model Hybrid / ML model"/>
          <p:cNvSpPr/>
          <p:nvPr/>
        </p:nvSpPr>
        <p:spPr>
          <a:xfrm>
            <a:off x="8046720" y="1417320"/>
            <a:ext cx="3520440" cy="3840480"/>
          </a:xfrm>
          <a:prstGeom prst="roundRect">
            <a:avLst>
              <a:gd name="adj" fmla="val 2597"/>
            </a:avLst>
          </a:prstGeom>
          <a:solidFill>
            <a:schemeClr val="bg2"/>
          </a:solidFill>
          <a:ln/>
        </p:spPr>
        <p:txBody>
          <a:bodyPr/>
          <a:lstStyle/>
          <a:p>
            <a:endParaRPr lang="fr-FR"/>
          </a:p>
        </p:txBody>
      </p:sp>
      <p:sp>
        <p:nvSpPr>
          <p:cNvPr id="19" name="Hybrid / ML model tile"/>
          <p:cNvSpPr/>
          <p:nvPr/>
        </p:nvSpPr>
        <p:spPr>
          <a:xfrm>
            <a:off x="8321040" y="1691640"/>
            <a:ext cx="640080" cy="640080"/>
          </a:xfrm>
          <a:prstGeom prst="roundRect">
            <a:avLst>
              <a:gd name="adj" fmla="val 17143"/>
            </a:avLst>
          </a:prstGeom>
          <a:solidFill>
            <a:schemeClr val="accent2"/>
          </a:solidFill>
          <a:ln/>
        </p:spPr>
        <p:txBody>
          <a:bodyPr/>
          <a:lstStyle/>
          <a:p>
            <a:endParaRPr lang="fr-FR"/>
          </a:p>
        </p:txBody>
      </p:sp>
      <p:pic>
        <p:nvPicPr>
          <p:cNvPr id="20" name="Hybrid / ML model glyph" descr="Hybrid / ML model"/>
          <p:cNvPicPr>
            <a:picLocks noChangeAspect="1"/>
          </p:cNvPicPr>
          <p:nvPr/>
        </p:nvPicPr>
        <p:blipFill>
          <a:blip r:embed="rId5"/>
          <a:stretch>
            <a:fillRect/>
          </a:stretch>
        </p:blipFill>
        <p:spPr>
          <a:xfrm>
            <a:off x="8461858" y="1832458"/>
            <a:ext cx="358445" cy="358445"/>
          </a:xfrm>
          <a:prstGeom prst="rect">
            <a:avLst/>
          </a:prstGeom>
        </p:spPr>
      </p:pic>
      <p:sp>
        <p:nvSpPr>
          <p:cNvPr id="21" name="Text 15"/>
          <p:cNvSpPr txBox="1"/>
          <p:nvPr/>
        </p:nvSpPr>
        <p:spPr>
          <a:xfrm>
            <a:off x="9144000" y="1691640"/>
            <a:ext cx="2194560" cy="274320"/>
          </a:xfrm>
          <a:prstGeom prst="rect">
            <a:avLst/>
          </a:prstGeom>
          <a:noFill/>
          <a:ln/>
        </p:spPr>
        <p:txBody>
          <a:bodyPr wrap="square" lIns="0" tIns="0" rIns="0" bIns="0" rtlCol="0" anchor="ctr"/>
          <a:lstStyle/>
          <a:p>
            <a:pPr marL="0" indent="0">
              <a:buNone/>
            </a:pPr>
            <a:r>
              <a:rPr lang="en-US" sz="1200" b="1" kern="0" spc="200" dirty="0">
                <a:solidFill>
                  <a:schemeClr val="accent4"/>
                </a:solidFill>
              </a:rPr>
              <a:t>ADAPTIVE</a:t>
            </a:r>
            <a:endParaRPr lang="en-US" sz="1200" dirty="0"/>
          </a:p>
        </p:txBody>
      </p:sp>
      <p:sp>
        <p:nvSpPr>
          <p:cNvPr id="22" name="Text 16"/>
          <p:cNvSpPr txBox="1"/>
          <p:nvPr/>
        </p:nvSpPr>
        <p:spPr>
          <a:xfrm>
            <a:off x="9144000" y="1965960"/>
            <a:ext cx="2286000" cy="411480"/>
          </a:xfrm>
          <a:prstGeom prst="rect">
            <a:avLst/>
          </a:prstGeom>
          <a:noFill/>
          <a:ln/>
        </p:spPr>
        <p:txBody>
          <a:bodyPr wrap="square" lIns="0" tIns="0" rIns="0" bIns="0" rtlCol="0" anchor="ctr"/>
          <a:lstStyle/>
          <a:p>
            <a:pPr marL="0" indent="0">
              <a:buNone/>
            </a:pPr>
            <a:r>
              <a:rPr lang="en-US" sz="2000" b="1" dirty="0">
                <a:solidFill>
                  <a:schemeClr val="tx1"/>
                </a:solidFill>
              </a:rPr>
              <a:t>Hybrid / ML model</a:t>
            </a:r>
            <a:endParaRPr lang="en-US" sz="2000" dirty="0"/>
          </a:p>
        </p:txBody>
      </p:sp>
      <p:sp>
        <p:nvSpPr>
          <p:cNvPr id="23" name="Text 17"/>
          <p:cNvSpPr txBox="1"/>
          <p:nvPr/>
        </p:nvSpPr>
        <p:spPr>
          <a:xfrm>
            <a:off x="8321040" y="2651760"/>
            <a:ext cx="3017520" cy="1463040"/>
          </a:xfrm>
          <a:prstGeom prst="rect">
            <a:avLst/>
          </a:prstGeom>
          <a:noFill/>
          <a:ln/>
        </p:spPr>
        <p:txBody>
          <a:bodyPr wrap="square" lIns="0" tIns="0" rIns="0" bIns="0" rtlCol="0" anchor="t"/>
          <a:lstStyle/>
          <a:p>
            <a:pPr marL="0" indent="0">
              <a:buNone/>
            </a:pPr>
            <a:r>
              <a:rPr lang="en-US" sz="1600" dirty="0">
                <a:solidFill>
                  <a:schemeClr val="tx2"/>
                </a:solidFill>
              </a:rPr>
              <a:t>Combines both with machine-learning risk scores and threat intelligence for each request.</a:t>
            </a:r>
            <a:endParaRPr lang="en-US" sz="1600" dirty="0"/>
          </a:p>
        </p:txBody>
      </p:sp>
      <p:sp>
        <p:nvSpPr>
          <p:cNvPr id="24" name="Text 18"/>
          <p:cNvSpPr txBox="1"/>
          <p:nvPr/>
        </p:nvSpPr>
        <p:spPr>
          <a:xfrm>
            <a:off x="8321040" y="4343400"/>
            <a:ext cx="3017520" cy="731520"/>
          </a:xfrm>
          <a:prstGeom prst="rect">
            <a:avLst/>
          </a:prstGeom>
          <a:noFill/>
          <a:ln/>
        </p:spPr>
        <p:txBody>
          <a:bodyPr wrap="square" lIns="0" tIns="0" rIns="0" bIns="0" rtlCol="0" anchor="t"/>
          <a:lstStyle/>
          <a:p>
            <a:pPr marL="0" indent="0">
              <a:buNone/>
            </a:pPr>
            <a:r>
              <a:rPr lang="en-US" sz="1300" dirty="0">
                <a:solidFill>
                  <a:schemeClr val="accent4"/>
                </a:solidFill>
              </a:rPr>
              <a:t>+ Fewer false positives   − Needs learning time</a:t>
            </a:r>
            <a:endParaRPr lang="en-US" sz="1300" dirty="0"/>
          </a:p>
        </p:txBody>
      </p:sp>
      <p:sp>
        <p:nvSpPr>
          <p:cNvPr id="25" name="Text 19"/>
          <p:cNvSpPr txBox="1"/>
          <p:nvPr/>
        </p:nvSpPr>
        <p:spPr>
          <a:xfrm>
            <a:off x="548640" y="5532120"/>
            <a:ext cx="11064240" cy="411480"/>
          </a:xfrm>
          <a:prstGeom prst="rect">
            <a:avLst/>
          </a:prstGeom>
          <a:noFill/>
          <a:ln/>
        </p:spPr>
        <p:txBody>
          <a:bodyPr wrap="square" lIns="0" tIns="0" rIns="0" bIns="0" rtlCol="0" anchor="ctr"/>
          <a:lstStyle/>
          <a:p>
            <a:pPr marL="0" indent="0">
              <a:buNone/>
            </a:pPr>
            <a:r>
              <a:rPr lang="en-US" b="1" i="1" dirty="0">
                <a:solidFill>
                  <a:schemeClr val="tx2"/>
                </a:solidFill>
              </a:rPr>
              <a:t>Modern WAAP platforms run all three together: signatures for speed, schemas for precision, ML for the unknown.</a:t>
            </a:r>
            <a:endParaRPr lang="en-US" b="1"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23</a:t>
            </a:fld>
            <a:endParaRPr lang="en-US"/>
          </a:p>
        </p:txBody>
      </p:sp>
      <p:pic>
        <p:nvPicPr>
          <p:cNvPr id="26" name="Image 0" descr="/home/claude/unpacked/ppt/media/image1.png">
            <a:extLst>
              <a:ext uri="{FF2B5EF4-FFF2-40B4-BE49-F238E27FC236}">
                <a16:creationId xmlns:a16="http://schemas.microsoft.com/office/drawing/2014/main" id="{6FF692BF-B0D5-491E-11BF-AE1AD68954D2}"/>
              </a:ext>
            </a:extLst>
          </p:cNvPr>
          <p:cNvPicPr>
            <a:picLocks noChangeAspect="1"/>
          </p:cNvPicPr>
          <p:nvPr/>
        </p:nvPicPr>
        <p:blipFill>
          <a:blip r:embed="rId6"/>
          <a:stretch>
            <a:fillRect/>
          </a:stretch>
        </p:blipFill>
        <p:spPr>
          <a:xfrm>
            <a:off x="10723201" y="7883"/>
            <a:ext cx="960120" cy="9601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1280160"/>
            <a:ext cx="6594190" cy="1280160"/>
          </a:xfrm>
          <a:prstGeom prst="rect">
            <a:avLst/>
          </a:prstGeom>
          <a:noFill/>
          <a:ln/>
        </p:spPr>
        <p:txBody>
          <a:bodyPr wrap="square" lIns="0" tIns="0" rIns="0" bIns="0" rtlCol="0" anchor="b"/>
          <a:lstStyle/>
          <a:p>
            <a:pPr marL="0" indent="0">
              <a:buNone/>
            </a:pPr>
            <a:r>
              <a:rPr lang="en-US" sz="8000" b="1" dirty="0">
                <a:solidFill>
                  <a:schemeClr val="accent1"/>
                </a:solidFill>
                <a:latin typeface="Arial" pitchFamily="34" charset="0"/>
                <a:ea typeface="Arial" pitchFamily="34" charset="-122"/>
                <a:cs typeface="Arial" pitchFamily="34" charset="-120"/>
              </a:rPr>
              <a:t>Chapter 2.2</a:t>
            </a:r>
            <a:endParaRPr lang="en-US" sz="8000" dirty="0"/>
          </a:p>
        </p:txBody>
      </p:sp>
      <p:sp>
        <p:nvSpPr>
          <p:cNvPr id="3" name="Text 0"/>
          <p:cNvSpPr>
            <a:spLocks noGrp="1"/>
          </p:cNvSpPr>
          <p:nvPr>
            <p:ph type="title" idx="100" hasCustomPrompt="1"/>
          </p:nvPr>
        </p:nvSpPr>
        <p:spPr>
          <a:xfrm>
            <a:off x="1" y="2743200"/>
            <a:ext cx="12192000" cy="1005840"/>
          </a:xfrm>
          <a:prstGeom prst="rect">
            <a:avLst/>
          </a:prstGeom>
          <a:noFill/>
          <a:ln/>
        </p:spPr>
        <p:txBody>
          <a:bodyPr wrap="square" lIns="0" tIns="0" rIns="0" bIns="0" rtlCol="0" anchor="ctr"/>
          <a:lstStyle/>
          <a:p>
            <a:pPr marL="0" indent="0" algn="l">
              <a:buNone/>
            </a:pPr>
            <a:r>
              <a:rPr lang="en-US" sz="4000" b="1" cap="all" dirty="0">
                <a:solidFill>
                  <a:schemeClr val="bg1"/>
                </a:solidFill>
              </a:rPr>
              <a:t>Core components &amp; technical features</a:t>
            </a:r>
            <a:endParaRPr lang="en-US" sz="4000" cap="all" dirty="0"/>
          </a:p>
        </p:txBody>
      </p:sp>
      <p:sp>
        <p:nvSpPr>
          <p:cNvPr id="4" name="Text 0"/>
          <p:cNvSpPr>
            <a:spLocks noGrp="1"/>
          </p:cNvSpPr>
          <p:nvPr>
            <p:ph type="body" idx="101" hasCustomPrompt="1"/>
          </p:nvPr>
        </p:nvSpPr>
        <p:spPr>
          <a:xfrm>
            <a:off x="731520" y="3840480"/>
            <a:ext cx="10058400" cy="1280160"/>
          </a:xfrm>
          <a:prstGeom prst="rect">
            <a:avLst/>
          </a:prstGeom>
          <a:noFill/>
          <a:ln/>
        </p:spPr>
        <p:txBody>
          <a:bodyPr wrap="square" lIns="0" tIns="0" rIns="0" bIns="0" rtlCol="0" anchor="t"/>
          <a:lstStyle/>
          <a:p>
            <a:pPr marL="0" indent="0" algn="l">
              <a:buNone/>
            </a:pPr>
            <a:r>
              <a:rPr lang="en-US" sz="2000" dirty="0">
                <a:solidFill>
                  <a:schemeClr val="accent5"/>
                </a:solidFill>
              </a:rPr>
              <a:t>A WAAP is not just an upgraded firewall: it is a unified, cloud-delivered security stack. Let us open each component.</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24</a:t>
            </a:fld>
            <a:endParaRPr lang="en-US"/>
          </a:p>
        </p:txBody>
      </p:sp>
      <p:pic>
        <p:nvPicPr>
          <p:cNvPr id="5" name="Image 0" descr="/home/claude/unpacked/ppt/media/image1.png">
            <a:extLst>
              <a:ext uri="{FF2B5EF4-FFF2-40B4-BE49-F238E27FC236}">
                <a16:creationId xmlns:a16="http://schemas.microsoft.com/office/drawing/2014/main" id="{D95DE523-585C-F836-B88B-D8878993CADA}"/>
              </a:ext>
            </a:extLst>
          </p:cNvPr>
          <p:cNvPicPr>
            <a:picLocks noChangeAspect="1"/>
          </p:cNvPicPr>
          <p:nvPr/>
        </p:nvPicPr>
        <p:blipFill>
          <a:blip r:embed="rId3"/>
          <a:stretch>
            <a:fillRect/>
          </a:stretch>
        </p:blipFill>
        <p:spPr>
          <a:xfrm>
            <a:off x="10424160" y="320040"/>
            <a:ext cx="960120" cy="9601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Next-Gen WAF: the foundation layer</a:t>
            </a:r>
            <a:endParaRPr lang="en-US" sz="3400" cap="all" dirty="0"/>
          </a:p>
        </p:txBody>
      </p:sp>
      <p:sp>
        <p:nvSpPr>
          <p:cNvPr id="4" name="ngwaf Core functions"/>
          <p:cNvSpPr/>
          <p:nvPr/>
        </p:nvSpPr>
        <p:spPr>
          <a:xfrm>
            <a:off x="548640" y="1417320"/>
            <a:ext cx="5394960" cy="3566160"/>
          </a:xfrm>
          <a:prstGeom prst="roundRect">
            <a:avLst>
              <a:gd name="adj" fmla="val 2564"/>
            </a:avLst>
          </a:prstGeom>
          <a:solidFill>
            <a:schemeClr val="bg2"/>
          </a:solidFill>
          <a:ln/>
        </p:spPr>
        <p:txBody>
          <a:bodyPr/>
          <a:lstStyle/>
          <a:p>
            <a:endParaRPr lang="fr-FR"/>
          </a:p>
        </p:txBody>
      </p:sp>
      <p:sp>
        <p:nvSpPr>
          <p:cNvPr id="5" name="Core functions tile"/>
          <p:cNvSpPr/>
          <p:nvPr/>
        </p:nvSpPr>
        <p:spPr>
          <a:xfrm>
            <a:off x="868680" y="1691640"/>
            <a:ext cx="548640" cy="548640"/>
          </a:xfrm>
          <a:prstGeom prst="roundRect">
            <a:avLst>
              <a:gd name="adj" fmla="val 20000"/>
            </a:avLst>
          </a:prstGeom>
          <a:solidFill>
            <a:schemeClr val="accent1"/>
          </a:solidFill>
          <a:ln/>
        </p:spPr>
        <p:txBody>
          <a:bodyPr/>
          <a:lstStyle/>
          <a:p>
            <a:endParaRPr lang="fr-FR"/>
          </a:p>
        </p:txBody>
      </p:sp>
      <p:pic>
        <p:nvPicPr>
          <p:cNvPr id="6" name="Core functions glyph" descr="Core functions"/>
          <p:cNvPicPr>
            <a:picLocks noChangeAspect="1"/>
          </p:cNvPicPr>
          <p:nvPr/>
        </p:nvPicPr>
        <p:blipFill>
          <a:blip r:embed="rId3"/>
          <a:stretch>
            <a:fillRect/>
          </a:stretch>
        </p:blipFill>
        <p:spPr>
          <a:xfrm>
            <a:off x="989381" y="1812341"/>
            <a:ext cx="307238" cy="307238"/>
          </a:xfrm>
          <a:prstGeom prst="rect">
            <a:avLst/>
          </a:prstGeom>
        </p:spPr>
      </p:pic>
      <p:sp>
        <p:nvSpPr>
          <p:cNvPr id="7" name="Text 3"/>
          <p:cNvSpPr txBox="1"/>
          <p:nvPr/>
        </p:nvSpPr>
        <p:spPr>
          <a:xfrm>
            <a:off x="1600200" y="1691640"/>
            <a:ext cx="4023360" cy="548640"/>
          </a:xfrm>
          <a:prstGeom prst="rect">
            <a:avLst/>
          </a:prstGeom>
          <a:noFill/>
          <a:ln/>
        </p:spPr>
        <p:txBody>
          <a:bodyPr wrap="square" lIns="0" tIns="0" rIns="0" bIns="0" rtlCol="0" anchor="ctr"/>
          <a:lstStyle/>
          <a:p>
            <a:pPr marL="0" indent="0">
              <a:buNone/>
            </a:pPr>
            <a:r>
              <a:rPr lang="en-US" sz="2000" b="1" cap="all" dirty="0">
                <a:solidFill>
                  <a:schemeClr val="tx1"/>
                </a:solidFill>
              </a:rPr>
              <a:t>Core functions</a:t>
            </a:r>
            <a:endParaRPr lang="en-US" sz="2000" cap="all" dirty="0"/>
          </a:p>
        </p:txBody>
      </p:sp>
      <p:sp>
        <p:nvSpPr>
          <p:cNvPr id="8" name="Text 4"/>
          <p:cNvSpPr txBox="1"/>
          <p:nvPr/>
        </p:nvSpPr>
        <p:spPr>
          <a:xfrm>
            <a:off x="868680" y="2468880"/>
            <a:ext cx="475488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Inspects HTTP and HTTPS requests and responses</a:t>
            </a:r>
            <a:endParaRPr lang="en-US" sz="1600" dirty="0"/>
          </a:p>
          <a:p>
            <a:pPr marL="342900" indent="-342900">
              <a:spcAft>
                <a:spcPts val="1000"/>
              </a:spcAft>
              <a:buSzPct val="100000"/>
              <a:buChar char="•"/>
            </a:pPr>
            <a:r>
              <a:rPr lang="en-US" sz="1600" dirty="0">
                <a:solidFill>
                  <a:schemeClr val="tx2"/>
                </a:solidFill>
              </a:rPr>
              <a:t>Covers all ten OWASP Top 10 categories</a:t>
            </a:r>
            <a:endParaRPr lang="en-US" sz="1600" dirty="0"/>
          </a:p>
          <a:p>
            <a:pPr marL="342900" indent="-342900">
              <a:spcAft>
                <a:spcPts val="1000"/>
              </a:spcAft>
              <a:buSzPct val="100000"/>
              <a:buChar char="•"/>
            </a:pPr>
            <a:r>
              <a:rPr lang="en-US" sz="1600" dirty="0">
                <a:solidFill>
                  <a:schemeClr val="tx2"/>
                </a:solidFill>
              </a:rPr>
              <a:t>Virtual patching of newly published CVEs</a:t>
            </a:r>
            <a:endParaRPr lang="en-US" sz="1600" dirty="0"/>
          </a:p>
          <a:p>
            <a:pPr marL="342900" indent="-342900">
              <a:spcAft>
                <a:spcPts val="1000"/>
              </a:spcAft>
              <a:buSzPct val="100000"/>
              <a:buChar char="•"/>
            </a:pPr>
            <a:r>
              <a:rPr lang="en-US" sz="1600" dirty="0">
                <a:solidFill>
                  <a:schemeClr val="tx2"/>
                </a:solidFill>
              </a:rPr>
              <a:t>Continuous, vendor-managed rule updates</a:t>
            </a:r>
            <a:endParaRPr lang="en-US" sz="1600" dirty="0"/>
          </a:p>
        </p:txBody>
      </p:sp>
      <p:sp>
        <p:nvSpPr>
          <p:cNvPr id="9" name="ngwaf Beyond signatures"/>
          <p:cNvSpPr/>
          <p:nvPr/>
        </p:nvSpPr>
        <p:spPr>
          <a:xfrm>
            <a:off x="6217920" y="1417320"/>
            <a:ext cx="5394960" cy="3566160"/>
          </a:xfrm>
          <a:prstGeom prst="roundRect">
            <a:avLst>
              <a:gd name="adj" fmla="val 2564"/>
            </a:avLst>
          </a:prstGeom>
          <a:solidFill>
            <a:schemeClr val="bg2"/>
          </a:solidFill>
          <a:ln/>
        </p:spPr>
        <p:txBody>
          <a:bodyPr/>
          <a:lstStyle/>
          <a:p>
            <a:endParaRPr lang="fr-FR"/>
          </a:p>
        </p:txBody>
      </p:sp>
      <p:sp>
        <p:nvSpPr>
          <p:cNvPr id="10" name="Beyond signatures tile"/>
          <p:cNvSpPr/>
          <p:nvPr/>
        </p:nvSpPr>
        <p:spPr>
          <a:xfrm>
            <a:off x="6537960" y="1691640"/>
            <a:ext cx="548640" cy="548640"/>
          </a:xfrm>
          <a:prstGeom prst="roundRect">
            <a:avLst>
              <a:gd name="adj" fmla="val 20000"/>
            </a:avLst>
          </a:prstGeom>
          <a:solidFill>
            <a:schemeClr val="accent1"/>
          </a:solidFill>
          <a:ln/>
        </p:spPr>
        <p:txBody>
          <a:bodyPr/>
          <a:lstStyle/>
          <a:p>
            <a:endParaRPr lang="fr-FR"/>
          </a:p>
        </p:txBody>
      </p:sp>
      <p:pic>
        <p:nvPicPr>
          <p:cNvPr id="11" name="Beyond signatures glyph" descr="Beyond signatures"/>
          <p:cNvPicPr>
            <a:picLocks noChangeAspect="1"/>
          </p:cNvPicPr>
          <p:nvPr/>
        </p:nvPicPr>
        <p:blipFill>
          <a:blip r:embed="rId4"/>
          <a:stretch>
            <a:fillRect/>
          </a:stretch>
        </p:blipFill>
        <p:spPr>
          <a:xfrm>
            <a:off x="6658661" y="1812341"/>
            <a:ext cx="307238" cy="307238"/>
          </a:xfrm>
          <a:prstGeom prst="rect">
            <a:avLst/>
          </a:prstGeom>
        </p:spPr>
      </p:pic>
      <p:sp>
        <p:nvSpPr>
          <p:cNvPr id="12" name="Text 7"/>
          <p:cNvSpPr txBox="1"/>
          <p:nvPr/>
        </p:nvSpPr>
        <p:spPr>
          <a:xfrm>
            <a:off x="7269480" y="1691640"/>
            <a:ext cx="4023360" cy="548640"/>
          </a:xfrm>
          <a:prstGeom prst="rect">
            <a:avLst/>
          </a:prstGeom>
          <a:noFill/>
          <a:ln/>
        </p:spPr>
        <p:txBody>
          <a:bodyPr wrap="square" lIns="0" tIns="0" rIns="0" bIns="0" rtlCol="0" anchor="ctr"/>
          <a:lstStyle/>
          <a:p>
            <a:pPr marL="0" indent="0">
              <a:buNone/>
            </a:pPr>
            <a:r>
              <a:rPr lang="en-US" sz="2000" b="1" cap="all" dirty="0"/>
              <a:t>Beyond</a:t>
            </a:r>
            <a:r>
              <a:rPr lang="en-US" sz="2000" b="1" dirty="0">
                <a:solidFill>
                  <a:schemeClr val="tx1"/>
                </a:solidFill>
              </a:rPr>
              <a:t> </a:t>
            </a:r>
            <a:r>
              <a:rPr lang="en-US" sz="2000" b="1" cap="all" dirty="0"/>
              <a:t>signatures</a:t>
            </a:r>
          </a:p>
        </p:txBody>
      </p:sp>
      <p:sp>
        <p:nvSpPr>
          <p:cNvPr id="13" name="Text 8"/>
          <p:cNvSpPr txBox="1"/>
          <p:nvPr/>
        </p:nvSpPr>
        <p:spPr>
          <a:xfrm>
            <a:off x="6537960" y="2468880"/>
            <a:ext cx="475488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Behavioural baselines of normal traffic</a:t>
            </a:r>
            <a:endParaRPr lang="en-US" sz="1600" dirty="0"/>
          </a:p>
          <a:p>
            <a:pPr marL="342900" indent="-342900">
              <a:spcAft>
                <a:spcPts val="1000"/>
              </a:spcAft>
              <a:buSzPct val="100000"/>
              <a:buChar char="•"/>
            </a:pPr>
            <a:r>
              <a:rPr lang="en-US" sz="1600" dirty="0">
                <a:solidFill>
                  <a:schemeClr val="tx2"/>
                </a:solidFill>
              </a:rPr>
              <a:t>Detects zero-day patterns without a signature</a:t>
            </a:r>
            <a:endParaRPr lang="en-US" sz="1600" dirty="0"/>
          </a:p>
          <a:p>
            <a:pPr marL="342900" indent="-342900">
              <a:spcAft>
                <a:spcPts val="1000"/>
              </a:spcAft>
              <a:buSzPct val="100000"/>
              <a:buChar char="•"/>
            </a:pPr>
            <a:r>
              <a:rPr lang="en-US" sz="1600" dirty="0">
                <a:solidFill>
                  <a:schemeClr val="tx2"/>
                </a:solidFill>
              </a:rPr>
              <a:t>Spots anomalies, e.g. repeated admin logins</a:t>
            </a:r>
            <a:endParaRPr lang="en-US" sz="1600" dirty="0"/>
          </a:p>
          <a:p>
            <a:pPr marL="342900" indent="-342900">
              <a:spcAft>
                <a:spcPts val="1000"/>
              </a:spcAft>
              <a:buSzPct val="100000"/>
              <a:buChar char="•"/>
            </a:pPr>
            <a:r>
              <a:rPr lang="en-US" sz="1600" dirty="0">
                <a:solidFill>
                  <a:schemeClr val="tx2"/>
                </a:solidFill>
              </a:rPr>
              <a:t>IP reputation and context reduce false positives</a:t>
            </a:r>
            <a:endParaRPr lang="en-US" sz="1600" dirty="0"/>
          </a:p>
        </p:txBody>
      </p:sp>
      <p:sp>
        <p:nvSpPr>
          <p:cNvPr id="14" name="autoscale note"/>
          <p:cNvSpPr/>
          <p:nvPr/>
        </p:nvSpPr>
        <p:spPr>
          <a:xfrm>
            <a:off x="548640" y="5212080"/>
            <a:ext cx="11064240" cy="868680"/>
          </a:xfrm>
          <a:prstGeom prst="roundRect">
            <a:avLst>
              <a:gd name="adj" fmla="val 10526"/>
            </a:avLst>
          </a:prstGeom>
          <a:solidFill>
            <a:schemeClr val="tx1"/>
          </a:solidFill>
          <a:ln/>
        </p:spPr>
        <p:txBody>
          <a:bodyPr/>
          <a:lstStyle/>
          <a:p>
            <a:endParaRPr lang="fr-FR"/>
          </a:p>
        </p:txBody>
      </p:sp>
      <p:sp>
        <p:nvSpPr>
          <p:cNvPr id="15" name="Text 10"/>
          <p:cNvSpPr txBox="1"/>
          <p:nvPr/>
        </p:nvSpPr>
        <p:spPr>
          <a:xfrm>
            <a:off x="868680" y="5212080"/>
            <a:ext cx="10424160" cy="868680"/>
          </a:xfrm>
          <a:prstGeom prst="rect">
            <a:avLst/>
          </a:prstGeom>
          <a:noFill/>
          <a:ln/>
        </p:spPr>
        <p:txBody>
          <a:bodyPr wrap="square" lIns="0" tIns="0" rIns="0" bIns="0" rtlCol="0" anchor="ctr"/>
          <a:lstStyle/>
          <a:p>
            <a:pPr marL="0" indent="0">
              <a:buNone/>
            </a:pPr>
            <a:r>
              <a:rPr lang="en-US" sz="1600" dirty="0">
                <a:solidFill>
                  <a:schemeClr val="bg1"/>
                </a:solidFill>
              </a:rPr>
              <a:t>Delivered as a cloud service, it auto-scales during traffic surges and keeps protections continuously updated.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25</a:t>
            </a:fld>
            <a:endParaRPr lang="en-US"/>
          </a:p>
        </p:txBody>
      </p:sp>
      <p:pic>
        <p:nvPicPr>
          <p:cNvPr id="3" name="Image 0" descr="/home/claude/unpacked/ppt/media/image1.png">
            <a:extLst>
              <a:ext uri="{FF2B5EF4-FFF2-40B4-BE49-F238E27FC236}">
                <a16:creationId xmlns:a16="http://schemas.microsoft.com/office/drawing/2014/main" id="{155B8A71-83B7-C875-D115-283B3F0BCAAB}"/>
              </a:ext>
            </a:extLst>
          </p:cNvPr>
          <p:cNvPicPr>
            <a:picLocks noChangeAspect="1"/>
          </p:cNvPicPr>
          <p:nvPr/>
        </p:nvPicPr>
        <p:blipFill>
          <a:blip r:embed="rId5"/>
          <a:stretch>
            <a:fillRect/>
          </a:stretch>
        </p:blipFill>
        <p:spPr>
          <a:xfrm>
            <a:off x="10812780" y="201273"/>
            <a:ext cx="960120" cy="9601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API </a:t>
            </a:r>
            <a:r>
              <a:rPr lang="en-US" sz="3400" b="1" cap="all" dirty="0">
                <a:solidFill>
                  <a:schemeClr val="tx1"/>
                </a:solidFill>
              </a:rPr>
              <a:t>discovery &amp; protection</a:t>
            </a:r>
            <a:endParaRPr lang="en-US" sz="3400" cap="all" dirty="0"/>
          </a:p>
        </p:txBody>
      </p:sp>
      <p:sp>
        <p:nvSpPr>
          <p:cNvPr id="4" name="api step 1. Discover"/>
          <p:cNvSpPr/>
          <p:nvPr/>
        </p:nvSpPr>
        <p:spPr>
          <a:xfrm>
            <a:off x="548640" y="1417320"/>
            <a:ext cx="3291840" cy="4114800"/>
          </a:xfrm>
          <a:prstGeom prst="roundRect">
            <a:avLst>
              <a:gd name="adj" fmla="val 2778"/>
            </a:avLst>
          </a:prstGeom>
          <a:solidFill>
            <a:schemeClr val="bg2"/>
          </a:solidFill>
          <a:ln/>
        </p:spPr>
        <p:txBody>
          <a:bodyPr/>
          <a:lstStyle/>
          <a:p>
            <a:endParaRPr lang="fr-FR"/>
          </a:p>
        </p:txBody>
      </p:sp>
      <p:sp>
        <p:nvSpPr>
          <p:cNvPr id="5" name="1. Discover tile"/>
          <p:cNvSpPr/>
          <p:nvPr/>
        </p:nvSpPr>
        <p:spPr>
          <a:xfrm>
            <a:off x="822960" y="1691640"/>
            <a:ext cx="640080" cy="640080"/>
          </a:xfrm>
          <a:prstGeom prst="roundRect">
            <a:avLst>
              <a:gd name="adj" fmla="val 17143"/>
            </a:avLst>
          </a:prstGeom>
          <a:solidFill>
            <a:schemeClr val="accent1"/>
          </a:solidFill>
          <a:ln/>
        </p:spPr>
        <p:txBody>
          <a:bodyPr/>
          <a:lstStyle/>
          <a:p>
            <a:endParaRPr lang="fr-FR"/>
          </a:p>
        </p:txBody>
      </p:sp>
      <p:pic>
        <p:nvPicPr>
          <p:cNvPr id="6" name="1. Discover glyph" descr="1. Discover"/>
          <p:cNvPicPr>
            <a:picLocks noChangeAspect="1"/>
          </p:cNvPicPr>
          <p:nvPr/>
        </p:nvPicPr>
        <p:blipFill>
          <a:blip r:embed="rId3"/>
          <a:stretch>
            <a:fillRect/>
          </a:stretch>
        </p:blipFill>
        <p:spPr>
          <a:xfrm>
            <a:off x="963778" y="1832458"/>
            <a:ext cx="358445" cy="358445"/>
          </a:xfrm>
          <a:prstGeom prst="rect">
            <a:avLst/>
          </a:prstGeom>
        </p:spPr>
      </p:pic>
      <p:sp>
        <p:nvSpPr>
          <p:cNvPr id="7" name="Text 3"/>
          <p:cNvSpPr txBox="1"/>
          <p:nvPr/>
        </p:nvSpPr>
        <p:spPr>
          <a:xfrm>
            <a:off x="1645920" y="1691640"/>
            <a:ext cx="2011680" cy="640080"/>
          </a:xfrm>
          <a:prstGeom prst="rect">
            <a:avLst/>
          </a:prstGeom>
          <a:noFill/>
          <a:ln/>
        </p:spPr>
        <p:txBody>
          <a:bodyPr wrap="square" lIns="0" tIns="0" rIns="0" bIns="0" rtlCol="0" anchor="ctr"/>
          <a:lstStyle/>
          <a:p>
            <a:pPr marL="0" indent="0">
              <a:buNone/>
            </a:pPr>
            <a:r>
              <a:rPr lang="en-US" sz="2100" b="1" dirty="0">
                <a:solidFill>
                  <a:schemeClr val="tx1"/>
                </a:solidFill>
              </a:rPr>
              <a:t>1. </a:t>
            </a:r>
            <a:r>
              <a:rPr lang="en-US" sz="2000" b="1" cap="all" dirty="0"/>
              <a:t>Discover</a:t>
            </a:r>
          </a:p>
        </p:txBody>
      </p:sp>
      <p:sp>
        <p:nvSpPr>
          <p:cNvPr id="8" name="Text 4"/>
          <p:cNvSpPr txBox="1"/>
          <p:nvPr/>
        </p:nvSpPr>
        <p:spPr>
          <a:xfrm>
            <a:off x="822960" y="2606040"/>
            <a:ext cx="2788920" cy="2743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Continuously maps every endpoint</a:t>
            </a:r>
            <a:endParaRPr lang="en-US" sz="1500" dirty="0"/>
          </a:p>
          <a:p>
            <a:pPr marL="342900" indent="-342900">
              <a:spcAft>
                <a:spcPts val="1000"/>
              </a:spcAft>
              <a:buSzPct val="100000"/>
              <a:buChar char="•"/>
            </a:pPr>
            <a:r>
              <a:rPr lang="en-US" sz="1500" dirty="0">
                <a:solidFill>
                  <a:schemeClr val="tx2"/>
                </a:solidFill>
              </a:rPr>
              <a:t>Finds shadow, zombie and undocumented APIs</a:t>
            </a:r>
            <a:endParaRPr lang="en-US" sz="1500" dirty="0"/>
          </a:p>
          <a:p>
            <a:pPr marL="342900" indent="-342900">
              <a:spcAft>
                <a:spcPts val="1000"/>
              </a:spcAft>
              <a:buSzPct val="100000"/>
              <a:buChar char="•"/>
            </a:pPr>
            <a:r>
              <a:rPr lang="en-US" sz="1500" dirty="0">
                <a:solidFill>
                  <a:schemeClr val="tx2"/>
                </a:solidFill>
              </a:rPr>
              <a:t>Passive traffic analysis or API-gateway integration</a:t>
            </a:r>
            <a:endParaRPr lang="en-US" sz="1500" dirty="0"/>
          </a:p>
        </p:txBody>
      </p:sp>
      <p:sp>
        <p:nvSpPr>
          <p:cNvPr id="9" name="api arrow 0"/>
          <p:cNvSpPr/>
          <p:nvPr/>
        </p:nvSpPr>
        <p:spPr>
          <a:xfrm>
            <a:off x="3904488" y="3291840"/>
            <a:ext cx="329184" cy="365760"/>
          </a:xfrm>
          <a:prstGeom prst="rightArrow">
            <a:avLst/>
          </a:prstGeom>
          <a:solidFill>
            <a:schemeClr val="accent1"/>
          </a:solidFill>
          <a:ln/>
        </p:spPr>
        <p:txBody>
          <a:bodyPr/>
          <a:lstStyle/>
          <a:p>
            <a:endParaRPr lang="fr-FR"/>
          </a:p>
        </p:txBody>
      </p:sp>
      <p:sp>
        <p:nvSpPr>
          <p:cNvPr id="10" name="api step 2. Model"/>
          <p:cNvSpPr/>
          <p:nvPr/>
        </p:nvSpPr>
        <p:spPr>
          <a:xfrm>
            <a:off x="4297680" y="1417320"/>
            <a:ext cx="3291840" cy="4114800"/>
          </a:xfrm>
          <a:prstGeom prst="roundRect">
            <a:avLst>
              <a:gd name="adj" fmla="val 2778"/>
            </a:avLst>
          </a:prstGeom>
          <a:solidFill>
            <a:schemeClr val="bg2"/>
          </a:solidFill>
          <a:ln/>
        </p:spPr>
        <p:txBody>
          <a:bodyPr/>
          <a:lstStyle/>
          <a:p>
            <a:endParaRPr lang="fr-FR"/>
          </a:p>
        </p:txBody>
      </p:sp>
      <p:sp>
        <p:nvSpPr>
          <p:cNvPr id="11" name="2. Model tile"/>
          <p:cNvSpPr/>
          <p:nvPr/>
        </p:nvSpPr>
        <p:spPr>
          <a:xfrm>
            <a:off x="4572000" y="1691640"/>
            <a:ext cx="640080" cy="640080"/>
          </a:xfrm>
          <a:prstGeom prst="roundRect">
            <a:avLst>
              <a:gd name="adj" fmla="val 17143"/>
            </a:avLst>
          </a:prstGeom>
          <a:solidFill>
            <a:schemeClr val="accent1"/>
          </a:solidFill>
          <a:ln/>
        </p:spPr>
        <p:txBody>
          <a:bodyPr/>
          <a:lstStyle/>
          <a:p>
            <a:endParaRPr lang="fr-FR"/>
          </a:p>
        </p:txBody>
      </p:sp>
      <p:pic>
        <p:nvPicPr>
          <p:cNvPr id="12" name="2. Model glyph" descr="2. Model"/>
          <p:cNvPicPr>
            <a:picLocks noChangeAspect="1"/>
          </p:cNvPicPr>
          <p:nvPr/>
        </p:nvPicPr>
        <p:blipFill>
          <a:blip r:embed="rId4"/>
          <a:stretch>
            <a:fillRect/>
          </a:stretch>
        </p:blipFill>
        <p:spPr>
          <a:xfrm>
            <a:off x="4712818" y="1832458"/>
            <a:ext cx="358445" cy="358445"/>
          </a:xfrm>
          <a:prstGeom prst="rect">
            <a:avLst/>
          </a:prstGeom>
        </p:spPr>
      </p:pic>
      <p:sp>
        <p:nvSpPr>
          <p:cNvPr id="13" name="Text 8"/>
          <p:cNvSpPr txBox="1"/>
          <p:nvPr/>
        </p:nvSpPr>
        <p:spPr>
          <a:xfrm>
            <a:off x="5394960" y="1691640"/>
            <a:ext cx="2011680" cy="640080"/>
          </a:xfrm>
          <a:prstGeom prst="rect">
            <a:avLst/>
          </a:prstGeom>
          <a:noFill/>
          <a:ln/>
        </p:spPr>
        <p:txBody>
          <a:bodyPr wrap="square" lIns="0" tIns="0" rIns="0" bIns="0" rtlCol="0" anchor="ctr"/>
          <a:lstStyle/>
          <a:p>
            <a:pPr marL="0" indent="0">
              <a:buNone/>
            </a:pPr>
            <a:r>
              <a:rPr lang="en-US" sz="2100" b="1" dirty="0">
                <a:solidFill>
                  <a:schemeClr val="tx1"/>
                </a:solidFill>
              </a:rPr>
              <a:t>2. </a:t>
            </a:r>
            <a:r>
              <a:rPr lang="en-US" sz="2000" b="1" cap="all" dirty="0"/>
              <a:t>Model</a:t>
            </a:r>
          </a:p>
        </p:txBody>
      </p:sp>
      <p:sp>
        <p:nvSpPr>
          <p:cNvPr id="14" name="Text 9"/>
          <p:cNvSpPr txBox="1"/>
          <p:nvPr/>
        </p:nvSpPr>
        <p:spPr>
          <a:xfrm>
            <a:off x="4572000" y="2606040"/>
            <a:ext cx="2788920" cy="2743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Imports OpenAPI / Swagger specifications</a:t>
            </a:r>
            <a:endParaRPr lang="en-US" sz="1500" dirty="0"/>
          </a:p>
          <a:p>
            <a:pPr marL="342900" indent="-342900">
              <a:spcAft>
                <a:spcPts val="1000"/>
              </a:spcAft>
              <a:buSzPct val="100000"/>
              <a:buChar char="•"/>
            </a:pPr>
            <a:r>
              <a:rPr lang="en-US" sz="1500" dirty="0">
                <a:solidFill>
                  <a:schemeClr val="tx2"/>
                </a:solidFill>
              </a:rPr>
              <a:t>Builds allow-lists of paths, methods, parameters, types</a:t>
            </a:r>
            <a:endParaRPr lang="en-US" sz="1500" dirty="0"/>
          </a:p>
          <a:p>
            <a:pPr marL="342900" indent="-342900">
              <a:spcAft>
                <a:spcPts val="1000"/>
              </a:spcAft>
              <a:buSzPct val="100000"/>
              <a:buChar char="•"/>
            </a:pPr>
            <a:r>
              <a:rPr lang="en-US" sz="1500" dirty="0">
                <a:solidFill>
                  <a:schemeClr val="tx2"/>
                </a:solidFill>
              </a:rPr>
              <a:t>Learns normal API usage baselines</a:t>
            </a:r>
            <a:endParaRPr lang="en-US" sz="1500" dirty="0"/>
          </a:p>
        </p:txBody>
      </p:sp>
      <p:sp>
        <p:nvSpPr>
          <p:cNvPr id="15" name="api arrow 1"/>
          <p:cNvSpPr/>
          <p:nvPr/>
        </p:nvSpPr>
        <p:spPr>
          <a:xfrm>
            <a:off x="7653528" y="3291840"/>
            <a:ext cx="329184" cy="365760"/>
          </a:xfrm>
          <a:prstGeom prst="rightArrow">
            <a:avLst/>
          </a:prstGeom>
          <a:solidFill>
            <a:schemeClr val="accent1"/>
          </a:solidFill>
          <a:ln/>
        </p:spPr>
        <p:txBody>
          <a:bodyPr/>
          <a:lstStyle/>
          <a:p>
            <a:endParaRPr lang="fr-FR"/>
          </a:p>
        </p:txBody>
      </p:sp>
      <p:sp>
        <p:nvSpPr>
          <p:cNvPr id="16" name="api step 3. Enforce"/>
          <p:cNvSpPr/>
          <p:nvPr/>
        </p:nvSpPr>
        <p:spPr>
          <a:xfrm>
            <a:off x="8046720" y="1417320"/>
            <a:ext cx="3291840" cy="4114800"/>
          </a:xfrm>
          <a:prstGeom prst="roundRect">
            <a:avLst>
              <a:gd name="adj" fmla="val 2778"/>
            </a:avLst>
          </a:prstGeom>
          <a:solidFill>
            <a:schemeClr val="bg2"/>
          </a:solidFill>
          <a:ln/>
        </p:spPr>
        <p:txBody>
          <a:bodyPr/>
          <a:lstStyle/>
          <a:p>
            <a:endParaRPr lang="fr-FR"/>
          </a:p>
        </p:txBody>
      </p:sp>
      <p:sp>
        <p:nvSpPr>
          <p:cNvPr id="17" name="3. Enforce tile"/>
          <p:cNvSpPr/>
          <p:nvPr/>
        </p:nvSpPr>
        <p:spPr>
          <a:xfrm>
            <a:off x="8321040" y="1691640"/>
            <a:ext cx="640080" cy="640080"/>
          </a:xfrm>
          <a:prstGeom prst="roundRect">
            <a:avLst>
              <a:gd name="adj" fmla="val 17143"/>
            </a:avLst>
          </a:prstGeom>
          <a:solidFill>
            <a:schemeClr val="accent1"/>
          </a:solidFill>
          <a:ln/>
        </p:spPr>
        <p:txBody>
          <a:bodyPr/>
          <a:lstStyle/>
          <a:p>
            <a:endParaRPr lang="fr-FR"/>
          </a:p>
        </p:txBody>
      </p:sp>
      <p:pic>
        <p:nvPicPr>
          <p:cNvPr id="18" name="3. Enforce glyph" descr="3. Enforce"/>
          <p:cNvPicPr>
            <a:picLocks noChangeAspect="1"/>
          </p:cNvPicPr>
          <p:nvPr/>
        </p:nvPicPr>
        <p:blipFill>
          <a:blip r:embed="rId5"/>
          <a:stretch>
            <a:fillRect/>
          </a:stretch>
        </p:blipFill>
        <p:spPr>
          <a:xfrm>
            <a:off x="8461858" y="1832458"/>
            <a:ext cx="358445" cy="358445"/>
          </a:xfrm>
          <a:prstGeom prst="rect">
            <a:avLst/>
          </a:prstGeom>
        </p:spPr>
      </p:pic>
      <p:sp>
        <p:nvSpPr>
          <p:cNvPr id="19" name="Text 13"/>
          <p:cNvSpPr txBox="1"/>
          <p:nvPr/>
        </p:nvSpPr>
        <p:spPr>
          <a:xfrm>
            <a:off x="9144000" y="1691640"/>
            <a:ext cx="2011680" cy="640080"/>
          </a:xfrm>
          <a:prstGeom prst="rect">
            <a:avLst/>
          </a:prstGeom>
          <a:noFill/>
          <a:ln/>
        </p:spPr>
        <p:txBody>
          <a:bodyPr wrap="square" lIns="0" tIns="0" rIns="0" bIns="0" rtlCol="0" anchor="ctr"/>
          <a:lstStyle/>
          <a:p>
            <a:pPr marL="0" indent="0">
              <a:buNone/>
            </a:pPr>
            <a:r>
              <a:rPr lang="en-US" sz="2100" b="1" dirty="0">
                <a:solidFill>
                  <a:schemeClr val="tx1"/>
                </a:solidFill>
              </a:rPr>
              <a:t>3. </a:t>
            </a:r>
            <a:r>
              <a:rPr lang="en-US" sz="2000" b="1" cap="all" dirty="0"/>
              <a:t>Enforce</a:t>
            </a:r>
          </a:p>
        </p:txBody>
      </p:sp>
      <p:sp>
        <p:nvSpPr>
          <p:cNvPr id="20" name="Text 14"/>
          <p:cNvSpPr txBox="1"/>
          <p:nvPr/>
        </p:nvSpPr>
        <p:spPr>
          <a:xfrm>
            <a:off x="8321040" y="2606040"/>
            <a:ext cx="2788920" cy="2743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Blocks any request that deviates from the contract</a:t>
            </a:r>
            <a:endParaRPr lang="en-US" sz="1500" dirty="0"/>
          </a:p>
          <a:p>
            <a:pPr marL="342900" indent="-342900">
              <a:spcAft>
                <a:spcPts val="1000"/>
              </a:spcAft>
              <a:buSzPct val="100000"/>
              <a:buChar char="•"/>
            </a:pPr>
            <a:r>
              <a:rPr lang="en-US" sz="1500" dirty="0">
                <a:solidFill>
                  <a:schemeClr val="tx2"/>
                </a:solidFill>
              </a:rPr>
              <a:t>OWASP API Top 10: BOLA, data exposure, rate limits</a:t>
            </a:r>
            <a:endParaRPr lang="en-US" sz="1500" dirty="0"/>
          </a:p>
          <a:p>
            <a:pPr marL="342900" indent="-342900">
              <a:spcAft>
                <a:spcPts val="1000"/>
              </a:spcAft>
              <a:buSzPct val="100000"/>
              <a:buChar char="•"/>
            </a:pPr>
            <a:r>
              <a:rPr lang="en-US" sz="1500" dirty="0">
                <a:solidFill>
                  <a:schemeClr val="tx2"/>
                </a:solidFill>
              </a:rPr>
              <a:t>Validates API keys and JWTs; detects data leakage</a:t>
            </a:r>
            <a:endParaRPr lang="en-US" sz="1500" dirty="0"/>
          </a:p>
        </p:txBody>
      </p:sp>
      <p:sp>
        <p:nvSpPr>
          <p:cNvPr id="21" name="Text 15"/>
          <p:cNvSpPr txBox="1"/>
          <p:nvPr/>
        </p:nvSpPr>
        <p:spPr>
          <a:xfrm>
            <a:off x="548640" y="5760720"/>
            <a:ext cx="11064240" cy="411480"/>
          </a:xfrm>
          <a:prstGeom prst="rect">
            <a:avLst/>
          </a:prstGeom>
          <a:noFill/>
          <a:ln/>
        </p:spPr>
        <p:txBody>
          <a:bodyPr wrap="square" lIns="0" tIns="0" rIns="0" bIns="0" rtlCol="0" anchor="ctr"/>
          <a:lstStyle/>
          <a:p>
            <a:pPr marL="0" indent="0">
              <a:buNone/>
            </a:pPr>
            <a:r>
              <a:rPr lang="en-US" sz="1500" i="1" dirty="0">
                <a:solidFill>
                  <a:schemeClr val="tx2"/>
                </a:solidFill>
              </a:rPr>
              <a:t>This closes the gaps traditional WAFs miss, especially in API-first architectures.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26</a:t>
            </a:fld>
            <a:endParaRPr lang="en-US"/>
          </a:p>
        </p:txBody>
      </p:sp>
      <p:pic>
        <p:nvPicPr>
          <p:cNvPr id="3" name="Image 0" descr="/home/claude/unpacked/ppt/media/image1.png">
            <a:extLst>
              <a:ext uri="{FF2B5EF4-FFF2-40B4-BE49-F238E27FC236}">
                <a16:creationId xmlns:a16="http://schemas.microsoft.com/office/drawing/2014/main" id="{C167C65F-B678-DFA0-4FD2-5583AA29E749}"/>
              </a:ext>
            </a:extLst>
          </p:cNvPr>
          <p:cNvPicPr>
            <a:picLocks noChangeAspect="1"/>
          </p:cNvPicPr>
          <p:nvPr/>
        </p:nvPicPr>
        <p:blipFill>
          <a:blip r:embed="rId6"/>
          <a:stretch>
            <a:fillRect/>
          </a:stretch>
        </p:blipFill>
        <p:spPr>
          <a:xfrm>
            <a:off x="10683240" y="205740"/>
            <a:ext cx="960120" cy="9601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OWASP API </a:t>
            </a:r>
            <a:r>
              <a:rPr lang="en-US" sz="3400" b="1" cap="all" dirty="0">
                <a:solidFill>
                  <a:schemeClr val="tx1"/>
                </a:solidFill>
              </a:rPr>
              <a:t>Security Top 10 </a:t>
            </a:r>
            <a:r>
              <a:rPr lang="en-US" sz="3400" b="1" dirty="0">
                <a:solidFill>
                  <a:schemeClr val="tx1"/>
                </a:solidFill>
              </a:rPr>
              <a:t>(2023)</a:t>
            </a:r>
            <a:endParaRPr lang="en-US" sz="3400" dirty="0"/>
          </a:p>
        </p:txBody>
      </p:sp>
      <p:sp>
        <p:nvSpPr>
          <p:cNvPr id="4" name="owasp api API1"/>
          <p:cNvSpPr/>
          <p:nvPr/>
        </p:nvSpPr>
        <p:spPr>
          <a:xfrm>
            <a:off x="548640" y="1417320"/>
            <a:ext cx="2011680" cy="2057400"/>
          </a:xfrm>
          <a:prstGeom prst="roundRect">
            <a:avLst>
              <a:gd name="adj" fmla="val 4545"/>
            </a:avLst>
          </a:prstGeom>
          <a:solidFill>
            <a:schemeClr val="bg2"/>
          </a:solidFill>
          <a:ln/>
        </p:spPr>
        <p:txBody>
          <a:bodyPr/>
          <a:lstStyle/>
          <a:p>
            <a:endParaRPr lang="fr-FR"/>
          </a:p>
        </p:txBody>
      </p:sp>
      <p:sp>
        <p:nvSpPr>
          <p:cNvPr id="5" name="Text 2"/>
          <p:cNvSpPr txBox="1"/>
          <p:nvPr/>
        </p:nvSpPr>
        <p:spPr>
          <a:xfrm>
            <a:off x="731520" y="1554480"/>
            <a:ext cx="1645920" cy="457200"/>
          </a:xfrm>
          <a:prstGeom prst="rect">
            <a:avLst/>
          </a:prstGeom>
          <a:noFill/>
          <a:ln/>
        </p:spPr>
        <p:txBody>
          <a:bodyPr wrap="square" lIns="0" tIns="0" rIns="0" bIns="0" rtlCol="0" anchor="ctr"/>
          <a:lstStyle/>
          <a:p>
            <a:pPr marL="0" indent="0">
              <a:buNone/>
            </a:pPr>
            <a:r>
              <a:rPr lang="en-US" sz="2200" b="1" dirty="0">
                <a:solidFill>
                  <a:schemeClr val="accent3"/>
                </a:solidFill>
              </a:rPr>
              <a:t>API1</a:t>
            </a:r>
            <a:endParaRPr lang="en-US" sz="2200" dirty="0"/>
          </a:p>
        </p:txBody>
      </p:sp>
      <p:sp>
        <p:nvSpPr>
          <p:cNvPr id="6" name="Text 3"/>
          <p:cNvSpPr txBox="1"/>
          <p:nvPr/>
        </p:nvSpPr>
        <p:spPr>
          <a:xfrm>
            <a:off x="731520" y="2011680"/>
            <a:ext cx="1645920" cy="914400"/>
          </a:xfrm>
          <a:prstGeom prst="rect">
            <a:avLst/>
          </a:prstGeom>
          <a:noFill/>
          <a:ln/>
        </p:spPr>
        <p:txBody>
          <a:bodyPr wrap="square" lIns="0" tIns="0" rIns="0" bIns="0" rtlCol="0" anchor="t"/>
          <a:lstStyle/>
          <a:p>
            <a:pPr marL="0" indent="0">
              <a:buNone/>
            </a:pPr>
            <a:r>
              <a:rPr lang="en-US" sz="1400" b="1" cap="all" dirty="0">
                <a:solidFill>
                  <a:schemeClr val="tx1"/>
                </a:solidFill>
              </a:rPr>
              <a:t>Broken Object Level Authorization</a:t>
            </a:r>
            <a:endParaRPr lang="en-US" sz="1400" cap="all" dirty="0"/>
          </a:p>
        </p:txBody>
      </p:sp>
      <p:sp>
        <p:nvSpPr>
          <p:cNvPr id="7" name="Text 4"/>
          <p:cNvSpPr txBox="1"/>
          <p:nvPr/>
        </p:nvSpPr>
        <p:spPr>
          <a:xfrm>
            <a:off x="731520" y="2971800"/>
            <a:ext cx="1645920" cy="411480"/>
          </a:xfrm>
          <a:prstGeom prst="rect">
            <a:avLst/>
          </a:prstGeom>
          <a:noFill/>
          <a:ln/>
        </p:spPr>
        <p:txBody>
          <a:bodyPr wrap="square" lIns="0" tIns="0" rIns="0" bIns="0" rtlCol="0" anchor="t"/>
          <a:lstStyle/>
          <a:p>
            <a:pPr marL="0" indent="0">
              <a:buNone/>
            </a:pPr>
            <a:r>
              <a:rPr lang="en-US" sz="1200" dirty="0">
                <a:solidFill>
                  <a:schemeClr val="accent4"/>
                </a:solidFill>
              </a:rPr>
              <a:t>WAAP: Detects ID enumeration</a:t>
            </a:r>
            <a:endParaRPr lang="en-US" sz="1200" dirty="0"/>
          </a:p>
        </p:txBody>
      </p:sp>
      <p:sp>
        <p:nvSpPr>
          <p:cNvPr id="8" name="owasp api API2"/>
          <p:cNvSpPr/>
          <p:nvPr/>
        </p:nvSpPr>
        <p:spPr>
          <a:xfrm>
            <a:off x="2811780" y="1417320"/>
            <a:ext cx="2011680" cy="2057400"/>
          </a:xfrm>
          <a:prstGeom prst="roundRect">
            <a:avLst>
              <a:gd name="adj" fmla="val 4545"/>
            </a:avLst>
          </a:prstGeom>
          <a:solidFill>
            <a:schemeClr val="bg2"/>
          </a:solidFill>
          <a:ln/>
        </p:spPr>
        <p:txBody>
          <a:bodyPr/>
          <a:lstStyle/>
          <a:p>
            <a:endParaRPr lang="fr-FR"/>
          </a:p>
        </p:txBody>
      </p:sp>
      <p:sp>
        <p:nvSpPr>
          <p:cNvPr id="9" name="Text 6"/>
          <p:cNvSpPr txBox="1"/>
          <p:nvPr/>
        </p:nvSpPr>
        <p:spPr>
          <a:xfrm>
            <a:off x="2994660" y="1554480"/>
            <a:ext cx="1645920" cy="457200"/>
          </a:xfrm>
          <a:prstGeom prst="rect">
            <a:avLst/>
          </a:prstGeom>
          <a:noFill/>
          <a:ln/>
        </p:spPr>
        <p:txBody>
          <a:bodyPr wrap="square" lIns="0" tIns="0" rIns="0" bIns="0" rtlCol="0" anchor="ctr"/>
          <a:lstStyle/>
          <a:p>
            <a:pPr marL="0" indent="0">
              <a:buNone/>
            </a:pPr>
            <a:r>
              <a:rPr lang="en-US" sz="2200" b="1" dirty="0">
                <a:solidFill>
                  <a:schemeClr val="accent1"/>
                </a:solidFill>
              </a:rPr>
              <a:t>API2</a:t>
            </a:r>
            <a:endParaRPr lang="en-US" sz="2200" dirty="0"/>
          </a:p>
        </p:txBody>
      </p:sp>
      <p:sp>
        <p:nvSpPr>
          <p:cNvPr id="10" name="Text 7"/>
          <p:cNvSpPr txBox="1"/>
          <p:nvPr/>
        </p:nvSpPr>
        <p:spPr>
          <a:xfrm>
            <a:off x="2994660" y="2011680"/>
            <a:ext cx="1645920" cy="914400"/>
          </a:xfrm>
          <a:prstGeom prst="rect">
            <a:avLst/>
          </a:prstGeom>
          <a:noFill/>
          <a:ln/>
        </p:spPr>
        <p:txBody>
          <a:bodyPr wrap="square" lIns="0" tIns="0" rIns="0" bIns="0" rtlCol="0" anchor="t"/>
          <a:lstStyle/>
          <a:p>
            <a:pPr marL="0" indent="0">
              <a:buNone/>
            </a:pPr>
            <a:r>
              <a:rPr lang="en-US" sz="1400" b="1" cap="all" dirty="0">
                <a:solidFill>
                  <a:schemeClr val="tx1"/>
                </a:solidFill>
              </a:rPr>
              <a:t>Broken Authentication</a:t>
            </a:r>
            <a:endParaRPr lang="en-US" sz="1400" cap="all" dirty="0"/>
          </a:p>
        </p:txBody>
      </p:sp>
      <p:sp>
        <p:nvSpPr>
          <p:cNvPr id="11" name="Text 8"/>
          <p:cNvSpPr txBox="1"/>
          <p:nvPr/>
        </p:nvSpPr>
        <p:spPr>
          <a:xfrm>
            <a:off x="2994660" y="2971800"/>
            <a:ext cx="1645920" cy="411480"/>
          </a:xfrm>
          <a:prstGeom prst="rect">
            <a:avLst/>
          </a:prstGeom>
          <a:noFill/>
          <a:ln/>
        </p:spPr>
        <p:txBody>
          <a:bodyPr wrap="square" lIns="0" tIns="0" rIns="0" bIns="0" rtlCol="0" anchor="t"/>
          <a:lstStyle/>
          <a:p>
            <a:pPr marL="0" indent="0">
              <a:buNone/>
            </a:pPr>
            <a:r>
              <a:rPr lang="en-US" sz="1200" dirty="0">
                <a:solidFill>
                  <a:schemeClr val="accent4"/>
                </a:solidFill>
              </a:rPr>
              <a:t>WAAP: Validates tokens, stops stuffing</a:t>
            </a:r>
            <a:endParaRPr lang="en-US" sz="1200" dirty="0"/>
          </a:p>
        </p:txBody>
      </p:sp>
      <p:sp>
        <p:nvSpPr>
          <p:cNvPr id="12" name="owasp api API3"/>
          <p:cNvSpPr/>
          <p:nvPr/>
        </p:nvSpPr>
        <p:spPr>
          <a:xfrm>
            <a:off x="5074920" y="1417320"/>
            <a:ext cx="2011680" cy="2057400"/>
          </a:xfrm>
          <a:prstGeom prst="roundRect">
            <a:avLst>
              <a:gd name="adj" fmla="val 4545"/>
            </a:avLst>
          </a:prstGeom>
          <a:solidFill>
            <a:schemeClr val="bg2"/>
          </a:solidFill>
          <a:ln/>
        </p:spPr>
        <p:txBody>
          <a:bodyPr/>
          <a:lstStyle/>
          <a:p>
            <a:endParaRPr lang="fr-FR"/>
          </a:p>
        </p:txBody>
      </p:sp>
      <p:sp>
        <p:nvSpPr>
          <p:cNvPr id="13" name="Text 10"/>
          <p:cNvSpPr txBox="1"/>
          <p:nvPr/>
        </p:nvSpPr>
        <p:spPr>
          <a:xfrm>
            <a:off x="5257800" y="1554480"/>
            <a:ext cx="1645920" cy="457200"/>
          </a:xfrm>
          <a:prstGeom prst="rect">
            <a:avLst/>
          </a:prstGeom>
          <a:noFill/>
          <a:ln/>
        </p:spPr>
        <p:txBody>
          <a:bodyPr wrap="square" lIns="0" tIns="0" rIns="0" bIns="0" rtlCol="0" anchor="ctr"/>
          <a:lstStyle/>
          <a:p>
            <a:pPr marL="0" indent="0">
              <a:buNone/>
            </a:pPr>
            <a:r>
              <a:rPr lang="en-US" sz="2200" b="1" dirty="0">
                <a:solidFill>
                  <a:schemeClr val="accent1"/>
                </a:solidFill>
              </a:rPr>
              <a:t>API3</a:t>
            </a:r>
            <a:endParaRPr lang="en-US" sz="2200" dirty="0"/>
          </a:p>
        </p:txBody>
      </p:sp>
      <p:sp>
        <p:nvSpPr>
          <p:cNvPr id="14" name="Text 11"/>
          <p:cNvSpPr txBox="1"/>
          <p:nvPr/>
        </p:nvSpPr>
        <p:spPr>
          <a:xfrm>
            <a:off x="5257800" y="2011680"/>
            <a:ext cx="1645920" cy="914400"/>
          </a:xfrm>
          <a:prstGeom prst="rect">
            <a:avLst/>
          </a:prstGeom>
          <a:noFill/>
          <a:ln/>
        </p:spPr>
        <p:txBody>
          <a:bodyPr wrap="square" lIns="0" tIns="0" rIns="0" bIns="0" rtlCol="0" anchor="t"/>
          <a:lstStyle/>
          <a:p>
            <a:pPr marL="0" indent="0">
              <a:buNone/>
            </a:pPr>
            <a:r>
              <a:rPr lang="en-US" sz="1400" b="1" cap="all" dirty="0">
                <a:solidFill>
                  <a:schemeClr val="tx1"/>
                </a:solidFill>
              </a:rPr>
              <a:t>Broken Object Property Level Authorization</a:t>
            </a:r>
            <a:endParaRPr lang="en-US" sz="1400" cap="all" dirty="0"/>
          </a:p>
        </p:txBody>
      </p:sp>
      <p:sp>
        <p:nvSpPr>
          <p:cNvPr id="15" name="Text 12"/>
          <p:cNvSpPr txBox="1"/>
          <p:nvPr/>
        </p:nvSpPr>
        <p:spPr>
          <a:xfrm>
            <a:off x="5257800" y="2971800"/>
            <a:ext cx="1645920" cy="411480"/>
          </a:xfrm>
          <a:prstGeom prst="rect">
            <a:avLst/>
          </a:prstGeom>
          <a:noFill/>
          <a:ln/>
        </p:spPr>
        <p:txBody>
          <a:bodyPr wrap="square" lIns="0" tIns="0" rIns="0" bIns="0" rtlCol="0" anchor="t"/>
          <a:lstStyle/>
          <a:p>
            <a:pPr marL="0" indent="0">
              <a:buNone/>
            </a:pPr>
            <a:r>
              <a:rPr lang="en-US" sz="1200" dirty="0">
                <a:solidFill>
                  <a:schemeClr val="accent4"/>
                </a:solidFill>
              </a:rPr>
              <a:t>WAAP: Blocks mass assignment</a:t>
            </a:r>
            <a:endParaRPr lang="en-US" sz="1200" dirty="0"/>
          </a:p>
        </p:txBody>
      </p:sp>
      <p:sp>
        <p:nvSpPr>
          <p:cNvPr id="16" name="owasp api API4"/>
          <p:cNvSpPr/>
          <p:nvPr/>
        </p:nvSpPr>
        <p:spPr>
          <a:xfrm>
            <a:off x="7338060" y="1417320"/>
            <a:ext cx="2011680" cy="2057400"/>
          </a:xfrm>
          <a:prstGeom prst="roundRect">
            <a:avLst>
              <a:gd name="adj" fmla="val 4545"/>
            </a:avLst>
          </a:prstGeom>
          <a:solidFill>
            <a:schemeClr val="bg2"/>
          </a:solidFill>
          <a:ln/>
        </p:spPr>
        <p:txBody>
          <a:bodyPr/>
          <a:lstStyle/>
          <a:p>
            <a:endParaRPr lang="fr-FR"/>
          </a:p>
        </p:txBody>
      </p:sp>
      <p:sp>
        <p:nvSpPr>
          <p:cNvPr id="17" name="Text 14"/>
          <p:cNvSpPr txBox="1"/>
          <p:nvPr/>
        </p:nvSpPr>
        <p:spPr>
          <a:xfrm>
            <a:off x="7520940" y="1554480"/>
            <a:ext cx="1645920" cy="457200"/>
          </a:xfrm>
          <a:prstGeom prst="rect">
            <a:avLst/>
          </a:prstGeom>
          <a:noFill/>
          <a:ln/>
        </p:spPr>
        <p:txBody>
          <a:bodyPr wrap="square" lIns="0" tIns="0" rIns="0" bIns="0" rtlCol="0" anchor="ctr"/>
          <a:lstStyle/>
          <a:p>
            <a:pPr marL="0" indent="0">
              <a:buNone/>
            </a:pPr>
            <a:r>
              <a:rPr lang="en-US" sz="2200" b="1" dirty="0">
                <a:solidFill>
                  <a:schemeClr val="accent1"/>
                </a:solidFill>
              </a:rPr>
              <a:t>API4</a:t>
            </a:r>
            <a:endParaRPr lang="en-US" sz="2200" dirty="0"/>
          </a:p>
        </p:txBody>
      </p:sp>
      <p:sp>
        <p:nvSpPr>
          <p:cNvPr id="18" name="Text 15"/>
          <p:cNvSpPr txBox="1"/>
          <p:nvPr/>
        </p:nvSpPr>
        <p:spPr>
          <a:xfrm>
            <a:off x="7520940" y="2011680"/>
            <a:ext cx="1645920" cy="914400"/>
          </a:xfrm>
          <a:prstGeom prst="rect">
            <a:avLst/>
          </a:prstGeom>
          <a:noFill/>
          <a:ln/>
        </p:spPr>
        <p:txBody>
          <a:bodyPr wrap="square" lIns="0" tIns="0" rIns="0" bIns="0" rtlCol="0" anchor="t"/>
          <a:lstStyle/>
          <a:p>
            <a:pPr marL="0" indent="0">
              <a:buNone/>
            </a:pPr>
            <a:r>
              <a:rPr lang="en-US" sz="1400" b="1" cap="all" dirty="0">
                <a:solidFill>
                  <a:schemeClr val="tx1"/>
                </a:solidFill>
              </a:rPr>
              <a:t>Unrestricted Resource Consumption</a:t>
            </a:r>
            <a:endParaRPr lang="en-US" sz="1400" cap="all" dirty="0"/>
          </a:p>
        </p:txBody>
      </p:sp>
      <p:sp>
        <p:nvSpPr>
          <p:cNvPr id="19" name="Text 16"/>
          <p:cNvSpPr txBox="1"/>
          <p:nvPr/>
        </p:nvSpPr>
        <p:spPr>
          <a:xfrm>
            <a:off x="7520940" y="2971800"/>
            <a:ext cx="1645920" cy="411480"/>
          </a:xfrm>
          <a:prstGeom prst="rect">
            <a:avLst/>
          </a:prstGeom>
          <a:noFill/>
          <a:ln/>
        </p:spPr>
        <p:txBody>
          <a:bodyPr wrap="square" lIns="0" tIns="0" rIns="0" bIns="0" rtlCol="0" anchor="t"/>
          <a:lstStyle/>
          <a:p>
            <a:pPr marL="0" indent="0">
              <a:buNone/>
            </a:pPr>
            <a:r>
              <a:rPr lang="en-US" sz="1200" dirty="0">
                <a:solidFill>
                  <a:schemeClr val="accent4"/>
                </a:solidFill>
              </a:rPr>
              <a:t>WAAP: Rate limits, quotas</a:t>
            </a:r>
            <a:endParaRPr lang="en-US" sz="1200" dirty="0"/>
          </a:p>
        </p:txBody>
      </p:sp>
      <p:sp>
        <p:nvSpPr>
          <p:cNvPr id="20" name="owasp api API5"/>
          <p:cNvSpPr/>
          <p:nvPr/>
        </p:nvSpPr>
        <p:spPr>
          <a:xfrm>
            <a:off x="9601200" y="1417320"/>
            <a:ext cx="2011680" cy="2057400"/>
          </a:xfrm>
          <a:prstGeom prst="roundRect">
            <a:avLst>
              <a:gd name="adj" fmla="val 4545"/>
            </a:avLst>
          </a:prstGeom>
          <a:solidFill>
            <a:schemeClr val="bg2"/>
          </a:solidFill>
          <a:ln/>
        </p:spPr>
        <p:txBody>
          <a:bodyPr/>
          <a:lstStyle/>
          <a:p>
            <a:endParaRPr lang="fr-FR"/>
          </a:p>
        </p:txBody>
      </p:sp>
      <p:sp>
        <p:nvSpPr>
          <p:cNvPr id="21" name="Text 18"/>
          <p:cNvSpPr txBox="1"/>
          <p:nvPr/>
        </p:nvSpPr>
        <p:spPr>
          <a:xfrm>
            <a:off x="9784080" y="1554480"/>
            <a:ext cx="1645920" cy="457200"/>
          </a:xfrm>
          <a:prstGeom prst="rect">
            <a:avLst/>
          </a:prstGeom>
          <a:noFill/>
          <a:ln/>
        </p:spPr>
        <p:txBody>
          <a:bodyPr wrap="square" lIns="0" tIns="0" rIns="0" bIns="0" rtlCol="0" anchor="ctr"/>
          <a:lstStyle/>
          <a:p>
            <a:pPr marL="0" indent="0">
              <a:buNone/>
            </a:pPr>
            <a:r>
              <a:rPr lang="en-US" sz="2200" b="1" dirty="0">
                <a:solidFill>
                  <a:schemeClr val="accent1"/>
                </a:solidFill>
              </a:rPr>
              <a:t>API5</a:t>
            </a:r>
            <a:endParaRPr lang="en-US" sz="2200" dirty="0"/>
          </a:p>
        </p:txBody>
      </p:sp>
      <p:sp>
        <p:nvSpPr>
          <p:cNvPr id="22" name="Text 19"/>
          <p:cNvSpPr txBox="1"/>
          <p:nvPr/>
        </p:nvSpPr>
        <p:spPr>
          <a:xfrm>
            <a:off x="9784080" y="2011680"/>
            <a:ext cx="1645920" cy="914400"/>
          </a:xfrm>
          <a:prstGeom prst="rect">
            <a:avLst/>
          </a:prstGeom>
          <a:noFill/>
          <a:ln/>
        </p:spPr>
        <p:txBody>
          <a:bodyPr wrap="square" lIns="0" tIns="0" rIns="0" bIns="0" rtlCol="0" anchor="t"/>
          <a:lstStyle/>
          <a:p>
            <a:pPr marL="0" indent="0">
              <a:buNone/>
            </a:pPr>
            <a:r>
              <a:rPr lang="en-US" sz="1400" b="1" cap="all" dirty="0">
                <a:solidFill>
                  <a:schemeClr val="tx1"/>
                </a:solidFill>
              </a:rPr>
              <a:t>Broken Function Level Authorization</a:t>
            </a:r>
            <a:endParaRPr lang="en-US" sz="1400" cap="all" dirty="0"/>
          </a:p>
        </p:txBody>
      </p:sp>
      <p:sp>
        <p:nvSpPr>
          <p:cNvPr id="23" name="Text 20"/>
          <p:cNvSpPr txBox="1"/>
          <p:nvPr/>
        </p:nvSpPr>
        <p:spPr>
          <a:xfrm>
            <a:off x="9784080" y="2971800"/>
            <a:ext cx="1645920" cy="411480"/>
          </a:xfrm>
          <a:prstGeom prst="rect">
            <a:avLst/>
          </a:prstGeom>
          <a:noFill/>
          <a:ln/>
        </p:spPr>
        <p:txBody>
          <a:bodyPr wrap="square" lIns="0" tIns="0" rIns="0" bIns="0" rtlCol="0" anchor="t"/>
          <a:lstStyle/>
          <a:p>
            <a:pPr marL="0" indent="0">
              <a:buNone/>
            </a:pPr>
            <a:r>
              <a:rPr lang="en-US" sz="1200" dirty="0">
                <a:solidFill>
                  <a:schemeClr val="accent4"/>
                </a:solidFill>
              </a:rPr>
              <a:t>WAAP: Enforces allowed methods</a:t>
            </a:r>
            <a:endParaRPr lang="en-US" sz="1200" dirty="0"/>
          </a:p>
        </p:txBody>
      </p:sp>
      <p:sp>
        <p:nvSpPr>
          <p:cNvPr id="24" name="owasp api API6"/>
          <p:cNvSpPr/>
          <p:nvPr/>
        </p:nvSpPr>
        <p:spPr>
          <a:xfrm>
            <a:off x="548640" y="3657600"/>
            <a:ext cx="2011680" cy="2057400"/>
          </a:xfrm>
          <a:prstGeom prst="roundRect">
            <a:avLst>
              <a:gd name="adj" fmla="val 4545"/>
            </a:avLst>
          </a:prstGeom>
          <a:solidFill>
            <a:schemeClr val="bg2"/>
          </a:solidFill>
          <a:ln/>
        </p:spPr>
        <p:txBody>
          <a:bodyPr/>
          <a:lstStyle/>
          <a:p>
            <a:endParaRPr lang="fr-FR"/>
          </a:p>
        </p:txBody>
      </p:sp>
      <p:sp>
        <p:nvSpPr>
          <p:cNvPr id="25" name="Text 22"/>
          <p:cNvSpPr txBox="1"/>
          <p:nvPr/>
        </p:nvSpPr>
        <p:spPr>
          <a:xfrm>
            <a:off x="731520" y="3794760"/>
            <a:ext cx="1645920" cy="457200"/>
          </a:xfrm>
          <a:prstGeom prst="rect">
            <a:avLst/>
          </a:prstGeom>
          <a:noFill/>
          <a:ln/>
        </p:spPr>
        <p:txBody>
          <a:bodyPr wrap="square" lIns="0" tIns="0" rIns="0" bIns="0" rtlCol="0" anchor="ctr"/>
          <a:lstStyle/>
          <a:p>
            <a:pPr marL="0" indent="0">
              <a:buNone/>
            </a:pPr>
            <a:r>
              <a:rPr lang="en-US" sz="2200" b="1" dirty="0">
                <a:solidFill>
                  <a:schemeClr val="accent1"/>
                </a:solidFill>
              </a:rPr>
              <a:t>API6</a:t>
            </a:r>
            <a:endParaRPr lang="en-US" sz="2200" dirty="0"/>
          </a:p>
        </p:txBody>
      </p:sp>
      <p:sp>
        <p:nvSpPr>
          <p:cNvPr id="26" name="Text 23"/>
          <p:cNvSpPr txBox="1"/>
          <p:nvPr/>
        </p:nvSpPr>
        <p:spPr>
          <a:xfrm>
            <a:off x="731520" y="4251960"/>
            <a:ext cx="1645920" cy="914400"/>
          </a:xfrm>
          <a:prstGeom prst="rect">
            <a:avLst/>
          </a:prstGeom>
          <a:noFill/>
          <a:ln/>
        </p:spPr>
        <p:txBody>
          <a:bodyPr wrap="square" lIns="0" tIns="0" rIns="0" bIns="0" rtlCol="0" anchor="t"/>
          <a:lstStyle/>
          <a:p>
            <a:pPr marL="0" indent="0">
              <a:buNone/>
            </a:pPr>
            <a:r>
              <a:rPr lang="en-US" sz="1400" b="1" cap="all" dirty="0">
                <a:solidFill>
                  <a:schemeClr val="tx1"/>
                </a:solidFill>
              </a:rPr>
              <a:t>Unrestricted Access to Sensitive Business Flows</a:t>
            </a:r>
            <a:endParaRPr lang="en-US" sz="1400" cap="all" dirty="0"/>
          </a:p>
        </p:txBody>
      </p:sp>
      <p:sp>
        <p:nvSpPr>
          <p:cNvPr id="27" name="Text 24"/>
          <p:cNvSpPr txBox="1"/>
          <p:nvPr/>
        </p:nvSpPr>
        <p:spPr>
          <a:xfrm>
            <a:off x="731520" y="5212080"/>
            <a:ext cx="1645920" cy="411480"/>
          </a:xfrm>
          <a:prstGeom prst="rect">
            <a:avLst/>
          </a:prstGeom>
          <a:noFill/>
          <a:ln/>
        </p:spPr>
        <p:txBody>
          <a:bodyPr wrap="square" lIns="0" tIns="0" rIns="0" bIns="0" rtlCol="0" anchor="t"/>
          <a:lstStyle/>
          <a:p>
            <a:pPr marL="0" indent="0">
              <a:buNone/>
            </a:pPr>
            <a:r>
              <a:rPr lang="en-US" sz="1200" dirty="0">
                <a:solidFill>
                  <a:schemeClr val="accent4"/>
                </a:solidFill>
              </a:rPr>
              <a:t>WAAP: Bot management</a:t>
            </a:r>
            <a:endParaRPr lang="en-US" sz="1200" dirty="0"/>
          </a:p>
        </p:txBody>
      </p:sp>
      <p:sp>
        <p:nvSpPr>
          <p:cNvPr id="28" name="owasp api API7"/>
          <p:cNvSpPr/>
          <p:nvPr/>
        </p:nvSpPr>
        <p:spPr>
          <a:xfrm>
            <a:off x="2811780" y="3657600"/>
            <a:ext cx="2011680" cy="2057400"/>
          </a:xfrm>
          <a:prstGeom prst="roundRect">
            <a:avLst>
              <a:gd name="adj" fmla="val 4545"/>
            </a:avLst>
          </a:prstGeom>
          <a:solidFill>
            <a:schemeClr val="bg2"/>
          </a:solidFill>
          <a:ln/>
        </p:spPr>
        <p:txBody>
          <a:bodyPr/>
          <a:lstStyle/>
          <a:p>
            <a:endParaRPr lang="fr-FR"/>
          </a:p>
        </p:txBody>
      </p:sp>
      <p:sp>
        <p:nvSpPr>
          <p:cNvPr id="29" name="Text 26"/>
          <p:cNvSpPr txBox="1"/>
          <p:nvPr/>
        </p:nvSpPr>
        <p:spPr>
          <a:xfrm>
            <a:off x="2994660" y="3794760"/>
            <a:ext cx="1645920" cy="457200"/>
          </a:xfrm>
          <a:prstGeom prst="rect">
            <a:avLst/>
          </a:prstGeom>
          <a:noFill/>
          <a:ln/>
        </p:spPr>
        <p:txBody>
          <a:bodyPr wrap="square" lIns="0" tIns="0" rIns="0" bIns="0" rtlCol="0" anchor="ctr"/>
          <a:lstStyle/>
          <a:p>
            <a:pPr marL="0" indent="0">
              <a:buNone/>
            </a:pPr>
            <a:r>
              <a:rPr lang="en-US" sz="2200" b="1" dirty="0">
                <a:solidFill>
                  <a:schemeClr val="accent1"/>
                </a:solidFill>
              </a:rPr>
              <a:t>API7</a:t>
            </a:r>
            <a:endParaRPr lang="en-US" sz="2200" dirty="0"/>
          </a:p>
        </p:txBody>
      </p:sp>
      <p:sp>
        <p:nvSpPr>
          <p:cNvPr id="30" name="Text 27"/>
          <p:cNvSpPr txBox="1"/>
          <p:nvPr/>
        </p:nvSpPr>
        <p:spPr>
          <a:xfrm>
            <a:off x="2994660" y="4251960"/>
            <a:ext cx="1645920" cy="914400"/>
          </a:xfrm>
          <a:prstGeom prst="rect">
            <a:avLst/>
          </a:prstGeom>
          <a:noFill/>
          <a:ln/>
        </p:spPr>
        <p:txBody>
          <a:bodyPr wrap="square" lIns="0" tIns="0" rIns="0" bIns="0" rtlCol="0" anchor="t"/>
          <a:lstStyle/>
          <a:p>
            <a:pPr marL="0" indent="0">
              <a:buNone/>
            </a:pPr>
            <a:r>
              <a:rPr lang="en-US" sz="1400" b="1" cap="all" dirty="0">
                <a:solidFill>
                  <a:schemeClr val="tx1"/>
                </a:solidFill>
              </a:rPr>
              <a:t>Server-Side Request Forgery</a:t>
            </a:r>
            <a:endParaRPr lang="en-US" sz="1400" cap="all" dirty="0"/>
          </a:p>
        </p:txBody>
      </p:sp>
      <p:sp>
        <p:nvSpPr>
          <p:cNvPr id="31" name="Text 28"/>
          <p:cNvSpPr txBox="1"/>
          <p:nvPr/>
        </p:nvSpPr>
        <p:spPr>
          <a:xfrm>
            <a:off x="2994660" y="5212080"/>
            <a:ext cx="1645920" cy="411480"/>
          </a:xfrm>
          <a:prstGeom prst="rect">
            <a:avLst/>
          </a:prstGeom>
          <a:noFill/>
          <a:ln/>
        </p:spPr>
        <p:txBody>
          <a:bodyPr wrap="square" lIns="0" tIns="0" rIns="0" bIns="0" rtlCol="0" anchor="t"/>
          <a:lstStyle/>
          <a:p>
            <a:pPr marL="0" indent="0">
              <a:buNone/>
            </a:pPr>
            <a:r>
              <a:rPr lang="en-US" sz="1200" dirty="0">
                <a:solidFill>
                  <a:schemeClr val="accent4"/>
                </a:solidFill>
              </a:rPr>
              <a:t>WAAP: Payload inspection</a:t>
            </a:r>
            <a:endParaRPr lang="en-US" sz="1200" dirty="0"/>
          </a:p>
        </p:txBody>
      </p:sp>
      <p:sp>
        <p:nvSpPr>
          <p:cNvPr id="32" name="owasp api API8"/>
          <p:cNvSpPr/>
          <p:nvPr/>
        </p:nvSpPr>
        <p:spPr>
          <a:xfrm>
            <a:off x="5074920" y="3657600"/>
            <a:ext cx="2011680" cy="2057400"/>
          </a:xfrm>
          <a:prstGeom prst="roundRect">
            <a:avLst>
              <a:gd name="adj" fmla="val 4545"/>
            </a:avLst>
          </a:prstGeom>
          <a:solidFill>
            <a:schemeClr val="bg2"/>
          </a:solidFill>
          <a:ln/>
        </p:spPr>
        <p:txBody>
          <a:bodyPr/>
          <a:lstStyle/>
          <a:p>
            <a:endParaRPr lang="fr-FR"/>
          </a:p>
        </p:txBody>
      </p:sp>
      <p:sp>
        <p:nvSpPr>
          <p:cNvPr id="33" name="Text 30"/>
          <p:cNvSpPr txBox="1"/>
          <p:nvPr/>
        </p:nvSpPr>
        <p:spPr>
          <a:xfrm>
            <a:off x="5257800" y="3794760"/>
            <a:ext cx="1645920" cy="457200"/>
          </a:xfrm>
          <a:prstGeom prst="rect">
            <a:avLst/>
          </a:prstGeom>
          <a:noFill/>
          <a:ln/>
        </p:spPr>
        <p:txBody>
          <a:bodyPr wrap="square" lIns="0" tIns="0" rIns="0" bIns="0" rtlCol="0" anchor="ctr"/>
          <a:lstStyle/>
          <a:p>
            <a:pPr marL="0" indent="0">
              <a:buNone/>
            </a:pPr>
            <a:r>
              <a:rPr lang="en-US" sz="2200" b="1" dirty="0">
                <a:solidFill>
                  <a:schemeClr val="accent1"/>
                </a:solidFill>
              </a:rPr>
              <a:t>API8</a:t>
            </a:r>
            <a:endParaRPr lang="en-US" sz="2200" dirty="0"/>
          </a:p>
        </p:txBody>
      </p:sp>
      <p:sp>
        <p:nvSpPr>
          <p:cNvPr id="34" name="Text 31"/>
          <p:cNvSpPr txBox="1"/>
          <p:nvPr/>
        </p:nvSpPr>
        <p:spPr>
          <a:xfrm>
            <a:off x="5257800" y="4251960"/>
            <a:ext cx="1645920" cy="914400"/>
          </a:xfrm>
          <a:prstGeom prst="rect">
            <a:avLst/>
          </a:prstGeom>
          <a:noFill/>
          <a:ln/>
        </p:spPr>
        <p:txBody>
          <a:bodyPr wrap="square" lIns="0" tIns="0" rIns="0" bIns="0" rtlCol="0" anchor="t"/>
          <a:lstStyle/>
          <a:p>
            <a:pPr marL="0" indent="0">
              <a:buNone/>
            </a:pPr>
            <a:r>
              <a:rPr lang="en-US" sz="1400" b="1" cap="all" dirty="0">
                <a:solidFill>
                  <a:schemeClr val="tx1"/>
                </a:solidFill>
              </a:rPr>
              <a:t>Security Misconfiguration</a:t>
            </a:r>
            <a:endParaRPr lang="en-US" sz="1400" cap="all" dirty="0"/>
          </a:p>
        </p:txBody>
      </p:sp>
      <p:sp>
        <p:nvSpPr>
          <p:cNvPr id="35" name="Text 32"/>
          <p:cNvSpPr txBox="1"/>
          <p:nvPr/>
        </p:nvSpPr>
        <p:spPr>
          <a:xfrm>
            <a:off x="5257800" y="5212080"/>
            <a:ext cx="1645920" cy="411480"/>
          </a:xfrm>
          <a:prstGeom prst="rect">
            <a:avLst/>
          </a:prstGeom>
          <a:noFill/>
          <a:ln/>
        </p:spPr>
        <p:txBody>
          <a:bodyPr wrap="square" lIns="0" tIns="0" rIns="0" bIns="0" rtlCol="0" anchor="t"/>
          <a:lstStyle/>
          <a:p>
            <a:pPr marL="0" indent="0">
              <a:buNone/>
            </a:pPr>
            <a:r>
              <a:rPr lang="en-US" sz="1200" dirty="0">
                <a:solidFill>
                  <a:schemeClr val="accent4"/>
                </a:solidFill>
              </a:rPr>
              <a:t>WAAP: Schema and header checks</a:t>
            </a:r>
            <a:endParaRPr lang="en-US" sz="1200" dirty="0"/>
          </a:p>
        </p:txBody>
      </p:sp>
      <p:sp>
        <p:nvSpPr>
          <p:cNvPr id="36" name="owasp api API9"/>
          <p:cNvSpPr/>
          <p:nvPr/>
        </p:nvSpPr>
        <p:spPr>
          <a:xfrm>
            <a:off x="7338060" y="3657600"/>
            <a:ext cx="2011680" cy="2057400"/>
          </a:xfrm>
          <a:prstGeom prst="roundRect">
            <a:avLst>
              <a:gd name="adj" fmla="val 4545"/>
            </a:avLst>
          </a:prstGeom>
          <a:solidFill>
            <a:schemeClr val="bg2"/>
          </a:solidFill>
          <a:ln/>
        </p:spPr>
        <p:txBody>
          <a:bodyPr/>
          <a:lstStyle/>
          <a:p>
            <a:endParaRPr lang="fr-FR"/>
          </a:p>
        </p:txBody>
      </p:sp>
      <p:sp>
        <p:nvSpPr>
          <p:cNvPr id="37" name="Text 34"/>
          <p:cNvSpPr txBox="1"/>
          <p:nvPr/>
        </p:nvSpPr>
        <p:spPr>
          <a:xfrm>
            <a:off x="7520940" y="3794760"/>
            <a:ext cx="1645920" cy="457200"/>
          </a:xfrm>
          <a:prstGeom prst="rect">
            <a:avLst/>
          </a:prstGeom>
          <a:noFill/>
          <a:ln/>
        </p:spPr>
        <p:txBody>
          <a:bodyPr wrap="square" lIns="0" tIns="0" rIns="0" bIns="0" rtlCol="0" anchor="ctr"/>
          <a:lstStyle/>
          <a:p>
            <a:pPr marL="0" indent="0">
              <a:buNone/>
            </a:pPr>
            <a:r>
              <a:rPr lang="en-US" sz="2200" b="1" dirty="0">
                <a:solidFill>
                  <a:schemeClr val="accent1"/>
                </a:solidFill>
              </a:rPr>
              <a:t>API9</a:t>
            </a:r>
            <a:endParaRPr lang="en-US" sz="2200" dirty="0"/>
          </a:p>
        </p:txBody>
      </p:sp>
      <p:sp>
        <p:nvSpPr>
          <p:cNvPr id="38" name="Text 35"/>
          <p:cNvSpPr txBox="1"/>
          <p:nvPr/>
        </p:nvSpPr>
        <p:spPr>
          <a:xfrm>
            <a:off x="7520940" y="4251960"/>
            <a:ext cx="1645920" cy="914400"/>
          </a:xfrm>
          <a:prstGeom prst="rect">
            <a:avLst/>
          </a:prstGeom>
          <a:noFill/>
          <a:ln/>
        </p:spPr>
        <p:txBody>
          <a:bodyPr wrap="square" lIns="0" tIns="0" rIns="0" bIns="0" rtlCol="0" anchor="t"/>
          <a:lstStyle/>
          <a:p>
            <a:pPr marL="0" indent="0">
              <a:buNone/>
            </a:pPr>
            <a:r>
              <a:rPr lang="en-US" sz="1400" b="1" cap="all" dirty="0">
                <a:solidFill>
                  <a:schemeClr val="tx1"/>
                </a:solidFill>
              </a:rPr>
              <a:t>Improper Inventory Management</a:t>
            </a:r>
            <a:endParaRPr lang="en-US" sz="1400" cap="all" dirty="0"/>
          </a:p>
        </p:txBody>
      </p:sp>
      <p:sp>
        <p:nvSpPr>
          <p:cNvPr id="39" name="Text 36"/>
          <p:cNvSpPr txBox="1"/>
          <p:nvPr/>
        </p:nvSpPr>
        <p:spPr>
          <a:xfrm>
            <a:off x="7520940" y="5212080"/>
            <a:ext cx="1645920" cy="411480"/>
          </a:xfrm>
          <a:prstGeom prst="rect">
            <a:avLst/>
          </a:prstGeom>
          <a:noFill/>
          <a:ln/>
        </p:spPr>
        <p:txBody>
          <a:bodyPr wrap="square" lIns="0" tIns="0" rIns="0" bIns="0" rtlCol="0" anchor="t"/>
          <a:lstStyle/>
          <a:p>
            <a:pPr marL="0" indent="0">
              <a:buNone/>
            </a:pPr>
            <a:r>
              <a:rPr lang="en-US" sz="1200" dirty="0">
                <a:solidFill>
                  <a:schemeClr val="accent4"/>
                </a:solidFill>
              </a:rPr>
              <a:t>WAAP: API discovery</a:t>
            </a:r>
            <a:endParaRPr lang="en-US" sz="1200" dirty="0"/>
          </a:p>
        </p:txBody>
      </p:sp>
      <p:sp>
        <p:nvSpPr>
          <p:cNvPr id="40" name="owasp api API10"/>
          <p:cNvSpPr/>
          <p:nvPr/>
        </p:nvSpPr>
        <p:spPr>
          <a:xfrm>
            <a:off x="9601200" y="3657600"/>
            <a:ext cx="2011680" cy="2057400"/>
          </a:xfrm>
          <a:prstGeom prst="roundRect">
            <a:avLst>
              <a:gd name="adj" fmla="val 4545"/>
            </a:avLst>
          </a:prstGeom>
          <a:solidFill>
            <a:schemeClr val="bg2"/>
          </a:solidFill>
          <a:ln/>
        </p:spPr>
        <p:txBody>
          <a:bodyPr/>
          <a:lstStyle/>
          <a:p>
            <a:endParaRPr lang="fr-FR"/>
          </a:p>
        </p:txBody>
      </p:sp>
      <p:sp>
        <p:nvSpPr>
          <p:cNvPr id="41" name="Text 38"/>
          <p:cNvSpPr txBox="1"/>
          <p:nvPr/>
        </p:nvSpPr>
        <p:spPr>
          <a:xfrm>
            <a:off x="9784080" y="3794760"/>
            <a:ext cx="1645920" cy="457200"/>
          </a:xfrm>
          <a:prstGeom prst="rect">
            <a:avLst/>
          </a:prstGeom>
          <a:noFill/>
          <a:ln/>
        </p:spPr>
        <p:txBody>
          <a:bodyPr wrap="square" lIns="0" tIns="0" rIns="0" bIns="0" rtlCol="0" anchor="ctr"/>
          <a:lstStyle/>
          <a:p>
            <a:pPr marL="0" indent="0">
              <a:buNone/>
            </a:pPr>
            <a:r>
              <a:rPr lang="en-US" sz="2200" b="1" dirty="0">
                <a:solidFill>
                  <a:schemeClr val="accent1"/>
                </a:solidFill>
              </a:rPr>
              <a:t>API10</a:t>
            </a:r>
            <a:endParaRPr lang="en-US" sz="2200" dirty="0"/>
          </a:p>
        </p:txBody>
      </p:sp>
      <p:sp>
        <p:nvSpPr>
          <p:cNvPr id="42" name="Text 39"/>
          <p:cNvSpPr txBox="1"/>
          <p:nvPr/>
        </p:nvSpPr>
        <p:spPr>
          <a:xfrm>
            <a:off x="9784080" y="4251960"/>
            <a:ext cx="1645920" cy="914400"/>
          </a:xfrm>
          <a:prstGeom prst="rect">
            <a:avLst/>
          </a:prstGeom>
          <a:noFill/>
          <a:ln/>
        </p:spPr>
        <p:txBody>
          <a:bodyPr wrap="square" lIns="0" tIns="0" rIns="0" bIns="0" rtlCol="0" anchor="t"/>
          <a:lstStyle/>
          <a:p>
            <a:pPr marL="0" indent="0">
              <a:buNone/>
            </a:pPr>
            <a:r>
              <a:rPr lang="en-US" sz="1400" b="1" cap="all" dirty="0">
                <a:solidFill>
                  <a:schemeClr val="tx1"/>
                </a:solidFill>
              </a:rPr>
              <a:t>Unsafe Consumption of APIs</a:t>
            </a:r>
            <a:endParaRPr lang="en-US" sz="1400" cap="all" dirty="0"/>
          </a:p>
        </p:txBody>
      </p:sp>
      <p:sp>
        <p:nvSpPr>
          <p:cNvPr id="43" name="Text 40"/>
          <p:cNvSpPr txBox="1"/>
          <p:nvPr/>
        </p:nvSpPr>
        <p:spPr>
          <a:xfrm>
            <a:off x="9784080" y="5212080"/>
            <a:ext cx="1645920" cy="411480"/>
          </a:xfrm>
          <a:prstGeom prst="rect">
            <a:avLst/>
          </a:prstGeom>
          <a:noFill/>
          <a:ln/>
        </p:spPr>
        <p:txBody>
          <a:bodyPr wrap="square" lIns="0" tIns="0" rIns="0" bIns="0" rtlCol="0" anchor="t"/>
          <a:lstStyle/>
          <a:p>
            <a:pPr marL="0" indent="0">
              <a:buNone/>
            </a:pPr>
            <a:r>
              <a:rPr lang="en-US" sz="1200" dirty="0">
                <a:solidFill>
                  <a:schemeClr val="accent4"/>
                </a:solidFill>
              </a:rPr>
              <a:t>WAAP: Response inspection</a:t>
            </a:r>
            <a:endParaRPr lang="en-US" sz="1200" dirty="0"/>
          </a:p>
        </p:txBody>
      </p:sp>
      <p:sp>
        <p:nvSpPr>
          <p:cNvPr id="44" name="Text 41"/>
          <p:cNvSpPr txBox="1"/>
          <p:nvPr/>
        </p:nvSpPr>
        <p:spPr>
          <a:xfrm>
            <a:off x="548640" y="5943600"/>
            <a:ext cx="11064240" cy="411480"/>
          </a:xfrm>
          <a:prstGeom prst="rect">
            <a:avLst/>
          </a:prstGeom>
          <a:noFill/>
          <a:ln/>
        </p:spPr>
        <p:txBody>
          <a:bodyPr wrap="square" lIns="0" tIns="0" rIns="0" bIns="0" rtlCol="0" anchor="ctr"/>
          <a:lstStyle/>
          <a:p>
            <a:pPr marL="0" indent="0">
              <a:buNone/>
            </a:pPr>
            <a:r>
              <a:rPr lang="en-US" sz="1500" i="1" dirty="0">
                <a:solidFill>
                  <a:schemeClr val="tx2"/>
                </a:solidFill>
              </a:rPr>
              <a:t>Source: OWASP API Security Top 10, 2023 edition.</a:t>
            </a:r>
            <a:endParaRPr lang="en-US" sz="15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27</a:t>
            </a:fld>
            <a:endParaRPr lang="en-US"/>
          </a:p>
        </p:txBody>
      </p:sp>
      <p:pic>
        <p:nvPicPr>
          <p:cNvPr id="45" name="Image 0" descr="/home/claude/unpacked/ppt/media/image1.png">
            <a:extLst>
              <a:ext uri="{FF2B5EF4-FFF2-40B4-BE49-F238E27FC236}">
                <a16:creationId xmlns:a16="http://schemas.microsoft.com/office/drawing/2014/main" id="{686C1FD3-5735-41F9-112F-29EED8ECDB6E}"/>
              </a:ext>
            </a:extLst>
          </p:cNvPr>
          <p:cNvPicPr>
            <a:picLocks noChangeAspect="1"/>
          </p:cNvPicPr>
          <p:nvPr/>
        </p:nvPicPr>
        <p:blipFill>
          <a:blip r:embed="rId3"/>
          <a:stretch>
            <a:fillRect/>
          </a:stretch>
        </p:blipFill>
        <p:spPr>
          <a:xfrm>
            <a:off x="10126980" y="22860"/>
            <a:ext cx="960120" cy="9601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Advanced bot management</a:t>
            </a:r>
            <a:endParaRPr lang="en-US" sz="3400" cap="all" dirty="0"/>
          </a:p>
        </p:txBody>
      </p:sp>
      <p:sp>
        <p:nvSpPr>
          <p:cNvPr id="4" name="bot Good bots — allow"/>
          <p:cNvSpPr/>
          <p:nvPr/>
        </p:nvSpPr>
        <p:spPr>
          <a:xfrm>
            <a:off x="548640" y="1417320"/>
            <a:ext cx="3520440" cy="4343400"/>
          </a:xfrm>
          <a:prstGeom prst="roundRect">
            <a:avLst>
              <a:gd name="adj" fmla="val 2597"/>
            </a:avLst>
          </a:prstGeom>
          <a:solidFill>
            <a:schemeClr val="bg2"/>
          </a:solidFill>
          <a:ln/>
        </p:spPr>
        <p:txBody>
          <a:bodyPr/>
          <a:lstStyle/>
          <a:p>
            <a:endParaRPr lang="fr-FR"/>
          </a:p>
        </p:txBody>
      </p:sp>
      <p:sp>
        <p:nvSpPr>
          <p:cNvPr id="5" name="Good bots — allow tile"/>
          <p:cNvSpPr/>
          <p:nvPr/>
        </p:nvSpPr>
        <p:spPr>
          <a:xfrm>
            <a:off x="822960" y="1691640"/>
            <a:ext cx="594360" cy="594360"/>
          </a:xfrm>
          <a:prstGeom prst="roundRect">
            <a:avLst>
              <a:gd name="adj" fmla="val 18462"/>
            </a:avLst>
          </a:prstGeom>
          <a:solidFill>
            <a:schemeClr val="accent1"/>
          </a:solidFill>
          <a:ln/>
        </p:spPr>
        <p:txBody>
          <a:bodyPr/>
          <a:lstStyle/>
          <a:p>
            <a:endParaRPr lang="fr-FR"/>
          </a:p>
        </p:txBody>
      </p:sp>
      <p:pic>
        <p:nvPicPr>
          <p:cNvPr id="6" name="Good bots — allow glyph" descr="Good bots — allow"/>
          <p:cNvPicPr>
            <a:picLocks noChangeAspect="1"/>
          </p:cNvPicPr>
          <p:nvPr/>
        </p:nvPicPr>
        <p:blipFill>
          <a:blip r:embed="rId3"/>
          <a:stretch>
            <a:fillRect/>
          </a:stretch>
        </p:blipFill>
        <p:spPr>
          <a:xfrm>
            <a:off x="953719" y="1822399"/>
            <a:ext cx="332842" cy="332842"/>
          </a:xfrm>
          <a:prstGeom prst="rect">
            <a:avLst/>
          </a:prstGeom>
        </p:spPr>
      </p:pic>
      <p:sp>
        <p:nvSpPr>
          <p:cNvPr id="7" name="Text 3"/>
          <p:cNvSpPr txBox="1"/>
          <p:nvPr/>
        </p:nvSpPr>
        <p:spPr>
          <a:xfrm>
            <a:off x="1600200" y="1691640"/>
            <a:ext cx="2286000" cy="594360"/>
          </a:xfrm>
          <a:prstGeom prst="rect">
            <a:avLst/>
          </a:prstGeom>
          <a:noFill/>
          <a:ln/>
        </p:spPr>
        <p:txBody>
          <a:bodyPr wrap="square" lIns="0" tIns="0" rIns="0" bIns="0" rtlCol="0" anchor="ctr"/>
          <a:lstStyle/>
          <a:p>
            <a:pPr marL="0" indent="0">
              <a:buNone/>
            </a:pPr>
            <a:r>
              <a:rPr lang="en-US" sz="1800" b="1" cap="all" dirty="0">
                <a:solidFill>
                  <a:schemeClr val="tx1"/>
                </a:solidFill>
              </a:rPr>
              <a:t>Good bots — allow</a:t>
            </a:r>
            <a:endParaRPr lang="en-US" sz="1800" cap="all" dirty="0"/>
          </a:p>
        </p:txBody>
      </p:sp>
      <p:sp>
        <p:nvSpPr>
          <p:cNvPr id="8" name="Text 4"/>
          <p:cNvSpPr txBox="1"/>
          <p:nvPr/>
        </p:nvSpPr>
        <p:spPr>
          <a:xfrm>
            <a:off x="822960" y="2560320"/>
            <a:ext cx="3017520" cy="30175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2"/>
                </a:solidFill>
              </a:rPr>
              <a:t>Search-engine crawlers</a:t>
            </a:r>
            <a:endParaRPr lang="en-US" sz="1500" dirty="0"/>
          </a:p>
          <a:p>
            <a:pPr marL="342900" indent="-342900">
              <a:spcAft>
                <a:spcPts val="900"/>
              </a:spcAft>
              <a:buSzPct val="100000"/>
              <a:buChar char="•"/>
            </a:pPr>
            <a:r>
              <a:rPr lang="en-US" sz="1500" dirty="0">
                <a:solidFill>
                  <a:schemeClr val="tx2"/>
                </a:solidFill>
              </a:rPr>
              <a:t>Uptime and performance monitors</a:t>
            </a:r>
            <a:endParaRPr lang="en-US" sz="1500" dirty="0"/>
          </a:p>
          <a:p>
            <a:pPr marL="342900" indent="-342900">
              <a:spcAft>
                <a:spcPts val="900"/>
              </a:spcAft>
              <a:buSzPct val="100000"/>
              <a:buChar char="•"/>
            </a:pPr>
            <a:r>
              <a:rPr lang="en-US" sz="1500" dirty="0">
                <a:solidFill>
                  <a:schemeClr val="tx2"/>
                </a:solidFill>
              </a:rPr>
              <a:t>Verified partner integrations</a:t>
            </a:r>
            <a:endParaRPr lang="en-US" sz="1500" dirty="0"/>
          </a:p>
          <a:p>
            <a:pPr marL="342900" indent="-342900">
              <a:spcAft>
                <a:spcPts val="900"/>
              </a:spcAft>
              <a:buSzPct val="100000"/>
              <a:buChar char="•"/>
            </a:pPr>
            <a:r>
              <a:rPr lang="en-US" sz="1500" dirty="0">
                <a:solidFill>
                  <a:schemeClr val="tx2"/>
                </a:solidFill>
              </a:rPr>
              <a:t>Legitimate aggregators</a:t>
            </a:r>
            <a:endParaRPr lang="en-US" sz="1500" dirty="0"/>
          </a:p>
        </p:txBody>
      </p:sp>
      <p:sp>
        <p:nvSpPr>
          <p:cNvPr id="9" name="bot Bad bots — block"/>
          <p:cNvSpPr/>
          <p:nvPr/>
        </p:nvSpPr>
        <p:spPr>
          <a:xfrm>
            <a:off x="4297680" y="1417320"/>
            <a:ext cx="3520440" cy="4343400"/>
          </a:xfrm>
          <a:prstGeom prst="roundRect">
            <a:avLst>
              <a:gd name="adj" fmla="val 2597"/>
            </a:avLst>
          </a:prstGeom>
          <a:solidFill>
            <a:schemeClr val="bg2"/>
          </a:solidFill>
          <a:ln/>
        </p:spPr>
        <p:txBody>
          <a:bodyPr/>
          <a:lstStyle/>
          <a:p>
            <a:endParaRPr lang="fr-FR"/>
          </a:p>
        </p:txBody>
      </p:sp>
      <p:sp>
        <p:nvSpPr>
          <p:cNvPr id="10" name="Bad bots — block tile"/>
          <p:cNvSpPr/>
          <p:nvPr/>
        </p:nvSpPr>
        <p:spPr>
          <a:xfrm>
            <a:off x="4572000" y="1691640"/>
            <a:ext cx="594360" cy="594360"/>
          </a:xfrm>
          <a:prstGeom prst="roundRect">
            <a:avLst>
              <a:gd name="adj" fmla="val 18462"/>
            </a:avLst>
          </a:prstGeom>
          <a:solidFill>
            <a:schemeClr val="accent3"/>
          </a:solidFill>
          <a:ln/>
        </p:spPr>
        <p:txBody>
          <a:bodyPr/>
          <a:lstStyle/>
          <a:p>
            <a:endParaRPr lang="fr-FR"/>
          </a:p>
        </p:txBody>
      </p:sp>
      <p:pic>
        <p:nvPicPr>
          <p:cNvPr id="11" name="Bad bots — block glyph" descr="Bad bots — block"/>
          <p:cNvPicPr>
            <a:picLocks noChangeAspect="1"/>
          </p:cNvPicPr>
          <p:nvPr/>
        </p:nvPicPr>
        <p:blipFill>
          <a:blip r:embed="rId4"/>
          <a:stretch>
            <a:fillRect/>
          </a:stretch>
        </p:blipFill>
        <p:spPr>
          <a:xfrm>
            <a:off x="4702759" y="1822399"/>
            <a:ext cx="332842" cy="332842"/>
          </a:xfrm>
          <a:prstGeom prst="rect">
            <a:avLst/>
          </a:prstGeom>
        </p:spPr>
      </p:pic>
      <p:sp>
        <p:nvSpPr>
          <p:cNvPr id="12" name="Text 7"/>
          <p:cNvSpPr txBox="1"/>
          <p:nvPr/>
        </p:nvSpPr>
        <p:spPr>
          <a:xfrm>
            <a:off x="5349240" y="1691640"/>
            <a:ext cx="2286000" cy="594360"/>
          </a:xfrm>
          <a:prstGeom prst="rect">
            <a:avLst/>
          </a:prstGeom>
          <a:noFill/>
          <a:ln/>
        </p:spPr>
        <p:txBody>
          <a:bodyPr wrap="square" lIns="0" tIns="0" rIns="0" bIns="0" rtlCol="0" anchor="ctr"/>
          <a:lstStyle/>
          <a:p>
            <a:pPr marL="0" indent="0">
              <a:buNone/>
            </a:pPr>
            <a:r>
              <a:rPr lang="en-US" sz="1800" b="1" cap="all" dirty="0">
                <a:solidFill>
                  <a:schemeClr val="tx1"/>
                </a:solidFill>
              </a:rPr>
              <a:t>Bad bots — block</a:t>
            </a:r>
            <a:endParaRPr lang="en-US" sz="1800" cap="all" dirty="0"/>
          </a:p>
        </p:txBody>
      </p:sp>
      <p:sp>
        <p:nvSpPr>
          <p:cNvPr id="13" name="Text 8"/>
          <p:cNvSpPr txBox="1"/>
          <p:nvPr/>
        </p:nvSpPr>
        <p:spPr>
          <a:xfrm>
            <a:off x="4572000" y="2560320"/>
            <a:ext cx="3017520" cy="30175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2"/>
                </a:solidFill>
              </a:rPr>
              <a:t>Credential stuffing and account takeover</a:t>
            </a:r>
            <a:endParaRPr lang="en-US" sz="1500" dirty="0"/>
          </a:p>
          <a:p>
            <a:pPr marL="342900" indent="-342900">
              <a:spcAft>
                <a:spcPts val="900"/>
              </a:spcAft>
              <a:buSzPct val="100000"/>
              <a:buChar char="•"/>
            </a:pPr>
            <a:r>
              <a:rPr lang="en-US" sz="1500" dirty="0">
                <a:solidFill>
                  <a:schemeClr val="tx2"/>
                </a:solidFill>
              </a:rPr>
              <a:t>Price and content scraping</a:t>
            </a:r>
            <a:endParaRPr lang="en-US" sz="1500" dirty="0"/>
          </a:p>
          <a:p>
            <a:pPr marL="342900" indent="-342900">
              <a:spcAft>
                <a:spcPts val="900"/>
              </a:spcAft>
              <a:buSzPct val="100000"/>
              <a:buChar char="•"/>
            </a:pPr>
            <a:r>
              <a:rPr lang="en-US" sz="1500" dirty="0">
                <a:solidFill>
                  <a:schemeClr val="tx2"/>
                </a:solidFill>
              </a:rPr>
              <a:t>Fake account creation</a:t>
            </a:r>
            <a:endParaRPr lang="en-US" sz="1500" dirty="0"/>
          </a:p>
          <a:p>
            <a:pPr marL="342900" indent="-342900">
              <a:spcAft>
                <a:spcPts val="900"/>
              </a:spcAft>
              <a:buSzPct val="100000"/>
              <a:buChar char="•"/>
            </a:pPr>
            <a:r>
              <a:rPr lang="en-US" sz="1500" dirty="0">
                <a:solidFill>
                  <a:schemeClr val="tx2"/>
                </a:solidFill>
              </a:rPr>
              <a:t>Inventory hoarding and scalping</a:t>
            </a:r>
            <a:endParaRPr lang="en-US" sz="1500" dirty="0"/>
          </a:p>
          <a:p>
            <a:pPr marL="342900" indent="-342900">
              <a:spcAft>
                <a:spcPts val="900"/>
              </a:spcAft>
              <a:buSzPct val="100000"/>
              <a:buChar char="•"/>
            </a:pPr>
            <a:r>
              <a:rPr lang="en-US" sz="1500" dirty="0">
                <a:solidFill>
                  <a:schemeClr val="tx2"/>
                </a:solidFill>
              </a:rPr>
              <a:t>Automated API abuse</a:t>
            </a:r>
            <a:endParaRPr lang="en-US" sz="1500" dirty="0"/>
          </a:p>
        </p:txBody>
      </p:sp>
      <p:sp>
        <p:nvSpPr>
          <p:cNvPr id="14" name="bot Detection signals"/>
          <p:cNvSpPr/>
          <p:nvPr/>
        </p:nvSpPr>
        <p:spPr>
          <a:xfrm>
            <a:off x="8046720" y="1417320"/>
            <a:ext cx="3520440" cy="4343400"/>
          </a:xfrm>
          <a:prstGeom prst="roundRect">
            <a:avLst>
              <a:gd name="adj" fmla="val 2597"/>
            </a:avLst>
          </a:prstGeom>
          <a:solidFill>
            <a:schemeClr val="bg2"/>
          </a:solidFill>
          <a:ln/>
        </p:spPr>
        <p:txBody>
          <a:bodyPr/>
          <a:lstStyle/>
          <a:p>
            <a:endParaRPr lang="fr-FR"/>
          </a:p>
        </p:txBody>
      </p:sp>
      <p:sp>
        <p:nvSpPr>
          <p:cNvPr id="15" name="Detection signals tile"/>
          <p:cNvSpPr/>
          <p:nvPr/>
        </p:nvSpPr>
        <p:spPr>
          <a:xfrm>
            <a:off x="8321040" y="1691640"/>
            <a:ext cx="594360" cy="594360"/>
          </a:xfrm>
          <a:prstGeom prst="roundRect">
            <a:avLst>
              <a:gd name="adj" fmla="val 18462"/>
            </a:avLst>
          </a:prstGeom>
          <a:solidFill>
            <a:schemeClr val="accent2"/>
          </a:solidFill>
          <a:ln/>
        </p:spPr>
        <p:txBody>
          <a:bodyPr/>
          <a:lstStyle/>
          <a:p>
            <a:endParaRPr lang="fr-FR"/>
          </a:p>
        </p:txBody>
      </p:sp>
      <p:pic>
        <p:nvPicPr>
          <p:cNvPr id="16" name="Detection signals glyph" descr="Detection signals"/>
          <p:cNvPicPr>
            <a:picLocks noChangeAspect="1"/>
          </p:cNvPicPr>
          <p:nvPr/>
        </p:nvPicPr>
        <p:blipFill>
          <a:blip r:embed="rId5"/>
          <a:stretch>
            <a:fillRect/>
          </a:stretch>
        </p:blipFill>
        <p:spPr>
          <a:xfrm>
            <a:off x="8451799" y="1822399"/>
            <a:ext cx="332842" cy="332842"/>
          </a:xfrm>
          <a:prstGeom prst="rect">
            <a:avLst/>
          </a:prstGeom>
        </p:spPr>
      </p:pic>
      <p:sp>
        <p:nvSpPr>
          <p:cNvPr id="17" name="Text 11"/>
          <p:cNvSpPr txBox="1"/>
          <p:nvPr/>
        </p:nvSpPr>
        <p:spPr>
          <a:xfrm>
            <a:off x="9098280" y="1691640"/>
            <a:ext cx="2286000" cy="594360"/>
          </a:xfrm>
          <a:prstGeom prst="rect">
            <a:avLst/>
          </a:prstGeom>
          <a:noFill/>
          <a:ln/>
        </p:spPr>
        <p:txBody>
          <a:bodyPr wrap="square" lIns="0" tIns="0" rIns="0" bIns="0" rtlCol="0" anchor="ctr"/>
          <a:lstStyle/>
          <a:p>
            <a:pPr marL="0" indent="0">
              <a:buNone/>
            </a:pPr>
            <a:r>
              <a:rPr lang="en-US" sz="1800" b="1" cap="all" dirty="0">
                <a:solidFill>
                  <a:schemeClr val="tx1"/>
                </a:solidFill>
              </a:rPr>
              <a:t>Detection signals</a:t>
            </a:r>
            <a:endParaRPr lang="en-US" sz="1800" cap="all" dirty="0"/>
          </a:p>
        </p:txBody>
      </p:sp>
      <p:sp>
        <p:nvSpPr>
          <p:cNvPr id="18" name="Text 12"/>
          <p:cNvSpPr txBox="1"/>
          <p:nvPr/>
        </p:nvSpPr>
        <p:spPr>
          <a:xfrm>
            <a:off x="8321040" y="2560320"/>
            <a:ext cx="3017520" cy="30175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2"/>
                </a:solidFill>
              </a:rPr>
              <a:t>Device and TLS fingerprinting</a:t>
            </a:r>
            <a:endParaRPr lang="en-US" sz="1500" dirty="0"/>
          </a:p>
          <a:p>
            <a:pPr marL="342900" indent="-342900">
              <a:spcAft>
                <a:spcPts val="900"/>
              </a:spcAft>
              <a:buSzPct val="100000"/>
              <a:buChar char="•"/>
            </a:pPr>
            <a:r>
              <a:rPr lang="en-US" sz="1500" dirty="0">
                <a:solidFill>
                  <a:schemeClr val="tx2"/>
                </a:solidFill>
              </a:rPr>
              <a:t>Behavioural telemetry (mouse, timing)</a:t>
            </a:r>
            <a:endParaRPr lang="en-US" sz="1500" dirty="0"/>
          </a:p>
          <a:p>
            <a:pPr marL="342900" indent="-342900">
              <a:spcAft>
                <a:spcPts val="900"/>
              </a:spcAft>
              <a:buSzPct val="100000"/>
              <a:buChar char="•"/>
            </a:pPr>
            <a:r>
              <a:rPr lang="en-US" sz="1500" dirty="0">
                <a:solidFill>
                  <a:schemeClr val="tx2"/>
                </a:solidFill>
              </a:rPr>
              <a:t>Unrealistic click speed, headless browsers</a:t>
            </a:r>
            <a:endParaRPr lang="en-US" sz="1500" dirty="0"/>
          </a:p>
          <a:p>
            <a:pPr marL="342900" indent="-342900">
              <a:spcAft>
                <a:spcPts val="900"/>
              </a:spcAft>
              <a:buSzPct val="100000"/>
              <a:buChar char="•"/>
            </a:pPr>
            <a:r>
              <a:rPr lang="en-US" sz="1500" dirty="0">
                <a:solidFill>
                  <a:schemeClr val="tx2"/>
                </a:solidFill>
              </a:rPr>
              <a:t>Known botnet signatures, IP reputation</a:t>
            </a:r>
            <a:endParaRPr lang="en-US" sz="1500" dirty="0"/>
          </a:p>
          <a:p>
            <a:pPr marL="342900" indent="-342900">
              <a:spcAft>
                <a:spcPts val="900"/>
              </a:spcAft>
              <a:buSzPct val="100000"/>
              <a:buChar char="•"/>
            </a:pPr>
            <a:r>
              <a:rPr lang="en-US" sz="1500" dirty="0">
                <a:solidFill>
                  <a:schemeClr val="tx2"/>
                </a:solidFill>
              </a:rPr>
              <a:t>Action: allow, challenge, rate-limit, block</a:t>
            </a:r>
            <a:endParaRPr lang="en-US" sz="1500" dirty="0"/>
          </a:p>
        </p:txBody>
      </p:sp>
      <p:sp>
        <p:nvSpPr>
          <p:cNvPr id="19" name="Text 13"/>
          <p:cNvSpPr txBox="1"/>
          <p:nvPr/>
        </p:nvSpPr>
        <p:spPr>
          <a:xfrm>
            <a:off x="548640" y="5897880"/>
            <a:ext cx="11064240" cy="411480"/>
          </a:xfrm>
          <a:prstGeom prst="rect">
            <a:avLst/>
          </a:prstGeom>
          <a:noFill/>
          <a:ln/>
        </p:spPr>
        <p:txBody>
          <a:bodyPr wrap="square" lIns="0" tIns="0" rIns="0" bIns="0" rtlCol="0" anchor="ctr"/>
          <a:lstStyle/>
          <a:p>
            <a:pPr marL="0" indent="0">
              <a:buNone/>
            </a:pPr>
            <a:r>
              <a:rPr lang="en-US" sz="1500" i="1" dirty="0">
                <a:solidFill>
                  <a:schemeClr val="tx2"/>
                </a:solidFill>
              </a:rPr>
              <a:t>Goal: stop automated fraud while keeping the experience frictionless for humans.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28</a:t>
            </a:fld>
            <a:endParaRPr lang="en-US"/>
          </a:p>
        </p:txBody>
      </p:sp>
      <p:pic>
        <p:nvPicPr>
          <p:cNvPr id="3" name="Image 0" descr="/home/claude/unpacked/ppt/media/image1.png">
            <a:extLst>
              <a:ext uri="{FF2B5EF4-FFF2-40B4-BE49-F238E27FC236}">
                <a16:creationId xmlns:a16="http://schemas.microsoft.com/office/drawing/2014/main" id="{08F44F05-2F5D-A142-B736-D540A6704709}"/>
              </a:ext>
            </a:extLst>
          </p:cNvPr>
          <p:cNvPicPr>
            <a:picLocks noChangeAspect="1"/>
          </p:cNvPicPr>
          <p:nvPr/>
        </p:nvPicPr>
        <p:blipFill>
          <a:blip r:embed="rId6"/>
          <a:stretch>
            <a:fillRect/>
          </a:stretch>
        </p:blipFill>
        <p:spPr>
          <a:xfrm>
            <a:off x="10858500" y="137160"/>
            <a:ext cx="960120" cy="96012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dirty="0">
                <a:solidFill>
                  <a:schemeClr val="tx1"/>
                </a:solidFill>
              </a:rPr>
              <a:t>DDoS &amp; </a:t>
            </a:r>
            <a:r>
              <a:rPr lang="en-US" sz="3400" b="1" cap="all" dirty="0">
                <a:solidFill>
                  <a:schemeClr val="tx1"/>
                </a:solidFill>
              </a:rPr>
              <a:t>availability protection</a:t>
            </a:r>
            <a:endParaRPr lang="en-US" sz="3400" cap="all" dirty="0"/>
          </a:p>
        </p:txBody>
      </p:sp>
      <p:sp>
        <p:nvSpPr>
          <p:cNvPr id="4" name="ddos Network layer (L3/L4)"/>
          <p:cNvSpPr/>
          <p:nvPr/>
        </p:nvSpPr>
        <p:spPr>
          <a:xfrm>
            <a:off x="548640" y="1417320"/>
            <a:ext cx="5394960" cy="3566160"/>
          </a:xfrm>
          <a:prstGeom prst="roundRect">
            <a:avLst>
              <a:gd name="adj" fmla="val 2564"/>
            </a:avLst>
          </a:prstGeom>
          <a:solidFill>
            <a:schemeClr val="bg2"/>
          </a:solidFill>
          <a:ln/>
        </p:spPr>
        <p:txBody>
          <a:bodyPr/>
          <a:lstStyle/>
          <a:p>
            <a:endParaRPr lang="fr-FR"/>
          </a:p>
        </p:txBody>
      </p:sp>
      <p:sp>
        <p:nvSpPr>
          <p:cNvPr id="5" name="Network layer (L3/L4) tile"/>
          <p:cNvSpPr/>
          <p:nvPr/>
        </p:nvSpPr>
        <p:spPr>
          <a:xfrm>
            <a:off x="868680" y="1691640"/>
            <a:ext cx="548640" cy="548640"/>
          </a:xfrm>
          <a:prstGeom prst="roundRect">
            <a:avLst>
              <a:gd name="adj" fmla="val 20000"/>
            </a:avLst>
          </a:prstGeom>
          <a:solidFill>
            <a:schemeClr val="accent1"/>
          </a:solidFill>
          <a:ln/>
        </p:spPr>
        <p:txBody>
          <a:bodyPr/>
          <a:lstStyle/>
          <a:p>
            <a:endParaRPr lang="fr-FR"/>
          </a:p>
        </p:txBody>
      </p:sp>
      <p:pic>
        <p:nvPicPr>
          <p:cNvPr id="6" name="Network layer (L3/L4) glyph" descr="Network layer (L3/L4)"/>
          <p:cNvPicPr>
            <a:picLocks noChangeAspect="1"/>
          </p:cNvPicPr>
          <p:nvPr/>
        </p:nvPicPr>
        <p:blipFill>
          <a:blip r:embed="rId3"/>
          <a:stretch>
            <a:fillRect/>
          </a:stretch>
        </p:blipFill>
        <p:spPr>
          <a:xfrm>
            <a:off x="989381" y="1812341"/>
            <a:ext cx="307238" cy="307238"/>
          </a:xfrm>
          <a:prstGeom prst="rect">
            <a:avLst/>
          </a:prstGeom>
        </p:spPr>
      </p:pic>
      <p:sp>
        <p:nvSpPr>
          <p:cNvPr id="7" name="Text 3"/>
          <p:cNvSpPr txBox="1"/>
          <p:nvPr/>
        </p:nvSpPr>
        <p:spPr>
          <a:xfrm>
            <a:off x="1600200" y="1691640"/>
            <a:ext cx="4023360" cy="548640"/>
          </a:xfrm>
          <a:prstGeom prst="rect">
            <a:avLst/>
          </a:prstGeom>
          <a:noFill/>
          <a:ln/>
        </p:spPr>
        <p:txBody>
          <a:bodyPr wrap="square" lIns="0" tIns="0" rIns="0" bIns="0" rtlCol="0" anchor="ctr"/>
          <a:lstStyle/>
          <a:p>
            <a:pPr marL="0" indent="0">
              <a:buNone/>
            </a:pPr>
            <a:r>
              <a:rPr lang="en-US" sz="2000" b="1" cap="all" dirty="0">
                <a:solidFill>
                  <a:schemeClr val="tx1"/>
                </a:solidFill>
              </a:rPr>
              <a:t>Network layer (L3/L4)</a:t>
            </a:r>
            <a:endParaRPr lang="en-US" sz="2000" cap="all" dirty="0"/>
          </a:p>
        </p:txBody>
      </p:sp>
      <p:sp>
        <p:nvSpPr>
          <p:cNvPr id="8" name="Text 4"/>
          <p:cNvSpPr txBox="1"/>
          <p:nvPr/>
        </p:nvSpPr>
        <p:spPr>
          <a:xfrm>
            <a:off x="868680" y="2468880"/>
            <a:ext cx="475488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Volumetric floods: UDP, SYN, amplification</a:t>
            </a:r>
            <a:endParaRPr lang="en-US" sz="1600" dirty="0"/>
          </a:p>
          <a:p>
            <a:pPr marL="342900" indent="-342900">
              <a:spcAft>
                <a:spcPts val="1000"/>
              </a:spcAft>
              <a:buSzPct val="100000"/>
              <a:buChar char="•"/>
            </a:pPr>
            <a:r>
              <a:rPr lang="en-US" sz="1600" dirty="0">
                <a:solidFill>
                  <a:schemeClr val="tx2"/>
                </a:solidFill>
              </a:rPr>
              <a:t>Absorbed by a global edge network</a:t>
            </a:r>
            <a:endParaRPr lang="en-US" sz="1600" dirty="0"/>
          </a:p>
          <a:p>
            <a:pPr marL="342900" indent="-342900">
              <a:spcAft>
                <a:spcPts val="1000"/>
              </a:spcAft>
              <a:buSzPct val="100000"/>
              <a:buChar char="•"/>
            </a:pPr>
            <a:r>
              <a:rPr lang="en-US" sz="1600" dirty="0">
                <a:solidFill>
                  <a:schemeClr val="tx2"/>
                </a:solidFill>
              </a:rPr>
              <a:t>Terabit-scale scrubbing capacity</a:t>
            </a:r>
            <a:endParaRPr lang="en-US" sz="1600" dirty="0"/>
          </a:p>
          <a:p>
            <a:pPr marL="342900" indent="-342900">
              <a:spcAft>
                <a:spcPts val="1000"/>
              </a:spcAft>
              <a:buSzPct val="100000"/>
              <a:buChar char="•"/>
            </a:pPr>
            <a:r>
              <a:rPr lang="en-US" sz="1600" dirty="0">
                <a:solidFill>
                  <a:schemeClr val="tx2"/>
                </a:solidFill>
              </a:rPr>
              <a:t>Traffic dispersed across points of presence</a:t>
            </a:r>
            <a:endParaRPr lang="en-US" sz="1600" dirty="0"/>
          </a:p>
        </p:txBody>
      </p:sp>
      <p:sp>
        <p:nvSpPr>
          <p:cNvPr id="9" name="ddos Application layer (L7)"/>
          <p:cNvSpPr/>
          <p:nvPr/>
        </p:nvSpPr>
        <p:spPr>
          <a:xfrm>
            <a:off x="6217920" y="1417320"/>
            <a:ext cx="5394960" cy="3566160"/>
          </a:xfrm>
          <a:prstGeom prst="roundRect">
            <a:avLst>
              <a:gd name="adj" fmla="val 2564"/>
            </a:avLst>
          </a:prstGeom>
          <a:solidFill>
            <a:schemeClr val="bg2"/>
          </a:solidFill>
          <a:ln/>
        </p:spPr>
        <p:txBody>
          <a:bodyPr/>
          <a:lstStyle/>
          <a:p>
            <a:endParaRPr lang="fr-FR"/>
          </a:p>
        </p:txBody>
      </p:sp>
      <p:sp>
        <p:nvSpPr>
          <p:cNvPr id="10" name="Application layer (L7) tile"/>
          <p:cNvSpPr/>
          <p:nvPr/>
        </p:nvSpPr>
        <p:spPr>
          <a:xfrm>
            <a:off x="6537960" y="1691640"/>
            <a:ext cx="548640" cy="548640"/>
          </a:xfrm>
          <a:prstGeom prst="roundRect">
            <a:avLst>
              <a:gd name="adj" fmla="val 20000"/>
            </a:avLst>
          </a:prstGeom>
          <a:solidFill>
            <a:schemeClr val="accent1"/>
          </a:solidFill>
          <a:ln/>
        </p:spPr>
        <p:txBody>
          <a:bodyPr/>
          <a:lstStyle/>
          <a:p>
            <a:endParaRPr lang="fr-FR"/>
          </a:p>
        </p:txBody>
      </p:sp>
      <p:pic>
        <p:nvPicPr>
          <p:cNvPr id="11" name="Application layer (L7) glyph" descr="Application layer (L7)"/>
          <p:cNvPicPr>
            <a:picLocks noChangeAspect="1"/>
          </p:cNvPicPr>
          <p:nvPr/>
        </p:nvPicPr>
        <p:blipFill>
          <a:blip r:embed="rId4"/>
          <a:stretch>
            <a:fillRect/>
          </a:stretch>
        </p:blipFill>
        <p:spPr>
          <a:xfrm>
            <a:off x="6658661" y="1812341"/>
            <a:ext cx="307238" cy="307238"/>
          </a:xfrm>
          <a:prstGeom prst="rect">
            <a:avLst/>
          </a:prstGeom>
        </p:spPr>
      </p:pic>
      <p:sp>
        <p:nvSpPr>
          <p:cNvPr id="12" name="Text 7"/>
          <p:cNvSpPr txBox="1"/>
          <p:nvPr/>
        </p:nvSpPr>
        <p:spPr>
          <a:xfrm>
            <a:off x="7269480" y="1691640"/>
            <a:ext cx="4023360" cy="548640"/>
          </a:xfrm>
          <a:prstGeom prst="rect">
            <a:avLst/>
          </a:prstGeom>
          <a:noFill/>
          <a:ln/>
        </p:spPr>
        <p:txBody>
          <a:bodyPr wrap="square" lIns="0" tIns="0" rIns="0" bIns="0" rtlCol="0" anchor="ctr"/>
          <a:lstStyle/>
          <a:p>
            <a:pPr marL="0" indent="0">
              <a:buNone/>
            </a:pPr>
            <a:r>
              <a:rPr lang="en-US" sz="2000" b="1" cap="all" dirty="0">
                <a:solidFill>
                  <a:schemeClr val="tx1"/>
                </a:solidFill>
              </a:rPr>
              <a:t>Application layer (L7)</a:t>
            </a:r>
            <a:endParaRPr lang="en-US" sz="2000" cap="all" dirty="0"/>
          </a:p>
        </p:txBody>
      </p:sp>
      <p:sp>
        <p:nvSpPr>
          <p:cNvPr id="13" name="Text 8"/>
          <p:cNvSpPr txBox="1"/>
          <p:nvPr/>
        </p:nvSpPr>
        <p:spPr>
          <a:xfrm>
            <a:off x="6537960" y="2468880"/>
            <a:ext cx="475488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HTTP floods on login, search, checkout</a:t>
            </a:r>
            <a:endParaRPr lang="en-US" sz="1600" dirty="0"/>
          </a:p>
          <a:p>
            <a:pPr marL="342900" indent="-342900">
              <a:spcAft>
                <a:spcPts val="1000"/>
              </a:spcAft>
              <a:buSzPct val="100000"/>
              <a:buChar char="•"/>
            </a:pPr>
            <a:r>
              <a:rPr lang="en-US" sz="1600" dirty="0">
                <a:solidFill>
                  <a:schemeClr val="tx2"/>
                </a:solidFill>
              </a:rPr>
              <a:t>API DDoS on expensive operations</a:t>
            </a:r>
            <a:endParaRPr lang="en-US" sz="1600" dirty="0"/>
          </a:p>
          <a:p>
            <a:pPr marL="342900" indent="-342900">
              <a:spcAft>
                <a:spcPts val="1000"/>
              </a:spcAft>
              <a:buSzPct val="100000"/>
              <a:buChar char="•"/>
            </a:pPr>
            <a:r>
              <a:rPr lang="en-US" sz="1600" dirty="0">
                <a:solidFill>
                  <a:schemeClr val="tx2"/>
                </a:solidFill>
              </a:rPr>
              <a:t>Detects endpoint spikes and incomplete requests</a:t>
            </a:r>
            <a:endParaRPr lang="en-US" sz="1600" dirty="0"/>
          </a:p>
          <a:p>
            <a:pPr marL="342900" indent="-342900">
              <a:spcAft>
                <a:spcPts val="1000"/>
              </a:spcAft>
              <a:buSzPct val="100000"/>
              <a:buChar char="•"/>
            </a:pPr>
            <a:r>
              <a:rPr lang="en-US" sz="1600" dirty="0">
                <a:solidFill>
                  <a:schemeClr val="tx2"/>
                </a:solidFill>
              </a:rPr>
              <a:t>Adaptive rate limits without hurting real users</a:t>
            </a:r>
            <a:endParaRPr lang="en-US" sz="1600" dirty="0"/>
          </a:p>
        </p:txBody>
      </p:sp>
      <p:sp>
        <p:nvSpPr>
          <p:cNvPr id="14" name="sla note"/>
          <p:cNvSpPr/>
          <p:nvPr/>
        </p:nvSpPr>
        <p:spPr>
          <a:xfrm>
            <a:off x="548640" y="5212080"/>
            <a:ext cx="11064240" cy="868680"/>
          </a:xfrm>
          <a:prstGeom prst="roundRect">
            <a:avLst>
              <a:gd name="adj" fmla="val 10526"/>
            </a:avLst>
          </a:prstGeom>
          <a:solidFill>
            <a:schemeClr val="tx1"/>
          </a:solidFill>
          <a:ln/>
        </p:spPr>
        <p:txBody>
          <a:bodyPr/>
          <a:lstStyle/>
          <a:p>
            <a:endParaRPr lang="fr-FR"/>
          </a:p>
        </p:txBody>
      </p:sp>
      <p:sp>
        <p:nvSpPr>
          <p:cNvPr id="15" name="SLA tile"/>
          <p:cNvSpPr/>
          <p:nvPr/>
        </p:nvSpPr>
        <p:spPr>
          <a:xfrm>
            <a:off x="777240" y="5367528"/>
            <a:ext cx="548640" cy="548640"/>
          </a:xfrm>
          <a:prstGeom prst="roundRect">
            <a:avLst>
              <a:gd name="adj" fmla="val 20000"/>
            </a:avLst>
          </a:prstGeom>
          <a:solidFill>
            <a:schemeClr val="accent2"/>
          </a:solidFill>
          <a:ln/>
        </p:spPr>
        <p:txBody>
          <a:bodyPr/>
          <a:lstStyle/>
          <a:p>
            <a:endParaRPr lang="fr-FR"/>
          </a:p>
        </p:txBody>
      </p:sp>
      <p:pic>
        <p:nvPicPr>
          <p:cNvPr id="16" name="SLA glyph" descr="SLA"/>
          <p:cNvPicPr>
            <a:picLocks noChangeAspect="1"/>
          </p:cNvPicPr>
          <p:nvPr/>
        </p:nvPicPr>
        <p:blipFill>
          <a:blip r:embed="rId5"/>
          <a:stretch>
            <a:fillRect/>
          </a:stretch>
        </p:blipFill>
        <p:spPr>
          <a:xfrm>
            <a:off x="897941" y="5488229"/>
            <a:ext cx="307238" cy="307238"/>
          </a:xfrm>
          <a:prstGeom prst="rect">
            <a:avLst/>
          </a:prstGeom>
        </p:spPr>
      </p:pic>
      <p:sp>
        <p:nvSpPr>
          <p:cNvPr id="17" name="Text 11"/>
          <p:cNvSpPr txBox="1"/>
          <p:nvPr/>
        </p:nvSpPr>
        <p:spPr>
          <a:xfrm>
            <a:off x="1554480" y="5212080"/>
            <a:ext cx="9875520" cy="868680"/>
          </a:xfrm>
          <a:prstGeom prst="rect">
            <a:avLst/>
          </a:prstGeom>
          <a:noFill/>
          <a:ln/>
        </p:spPr>
        <p:txBody>
          <a:bodyPr wrap="square" lIns="0" tIns="0" rIns="0" bIns="0" rtlCol="0" anchor="ctr"/>
          <a:lstStyle/>
          <a:p>
            <a:pPr marL="0" indent="0">
              <a:buNone/>
            </a:pPr>
            <a:r>
              <a:rPr lang="en-US" sz="1600" dirty="0">
                <a:solidFill>
                  <a:schemeClr val="bg1"/>
                </a:solidFill>
              </a:rPr>
              <a:t>Uptime SLAs back the protection — essential where downtime is costly, such as banking and healthcare.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29</a:t>
            </a:fld>
            <a:endParaRPr lang="en-US"/>
          </a:p>
        </p:txBody>
      </p:sp>
      <p:pic>
        <p:nvPicPr>
          <p:cNvPr id="3" name="Image 0" descr="/home/claude/unpacked/ppt/media/image1.png">
            <a:extLst>
              <a:ext uri="{FF2B5EF4-FFF2-40B4-BE49-F238E27FC236}">
                <a16:creationId xmlns:a16="http://schemas.microsoft.com/office/drawing/2014/main" id="{CF3A3C28-F5DF-130A-F1C0-40F078DE3E47}"/>
              </a:ext>
            </a:extLst>
          </p:cNvPr>
          <p:cNvPicPr>
            <a:picLocks noChangeAspect="1"/>
          </p:cNvPicPr>
          <p:nvPr/>
        </p:nvPicPr>
        <p:blipFill>
          <a:blip r:embed="rId6"/>
          <a:stretch>
            <a:fillRect/>
          </a:stretch>
        </p:blipFill>
        <p:spPr>
          <a:xfrm>
            <a:off x="10949940" y="251460"/>
            <a:ext cx="960120" cy="9601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Telemetry, analytics &amp; policy automation</a:t>
            </a:r>
            <a:endParaRPr lang="en-US" sz="3400" cap="all" dirty="0"/>
          </a:p>
        </p:txBody>
      </p:sp>
      <p:sp>
        <p:nvSpPr>
          <p:cNvPr id="4" name="telemetry Visibility &amp; analytics"/>
          <p:cNvSpPr/>
          <p:nvPr/>
        </p:nvSpPr>
        <p:spPr>
          <a:xfrm>
            <a:off x="548640" y="1417320"/>
            <a:ext cx="5394960" cy="3200400"/>
          </a:xfrm>
          <a:prstGeom prst="roundRect">
            <a:avLst>
              <a:gd name="adj" fmla="val 2857"/>
            </a:avLst>
          </a:prstGeom>
          <a:solidFill>
            <a:schemeClr val="bg2"/>
          </a:solidFill>
          <a:ln/>
        </p:spPr>
        <p:txBody>
          <a:bodyPr/>
          <a:lstStyle/>
          <a:p>
            <a:endParaRPr lang="fr-FR"/>
          </a:p>
        </p:txBody>
      </p:sp>
      <p:sp>
        <p:nvSpPr>
          <p:cNvPr id="5" name="Visibility &amp; analytics tile"/>
          <p:cNvSpPr/>
          <p:nvPr/>
        </p:nvSpPr>
        <p:spPr>
          <a:xfrm>
            <a:off x="868680" y="1691640"/>
            <a:ext cx="548640" cy="548640"/>
          </a:xfrm>
          <a:prstGeom prst="roundRect">
            <a:avLst>
              <a:gd name="adj" fmla="val 20000"/>
            </a:avLst>
          </a:prstGeom>
          <a:solidFill>
            <a:schemeClr val="accent1"/>
          </a:solidFill>
          <a:ln/>
        </p:spPr>
        <p:txBody>
          <a:bodyPr/>
          <a:lstStyle/>
          <a:p>
            <a:endParaRPr lang="fr-FR"/>
          </a:p>
        </p:txBody>
      </p:sp>
      <p:pic>
        <p:nvPicPr>
          <p:cNvPr id="6" name="Visibility &amp; analytics glyph" descr="Visibility &amp; analytics"/>
          <p:cNvPicPr>
            <a:picLocks noChangeAspect="1"/>
          </p:cNvPicPr>
          <p:nvPr/>
        </p:nvPicPr>
        <p:blipFill>
          <a:blip r:embed="rId3"/>
          <a:stretch>
            <a:fillRect/>
          </a:stretch>
        </p:blipFill>
        <p:spPr>
          <a:xfrm>
            <a:off x="989381" y="1812341"/>
            <a:ext cx="307238" cy="307238"/>
          </a:xfrm>
          <a:prstGeom prst="rect">
            <a:avLst/>
          </a:prstGeom>
        </p:spPr>
      </p:pic>
      <p:sp>
        <p:nvSpPr>
          <p:cNvPr id="7" name="Text 3"/>
          <p:cNvSpPr txBox="1"/>
          <p:nvPr/>
        </p:nvSpPr>
        <p:spPr>
          <a:xfrm>
            <a:off x="1600200" y="1691640"/>
            <a:ext cx="4023360" cy="548640"/>
          </a:xfrm>
          <a:prstGeom prst="rect">
            <a:avLst/>
          </a:prstGeom>
          <a:noFill/>
          <a:ln/>
        </p:spPr>
        <p:txBody>
          <a:bodyPr wrap="square" lIns="0" tIns="0" rIns="0" bIns="0" rtlCol="0" anchor="ctr"/>
          <a:lstStyle/>
          <a:p>
            <a:pPr marL="0" indent="0">
              <a:buNone/>
            </a:pPr>
            <a:r>
              <a:rPr lang="en-US" sz="2000" b="1" cap="all" dirty="0">
                <a:solidFill>
                  <a:schemeClr val="tx1"/>
                </a:solidFill>
              </a:rPr>
              <a:t>Visibility &amp; analytics</a:t>
            </a:r>
            <a:endParaRPr lang="en-US" sz="2000" cap="all" dirty="0"/>
          </a:p>
        </p:txBody>
      </p:sp>
      <p:sp>
        <p:nvSpPr>
          <p:cNvPr id="8" name="Text 4"/>
          <p:cNvSpPr txBox="1"/>
          <p:nvPr/>
        </p:nvSpPr>
        <p:spPr>
          <a:xfrm>
            <a:off x="868680" y="2468880"/>
            <a:ext cx="4754880" cy="201168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2"/>
                </a:solidFill>
              </a:rPr>
              <a:t>Central real-time dashboards</a:t>
            </a:r>
            <a:endParaRPr lang="en-US" sz="1600" dirty="0"/>
          </a:p>
          <a:p>
            <a:pPr marL="342900" indent="-342900">
              <a:spcAft>
                <a:spcPts val="900"/>
              </a:spcAft>
              <a:buSzPct val="100000"/>
              <a:buChar char="•"/>
            </a:pPr>
            <a:r>
              <a:rPr lang="en-US" sz="1600" dirty="0">
                <a:solidFill>
                  <a:schemeClr val="tx2"/>
                </a:solidFill>
              </a:rPr>
              <a:t>Attack trends, rule triggers, anomalies</a:t>
            </a:r>
            <a:endParaRPr lang="en-US" sz="1600" dirty="0"/>
          </a:p>
          <a:p>
            <a:pPr marL="342900" indent="-342900">
              <a:spcAft>
                <a:spcPts val="900"/>
              </a:spcAft>
              <a:buSzPct val="100000"/>
              <a:buChar char="•"/>
            </a:pPr>
            <a:r>
              <a:rPr lang="en-US" sz="1600" dirty="0">
                <a:solidFill>
                  <a:schemeClr val="tx2"/>
                </a:solidFill>
              </a:rPr>
              <a:t>ML correlates events across vectors</a:t>
            </a:r>
            <a:endParaRPr lang="en-US" sz="1600" dirty="0"/>
          </a:p>
          <a:p>
            <a:pPr marL="342900" indent="-342900">
              <a:spcAft>
                <a:spcPts val="900"/>
              </a:spcAft>
              <a:buSzPct val="100000"/>
              <a:buChar char="•"/>
            </a:pPr>
            <a:r>
              <a:rPr lang="en-US" sz="1600" dirty="0">
                <a:solidFill>
                  <a:schemeClr val="tx2"/>
                </a:solidFill>
              </a:rPr>
              <a:t>Separates meaningful events from noise</a:t>
            </a:r>
            <a:endParaRPr lang="en-US" sz="1600" dirty="0"/>
          </a:p>
        </p:txBody>
      </p:sp>
      <p:sp>
        <p:nvSpPr>
          <p:cNvPr id="9" name="telemetry Policy automation"/>
          <p:cNvSpPr/>
          <p:nvPr/>
        </p:nvSpPr>
        <p:spPr>
          <a:xfrm>
            <a:off x="6217920" y="1417320"/>
            <a:ext cx="5394960" cy="3200400"/>
          </a:xfrm>
          <a:prstGeom prst="roundRect">
            <a:avLst>
              <a:gd name="adj" fmla="val 2857"/>
            </a:avLst>
          </a:prstGeom>
          <a:solidFill>
            <a:schemeClr val="bg2"/>
          </a:solidFill>
          <a:ln/>
        </p:spPr>
        <p:txBody>
          <a:bodyPr/>
          <a:lstStyle/>
          <a:p>
            <a:endParaRPr lang="fr-FR"/>
          </a:p>
        </p:txBody>
      </p:sp>
      <p:sp>
        <p:nvSpPr>
          <p:cNvPr id="10" name="Policy automation tile"/>
          <p:cNvSpPr/>
          <p:nvPr/>
        </p:nvSpPr>
        <p:spPr>
          <a:xfrm>
            <a:off x="6537960" y="1691640"/>
            <a:ext cx="548640" cy="548640"/>
          </a:xfrm>
          <a:prstGeom prst="roundRect">
            <a:avLst>
              <a:gd name="adj" fmla="val 20000"/>
            </a:avLst>
          </a:prstGeom>
          <a:solidFill>
            <a:schemeClr val="accent1"/>
          </a:solidFill>
          <a:ln/>
        </p:spPr>
        <p:txBody>
          <a:bodyPr/>
          <a:lstStyle/>
          <a:p>
            <a:endParaRPr lang="fr-FR"/>
          </a:p>
        </p:txBody>
      </p:sp>
      <p:pic>
        <p:nvPicPr>
          <p:cNvPr id="11" name="Policy automation glyph" descr="Policy automation"/>
          <p:cNvPicPr>
            <a:picLocks noChangeAspect="1"/>
          </p:cNvPicPr>
          <p:nvPr/>
        </p:nvPicPr>
        <p:blipFill>
          <a:blip r:embed="rId4"/>
          <a:stretch>
            <a:fillRect/>
          </a:stretch>
        </p:blipFill>
        <p:spPr>
          <a:xfrm>
            <a:off x="6658661" y="1812341"/>
            <a:ext cx="307238" cy="307238"/>
          </a:xfrm>
          <a:prstGeom prst="rect">
            <a:avLst/>
          </a:prstGeom>
        </p:spPr>
      </p:pic>
      <p:sp>
        <p:nvSpPr>
          <p:cNvPr id="12" name="Text 7"/>
          <p:cNvSpPr txBox="1"/>
          <p:nvPr/>
        </p:nvSpPr>
        <p:spPr>
          <a:xfrm>
            <a:off x="7269480" y="1691640"/>
            <a:ext cx="4023360" cy="548640"/>
          </a:xfrm>
          <a:prstGeom prst="rect">
            <a:avLst/>
          </a:prstGeom>
          <a:noFill/>
          <a:ln/>
        </p:spPr>
        <p:txBody>
          <a:bodyPr wrap="square" lIns="0" tIns="0" rIns="0" bIns="0" rtlCol="0" anchor="ctr"/>
          <a:lstStyle/>
          <a:p>
            <a:pPr marL="0" indent="0">
              <a:buNone/>
            </a:pPr>
            <a:r>
              <a:rPr lang="en-US" sz="2000" b="1" cap="all" dirty="0">
                <a:solidFill>
                  <a:schemeClr val="tx1"/>
                </a:solidFill>
              </a:rPr>
              <a:t>Policy automation</a:t>
            </a:r>
            <a:endParaRPr lang="en-US" sz="2000" cap="all" dirty="0"/>
          </a:p>
        </p:txBody>
      </p:sp>
      <p:sp>
        <p:nvSpPr>
          <p:cNvPr id="13" name="Text 8"/>
          <p:cNvSpPr txBox="1"/>
          <p:nvPr/>
        </p:nvSpPr>
        <p:spPr>
          <a:xfrm>
            <a:off x="6537960" y="2468880"/>
            <a:ext cx="4754880" cy="201168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2"/>
                </a:solidFill>
              </a:rPr>
              <a:t>Auto-generates rules from API definitions</a:t>
            </a:r>
            <a:endParaRPr lang="en-US" sz="1600" dirty="0"/>
          </a:p>
          <a:p>
            <a:pPr marL="342900" indent="-342900">
              <a:spcAft>
                <a:spcPts val="900"/>
              </a:spcAft>
              <a:buSzPct val="100000"/>
              <a:buChar char="•"/>
            </a:pPr>
            <a:r>
              <a:rPr lang="en-US" sz="1600" dirty="0">
                <a:solidFill>
                  <a:schemeClr val="tx2"/>
                </a:solidFill>
              </a:rPr>
              <a:t>Auto-tunes anomaly baselines as apps evolve</a:t>
            </a:r>
            <a:endParaRPr lang="en-US" sz="1600" dirty="0"/>
          </a:p>
          <a:p>
            <a:pPr marL="342900" indent="-342900">
              <a:spcAft>
                <a:spcPts val="900"/>
              </a:spcAft>
              <a:buSzPct val="100000"/>
              <a:buChar char="•"/>
            </a:pPr>
            <a:r>
              <a:rPr lang="en-US" sz="1600" dirty="0">
                <a:solidFill>
                  <a:schemeClr val="tx2"/>
                </a:solidFill>
              </a:rPr>
              <a:t>Deploys virtual patches for new threats</a:t>
            </a:r>
            <a:endParaRPr lang="en-US" sz="1600" dirty="0"/>
          </a:p>
          <a:p>
            <a:pPr marL="342900" indent="-342900">
              <a:spcAft>
                <a:spcPts val="900"/>
              </a:spcAft>
              <a:buSzPct val="100000"/>
              <a:buChar char="•"/>
            </a:pPr>
            <a:r>
              <a:rPr lang="en-US" sz="1600" dirty="0">
                <a:solidFill>
                  <a:schemeClr val="tx2"/>
                </a:solidFill>
              </a:rPr>
              <a:t>Reduces operational overhead</a:t>
            </a:r>
            <a:endParaRPr lang="en-US" sz="1600" dirty="0"/>
          </a:p>
        </p:txBody>
      </p:sp>
      <p:sp>
        <p:nvSpPr>
          <p:cNvPr id="14" name="Text 9"/>
          <p:cNvSpPr txBox="1"/>
          <p:nvPr/>
        </p:nvSpPr>
        <p:spPr>
          <a:xfrm>
            <a:off x="548640" y="4846320"/>
            <a:ext cx="2743200" cy="365760"/>
          </a:xfrm>
          <a:prstGeom prst="rect">
            <a:avLst/>
          </a:prstGeom>
          <a:noFill/>
          <a:ln/>
        </p:spPr>
        <p:txBody>
          <a:bodyPr wrap="square" lIns="0" tIns="0" rIns="0" bIns="0" rtlCol="0" anchor="ctr"/>
          <a:lstStyle/>
          <a:p>
            <a:pPr marL="0" indent="0">
              <a:buNone/>
            </a:pPr>
            <a:r>
              <a:rPr lang="en-US" sz="1700" b="1" dirty="0">
                <a:solidFill>
                  <a:schemeClr val="tx1"/>
                </a:solidFill>
              </a:rPr>
              <a:t>Integrations</a:t>
            </a:r>
            <a:endParaRPr lang="en-US" sz="1700" dirty="0"/>
          </a:p>
        </p:txBody>
      </p:sp>
      <p:sp>
        <p:nvSpPr>
          <p:cNvPr id="15" name="CI/CD pipelines tile"/>
          <p:cNvSpPr/>
          <p:nvPr/>
        </p:nvSpPr>
        <p:spPr>
          <a:xfrm>
            <a:off x="548640" y="5349240"/>
            <a:ext cx="502920" cy="502920"/>
          </a:xfrm>
          <a:prstGeom prst="roundRect">
            <a:avLst>
              <a:gd name="adj" fmla="val 21818"/>
            </a:avLst>
          </a:prstGeom>
          <a:solidFill>
            <a:schemeClr val="accent4"/>
          </a:solidFill>
          <a:ln/>
        </p:spPr>
        <p:txBody>
          <a:bodyPr/>
          <a:lstStyle/>
          <a:p>
            <a:endParaRPr lang="fr-FR"/>
          </a:p>
        </p:txBody>
      </p:sp>
      <p:pic>
        <p:nvPicPr>
          <p:cNvPr id="16" name="CI/CD pipelines glyph" descr="CI/CD pipelines"/>
          <p:cNvPicPr>
            <a:picLocks noChangeAspect="1"/>
          </p:cNvPicPr>
          <p:nvPr/>
        </p:nvPicPr>
        <p:blipFill>
          <a:blip r:embed="rId5"/>
          <a:stretch>
            <a:fillRect/>
          </a:stretch>
        </p:blipFill>
        <p:spPr>
          <a:xfrm>
            <a:off x="659282" y="5459882"/>
            <a:ext cx="281635" cy="281635"/>
          </a:xfrm>
          <a:prstGeom prst="rect">
            <a:avLst/>
          </a:prstGeom>
        </p:spPr>
      </p:pic>
      <p:sp>
        <p:nvSpPr>
          <p:cNvPr id="17" name="Text 11"/>
          <p:cNvSpPr txBox="1"/>
          <p:nvPr/>
        </p:nvSpPr>
        <p:spPr>
          <a:xfrm>
            <a:off x="1188720" y="5349240"/>
            <a:ext cx="2103120" cy="502920"/>
          </a:xfrm>
          <a:prstGeom prst="rect">
            <a:avLst/>
          </a:prstGeom>
          <a:noFill/>
          <a:ln/>
        </p:spPr>
        <p:txBody>
          <a:bodyPr wrap="square" lIns="0" tIns="0" rIns="0" bIns="0" rtlCol="0" anchor="ctr"/>
          <a:lstStyle/>
          <a:p>
            <a:pPr marL="0" indent="0">
              <a:buNone/>
            </a:pPr>
            <a:r>
              <a:rPr lang="en-US" sz="1500" dirty="0">
                <a:solidFill>
                  <a:schemeClr val="tx1"/>
                </a:solidFill>
              </a:rPr>
              <a:t>CI/CD pipelines</a:t>
            </a:r>
            <a:endParaRPr lang="en-US" sz="1500" dirty="0"/>
          </a:p>
        </p:txBody>
      </p:sp>
      <p:sp>
        <p:nvSpPr>
          <p:cNvPr id="18" name="Infrastructure as Code tile"/>
          <p:cNvSpPr/>
          <p:nvPr/>
        </p:nvSpPr>
        <p:spPr>
          <a:xfrm>
            <a:off x="3383280" y="5349240"/>
            <a:ext cx="502920" cy="502920"/>
          </a:xfrm>
          <a:prstGeom prst="roundRect">
            <a:avLst>
              <a:gd name="adj" fmla="val 21818"/>
            </a:avLst>
          </a:prstGeom>
          <a:solidFill>
            <a:schemeClr val="accent4"/>
          </a:solidFill>
          <a:ln/>
        </p:spPr>
        <p:txBody>
          <a:bodyPr/>
          <a:lstStyle/>
          <a:p>
            <a:endParaRPr lang="fr-FR"/>
          </a:p>
        </p:txBody>
      </p:sp>
      <p:pic>
        <p:nvPicPr>
          <p:cNvPr id="19" name="Infrastructure as Code glyph" descr="Infrastructure as Code"/>
          <p:cNvPicPr>
            <a:picLocks noChangeAspect="1"/>
          </p:cNvPicPr>
          <p:nvPr/>
        </p:nvPicPr>
        <p:blipFill>
          <a:blip r:embed="rId6"/>
          <a:stretch>
            <a:fillRect/>
          </a:stretch>
        </p:blipFill>
        <p:spPr>
          <a:xfrm>
            <a:off x="3493922" y="5459882"/>
            <a:ext cx="281635" cy="281635"/>
          </a:xfrm>
          <a:prstGeom prst="rect">
            <a:avLst/>
          </a:prstGeom>
        </p:spPr>
      </p:pic>
      <p:sp>
        <p:nvSpPr>
          <p:cNvPr id="20" name="Text 13"/>
          <p:cNvSpPr txBox="1"/>
          <p:nvPr/>
        </p:nvSpPr>
        <p:spPr>
          <a:xfrm>
            <a:off x="4023360" y="5349240"/>
            <a:ext cx="2103120" cy="502920"/>
          </a:xfrm>
          <a:prstGeom prst="rect">
            <a:avLst/>
          </a:prstGeom>
          <a:noFill/>
          <a:ln/>
        </p:spPr>
        <p:txBody>
          <a:bodyPr wrap="square" lIns="0" tIns="0" rIns="0" bIns="0" rtlCol="0" anchor="ctr"/>
          <a:lstStyle/>
          <a:p>
            <a:pPr marL="0" indent="0">
              <a:buNone/>
            </a:pPr>
            <a:r>
              <a:rPr lang="en-US" sz="1500" dirty="0">
                <a:solidFill>
                  <a:schemeClr val="tx1"/>
                </a:solidFill>
              </a:rPr>
              <a:t>Infrastructure as Code</a:t>
            </a:r>
            <a:endParaRPr lang="en-US" sz="1500" dirty="0"/>
          </a:p>
        </p:txBody>
      </p:sp>
      <p:sp>
        <p:nvSpPr>
          <p:cNvPr id="21" name="SIEM / SOAR tile"/>
          <p:cNvSpPr/>
          <p:nvPr/>
        </p:nvSpPr>
        <p:spPr>
          <a:xfrm>
            <a:off x="6217920" y="5349240"/>
            <a:ext cx="502920" cy="502920"/>
          </a:xfrm>
          <a:prstGeom prst="roundRect">
            <a:avLst>
              <a:gd name="adj" fmla="val 21818"/>
            </a:avLst>
          </a:prstGeom>
          <a:solidFill>
            <a:schemeClr val="accent4"/>
          </a:solidFill>
          <a:ln/>
        </p:spPr>
        <p:txBody>
          <a:bodyPr/>
          <a:lstStyle/>
          <a:p>
            <a:endParaRPr lang="fr-FR"/>
          </a:p>
        </p:txBody>
      </p:sp>
      <p:pic>
        <p:nvPicPr>
          <p:cNvPr id="22" name="SIEM / SOAR glyph" descr="SIEM / SOAR"/>
          <p:cNvPicPr>
            <a:picLocks noChangeAspect="1"/>
          </p:cNvPicPr>
          <p:nvPr/>
        </p:nvPicPr>
        <p:blipFill>
          <a:blip r:embed="rId7"/>
          <a:stretch>
            <a:fillRect/>
          </a:stretch>
        </p:blipFill>
        <p:spPr>
          <a:xfrm>
            <a:off x="6328562" y="5459882"/>
            <a:ext cx="281635" cy="281635"/>
          </a:xfrm>
          <a:prstGeom prst="rect">
            <a:avLst/>
          </a:prstGeom>
        </p:spPr>
      </p:pic>
      <p:sp>
        <p:nvSpPr>
          <p:cNvPr id="23" name="Text 15"/>
          <p:cNvSpPr txBox="1"/>
          <p:nvPr/>
        </p:nvSpPr>
        <p:spPr>
          <a:xfrm>
            <a:off x="6858000" y="5349240"/>
            <a:ext cx="2103120" cy="502920"/>
          </a:xfrm>
          <a:prstGeom prst="rect">
            <a:avLst/>
          </a:prstGeom>
          <a:noFill/>
          <a:ln/>
        </p:spPr>
        <p:txBody>
          <a:bodyPr wrap="square" lIns="0" tIns="0" rIns="0" bIns="0" rtlCol="0" anchor="ctr"/>
          <a:lstStyle/>
          <a:p>
            <a:pPr marL="0" indent="0">
              <a:buNone/>
            </a:pPr>
            <a:r>
              <a:rPr lang="en-US" sz="1500" dirty="0">
                <a:solidFill>
                  <a:schemeClr val="tx1"/>
                </a:solidFill>
              </a:rPr>
              <a:t>SIEM / SOAR</a:t>
            </a:r>
            <a:endParaRPr lang="en-US" sz="1500" dirty="0"/>
          </a:p>
        </p:txBody>
      </p:sp>
      <p:sp>
        <p:nvSpPr>
          <p:cNvPr id="24" name="API gateways tile"/>
          <p:cNvSpPr/>
          <p:nvPr/>
        </p:nvSpPr>
        <p:spPr>
          <a:xfrm>
            <a:off x="9052560" y="5349240"/>
            <a:ext cx="502920" cy="502920"/>
          </a:xfrm>
          <a:prstGeom prst="roundRect">
            <a:avLst>
              <a:gd name="adj" fmla="val 21818"/>
            </a:avLst>
          </a:prstGeom>
          <a:solidFill>
            <a:schemeClr val="accent4"/>
          </a:solidFill>
          <a:ln/>
        </p:spPr>
        <p:txBody>
          <a:bodyPr/>
          <a:lstStyle/>
          <a:p>
            <a:endParaRPr lang="fr-FR"/>
          </a:p>
        </p:txBody>
      </p:sp>
      <p:pic>
        <p:nvPicPr>
          <p:cNvPr id="25" name="API gateways glyph" descr="API gateways"/>
          <p:cNvPicPr>
            <a:picLocks noChangeAspect="1"/>
          </p:cNvPicPr>
          <p:nvPr/>
        </p:nvPicPr>
        <p:blipFill>
          <a:blip r:embed="rId8"/>
          <a:stretch>
            <a:fillRect/>
          </a:stretch>
        </p:blipFill>
        <p:spPr>
          <a:xfrm>
            <a:off x="9163202" y="5459882"/>
            <a:ext cx="281635" cy="281635"/>
          </a:xfrm>
          <a:prstGeom prst="rect">
            <a:avLst/>
          </a:prstGeom>
        </p:spPr>
      </p:pic>
      <p:sp>
        <p:nvSpPr>
          <p:cNvPr id="26" name="Text 17"/>
          <p:cNvSpPr txBox="1"/>
          <p:nvPr/>
        </p:nvSpPr>
        <p:spPr>
          <a:xfrm>
            <a:off x="9692640" y="5349240"/>
            <a:ext cx="2103120" cy="502920"/>
          </a:xfrm>
          <a:prstGeom prst="rect">
            <a:avLst/>
          </a:prstGeom>
          <a:noFill/>
          <a:ln/>
        </p:spPr>
        <p:txBody>
          <a:bodyPr wrap="square" lIns="0" tIns="0" rIns="0" bIns="0" rtlCol="0" anchor="ctr"/>
          <a:lstStyle/>
          <a:p>
            <a:pPr marL="0" indent="0">
              <a:buNone/>
            </a:pPr>
            <a:r>
              <a:rPr lang="en-US" sz="1500" dirty="0">
                <a:solidFill>
                  <a:schemeClr val="tx1"/>
                </a:solidFill>
              </a:rPr>
              <a:t>API gateways</a:t>
            </a:r>
            <a:endParaRPr lang="en-US" sz="15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30</a:t>
            </a:fld>
            <a:endParaRPr lang="en-US"/>
          </a:p>
        </p:txBody>
      </p:sp>
      <p:pic>
        <p:nvPicPr>
          <p:cNvPr id="27" name="Image 0" descr="/home/claude/unpacked/ppt/media/image1.png">
            <a:extLst>
              <a:ext uri="{FF2B5EF4-FFF2-40B4-BE49-F238E27FC236}">
                <a16:creationId xmlns:a16="http://schemas.microsoft.com/office/drawing/2014/main" id="{4C743E5F-E605-CFEF-FCEF-7BA8CB4646D1}"/>
              </a:ext>
            </a:extLst>
          </p:cNvPr>
          <p:cNvPicPr>
            <a:picLocks noChangeAspect="1"/>
          </p:cNvPicPr>
          <p:nvPr/>
        </p:nvPicPr>
        <p:blipFill>
          <a:blip r:embed="rId9"/>
          <a:stretch>
            <a:fillRect/>
          </a:stretch>
        </p:blipFill>
        <p:spPr>
          <a:xfrm>
            <a:off x="10904220" y="114300"/>
            <a:ext cx="960120" cy="96012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FE36468-8622-D421-FA69-0867781ADBE1}"/>
              </a:ext>
            </a:extLst>
          </p:cNvPr>
          <p:cNvSpPr>
            <a:spLocks noGrp="1"/>
          </p:cNvSpPr>
          <p:nvPr>
            <p:ph type="body" idx="101"/>
          </p:nvPr>
        </p:nvSpPr>
        <p:spPr/>
        <p:txBody>
          <a:bodyPr/>
          <a:lstStyle/>
          <a:p>
            <a:endParaRPr lang="fr-FR" b="1" cap="all" dirty="0">
              <a:solidFill>
                <a:schemeClr val="tx1"/>
              </a:solidFill>
            </a:endParaRPr>
          </a:p>
        </p:txBody>
      </p:sp>
      <p:sp>
        <p:nvSpPr>
          <p:cNvPr id="4" name="Text 0">
            <a:extLst>
              <a:ext uri="{FF2B5EF4-FFF2-40B4-BE49-F238E27FC236}">
                <a16:creationId xmlns:a16="http://schemas.microsoft.com/office/drawing/2014/main" id="{B301CFDC-D484-0A76-7215-1D9A39E3CF50}"/>
              </a:ext>
            </a:extLst>
          </p:cNvPr>
          <p:cNvSpPr txBox="1">
            <a:spLocks noGrp="1"/>
          </p:cNvSpPr>
          <p:nvPr>
            <p:ph type="title" idx="100"/>
          </p:nvPr>
        </p:nvSpPr>
        <p:spPr>
          <a:xfrm>
            <a:off x="731520" y="2103120"/>
            <a:ext cx="10947862" cy="1463040"/>
          </a:xfrm>
          <a:prstGeom prst="rect">
            <a:avLst/>
          </a:prstGeom>
          <a:noFill/>
          <a:ln/>
        </p:spPr>
        <p:txBody>
          <a:bodyPr wrap="square" lIns="0" tIns="0" rIns="0" bIns="0" rtlCol="0" anchor="b"/>
          <a:lstStyle/>
          <a:p>
            <a:pPr marL="0" indent="0">
              <a:buNone/>
            </a:pPr>
            <a:r>
              <a:rPr lang="en-US" sz="8000" b="1" dirty="0">
                <a:solidFill>
                  <a:schemeClr val="accent1"/>
                </a:solidFill>
                <a:latin typeface="Arial" pitchFamily="34" charset="0"/>
                <a:ea typeface="Arial" pitchFamily="34" charset="-122"/>
                <a:cs typeface="Arial" pitchFamily="34" charset="-120"/>
              </a:rPr>
              <a:t>PART 03: HOW &amp;APPs</a:t>
            </a:r>
            <a:endParaRPr lang="en-US" sz="8000" dirty="0"/>
          </a:p>
        </p:txBody>
      </p:sp>
      <p:pic>
        <p:nvPicPr>
          <p:cNvPr id="5" name="Image 0" descr="/home/claude/unpacked/ppt/media/image1.png">
            <a:extLst>
              <a:ext uri="{FF2B5EF4-FFF2-40B4-BE49-F238E27FC236}">
                <a16:creationId xmlns:a16="http://schemas.microsoft.com/office/drawing/2014/main" id="{866ACDE7-1BB6-DC16-47D1-BB17B98F1344}"/>
              </a:ext>
            </a:extLst>
          </p:cNvPr>
          <p:cNvPicPr>
            <a:picLocks noChangeAspect="1"/>
          </p:cNvPicPr>
          <p:nvPr/>
        </p:nvPicPr>
        <p:blipFill>
          <a:blip r:embed="rId2"/>
          <a:stretch>
            <a:fillRect/>
          </a:stretch>
        </p:blipFill>
        <p:spPr>
          <a:xfrm>
            <a:off x="685800" y="594360"/>
            <a:ext cx="960120" cy="960120"/>
          </a:xfrm>
          <a:prstGeom prst="rect">
            <a:avLst/>
          </a:prstGeom>
        </p:spPr>
      </p:pic>
    </p:spTree>
    <p:extLst>
      <p:ext uri="{BB962C8B-B14F-4D97-AF65-F5344CB8AC3E}">
        <p14:creationId xmlns:p14="http://schemas.microsoft.com/office/powerpoint/2010/main" val="1539339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731520" y="1280160"/>
            <a:ext cx="6152756" cy="1280160"/>
          </a:xfrm>
          <a:prstGeom prst="rect">
            <a:avLst/>
          </a:prstGeom>
          <a:noFill/>
          <a:ln/>
        </p:spPr>
        <p:txBody>
          <a:bodyPr wrap="square" lIns="0" tIns="0" rIns="0" bIns="0" rtlCol="0" anchor="b"/>
          <a:lstStyle/>
          <a:p>
            <a:pPr marL="0" indent="0">
              <a:buNone/>
            </a:pPr>
            <a:r>
              <a:rPr lang="en-US" sz="8000" b="1" dirty="0">
                <a:solidFill>
                  <a:schemeClr val="accent1"/>
                </a:solidFill>
                <a:latin typeface="Arial" pitchFamily="34" charset="0"/>
                <a:cs typeface="Arial" pitchFamily="34" charset="-120"/>
              </a:rPr>
              <a:t>Chapter 3.1</a:t>
            </a:r>
            <a:endParaRPr lang="en-US" sz="8000" dirty="0"/>
          </a:p>
        </p:txBody>
      </p:sp>
      <p:sp>
        <p:nvSpPr>
          <p:cNvPr id="3" name="Text 0"/>
          <p:cNvSpPr>
            <a:spLocks noGrp="1"/>
          </p:cNvSpPr>
          <p:nvPr>
            <p:ph type="title" idx="100" hasCustomPrompt="1"/>
          </p:nvPr>
        </p:nvSpPr>
        <p:spPr>
          <a:xfrm>
            <a:off x="731520" y="2743200"/>
            <a:ext cx="10698480" cy="1005840"/>
          </a:xfrm>
          <a:prstGeom prst="rect">
            <a:avLst/>
          </a:prstGeom>
          <a:noFill/>
          <a:ln/>
        </p:spPr>
        <p:txBody>
          <a:bodyPr wrap="square" lIns="0" tIns="0" rIns="0" bIns="0" rtlCol="0" anchor="ctr"/>
          <a:lstStyle/>
          <a:p>
            <a:pPr marL="0" indent="0" algn="l">
              <a:buNone/>
            </a:pPr>
            <a:r>
              <a:rPr lang="en-US" sz="4400" b="1" cap="all" dirty="0">
                <a:solidFill>
                  <a:schemeClr val="bg1"/>
                </a:solidFill>
              </a:rPr>
              <a:t>Architecture &amp; models</a:t>
            </a:r>
            <a:endParaRPr lang="en-US" sz="4400" cap="all" dirty="0"/>
          </a:p>
        </p:txBody>
      </p:sp>
      <p:sp>
        <p:nvSpPr>
          <p:cNvPr id="4" name="Text 0"/>
          <p:cNvSpPr>
            <a:spLocks noGrp="1"/>
          </p:cNvSpPr>
          <p:nvPr>
            <p:ph type="body" idx="101" hasCustomPrompt="1"/>
          </p:nvPr>
        </p:nvSpPr>
        <p:spPr>
          <a:xfrm>
            <a:off x="731520" y="3840480"/>
            <a:ext cx="10058400" cy="1280160"/>
          </a:xfrm>
          <a:prstGeom prst="rect">
            <a:avLst/>
          </a:prstGeom>
          <a:noFill/>
          <a:ln/>
        </p:spPr>
        <p:txBody>
          <a:bodyPr wrap="square" lIns="0" tIns="0" rIns="0" bIns="0" rtlCol="0" anchor="t"/>
          <a:lstStyle/>
          <a:p>
            <a:pPr marL="0" indent="0" algn="l">
              <a:lnSpc>
                <a:spcPct val="200000"/>
              </a:lnSpc>
              <a:buNone/>
            </a:pPr>
            <a:r>
              <a:rPr lang="en-US" sz="2000" b="1" i="1" cap="all" dirty="0">
                <a:solidFill>
                  <a:schemeClr val="accent5"/>
                </a:solidFill>
              </a:rPr>
              <a:t>Where WAAP fits next to WAFs, gateways and CDNs, how it is deployed, and what happens to every request?</a:t>
            </a:r>
            <a:endParaRPr lang="en-US" sz="2000" b="1" i="1" cap="all"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32</a:t>
            </a:fld>
            <a:endParaRPr lang="en-US"/>
          </a:p>
        </p:txBody>
      </p:sp>
      <p:pic>
        <p:nvPicPr>
          <p:cNvPr id="5" name="Image 0" descr="/home/claude/unpacked/ppt/media/image1.png">
            <a:extLst>
              <a:ext uri="{FF2B5EF4-FFF2-40B4-BE49-F238E27FC236}">
                <a16:creationId xmlns:a16="http://schemas.microsoft.com/office/drawing/2014/main" id="{8F181CDA-5809-4859-2EBC-90952842E2C6}"/>
              </a:ext>
            </a:extLst>
          </p:cNvPr>
          <p:cNvPicPr>
            <a:picLocks noChangeAspect="1"/>
          </p:cNvPicPr>
          <p:nvPr/>
        </p:nvPicPr>
        <p:blipFill>
          <a:blip r:embed="rId3"/>
          <a:stretch>
            <a:fillRect/>
          </a:stretch>
        </p:blipFill>
        <p:spPr>
          <a:xfrm>
            <a:off x="10904220" y="457200"/>
            <a:ext cx="960120" cy="9601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WAAP vs WAF vs API gateway </a:t>
            </a:r>
            <a:r>
              <a:rPr lang="en-US" sz="3400" b="1" dirty="0">
                <a:solidFill>
                  <a:schemeClr val="tx1"/>
                </a:solidFill>
              </a:rPr>
              <a:t>vs CDN</a:t>
            </a:r>
            <a:endParaRPr lang="en-US" sz="3400" dirty="0"/>
          </a:p>
        </p:txBody>
      </p:sp>
      <p:graphicFrame>
        <p:nvGraphicFramePr>
          <p:cNvPr id="31" name="comparison table"/>
          <p:cNvGraphicFramePr>
            <a:graphicFrameLocks noGrp="1"/>
          </p:cNvGraphicFramePr>
          <p:nvPr>
            <p:extLst>
              <p:ext uri="{D42A27DB-BD31-4B8C-83A1-F6EECF244321}">
                <p14:modId xmlns:p14="http://schemas.microsoft.com/office/powerpoint/2010/main" val="1872778131"/>
              </p:ext>
            </p:extLst>
          </p:nvPr>
        </p:nvGraphicFramePr>
        <p:xfrm>
          <a:off x="548640" y="1417320"/>
          <a:ext cx="11064240" cy="3931920"/>
        </p:xfrm>
        <a:graphic>
          <a:graphicData uri="http://schemas.openxmlformats.org/drawingml/2006/table">
            <a:tbl>
              <a:tblPr/>
              <a:tblGrid>
                <a:gridCol w="173736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457200">
                <a:tc>
                  <a:txBody>
                    <a:bodyPr/>
                    <a:lstStyle/>
                    <a:p>
                      <a:pPr marL="0" indent="0">
                        <a:buNone/>
                      </a:pPr>
                      <a:r>
                        <a:rPr lang="en-US" sz="1400" b="1" cap="all" baseline="0" dirty="0">
                          <a:solidFill>
                            <a:schemeClr val="bg1"/>
                          </a:solidFill>
                        </a:rPr>
                        <a:t>Solution</a:t>
                      </a:r>
                      <a:endParaRPr lang="en-US" sz="1400" cap="all" baseline="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tx1"/>
                    </a:solidFill>
                  </a:tcPr>
                </a:tc>
                <a:tc>
                  <a:txBody>
                    <a:bodyPr/>
                    <a:lstStyle/>
                    <a:p>
                      <a:pPr marL="0" indent="0">
                        <a:buNone/>
                      </a:pPr>
                      <a:r>
                        <a:rPr lang="en-US" sz="1400" b="1" cap="all" baseline="0" dirty="0">
                          <a:solidFill>
                            <a:schemeClr val="bg1"/>
                          </a:solidFill>
                        </a:rPr>
                        <a:t>Primary role</a:t>
                      </a:r>
                      <a:endParaRPr lang="en-US" sz="1400" cap="all" baseline="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tx1"/>
                    </a:solidFill>
                  </a:tcPr>
                </a:tc>
                <a:tc>
                  <a:txBody>
                    <a:bodyPr/>
                    <a:lstStyle/>
                    <a:p>
                      <a:pPr marL="0" indent="0">
                        <a:buNone/>
                      </a:pPr>
                      <a:r>
                        <a:rPr lang="en-US" sz="1400" b="1" cap="all" baseline="0" dirty="0">
                          <a:solidFill>
                            <a:schemeClr val="bg1"/>
                          </a:solidFill>
                        </a:rPr>
                        <a:t>Security capabilities</a:t>
                      </a:r>
                      <a:endParaRPr lang="en-US" sz="1400" cap="all" baseline="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tx1"/>
                    </a:solidFill>
                  </a:tcPr>
                </a:tc>
                <a:tc>
                  <a:txBody>
                    <a:bodyPr/>
                    <a:lstStyle/>
                    <a:p>
                      <a:pPr marL="0" indent="0">
                        <a:buNone/>
                      </a:pPr>
                      <a:r>
                        <a:rPr lang="en-US" sz="1400" b="1" cap="all" baseline="0" dirty="0">
                          <a:solidFill>
                            <a:schemeClr val="bg1"/>
                          </a:solidFill>
                        </a:rPr>
                        <a:t>Typical use cases</a:t>
                      </a:r>
                      <a:endParaRPr lang="en-US" sz="1400" cap="all" baseline="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868680">
                <a:tc>
                  <a:txBody>
                    <a:bodyPr/>
                    <a:lstStyle/>
                    <a:p>
                      <a:pPr marL="0" indent="0">
                        <a:buNone/>
                      </a:pPr>
                      <a:r>
                        <a:rPr lang="en-US" sz="1500" b="1" cap="all" baseline="0" dirty="0">
                          <a:solidFill>
                            <a:schemeClr val="tx1"/>
                          </a:solidFill>
                        </a:rPr>
                        <a:t>Traditional WAF</a:t>
                      </a:r>
                      <a:endParaRPr lang="en-US" sz="1500" cap="all" baseline="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300" dirty="0">
                          <a:solidFill>
                            <a:schemeClr val="tx1"/>
                          </a:solidFill>
                        </a:rPr>
                        <a:t>Filter HTTP/HTTPS for known web attacks</a:t>
                      </a:r>
                      <a:endParaRPr lang="en-US" sz="130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300" dirty="0">
                          <a:solidFill>
                            <a:schemeClr val="tx1"/>
                          </a:solidFill>
                        </a:rPr>
                        <a:t>Signature and rule-based OWASP Top 10 detection; little or no API or bot protection</a:t>
                      </a:r>
                      <a:endParaRPr lang="en-US" sz="130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300" dirty="0">
                          <a:solidFill>
                            <a:schemeClr val="tx1"/>
                          </a:solidFill>
                        </a:rPr>
                        <a:t>Legacy web apps, on-prem or VM at the data-centre perimeter</a:t>
                      </a:r>
                      <a:endParaRPr lang="en-US" sz="130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extLst>
                  <a:ext uri="{0D108BD9-81ED-4DB2-BD59-A6C34878D82A}">
                    <a16:rowId xmlns:a16="http://schemas.microsoft.com/office/drawing/2014/main" val="10001"/>
                  </a:ext>
                </a:extLst>
              </a:tr>
              <a:tr h="868680">
                <a:tc>
                  <a:txBody>
                    <a:bodyPr/>
                    <a:lstStyle/>
                    <a:p>
                      <a:pPr marL="0" indent="0">
                        <a:buNone/>
                      </a:pPr>
                      <a:r>
                        <a:rPr lang="en-US" sz="1500" b="1" cap="all" baseline="0" dirty="0">
                          <a:solidFill>
                            <a:schemeClr val="tx1"/>
                          </a:solidFill>
                        </a:rPr>
                        <a:t>API gateway</a:t>
                      </a:r>
                      <a:endParaRPr lang="en-US" sz="1500" cap="all" baseline="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300" dirty="0">
                          <a:solidFill>
                            <a:schemeClr val="tx1"/>
                          </a:solidFill>
                        </a:rPr>
                        <a:t>API delivery, routing and lifecycle</a:t>
                      </a:r>
                      <a:endParaRPr lang="en-US" sz="130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300" dirty="0">
                          <a:solidFill>
                            <a:schemeClr val="tx1"/>
                          </a:solidFill>
                        </a:rPr>
                        <a:t>AuthN/AuthZ, rate limits, transformation, basic filtering; no deep threat analysis</a:t>
                      </a:r>
                      <a:endParaRPr lang="en-US" sz="130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300" dirty="0">
                          <a:solidFill>
                            <a:schemeClr val="tx1"/>
                          </a:solidFill>
                        </a:rPr>
                        <a:t>Manage microservices, expose APIs to partners, enforce quotas</a:t>
                      </a:r>
                      <a:endParaRPr lang="en-US" sz="130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extLst>
                  <a:ext uri="{0D108BD9-81ED-4DB2-BD59-A6C34878D82A}">
                    <a16:rowId xmlns:a16="http://schemas.microsoft.com/office/drawing/2014/main" val="10002"/>
                  </a:ext>
                </a:extLst>
              </a:tr>
              <a:tr h="868680">
                <a:tc>
                  <a:txBody>
                    <a:bodyPr/>
                    <a:lstStyle/>
                    <a:p>
                      <a:pPr marL="0" indent="0">
                        <a:buNone/>
                      </a:pPr>
                      <a:r>
                        <a:rPr lang="en-US" sz="1500" b="1" cap="all" baseline="0" dirty="0">
                          <a:solidFill>
                            <a:schemeClr val="tx1"/>
                          </a:solidFill>
                        </a:rPr>
                        <a:t>CDN</a:t>
                      </a:r>
                      <a:endParaRPr lang="en-US" sz="1500" cap="all" baseline="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300" dirty="0">
                          <a:solidFill>
                            <a:schemeClr val="tx1"/>
                          </a:solidFill>
                        </a:rPr>
                        <a:t>Content delivery and acceleration</a:t>
                      </a:r>
                      <a:endParaRPr lang="en-US" sz="130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300" dirty="0">
                          <a:solidFill>
                            <a:schemeClr val="tx1"/>
                          </a:solidFill>
                        </a:rPr>
                        <a:t>Network-level DDoS absorption, optional WAF add-ons; little L7 inspection</a:t>
                      </a:r>
                      <a:endParaRPr lang="en-US" sz="130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tc>
                  <a:txBody>
                    <a:bodyPr/>
                    <a:lstStyle/>
                    <a:p>
                      <a:pPr marL="0" indent="0">
                        <a:buNone/>
                      </a:pPr>
                      <a:r>
                        <a:rPr lang="en-US" sz="1300" dirty="0">
                          <a:solidFill>
                            <a:schemeClr val="tx1"/>
                          </a:solidFill>
                        </a:rPr>
                        <a:t>Speed up sites, offload origin, absorb traffic spikes</a:t>
                      </a:r>
                      <a:endParaRPr lang="en-US" sz="130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tcPr>
                </a:tc>
                <a:extLst>
                  <a:ext uri="{0D108BD9-81ED-4DB2-BD59-A6C34878D82A}">
                    <a16:rowId xmlns:a16="http://schemas.microsoft.com/office/drawing/2014/main" val="10003"/>
                  </a:ext>
                </a:extLst>
              </a:tr>
              <a:tr h="868680">
                <a:tc>
                  <a:txBody>
                    <a:bodyPr/>
                    <a:lstStyle/>
                    <a:p>
                      <a:pPr marL="0" indent="0">
                        <a:buNone/>
                      </a:pPr>
                      <a:r>
                        <a:rPr lang="en-US" sz="1500" b="1" cap="all" baseline="0" dirty="0">
                          <a:solidFill>
                            <a:schemeClr val="tx1"/>
                          </a:solidFill>
                        </a:rPr>
                        <a:t>WAAP</a:t>
                      </a:r>
                      <a:endParaRPr lang="en-US" sz="1500" cap="all" baseline="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accent5"/>
                    </a:solidFill>
                  </a:tcPr>
                </a:tc>
                <a:tc>
                  <a:txBody>
                    <a:bodyPr/>
                    <a:lstStyle/>
                    <a:p>
                      <a:pPr marL="0" indent="0">
                        <a:buNone/>
                      </a:pPr>
                      <a:r>
                        <a:rPr lang="en-US" sz="1300" dirty="0">
                          <a:solidFill>
                            <a:schemeClr val="tx1"/>
                          </a:solidFill>
                        </a:rPr>
                        <a:t>Full protection for web apps and APIs</a:t>
                      </a:r>
                      <a:endParaRPr lang="en-US" sz="130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accent5"/>
                    </a:solidFill>
                  </a:tcPr>
                </a:tc>
                <a:tc>
                  <a:txBody>
                    <a:bodyPr/>
                    <a:lstStyle/>
                    <a:p>
                      <a:pPr marL="0" indent="0">
                        <a:buNone/>
                      </a:pPr>
                      <a:r>
                        <a:rPr lang="en-US" sz="1300" dirty="0">
                          <a:solidFill>
                            <a:schemeClr val="tx1"/>
                          </a:solidFill>
                        </a:rPr>
                        <a:t>Next-gen WAF, API schema enforcement, bots, DDoS L3–7, ML analytics, auto-tuning</a:t>
                      </a:r>
                      <a:endParaRPr lang="en-US" sz="130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accent5"/>
                    </a:solidFill>
                  </a:tcPr>
                </a:tc>
                <a:tc>
                  <a:txBody>
                    <a:bodyPr/>
                    <a:lstStyle/>
                    <a:p>
                      <a:pPr marL="0" indent="0">
                        <a:buNone/>
                      </a:pPr>
                      <a:r>
                        <a:rPr lang="en-US" sz="1300" dirty="0">
                          <a:solidFill>
                            <a:schemeClr val="tx1"/>
                          </a:solidFill>
                        </a:rPr>
                        <a:t>Defend modern apps from multi-vector attacks in cloud and multi-cloud</a:t>
                      </a:r>
                      <a:endParaRPr lang="en-US" sz="1300" dirty="0"/>
                    </a:p>
                  </a:txBody>
                  <a:tcPr marL="73152" marR="73152" marT="73152" marB="73152" anchor="ctr">
                    <a:lnL w="9525" cap="flat" cmpd="sng" algn="ctr">
                      <a:solidFill>
                        <a:srgbClr val="D5DCE1"/>
                      </a:solidFill>
                      <a:prstDash val="solid"/>
                      <a:round/>
                      <a:headEnd type="none" w="med" len="med"/>
                      <a:tailEnd type="none" w="med" len="med"/>
                    </a:lnL>
                    <a:lnR w="9525" cap="flat" cmpd="sng" algn="ctr">
                      <a:solidFill>
                        <a:srgbClr val="D5DCE1"/>
                      </a:solidFill>
                      <a:prstDash val="solid"/>
                      <a:round/>
                      <a:headEnd type="none" w="med" len="med"/>
                      <a:tailEnd type="none" w="med" len="med"/>
                    </a:lnR>
                    <a:lnT w="9525" cap="flat" cmpd="sng" algn="ctr">
                      <a:solidFill>
                        <a:srgbClr val="D5DCE1"/>
                      </a:solidFill>
                      <a:prstDash val="solid"/>
                      <a:round/>
                      <a:headEnd type="none" w="med" len="med"/>
                      <a:tailEnd type="none" w="med" len="med"/>
                    </a:lnT>
                    <a:lnB w="9525" cap="flat" cmpd="sng" algn="ctr">
                      <a:solidFill>
                        <a:srgbClr val="D5DCE1"/>
                      </a:solidFill>
                      <a:prstDash val="solid"/>
                      <a:round/>
                      <a:headEnd type="none" w="med" len="med"/>
                      <a:tailEnd type="none" w="med" len="med"/>
                    </a:lnB>
                    <a:solidFill>
                      <a:schemeClr val="accent5"/>
                    </a:solidFill>
                  </a:tcPr>
                </a:tc>
                <a:extLst>
                  <a:ext uri="{0D108BD9-81ED-4DB2-BD59-A6C34878D82A}">
                    <a16:rowId xmlns:a16="http://schemas.microsoft.com/office/drawing/2014/main" val="10004"/>
                  </a:ext>
                </a:extLst>
              </a:tr>
            </a:tbl>
          </a:graphicData>
        </a:graphic>
      </p:graphicFrame>
      <p:sp>
        <p:nvSpPr>
          <p:cNvPr id="5" name="Text 1"/>
          <p:cNvSpPr txBox="1"/>
          <p:nvPr/>
        </p:nvSpPr>
        <p:spPr>
          <a:xfrm>
            <a:off x="548640" y="5669280"/>
            <a:ext cx="11064240" cy="411480"/>
          </a:xfrm>
          <a:prstGeom prst="rect">
            <a:avLst/>
          </a:prstGeom>
          <a:noFill/>
          <a:ln/>
        </p:spPr>
        <p:txBody>
          <a:bodyPr wrap="square" lIns="0" tIns="0" rIns="0" bIns="0" rtlCol="0" anchor="ctr"/>
          <a:lstStyle/>
          <a:p>
            <a:pPr marL="0" indent="0">
              <a:buNone/>
            </a:pPr>
            <a:r>
              <a:rPr lang="en-US" sz="1500" i="1" dirty="0">
                <a:solidFill>
                  <a:schemeClr val="tx2"/>
                </a:solidFill>
              </a:rPr>
              <a:t>The gateway manages traffic. The CDN keeps users fast. WAAP keeps them safe.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33</a:t>
            </a:fld>
            <a:endParaRPr lang="en-US"/>
          </a:p>
        </p:txBody>
      </p:sp>
      <p:pic>
        <p:nvPicPr>
          <p:cNvPr id="3" name="Image 0" descr="/home/claude/unpacked/ppt/media/image1.png">
            <a:extLst>
              <a:ext uri="{FF2B5EF4-FFF2-40B4-BE49-F238E27FC236}">
                <a16:creationId xmlns:a16="http://schemas.microsoft.com/office/drawing/2014/main" id="{EF200B38-1AF7-4097-817A-7126EF237276}"/>
              </a:ext>
            </a:extLst>
          </p:cNvPr>
          <p:cNvPicPr>
            <a:picLocks noChangeAspect="1"/>
          </p:cNvPicPr>
          <p:nvPr/>
        </p:nvPicPr>
        <p:blipFill>
          <a:blip r:embed="rId3"/>
          <a:stretch>
            <a:fillRect/>
          </a:stretch>
        </p:blipFill>
        <p:spPr>
          <a:xfrm>
            <a:off x="10904220" y="297180"/>
            <a:ext cx="960120" cy="9601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Better together</a:t>
            </a:r>
            <a:r>
              <a:rPr lang="en-US" sz="3400" b="1" dirty="0">
                <a:solidFill>
                  <a:schemeClr val="tx1"/>
                </a:solidFill>
              </a:rPr>
              <a:t>: where each component fits?</a:t>
            </a:r>
            <a:endParaRPr lang="en-US" sz="3400" dirty="0"/>
          </a:p>
        </p:txBody>
      </p:sp>
      <p:sp>
        <p:nvSpPr>
          <p:cNvPr id="4" name="card API gateway + WAAP"/>
          <p:cNvSpPr/>
          <p:nvPr/>
        </p:nvSpPr>
        <p:spPr>
          <a:xfrm>
            <a:off x="548640" y="1417320"/>
            <a:ext cx="3505200" cy="4206240"/>
          </a:xfrm>
          <a:prstGeom prst="roundRect">
            <a:avLst>
              <a:gd name="adj" fmla="val 2609"/>
            </a:avLst>
          </a:prstGeom>
          <a:solidFill>
            <a:schemeClr val="bg2"/>
          </a:solidFill>
          <a:ln/>
        </p:spPr>
        <p:txBody>
          <a:bodyPr/>
          <a:lstStyle/>
          <a:p>
            <a:endParaRPr lang="fr-FR"/>
          </a:p>
        </p:txBody>
      </p:sp>
      <p:sp>
        <p:nvSpPr>
          <p:cNvPr id="5" name="API gateway + WAAP tile"/>
          <p:cNvSpPr/>
          <p:nvPr/>
        </p:nvSpPr>
        <p:spPr>
          <a:xfrm>
            <a:off x="822960" y="1691640"/>
            <a:ext cx="548640" cy="548640"/>
          </a:xfrm>
          <a:prstGeom prst="roundRect">
            <a:avLst>
              <a:gd name="adj" fmla="val 20000"/>
            </a:avLst>
          </a:prstGeom>
          <a:solidFill>
            <a:schemeClr val="accent1"/>
          </a:solidFill>
          <a:ln/>
        </p:spPr>
        <p:txBody>
          <a:bodyPr/>
          <a:lstStyle/>
          <a:p>
            <a:endParaRPr lang="fr-FR"/>
          </a:p>
        </p:txBody>
      </p:sp>
      <p:pic>
        <p:nvPicPr>
          <p:cNvPr id="6" name="API gateway + WAAP glyph" descr="API gateway + WAAP"/>
          <p:cNvPicPr>
            <a:picLocks noChangeAspect="1"/>
          </p:cNvPicPr>
          <p:nvPr/>
        </p:nvPicPr>
        <p:blipFill>
          <a:blip r:embed="rId3"/>
          <a:stretch>
            <a:fillRect/>
          </a:stretch>
        </p:blipFill>
        <p:spPr>
          <a:xfrm>
            <a:off x="943661" y="1812341"/>
            <a:ext cx="307238" cy="307238"/>
          </a:xfrm>
          <a:prstGeom prst="rect">
            <a:avLst/>
          </a:prstGeom>
        </p:spPr>
      </p:pic>
      <p:sp>
        <p:nvSpPr>
          <p:cNvPr id="7" name="Text 3"/>
          <p:cNvSpPr txBox="1"/>
          <p:nvPr/>
        </p:nvSpPr>
        <p:spPr>
          <a:xfrm>
            <a:off x="1508760" y="1691640"/>
            <a:ext cx="2316480" cy="548640"/>
          </a:xfrm>
          <a:prstGeom prst="rect">
            <a:avLst/>
          </a:prstGeom>
          <a:noFill/>
          <a:ln/>
        </p:spPr>
        <p:txBody>
          <a:bodyPr wrap="square" lIns="0" tIns="0" rIns="0" bIns="0" rtlCol="0" anchor="ctr"/>
          <a:lstStyle/>
          <a:p>
            <a:pPr marL="0" indent="0">
              <a:buNone/>
            </a:pPr>
            <a:r>
              <a:rPr lang="en-US" sz="1800" b="1" dirty="0">
                <a:solidFill>
                  <a:schemeClr val="tx1"/>
                </a:solidFill>
              </a:rPr>
              <a:t>API gateway + WAAP</a:t>
            </a:r>
            <a:endParaRPr lang="en-US" sz="1800" dirty="0"/>
          </a:p>
        </p:txBody>
      </p:sp>
      <p:sp>
        <p:nvSpPr>
          <p:cNvPr id="8" name="Text 4"/>
          <p:cNvSpPr txBox="1"/>
          <p:nvPr/>
        </p:nvSpPr>
        <p:spPr>
          <a:xfrm>
            <a:off x="822960" y="2377440"/>
            <a:ext cx="2956560" cy="3063240"/>
          </a:xfrm>
          <a:prstGeom prst="rect">
            <a:avLst/>
          </a:prstGeom>
          <a:noFill/>
          <a:ln/>
        </p:spPr>
        <p:txBody>
          <a:bodyPr wrap="square" lIns="0" tIns="0" rIns="0" bIns="0" rtlCol="0" anchor="t"/>
          <a:lstStyle/>
          <a:p>
            <a:pPr marL="0" indent="0">
              <a:lnSpc>
                <a:spcPct val="200000"/>
              </a:lnSpc>
              <a:buNone/>
            </a:pPr>
            <a:r>
              <a:rPr lang="en-US" sz="1600" cap="all" dirty="0">
                <a:solidFill>
                  <a:schemeClr val="accent4"/>
                </a:solidFill>
              </a:rPr>
              <a:t>For microservices and external APIs: the gateway enforces access and traffic management; WAAP performs deep inspection. Together: defence in depth.</a:t>
            </a:r>
            <a:endParaRPr lang="en-US" sz="1600" cap="all" dirty="0"/>
          </a:p>
        </p:txBody>
      </p:sp>
      <p:sp>
        <p:nvSpPr>
          <p:cNvPr id="9" name="card CDN + WAAP"/>
          <p:cNvSpPr/>
          <p:nvPr/>
        </p:nvSpPr>
        <p:spPr>
          <a:xfrm>
            <a:off x="4328160" y="1417320"/>
            <a:ext cx="3505200" cy="4206240"/>
          </a:xfrm>
          <a:prstGeom prst="roundRect">
            <a:avLst>
              <a:gd name="adj" fmla="val 2609"/>
            </a:avLst>
          </a:prstGeom>
          <a:solidFill>
            <a:schemeClr val="bg2"/>
          </a:solidFill>
          <a:ln/>
        </p:spPr>
        <p:txBody>
          <a:bodyPr/>
          <a:lstStyle/>
          <a:p>
            <a:endParaRPr lang="fr-FR"/>
          </a:p>
        </p:txBody>
      </p:sp>
      <p:sp>
        <p:nvSpPr>
          <p:cNvPr id="10" name="CDN + WAAP tile"/>
          <p:cNvSpPr/>
          <p:nvPr/>
        </p:nvSpPr>
        <p:spPr>
          <a:xfrm>
            <a:off x="4602480" y="1691640"/>
            <a:ext cx="548640" cy="548640"/>
          </a:xfrm>
          <a:prstGeom prst="roundRect">
            <a:avLst>
              <a:gd name="adj" fmla="val 20000"/>
            </a:avLst>
          </a:prstGeom>
          <a:solidFill>
            <a:schemeClr val="accent1"/>
          </a:solidFill>
          <a:ln/>
        </p:spPr>
        <p:txBody>
          <a:bodyPr/>
          <a:lstStyle/>
          <a:p>
            <a:endParaRPr lang="fr-FR"/>
          </a:p>
        </p:txBody>
      </p:sp>
      <p:pic>
        <p:nvPicPr>
          <p:cNvPr id="11" name="CDN + WAAP glyph" descr="CDN + WAAP"/>
          <p:cNvPicPr>
            <a:picLocks noChangeAspect="1"/>
          </p:cNvPicPr>
          <p:nvPr/>
        </p:nvPicPr>
        <p:blipFill>
          <a:blip r:embed="rId4"/>
          <a:stretch>
            <a:fillRect/>
          </a:stretch>
        </p:blipFill>
        <p:spPr>
          <a:xfrm>
            <a:off x="4723181" y="1812341"/>
            <a:ext cx="307238" cy="307238"/>
          </a:xfrm>
          <a:prstGeom prst="rect">
            <a:avLst/>
          </a:prstGeom>
        </p:spPr>
      </p:pic>
      <p:sp>
        <p:nvSpPr>
          <p:cNvPr id="12" name="Text 7"/>
          <p:cNvSpPr txBox="1"/>
          <p:nvPr/>
        </p:nvSpPr>
        <p:spPr>
          <a:xfrm>
            <a:off x="5288280" y="1691640"/>
            <a:ext cx="2316480" cy="548640"/>
          </a:xfrm>
          <a:prstGeom prst="rect">
            <a:avLst/>
          </a:prstGeom>
          <a:noFill/>
          <a:ln/>
        </p:spPr>
        <p:txBody>
          <a:bodyPr wrap="square" lIns="0" tIns="0" rIns="0" bIns="0" rtlCol="0" anchor="ctr"/>
          <a:lstStyle/>
          <a:p>
            <a:pPr marL="0" indent="0">
              <a:buNone/>
            </a:pPr>
            <a:r>
              <a:rPr lang="en-US" sz="1800" b="1" dirty="0">
                <a:solidFill>
                  <a:schemeClr val="tx1"/>
                </a:solidFill>
              </a:rPr>
              <a:t>CDN + WAAP</a:t>
            </a:r>
            <a:endParaRPr lang="en-US" sz="1800" dirty="0"/>
          </a:p>
        </p:txBody>
      </p:sp>
      <p:sp>
        <p:nvSpPr>
          <p:cNvPr id="13" name="Text 8"/>
          <p:cNvSpPr txBox="1"/>
          <p:nvPr/>
        </p:nvSpPr>
        <p:spPr>
          <a:xfrm>
            <a:off x="4602480" y="2377440"/>
            <a:ext cx="2956560" cy="3063240"/>
          </a:xfrm>
          <a:prstGeom prst="rect">
            <a:avLst/>
          </a:prstGeom>
          <a:noFill/>
          <a:ln/>
        </p:spPr>
        <p:txBody>
          <a:bodyPr wrap="square" lIns="0" tIns="0" rIns="0" bIns="0" rtlCol="0" anchor="t"/>
          <a:lstStyle/>
          <a:p>
            <a:pPr>
              <a:lnSpc>
                <a:spcPct val="200000"/>
              </a:lnSpc>
            </a:pPr>
            <a:r>
              <a:rPr lang="en-US" sz="1600" cap="all" dirty="0">
                <a:solidFill>
                  <a:schemeClr val="accent4"/>
                </a:solidFill>
              </a:rPr>
              <a:t>Keep the CDN for caching and performance and add WAAP to protect dynamic routes and APIs. Many cloud WAAPs run on CDN edge networks.</a:t>
            </a:r>
          </a:p>
        </p:txBody>
      </p:sp>
      <p:sp>
        <p:nvSpPr>
          <p:cNvPr id="14" name="card Traditional WAF (selective)"/>
          <p:cNvSpPr/>
          <p:nvPr/>
        </p:nvSpPr>
        <p:spPr>
          <a:xfrm>
            <a:off x="8107680" y="1417320"/>
            <a:ext cx="3505200" cy="4206240"/>
          </a:xfrm>
          <a:prstGeom prst="roundRect">
            <a:avLst>
              <a:gd name="adj" fmla="val 2609"/>
            </a:avLst>
          </a:prstGeom>
          <a:solidFill>
            <a:schemeClr val="bg2"/>
          </a:solidFill>
          <a:ln/>
        </p:spPr>
        <p:txBody>
          <a:bodyPr/>
          <a:lstStyle/>
          <a:p>
            <a:endParaRPr lang="fr-FR"/>
          </a:p>
        </p:txBody>
      </p:sp>
      <p:sp>
        <p:nvSpPr>
          <p:cNvPr id="15" name="Traditional WAF (selective) tile"/>
          <p:cNvSpPr/>
          <p:nvPr/>
        </p:nvSpPr>
        <p:spPr>
          <a:xfrm>
            <a:off x="8382000" y="1691640"/>
            <a:ext cx="548640" cy="548640"/>
          </a:xfrm>
          <a:prstGeom prst="roundRect">
            <a:avLst>
              <a:gd name="adj" fmla="val 20000"/>
            </a:avLst>
          </a:prstGeom>
          <a:solidFill>
            <a:schemeClr val="accent4"/>
          </a:solidFill>
          <a:ln/>
        </p:spPr>
        <p:txBody>
          <a:bodyPr/>
          <a:lstStyle/>
          <a:p>
            <a:endParaRPr lang="fr-FR"/>
          </a:p>
        </p:txBody>
      </p:sp>
      <p:pic>
        <p:nvPicPr>
          <p:cNvPr id="16" name="Traditional WAF (selective) glyph" descr="Traditional WAF (selective)"/>
          <p:cNvPicPr>
            <a:picLocks noChangeAspect="1"/>
          </p:cNvPicPr>
          <p:nvPr/>
        </p:nvPicPr>
        <p:blipFill>
          <a:blip r:embed="rId5"/>
          <a:stretch>
            <a:fillRect/>
          </a:stretch>
        </p:blipFill>
        <p:spPr>
          <a:xfrm>
            <a:off x="8502701" y="1812341"/>
            <a:ext cx="307238" cy="307238"/>
          </a:xfrm>
          <a:prstGeom prst="rect">
            <a:avLst/>
          </a:prstGeom>
        </p:spPr>
      </p:pic>
      <p:sp>
        <p:nvSpPr>
          <p:cNvPr id="17" name="Text 11"/>
          <p:cNvSpPr txBox="1"/>
          <p:nvPr/>
        </p:nvSpPr>
        <p:spPr>
          <a:xfrm>
            <a:off x="9067800" y="1691640"/>
            <a:ext cx="2316480" cy="548640"/>
          </a:xfrm>
          <a:prstGeom prst="rect">
            <a:avLst/>
          </a:prstGeom>
          <a:noFill/>
          <a:ln/>
        </p:spPr>
        <p:txBody>
          <a:bodyPr wrap="square" lIns="0" tIns="0" rIns="0" bIns="0" rtlCol="0" anchor="ctr"/>
          <a:lstStyle/>
          <a:p>
            <a:pPr marL="0" indent="0">
              <a:buNone/>
            </a:pPr>
            <a:r>
              <a:rPr lang="en-US" sz="1800" b="1" dirty="0">
                <a:solidFill>
                  <a:schemeClr val="tx1"/>
                </a:solidFill>
              </a:rPr>
              <a:t>Traditional WAF (selective)</a:t>
            </a:r>
            <a:endParaRPr lang="en-US" sz="1800" dirty="0"/>
          </a:p>
        </p:txBody>
      </p:sp>
      <p:sp>
        <p:nvSpPr>
          <p:cNvPr id="18" name="Text 12"/>
          <p:cNvSpPr txBox="1"/>
          <p:nvPr/>
        </p:nvSpPr>
        <p:spPr>
          <a:xfrm>
            <a:off x="8382000" y="2377440"/>
            <a:ext cx="2956560" cy="3063240"/>
          </a:xfrm>
          <a:prstGeom prst="rect">
            <a:avLst/>
          </a:prstGeom>
          <a:noFill/>
          <a:ln/>
        </p:spPr>
        <p:txBody>
          <a:bodyPr wrap="square" lIns="0" tIns="0" rIns="0" bIns="0" rtlCol="0" anchor="t"/>
          <a:lstStyle/>
          <a:p>
            <a:pPr indent="0">
              <a:lnSpc>
                <a:spcPct val="200000"/>
              </a:lnSpc>
              <a:buNone/>
            </a:pPr>
            <a:r>
              <a:rPr lang="en-US" sz="1600" cap="all" dirty="0">
                <a:solidFill>
                  <a:schemeClr val="accent4"/>
                </a:solidFill>
              </a:rPr>
              <a:t>Still used for isolated internal systems that cannot route via a cloud provider — increasingly rare as teams migrate to WAAP.</a:t>
            </a:r>
          </a:p>
        </p:txBody>
      </p:sp>
      <p:sp>
        <p:nvSpPr>
          <p:cNvPr id="19" name="Text 13"/>
          <p:cNvSpPr txBox="1"/>
          <p:nvPr/>
        </p:nvSpPr>
        <p:spPr>
          <a:xfrm>
            <a:off x="548640" y="5806440"/>
            <a:ext cx="11064240" cy="411480"/>
          </a:xfrm>
          <a:prstGeom prst="rect">
            <a:avLst/>
          </a:prstGeom>
          <a:noFill/>
          <a:ln/>
        </p:spPr>
        <p:txBody>
          <a:bodyPr wrap="square" lIns="0" tIns="0" rIns="0" bIns="0" rtlCol="0" anchor="ctr"/>
          <a:lstStyle/>
          <a:p>
            <a:pPr marL="0" indent="0">
              <a:buNone/>
            </a:pPr>
            <a:r>
              <a:rPr lang="en-US" sz="1600" b="1" i="1" dirty="0">
                <a:solidFill>
                  <a:schemeClr val="accent1">
                    <a:lumMod val="50000"/>
                  </a:schemeClr>
                </a:solidFill>
              </a:rPr>
              <a:t>WAAP is not a replacement for every tool — it is the security layer that ties them together.</a:t>
            </a:r>
            <a:endParaRPr lang="en-US" sz="1600" b="1" dirty="0">
              <a:solidFill>
                <a:schemeClr val="accent1">
                  <a:lumMod val="50000"/>
                </a:schemeClr>
              </a:solidFill>
            </a:endParaRP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34</a:t>
            </a:fld>
            <a:endParaRPr lang="en-US"/>
          </a:p>
        </p:txBody>
      </p:sp>
      <p:pic>
        <p:nvPicPr>
          <p:cNvPr id="3" name="Image 0" descr="/home/claude/unpacked/ppt/media/image1.png">
            <a:extLst>
              <a:ext uri="{FF2B5EF4-FFF2-40B4-BE49-F238E27FC236}">
                <a16:creationId xmlns:a16="http://schemas.microsoft.com/office/drawing/2014/main" id="{7BEC3365-730E-E6E3-0F8C-CC7DFC24BBAE}"/>
              </a:ext>
            </a:extLst>
          </p:cNvPr>
          <p:cNvPicPr>
            <a:picLocks noChangeAspect="1"/>
          </p:cNvPicPr>
          <p:nvPr/>
        </p:nvPicPr>
        <p:blipFill>
          <a:blip r:embed="rId6"/>
          <a:stretch>
            <a:fillRect/>
          </a:stretch>
        </p:blipFill>
        <p:spPr>
          <a:xfrm>
            <a:off x="11132820" y="137160"/>
            <a:ext cx="960120" cy="9601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Architecture and deployment models</a:t>
            </a:r>
            <a:endParaRPr lang="en-US" sz="3400" cap="all" dirty="0"/>
          </a:p>
        </p:txBody>
      </p:sp>
      <p:sp>
        <p:nvSpPr>
          <p:cNvPr id="4" name="arch Clients &amp; APIs"/>
          <p:cNvSpPr/>
          <p:nvPr/>
        </p:nvSpPr>
        <p:spPr>
          <a:xfrm>
            <a:off x="548640" y="1417320"/>
            <a:ext cx="3291840" cy="914400"/>
          </a:xfrm>
          <a:prstGeom prst="roundRect">
            <a:avLst>
              <a:gd name="adj" fmla="val 10000"/>
            </a:avLst>
          </a:prstGeom>
          <a:solidFill>
            <a:schemeClr val="bg2"/>
          </a:solidFill>
          <a:ln/>
        </p:spPr>
        <p:txBody>
          <a:bodyPr/>
          <a:lstStyle/>
          <a:p>
            <a:endParaRPr lang="fr-FR"/>
          </a:p>
        </p:txBody>
      </p:sp>
      <p:sp>
        <p:nvSpPr>
          <p:cNvPr id="5" name="Clients &amp; APIs tile"/>
          <p:cNvSpPr/>
          <p:nvPr/>
        </p:nvSpPr>
        <p:spPr>
          <a:xfrm>
            <a:off x="731520" y="1600200"/>
            <a:ext cx="548640" cy="548640"/>
          </a:xfrm>
          <a:prstGeom prst="roundRect">
            <a:avLst>
              <a:gd name="adj" fmla="val 20000"/>
            </a:avLst>
          </a:prstGeom>
          <a:solidFill>
            <a:schemeClr val="accent1"/>
          </a:solidFill>
          <a:ln/>
        </p:spPr>
        <p:txBody>
          <a:bodyPr/>
          <a:lstStyle/>
          <a:p>
            <a:endParaRPr lang="fr-FR"/>
          </a:p>
        </p:txBody>
      </p:sp>
      <p:pic>
        <p:nvPicPr>
          <p:cNvPr id="6" name="Clients &amp; APIs glyph" descr="Clients &amp; APIs"/>
          <p:cNvPicPr>
            <a:picLocks noChangeAspect="1"/>
          </p:cNvPicPr>
          <p:nvPr/>
        </p:nvPicPr>
        <p:blipFill>
          <a:blip r:embed="rId3"/>
          <a:stretch>
            <a:fillRect/>
          </a:stretch>
        </p:blipFill>
        <p:spPr>
          <a:xfrm>
            <a:off x="852221" y="1720901"/>
            <a:ext cx="307238" cy="307238"/>
          </a:xfrm>
          <a:prstGeom prst="rect">
            <a:avLst/>
          </a:prstGeom>
        </p:spPr>
      </p:pic>
      <p:sp>
        <p:nvSpPr>
          <p:cNvPr id="7" name="Text 3"/>
          <p:cNvSpPr txBox="1"/>
          <p:nvPr/>
        </p:nvSpPr>
        <p:spPr>
          <a:xfrm>
            <a:off x="1417320" y="1417320"/>
            <a:ext cx="2331720" cy="914400"/>
          </a:xfrm>
          <a:prstGeom prst="rect">
            <a:avLst/>
          </a:prstGeom>
          <a:noFill/>
          <a:ln/>
        </p:spPr>
        <p:txBody>
          <a:bodyPr wrap="square" lIns="0" tIns="0" rIns="0" bIns="0" rtlCol="0" anchor="ctr"/>
          <a:lstStyle/>
          <a:p>
            <a:pPr marL="0" indent="0">
              <a:buNone/>
            </a:pPr>
            <a:r>
              <a:rPr lang="en-US" sz="1600" b="1" cap="all" dirty="0">
                <a:solidFill>
                  <a:schemeClr val="tx1"/>
                </a:solidFill>
              </a:rPr>
              <a:t>Clients &amp; APIs</a:t>
            </a:r>
            <a:endParaRPr lang="en-US" sz="1600" cap="all" dirty="0"/>
          </a:p>
        </p:txBody>
      </p:sp>
      <p:sp>
        <p:nvSpPr>
          <p:cNvPr id="8" name="arch arrow 0"/>
          <p:cNvSpPr/>
          <p:nvPr/>
        </p:nvSpPr>
        <p:spPr>
          <a:xfrm>
            <a:off x="3931920" y="1691640"/>
            <a:ext cx="411480" cy="365760"/>
          </a:xfrm>
          <a:prstGeom prst="rightArrow">
            <a:avLst/>
          </a:prstGeom>
          <a:solidFill>
            <a:schemeClr val="accent1"/>
          </a:solidFill>
          <a:ln/>
        </p:spPr>
        <p:txBody>
          <a:bodyPr/>
          <a:lstStyle/>
          <a:p>
            <a:endParaRPr lang="fr-FR"/>
          </a:p>
        </p:txBody>
      </p:sp>
      <p:sp>
        <p:nvSpPr>
          <p:cNvPr id="9" name="arch WAAP edge (reverse proxy)"/>
          <p:cNvSpPr/>
          <p:nvPr/>
        </p:nvSpPr>
        <p:spPr>
          <a:xfrm>
            <a:off x="4434840" y="1417320"/>
            <a:ext cx="3291840" cy="914400"/>
          </a:xfrm>
          <a:prstGeom prst="roundRect">
            <a:avLst>
              <a:gd name="adj" fmla="val 10000"/>
            </a:avLst>
          </a:prstGeom>
          <a:solidFill>
            <a:schemeClr val="tx1"/>
          </a:solidFill>
          <a:ln/>
        </p:spPr>
        <p:txBody>
          <a:bodyPr/>
          <a:lstStyle/>
          <a:p>
            <a:endParaRPr lang="fr-FR"/>
          </a:p>
        </p:txBody>
      </p:sp>
      <p:sp>
        <p:nvSpPr>
          <p:cNvPr id="10" name="WAAP edge (reverse proxy) tile"/>
          <p:cNvSpPr/>
          <p:nvPr/>
        </p:nvSpPr>
        <p:spPr>
          <a:xfrm>
            <a:off x="4617720" y="1600200"/>
            <a:ext cx="548640" cy="548640"/>
          </a:xfrm>
          <a:prstGeom prst="roundRect">
            <a:avLst>
              <a:gd name="adj" fmla="val 20000"/>
            </a:avLst>
          </a:prstGeom>
          <a:solidFill>
            <a:schemeClr val="accent1"/>
          </a:solidFill>
          <a:ln/>
        </p:spPr>
        <p:txBody>
          <a:bodyPr/>
          <a:lstStyle/>
          <a:p>
            <a:endParaRPr lang="fr-FR"/>
          </a:p>
        </p:txBody>
      </p:sp>
      <p:pic>
        <p:nvPicPr>
          <p:cNvPr id="11" name="WAAP edge (reverse proxy) glyph" descr="WAAP edge (reverse proxy)"/>
          <p:cNvPicPr>
            <a:picLocks noChangeAspect="1"/>
          </p:cNvPicPr>
          <p:nvPr/>
        </p:nvPicPr>
        <p:blipFill>
          <a:blip r:embed="rId4"/>
          <a:stretch>
            <a:fillRect/>
          </a:stretch>
        </p:blipFill>
        <p:spPr>
          <a:xfrm>
            <a:off x="4738421" y="1720901"/>
            <a:ext cx="307238" cy="307238"/>
          </a:xfrm>
          <a:prstGeom prst="rect">
            <a:avLst/>
          </a:prstGeom>
        </p:spPr>
      </p:pic>
      <p:sp>
        <p:nvSpPr>
          <p:cNvPr id="12" name="Text 7"/>
          <p:cNvSpPr txBox="1"/>
          <p:nvPr/>
        </p:nvSpPr>
        <p:spPr>
          <a:xfrm>
            <a:off x="5303520" y="1417320"/>
            <a:ext cx="2331720" cy="914400"/>
          </a:xfrm>
          <a:prstGeom prst="rect">
            <a:avLst/>
          </a:prstGeom>
          <a:noFill/>
          <a:ln/>
        </p:spPr>
        <p:txBody>
          <a:bodyPr wrap="square" lIns="0" tIns="0" rIns="0" bIns="0" rtlCol="0" anchor="ctr"/>
          <a:lstStyle/>
          <a:p>
            <a:pPr marL="0" indent="0">
              <a:buNone/>
            </a:pPr>
            <a:r>
              <a:rPr lang="en-US" sz="1600" b="1" dirty="0">
                <a:solidFill>
                  <a:schemeClr val="bg1"/>
                </a:solidFill>
              </a:rPr>
              <a:t>WAAP edge (reverse proxy)</a:t>
            </a:r>
            <a:endParaRPr lang="en-US" sz="1600" dirty="0"/>
          </a:p>
        </p:txBody>
      </p:sp>
      <p:sp>
        <p:nvSpPr>
          <p:cNvPr id="13" name="arch arrow 1"/>
          <p:cNvSpPr/>
          <p:nvPr/>
        </p:nvSpPr>
        <p:spPr>
          <a:xfrm>
            <a:off x="7818120" y="1691640"/>
            <a:ext cx="411480" cy="365760"/>
          </a:xfrm>
          <a:prstGeom prst="rightArrow">
            <a:avLst/>
          </a:prstGeom>
          <a:solidFill>
            <a:schemeClr val="accent1"/>
          </a:solidFill>
          <a:ln/>
        </p:spPr>
        <p:txBody>
          <a:bodyPr/>
          <a:lstStyle/>
          <a:p>
            <a:endParaRPr lang="fr-FR"/>
          </a:p>
        </p:txBody>
      </p:sp>
      <p:sp>
        <p:nvSpPr>
          <p:cNvPr id="14" name="arch Origin servers"/>
          <p:cNvSpPr/>
          <p:nvPr/>
        </p:nvSpPr>
        <p:spPr>
          <a:xfrm>
            <a:off x="8321040" y="1417320"/>
            <a:ext cx="3291840" cy="914400"/>
          </a:xfrm>
          <a:prstGeom prst="roundRect">
            <a:avLst>
              <a:gd name="adj" fmla="val 10000"/>
            </a:avLst>
          </a:prstGeom>
          <a:solidFill>
            <a:schemeClr val="bg2"/>
          </a:solidFill>
          <a:ln/>
        </p:spPr>
        <p:txBody>
          <a:bodyPr/>
          <a:lstStyle/>
          <a:p>
            <a:endParaRPr lang="fr-FR"/>
          </a:p>
        </p:txBody>
      </p:sp>
      <p:sp>
        <p:nvSpPr>
          <p:cNvPr id="15" name="Origin servers tile"/>
          <p:cNvSpPr/>
          <p:nvPr/>
        </p:nvSpPr>
        <p:spPr>
          <a:xfrm>
            <a:off x="8503920" y="1600200"/>
            <a:ext cx="548640" cy="548640"/>
          </a:xfrm>
          <a:prstGeom prst="roundRect">
            <a:avLst>
              <a:gd name="adj" fmla="val 20000"/>
            </a:avLst>
          </a:prstGeom>
          <a:solidFill>
            <a:schemeClr val="accent1"/>
          </a:solidFill>
          <a:ln/>
        </p:spPr>
        <p:txBody>
          <a:bodyPr/>
          <a:lstStyle/>
          <a:p>
            <a:endParaRPr lang="fr-FR"/>
          </a:p>
        </p:txBody>
      </p:sp>
      <p:pic>
        <p:nvPicPr>
          <p:cNvPr id="16" name="Origin servers glyph" descr="Origin servers"/>
          <p:cNvPicPr>
            <a:picLocks noChangeAspect="1"/>
          </p:cNvPicPr>
          <p:nvPr/>
        </p:nvPicPr>
        <p:blipFill>
          <a:blip r:embed="rId5"/>
          <a:stretch>
            <a:fillRect/>
          </a:stretch>
        </p:blipFill>
        <p:spPr>
          <a:xfrm>
            <a:off x="8624621" y="1720901"/>
            <a:ext cx="307238" cy="307238"/>
          </a:xfrm>
          <a:prstGeom prst="rect">
            <a:avLst/>
          </a:prstGeom>
        </p:spPr>
      </p:pic>
      <p:sp>
        <p:nvSpPr>
          <p:cNvPr id="17" name="Text 11"/>
          <p:cNvSpPr txBox="1"/>
          <p:nvPr/>
        </p:nvSpPr>
        <p:spPr>
          <a:xfrm>
            <a:off x="9189720" y="1417320"/>
            <a:ext cx="2331720" cy="914400"/>
          </a:xfrm>
          <a:prstGeom prst="rect">
            <a:avLst/>
          </a:prstGeom>
          <a:noFill/>
          <a:ln/>
        </p:spPr>
        <p:txBody>
          <a:bodyPr wrap="square" lIns="0" tIns="0" rIns="0" bIns="0" rtlCol="0" anchor="ctr"/>
          <a:lstStyle/>
          <a:p>
            <a:pPr marL="0" indent="0">
              <a:buNone/>
            </a:pPr>
            <a:r>
              <a:rPr lang="en-US" sz="1600" b="1" cap="all" dirty="0">
                <a:solidFill>
                  <a:schemeClr val="tx1"/>
                </a:solidFill>
              </a:rPr>
              <a:t>Origin servers</a:t>
            </a:r>
            <a:endParaRPr lang="en-US" sz="1600" cap="all" dirty="0"/>
          </a:p>
        </p:txBody>
      </p:sp>
      <p:sp>
        <p:nvSpPr>
          <p:cNvPr id="18" name="Text 12"/>
          <p:cNvSpPr txBox="1"/>
          <p:nvPr/>
        </p:nvSpPr>
        <p:spPr>
          <a:xfrm>
            <a:off x="548640" y="2514600"/>
            <a:ext cx="11064240" cy="594360"/>
          </a:xfrm>
          <a:prstGeom prst="rect">
            <a:avLst/>
          </a:prstGeom>
          <a:noFill/>
          <a:ln/>
        </p:spPr>
        <p:txBody>
          <a:bodyPr wrap="square" lIns="0" tIns="0" rIns="0" bIns="0" rtlCol="0" anchor="ctr"/>
          <a:lstStyle/>
          <a:p>
            <a:pPr marL="0" indent="0">
              <a:buNone/>
            </a:pPr>
            <a:r>
              <a:rPr lang="en-US" sz="1600" cap="all" dirty="0">
                <a:solidFill>
                  <a:schemeClr val="accent4"/>
                </a:solidFill>
              </a:rPr>
              <a:t>DNS points to the WAAP provider; global points of presence inspect traffic close to the user (a call from Frankfurt is inspected in Frankfurt) and forward only clean requests.</a:t>
            </a:r>
          </a:p>
        </p:txBody>
      </p:sp>
      <p:sp>
        <p:nvSpPr>
          <p:cNvPr id="19" name="deployment Cloud SaaS"/>
          <p:cNvSpPr/>
          <p:nvPr/>
        </p:nvSpPr>
        <p:spPr>
          <a:xfrm>
            <a:off x="548640" y="3337560"/>
            <a:ext cx="2606040" cy="2697480"/>
          </a:xfrm>
          <a:prstGeom prst="roundRect">
            <a:avLst>
              <a:gd name="adj" fmla="val 3509"/>
            </a:avLst>
          </a:prstGeom>
          <a:solidFill>
            <a:schemeClr val="bg2"/>
          </a:solidFill>
          <a:ln/>
        </p:spPr>
        <p:txBody>
          <a:bodyPr/>
          <a:lstStyle/>
          <a:p>
            <a:endParaRPr lang="fr-FR"/>
          </a:p>
        </p:txBody>
      </p:sp>
      <p:sp>
        <p:nvSpPr>
          <p:cNvPr id="20" name="Cloud SaaS tile"/>
          <p:cNvSpPr/>
          <p:nvPr/>
        </p:nvSpPr>
        <p:spPr>
          <a:xfrm>
            <a:off x="822960" y="3611880"/>
            <a:ext cx="548640" cy="548640"/>
          </a:xfrm>
          <a:prstGeom prst="roundRect">
            <a:avLst>
              <a:gd name="adj" fmla="val 20000"/>
            </a:avLst>
          </a:prstGeom>
          <a:solidFill>
            <a:schemeClr val="accent2"/>
          </a:solidFill>
          <a:ln/>
        </p:spPr>
        <p:txBody>
          <a:bodyPr/>
          <a:lstStyle/>
          <a:p>
            <a:endParaRPr lang="fr-FR"/>
          </a:p>
        </p:txBody>
      </p:sp>
      <p:pic>
        <p:nvPicPr>
          <p:cNvPr id="21" name="Cloud SaaS glyph" descr="Cloud SaaS"/>
          <p:cNvPicPr>
            <a:picLocks noChangeAspect="1"/>
          </p:cNvPicPr>
          <p:nvPr/>
        </p:nvPicPr>
        <p:blipFill>
          <a:blip r:embed="rId6"/>
          <a:stretch>
            <a:fillRect/>
          </a:stretch>
        </p:blipFill>
        <p:spPr>
          <a:xfrm>
            <a:off x="943661" y="3732581"/>
            <a:ext cx="307238" cy="307238"/>
          </a:xfrm>
          <a:prstGeom prst="rect">
            <a:avLst/>
          </a:prstGeom>
        </p:spPr>
      </p:pic>
      <p:sp>
        <p:nvSpPr>
          <p:cNvPr id="22" name="Text 15"/>
          <p:cNvSpPr txBox="1"/>
          <p:nvPr/>
        </p:nvSpPr>
        <p:spPr>
          <a:xfrm>
            <a:off x="822960" y="4297680"/>
            <a:ext cx="2103120" cy="640080"/>
          </a:xfrm>
          <a:prstGeom prst="rect">
            <a:avLst/>
          </a:prstGeom>
          <a:noFill/>
          <a:ln/>
        </p:spPr>
        <p:txBody>
          <a:bodyPr wrap="square" lIns="0" tIns="0" rIns="0" bIns="0" rtlCol="0" anchor="t"/>
          <a:lstStyle/>
          <a:p>
            <a:pPr marL="0" indent="0">
              <a:buNone/>
            </a:pPr>
            <a:r>
              <a:rPr lang="en-US" sz="1600" b="1" cap="all" dirty="0">
                <a:solidFill>
                  <a:schemeClr val="tx1"/>
                </a:solidFill>
              </a:rPr>
              <a:t>Cloud</a:t>
            </a:r>
            <a:r>
              <a:rPr lang="en-US" sz="1600" b="1" dirty="0">
                <a:solidFill>
                  <a:schemeClr val="tx1"/>
                </a:solidFill>
              </a:rPr>
              <a:t> SaaS</a:t>
            </a:r>
            <a:endParaRPr lang="en-US" sz="1600" dirty="0"/>
          </a:p>
        </p:txBody>
      </p:sp>
      <p:sp>
        <p:nvSpPr>
          <p:cNvPr id="23" name="Text 16"/>
          <p:cNvSpPr txBox="1"/>
          <p:nvPr/>
        </p:nvSpPr>
        <p:spPr>
          <a:xfrm>
            <a:off x="822960" y="4937760"/>
            <a:ext cx="2103120" cy="960120"/>
          </a:xfrm>
          <a:prstGeom prst="rect">
            <a:avLst/>
          </a:prstGeom>
          <a:noFill/>
          <a:ln/>
        </p:spPr>
        <p:txBody>
          <a:bodyPr wrap="square" lIns="0" tIns="0" rIns="0" bIns="0" rtlCol="0" anchor="t"/>
          <a:lstStyle/>
          <a:p>
            <a:r>
              <a:rPr lang="en-US" sz="1600" cap="all" dirty="0">
                <a:solidFill>
                  <a:schemeClr val="accent4"/>
                </a:solidFill>
              </a:rPr>
              <a:t>Most common: redirect DNS and protection starts immediately</a:t>
            </a:r>
          </a:p>
        </p:txBody>
      </p:sp>
      <p:sp>
        <p:nvSpPr>
          <p:cNvPr id="24" name="deployment Self-hosted / virtual appliance"/>
          <p:cNvSpPr/>
          <p:nvPr/>
        </p:nvSpPr>
        <p:spPr>
          <a:xfrm>
            <a:off x="3383280" y="3337560"/>
            <a:ext cx="2606040" cy="2697480"/>
          </a:xfrm>
          <a:prstGeom prst="roundRect">
            <a:avLst>
              <a:gd name="adj" fmla="val 3509"/>
            </a:avLst>
          </a:prstGeom>
          <a:solidFill>
            <a:schemeClr val="bg2"/>
          </a:solidFill>
          <a:ln/>
        </p:spPr>
        <p:txBody>
          <a:bodyPr/>
          <a:lstStyle/>
          <a:p>
            <a:endParaRPr lang="fr-FR"/>
          </a:p>
        </p:txBody>
      </p:sp>
      <p:sp>
        <p:nvSpPr>
          <p:cNvPr id="25" name="Self-hosted / virtual appliance tile"/>
          <p:cNvSpPr/>
          <p:nvPr/>
        </p:nvSpPr>
        <p:spPr>
          <a:xfrm>
            <a:off x="3657600" y="3611880"/>
            <a:ext cx="548640" cy="548640"/>
          </a:xfrm>
          <a:prstGeom prst="roundRect">
            <a:avLst>
              <a:gd name="adj" fmla="val 20000"/>
            </a:avLst>
          </a:prstGeom>
          <a:solidFill>
            <a:schemeClr val="accent1"/>
          </a:solidFill>
          <a:ln/>
        </p:spPr>
        <p:txBody>
          <a:bodyPr/>
          <a:lstStyle/>
          <a:p>
            <a:endParaRPr lang="fr-FR"/>
          </a:p>
        </p:txBody>
      </p:sp>
      <p:pic>
        <p:nvPicPr>
          <p:cNvPr id="26" name="Self-hosted / virtual appliance glyph" descr="Self-hosted / virtual appliance"/>
          <p:cNvPicPr>
            <a:picLocks noChangeAspect="1"/>
          </p:cNvPicPr>
          <p:nvPr/>
        </p:nvPicPr>
        <p:blipFill>
          <a:blip r:embed="rId7"/>
          <a:stretch>
            <a:fillRect/>
          </a:stretch>
        </p:blipFill>
        <p:spPr>
          <a:xfrm>
            <a:off x="3778301" y="3732581"/>
            <a:ext cx="307238" cy="307238"/>
          </a:xfrm>
          <a:prstGeom prst="rect">
            <a:avLst/>
          </a:prstGeom>
        </p:spPr>
      </p:pic>
      <p:sp>
        <p:nvSpPr>
          <p:cNvPr id="27" name="Text 19"/>
          <p:cNvSpPr txBox="1"/>
          <p:nvPr/>
        </p:nvSpPr>
        <p:spPr>
          <a:xfrm>
            <a:off x="3657600" y="4297680"/>
            <a:ext cx="2103120" cy="640080"/>
          </a:xfrm>
          <a:prstGeom prst="rect">
            <a:avLst/>
          </a:prstGeom>
          <a:noFill/>
          <a:ln/>
        </p:spPr>
        <p:txBody>
          <a:bodyPr wrap="square" lIns="0" tIns="0" rIns="0" bIns="0" rtlCol="0" anchor="t"/>
          <a:lstStyle/>
          <a:p>
            <a:pPr marL="0" indent="0">
              <a:buNone/>
            </a:pPr>
            <a:r>
              <a:rPr lang="en-US" sz="1600" b="1" cap="all" dirty="0">
                <a:solidFill>
                  <a:schemeClr val="tx1"/>
                </a:solidFill>
              </a:rPr>
              <a:t>Self-hosted / virtual appliance</a:t>
            </a:r>
            <a:endParaRPr lang="en-US" sz="1600" cap="all" dirty="0"/>
          </a:p>
        </p:txBody>
      </p:sp>
      <p:sp>
        <p:nvSpPr>
          <p:cNvPr id="28" name="Text 20"/>
          <p:cNvSpPr txBox="1"/>
          <p:nvPr/>
        </p:nvSpPr>
        <p:spPr>
          <a:xfrm>
            <a:off x="3657600" y="4937760"/>
            <a:ext cx="2103120" cy="960120"/>
          </a:xfrm>
          <a:prstGeom prst="rect">
            <a:avLst/>
          </a:prstGeom>
          <a:noFill/>
          <a:ln/>
        </p:spPr>
        <p:txBody>
          <a:bodyPr wrap="square" lIns="0" tIns="0" rIns="0" bIns="0" rtlCol="0" anchor="t"/>
          <a:lstStyle/>
          <a:p>
            <a:pPr indent="0">
              <a:buNone/>
            </a:pPr>
            <a:r>
              <a:rPr lang="en-US" sz="1600" cap="all" dirty="0">
                <a:solidFill>
                  <a:schemeClr val="accent4"/>
                </a:solidFill>
              </a:rPr>
              <a:t>For strict data-residency or internal network needs</a:t>
            </a:r>
          </a:p>
        </p:txBody>
      </p:sp>
      <p:sp>
        <p:nvSpPr>
          <p:cNvPr id="29" name="deployment Agent or sidecar"/>
          <p:cNvSpPr/>
          <p:nvPr/>
        </p:nvSpPr>
        <p:spPr>
          <a:xfrm>
            <a:off x="6217920" y="3337560"/>
            <a:ext cx="2606040" cy="2697480"/>
          </a:xfrm>
          <a:prstGeom prst="roundRect">
            <a:avLst>
              <a:gd name="adj" fmla="val 3509"/>
            </a:avLst>
          </a:prstGeom>
          <a:solidFill>
            <a:schemeClr val="bg2"/>
          </a:solidFill>
          <a:ln/>
        </p:spPr>
        <p:txBody>
          <a:bodyPr/>
          <a:lstStyle/>
          <a:p>
            <a:endParaRPr lang="fr-FR"/>
          </a:p>
        </p:txBody>
      </p:sp>
      <p:sp>
        <p:nvSpPr>
          <p:cNvPr id="30" name="Agent or sidecar tile"/>
          <p:cNvSpPr/>
          <p:nvPr/>
        </p:nvSpPr>
        <p:spPr>
          <a:xfrm>
            <a:off x="6492240" y="3611880"/>
            <a:ext cx="548640" cy="548640"/>
          </a:xfrm>
          <a:prstGeom prst="roundRect">
            <a:avLst>
              <a:gd name="adj" fmla="val 20000"/>
            </a:avLst>
          </a:prstGeom>
          <a:solidFill>
            <a:schemeClr val="accent1"/>
          </a:solidFill>
          <a:ln/>
        </p:spPr>
        <p:txBody>
          <a:bodyPr/>
          <a:lstStyle/>
          <a:p>
            <a:endParaRPr lang="fr-FR"/>
          </a:p>
        </p:txBody>
      </p:sp>
      <p:pic>
        <p:nvPicPr>
          <p:cNvPr id="31" name="Agent or sidecar glyph" descr="Agent or sidecar"/>
          <p:cNvPicPr>
            <a:picLocks noChangeAspect="1"/>
          </p:cNvPicPr>
          <p:nvPr/>
        </p:nvPicPr>
        <p:blipFill>
          <a:blip r:embed="rId8"/>
          <a:stretch>
            <a:fillRect/>
          </a:stretch>
        </p:blipFill>
        <p:spPr>
          <a:xfrm>
            <a:off x="6612941" y="3732581"/>
            <a:ext cx="307238" cy="307238"/>
          </a:xfrm>
          <a:prstGeom prst="rect">
            <a:avLst/>
          </a:prstGeom>
        </p:spPr>
      </p:pic>
      <p:sp>
        <p:nvSpPr>
          <p:cNvPr id="32" name="Text 23"/>
          <p:cNvSpPr txBox="1"/>
          <p:nvPr/>
        </p:nvSpPr>
        <p:spPr>
          <a:xfrm>
            <a:off x="6492240" y="4297680"/>
            <a:ext cx="2103120" cy="640080"/>
          </a:xfrm>
          <a:prstGeom prst="rect">
            <a:avLst/>
          </a:prstGeom>
          <a:noFill/>
          <a:ln/>
        </p:spPr>
        <p:txBody>
          <a:bodyPr wrap="square" lIns="0" tIns="0" rIns="0" bIns="0" rtlCol="0" anchor="t"/>
          <a:lstStyle/>
          <a:p>
            <a:pPr marL="0" indent="0">
              <a:buNone/>
            </a:pPr>
            <a:r>
              <a:rPr lang="en-US" sz="1600" b="1" cap="all" dirty="0">
                <a:solidFill>
                  <a:schemeClr val="tx1"/>
                </a:solidFill>
              </a:rPr>
              <a:t>Agent or sidecar</a:t>
            </a:r>
            <a:endParaRPr lang="en-US" sz="1600" cap="all" dirty="0"/>
          </a:p>
        </p:txBody>
      </p:sp>
      <p:sp>
        <p:nvSpPr>
          <p:cNvPr id="33" name="Text 24"/>
          <p:cNvSpPr txBox="1"/>
          <p:nvPr/>
        </p:nvSpPr>
        <p:spPr>
          <a:xfrm>
            <a:off x="6492240" y="4937760"/>
            <a:ext cx="2103120" cy="960120"/>
          </a:xfrm>
          <a:prstGeom prst="rect">
            <a:avLst/>
          </a:prstGeom>
          <a:noFill/>
          <a:ln/>
        </p:spPr>
        <p:txBody>
          <a:bodyPr wrap="square" lIns="0" tIns="0" rIns="0" bIns="0" rtlCol="0" anchor="t"/>
          <a:lstStyle/>
          <a:p>
            <a:r>
              <a:rPr lang="en-US" sz="1600" cap="all" dirty="0">
                <a:solidFill>
                  <a:schemeClr val="accent4"/>
                </a:solidFill>
              </a:rPr>
              <a:t>Protects internal microservice traffic inside a cluster</a:t>
            </a:r>
          </a:p>
        </p:txBody>
      </p:sp>
      <p:sp>
        <p:nvSpPr>
          <p:cNvPr id="34" name="deployment Inline or monitor mode"/>
          <p:cNvSpPr/>
          <p:nvPr/>
        </p:nvSpPr>
        <p:spPr>
          <a:xfrm>
            <a:off x="9052560" y="3337560"/>
            <a:ext cx="2606040" cy="2697480"/>
          </a:xfrm>
          <a:prstGeom prst="roundRect">
            <a:avLst>
              <a:gd name="adj" fmla="val 3509"/>
            </a:avLst>
          </a:prstGeom>
          <a:solidFill>
            <a:schemeClr val="bg2"/>
          </a:solidFill>
          <a:ln/>
        </p:spPr>
        <p:txBody>
          <a:bodyPr/>
          <a:lstStyle/>
          <a:p>
            <a:endParaRPr lang="fr-FR"/>
          </a:p>
        </p:txBody>
      </p:sp>
      <p:sp>
        <p:nvSpPr>
          <p:cNvPr id="35" name="Inline or monitor mode tile"/>
          <p:cNvSpPr/>
          <p:nvPr/>
        </p:nvSpPr>
        <p:spPr>
          <a:xfrm>
            <a:off x="9326880" y="3611880"/>
            <a:ext cx="548640" cy="548640"/>
          </a:xfrm>
          <a:prstGeom prst="roundRect">
            <a:avLst>
              <a:gd name="adj" fmla="val 20000"/>
            </a:avLst>
          </a:prstGeom>
          <a:solidFill>
            <a:schemeClr val="accent1"/>
          </a:solidFill>
          <a:ln/>
        </p:spPr>
        <p:txBody>
          <a:bodyPr/>
          <a:lstStyle/>
          <a:p>
            <a:endParaRPr lang="fr-FR"/>
          </a:p>
        </p:txBody>
      </p:sp>
      <p:pic>
        <p:nvPicPr>
          <p:cNvPr id="36" name="Inline or monitor mode glyph" descr="Inline or monitor mode"/>
          <p:cNvPicPr>
            <a:picLocks noChangeAspect="1"/>
          </p:cNvPicPr>
          <p:nvPr/>
        </p:nvPicPr>
        <p:blipFill>
          <a:blip r:embed="rId9"/>
          <a:stretch>
            <a:fillRect/>
          </a:stretch>
        </p:blipFill>
        <p:spPr>
          <a:xfrm>
            <a:off x="9447581" y="3732581"/>
            <a:ext cx="307238" cy="307238"/>
          </a:xfrm>
          <a:prstGeom prst="rect">
            <a:avLst/>
          </a:prstGeom>
        </p:spPr>
      </p:pic>
      <p:sp>
        <p:nvSpPr>
          <p:cNvPr id="37" name="Text 27"/>
          <p:cNvSpPr txBox="1"/>
          <p:nvPr/>
        </p:nvSpPr>
        <p:spPr>
          <a:xfrm>
            <a:off x="9326880" y="4297680"/>
            <a:ext cx="2103120" cy="640080"/>
          </a:xfrm>
          <a:prstGeom prst="rect">
            <a:avLst/>
          </a:prstGeom>
          <a:noFill/>
          <a:ln/>
        </p:spPr>
        <p:txBody>
          <a:bodyPr wrap="square" lIns="0" tIns="0" rIns="0" bIns="0" rtlCol="0" anchor="t"/>
          <a:lstStyle/>
          <a:p>
            <a:pPr marL="0" indent="0">
              <a:buNone/>
            </a:pPr>
            <a:r>
              <a:rPr lang="en-US" sz="1600" b="1" cap="all" dirty="0">
                <a:solidFill>
                  <a:schemeClr val="tx1"/>
                </a:solidFill>
              </a:rPr>
              <a:t>Inline or monitor mode</a:t>
            </a:r>
            <a:endParaRPr lang="en-US" sz="1600" cap="all" dirty="0"/>
          </a:p>
        </p:txBody>
      </p:sp>
      <p:sp>
        <p:nvSpPr>
          <p:cNvPr id="38" name="Text 28"/>
          <p:cNvSpPr txBox="1"/>
          <p:nvPr/>
        </p:nvSpPr>
        <p:spPr>
          <a:xfrm>
            <a:off x="9326880" y="4937760"/>
            <a:ext cx="2103120" cy="960120"/>
          </a:xfrm>
          <a:prstGeom prst="rect">
            <a:avLst/>
          </a:prstGeom>
          <a:noFill/>
          <a:ln/>
        </p:spPr>
        <p:txBody>
          <a:bodyPr wrap="square" lIns="0" tIns="0" rIns="0" bIns="0" rtlCol="0" anchor="t"/>
          <a:lstStyle/>
          <a:p>
            <a:pPr indent="0">
              <a:buNone/>
            </a:pPr>
            <a:r>
              <a:rPr lang="en-US" sz="1600" cap="all" dirty="0">
                <a:solidFill>
                  <a:schemeClr val="accent4"/>
                </a:solidFill>
              </a:rPr>
              <a:t>Inline blocks in real time; monitor detects without enforcing</a:t>
            </a:r>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35</a:t>
            </a:fld>
            <a:endParaRPr lang="en-US"/>
          </a:p>
        </p:txBody>
      </p:sp>
      <p:pic>
        <p:nvPicPr>
          <p:cNvPr id="39" name="Image 0" descr="/home/claude/unpacked/ppt/media/image1.png">
            <a:extLst>
              <a:ext uri="{FF2B5EF4-FFF2-40B4-BE49-F238E27FC236}">
                <a16:creationId xmlns:a16="http://schemas.microsoft.com/office/drawing/2014/main" id="{2196CD5A-D40A-82AB-2A50-F4AD68BB508C}"/>
              </a:ext>
            </a:extLst>
          </p:cNvPr>
          <p:cNvPicPr>
            <a:picLocks noChangeAspect="1"/>
          </p:cNvPicPr>
          <p:nvPr/>
        </p:nvPicPr>
        <p:blipFill>
          <a:blip r:embed="rId10"/>
          <a:stretch>
            <a:fillRect/>
          </a:stretch>
        </p:blipFill>
        <p:spPr>
          <a:xfrm>
            <a:off x="11041380" y="277452"/>
            <a:ext cx="960120" cy="96012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Data flow: what happens to each request?</a:t>
            </a:r>
            <a:endParaRPr lang="en-US" sz="3400" cap="all" dirty="0"/>
          </a:p>
        </p:txBody>
      </p:sp>
      <p:sp>
        <p:nvSpPr>
          <p:cNvPr id="4" name="step 1"/>
          <p:cNvSpPr/>
          <p:nvPr/>
        </p:nvSpPr>
        <p:spPr>
          <a:xfrm>
            <a:off x="548640" y="1508760"/>
            <a:ext cx="2011680" cy="1874520"/>
          </a:xfrm>
          <a:prstGeom prst="roundRect">
            <a:avLst>
              <a:gd name="adj" fmla="val 4878"/>
            </a:avLst>
          </a:prstGeom>
          <a:solidFill>
            <a:schemeClr val="bg2"/>
          </a:solidFill>
          <a:ln/>
        </p:spPr>
        <p:txBody>
          <a:bodyPr/>
          <a:lstStyle/>
          <a:p>
            <a:endParaRPr lang="fr-FR"/>
          </a:p>
        </p:txBody>
      </p:sp>
      <p:sp>
        <p:nvSpPr>
          <p:cNvPr id="5" name="step badge 1"/>
          <p:cNvSpPr/>
          <p:nvPr/>
        </p:nvSpPr>
        <p:spPr>
          <a:xfrm>
            <a:off x="731520" y="1691640"/>
            <a:ext cx="457200" cy="457200"/>
          </a:xfrm>
          <a:prstGeom prst="ellipse">
            <a:avLst/>
          </a:prstGeom>
          <a:solidFill>
            <a:schemeClr val="accent1"/>
          </a:solidFill>
          <a:ln/>
        </p:spPr>
        <p:txBody>
          <a:bodyPr/>
          <a:lstStyle/>
          <a:p>
            <a:endParaRPr lang="fr-FR"/>
          </a:p>
        </p:txBody>
      </p:sp>
      <p:sp>
        <p:nvSpPr>
          <p:cNvPr id="6" name="Text 3"/>
          <p:cNvSpPr txBox="1"/>
          <p:nvPr/>
        </p:nvSpPr>
        <p:spPr>
          <a:xfrm>
            <a:off x="731520"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7" name="Text 4"/>
          <p:cNvSpPr txBox="1"/>
          <p:nvPr/>
        </p:nvSpPr>
        <p:spPr>
          <a:xfrm>
            <a:off x="731520" y="2240280"/>
            <a:ext cx="1645920" cy="365760"/>
          </a:xfrm>
          <a:prstGeom prst="rect">
            <a:avLst/>
          </a:prstGeom>
          <a:noFill/>
          <a:ln/>
        </p:spPr>
        <p:txBody>
          <a:bodyPr wrap="square" lIns="0" tIns="0" rIns="0" bIns="0" rtlCol="0" anchor="ctr"/>
          <a:lstStyle/>
          <a:p>
            <a:pPr marL="0" indent="0">
              <a:buNone/>
            </a:pPr>
            <a:r>
              <a:rPr lang="en-US" sz="1500" b="1" dirty="0">
                <a:solidFill>
                  <a:schemeClr val="tx1"/>
                </a:solidFill>
              </a:rPr>
              <a:t>DNS </a:t>
            </a:r>
            <a:r>
              <a:rPr lang="en-US" sz="1500" b="1" cap="all" dirty="0">
                <a:solidFill>
                  <a:schemeClr val="tx1"/>
                </a:solidFill>
              </a:rPr>
              <a:t>routing</a:t>
            </a:r>
            <a:endParaRPr lang="en-US" sz="1500" cap="all" dirty="0"/>
          </a:p>
        </p:txBody>
      </p:sp>
      <p:sp>
        <p:nvSpPr>
          <p:cNvPr id="8" name="Text 5"/>
          <p:cNvSpPr txBox="1"/>
          <p:nvPr/>
        </p:nvSpPr>
        <p:spPr>
          <a:xfrm>
            <a:off x="731520" y="2606040"/>
            <a:ext cx="1828800" cy="685800"/>
          </a:xfrm>
          <a:prstGeom prst="rect">
            <a:avLst/>
          </a:prstGeom>
          <a:noFill/>
          <a:ln/>
        </p:spPr>
        <p:txBody>
          <a:bodyPr wrap="square" lIns="0" tIns="0" rIns="0" bIns="0" rtlCol="0" anchor="t"/>
          <a:lstStyle/>
          <a:p>
            <a:pPr marL="0" indent="0">
              <a:buNone/>
            </a:pPr>
            <a:r>
              <a:rPr lang="en-US" sz="1600" cap="all" dirty="0">
                <a:solidFill>
                  <a:schemeClr val="accent4"/>
                </a:solidFill>
              </a:rPr>
              <a:t>Traffic goes to the WAAP edge, not the origin</a:t>
            </a:r>
          </a:p>
        </p:txBody>
      </p:sp>
      <p:sp>
        <p:nvSpPr>
          <p:cNvPr id="9" name="step 2"/>
          <p:cNvSpPr/>
          <p:nvPr/>
        </p:nvSpPr>
        <p:spPr>
          <a:xfrm>
            <a:off x="2811780" y="1508760"/>
            <a:ext cx="2011680" cy="1874520"/>
          </a:xfrm>
          <a:prstGeom prst="roundRect">
            <a:avLst>
              <a:gd name="adj" fmla="val 4878"/>
            </a:avLst>
          </a:prstGeom>
          <a:solidFill>
            <a:schemeClr val="bg2"/>
          </a:solidFill>
          <a:ln/>
        </p:spPr>
        <p:txBody>
          <a:bodyPr/>
          <a:lstStyle/>
          <a:p>
            <a:endParaRPr lang="fr-FR"/>
          </a:p>
        </p:txBody>
      </p:sp>
      <p:sp>
        <p:nvSpPr>
          <p:cNvPr id="10" name="step badge 2"/>
          <p:cNvSpPr/>
          <p:nvPr/>
        </p:nvSpPr>
        <p:spPr>
          <a:xfrm>
            <a:off x="2994660" y="1691640"/>
            <a:ext cx="457200" cy="457200"/>
          </a:xfrm>
          <a:prstGeom prst="ellipse">
            <a:avLst/>
          </a:prstGeom>
          <a:solidFill>
            <a:schemeClr val="accent1"/>
          </a:solidFill>
          <a:ln/>
        </p:spPr>
        <p:txBody>
          <a:bodyPr/>
          <a:lstStyle/>
          <a:p>
            <a:endParaRPr lang="fr-FR"/>
          </a:p>
        </p:txBody>
      </p:sp>
      <p:sp>
        <p:nvSpPr>
          <p:cNvPr id="11" name="Text 8"/>
          <p:cNvSpPr txBox="1"/>
          <p:nvPr/>
        </p:nvSpPr>
        <p:spPr>
          <a:xfrm>
            <a:off x="2994660"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2" name="Text 9"/>
          <p:cNvSpPr txBox="1"/>
          <p:nvPr/>
        </p:nvSpPr>
        <p:spPr>
          <a:xfrm>
            <a:off x="2994660" y="2240280"/>
            <a:ext cx="1645920" cy="365760"/>
          </a:xfrm>
          <a:prstGeom prst="rect">
            <a:avLst/>
          </a:prstGeom>
          <a:noFill/>
          <a:ln/>
        </p:spPr>
        <p:txBody>
          <a:bodyPr wrap="square" lIns="0" tIns="0" rIns="0" bIns="0" rtlCol="0" anchor="ctr"/>
          <a:lstStyle/>
          <a:p>
            <a:pPr marL="0" indent="0">
              <a:buNone/>
            </a:pPr>
            <a:r>
              <a:rPr lang="en-US" sz="1500" b="1" dirty="0">
                <a:solidFill>
                  <a:schemeClr val="tx1"/>
                </a:solidFill>
              </a:rPr>
              <a:t>TLS </a:t>
            </a:r>
            <a:r>
              <a:rPr lang="en-US" sz="1500" b="1" cap="all" dirty="0">
                <a:solidFill>
                  <a:schemeClr val="tx1"/>
                </a:solidFill>
              </a:rPr>
              <a:t>termination</a:t>
            </a:r>
            <a:endParaRPr lang="en-US" sz="1500" cap="all" dirty="0"/>
          </a:p>
        </p:txBody>
      </p:sp>
      <p:sp>
        <p:nvSpPr>
          <p:cNvPr id="13" name="Text 10"/>
          <p:cNvSpPr txBox="1"/>
          <p:nvPr/>
        </p:nvSpPr>
        <p:spPr>
          <a:xfrm>
            <a:off x="2994660" y="2606040"/>
            <a:ext cx="1828800" cy="685800"/>
          </a:xfrm>
          <a:prstGeom prst="rect">
            <a:avLst/>
          </a:prstGeom>
          <a:noFill/>
          <a:ln/>
        </p:spPr>
        <p:txBody>
          <a:bodyPr wrap="square" lIns="0" tIns="0" rIns="0" bIns="0" rtlCol="0" anchor="t"/>
          <a:lstStyle/>
          <a:p>
            <a:r>
              <a:rPr lang="en-US" sz="1600" cap="all" dirty="0">
                <a:solidFill>
                  <a:schemeClr val="accent4"/>
                </a:solidFill>
              </a:rPr>
              <a:t>Decrypts so content can be inspected</a:t>
            </a:r>
          </a:p>
        </p:txBody>
      </p:sp>
      <p:sp>
        <p:nvSpPr>
          <p:cNvPr id="14" name="step 3"/>
          <p:cNvSpPr/>
          <p:nvPr/>
        </p:nvSpPr>
        <p:spPr>
          <a:xfrm>
            <a:off x="5074920" y="1508760"/>
            <a:ext cx="2011680" cy="1874520"/>
          </a:xfrm>
          <a:prstGeom prst="roundRect">
            <a:avLst>
              <a:gd name="adj" fmla="val 4878"/>
            </a:avLst>
          </a:prstGeom>
          <a:solidFill>
            <a:schemeClr val="bg2"/>
          </a:solidFill>
          <a:ln/>
        </p:spPr>
        <p:txBody>
          <a:bodyPr/>
          <a:lstStyle/>
          <a:p>
            <a:endParaRPr lang="fr-FR"/>
          </a:p>
        </p:txBody>
      </p:sp>
      <p:sp>
        <p:nvSpPr>
          <p:cNvPr id="15" name="step badge 3"/>
          <p:cNvSpPr/>
          <p:nvPr/>
        </p:nvSpPr>
        <p:spPr>
          <a:xfrm>
            <a:off x="5257800" y="1691640"/>
            <a:ext cx="457200" cy="457200"/>
          </a:xfrm>
          <a:prstGeom prst="ellipse">
            <a:avLst/>
          </a:prstGeom>
          <a:solidFill>
            <a:schemeClr val="accent1"/>
          </a:solidFill>
          <a:ln/>
        </p:spPr>
        <p:txBody>
          <a:bodyPr/>
          <a:lstStyle/>
          <a:p>
            <a:endParaRPr lang="fr-FR"/>
          </a:p>
        </p:txBody>
      </p:sp>
      <p:sp>
        <p:nvSpPr>
          <p:cNvPr id="16" name="Text 13"/>
          <p:cNvSpPr txBox="1"/>
          <p:nvPr/>
        </p:nvSpPr>
        <p:spPr>
          <a:xfrm>
            <a:off x="5257800"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7" name="Text 14"/>
          <p:cNvSpPr txBox="1"/>
          <p:nvPr/>
        </p:nvSpPr>
        <p:spPr>
          <a:xfrm>
            <a:off x="5257800" y="2240280"/>
            <a:ext cx="1645920" cy="365760"/>
          </a:xfrm>
          <a:prstGeom prst="rect">
            <a:avLst/>
          </a:prstGeom>
          <a:noFill/>
          <a:ln/>
        </p:spPr>
        <p:txBody>
          <a:bodyPr wrap="square" lIns="0" tIns="0" rIns="0" bIns="0" rtlCol="0" anchor="ctr"/>
          <a:lstStyle/>
          <a:p>
            <a:pPr marL="0" indent="0">
              <a:buNone/>
            </a:pPr>
            <a:r>
              <a:rPr lang="en-US" sz="1500" b="1" cap="all" dirty="0">
                <a:solidFill>
                  <a:schemeClr val="tx1"/>
                </a:solidFill>
              </a:rPr>
              <a:t>Reputation</a:t>
            </a:r>
            <a:endParaRPr lang="en-US" sz="1500" cap="all" dirty="0"/>
          </a:p>
        </p:txBody>
      </p:sp>
      <p:sp>
        <p:nvSpPr>
          <p:cNvPr id="18" name="Text 15"/>
          <p:cNvSpPr txBox="1"/>
          <p:nvPr/>
        </p:nvSpPr>
        <p:spPr>
          <a:xfrm>
            <a:off x="5257800" y="2606040"/>
            <a:ext cx="1828800" cy="777240"/>
          </a:xfrm>
          <a:prstGeom prst="rect">
            <a:avLst/>
          </a:prstGeom>
          <a:noFill/>
          <a:ln/>
        </p:spPr>
        <p:txBody>
          <a:bodyPr wrap="square" lIns="0" tIns="0" rIns="0" bIns="0" rtlCol="0" anchor="t"/>
          <a:lstStyle/>
          <a:p>
            <a:pPr indent="0">
              <a:buNone/>
            </a:pPr>
            <a:r>
              <a:rPr lang="en-US" sz="1600" cap="all" dirty="0">
                <a:solidFill>
                  <a:schemeClr val="accent4"/>
                </a:solidFill>
              </a:rPr>
              <a:t>Filters known bad IPs, botnets, scanners</a:t>
            </a:r>
          </a:p>
        </p:txBody>
      </p:sp>
      <p:sp>
        <p:nvSpPr>
          <p:cNvPr id="19" name="step 4"/>
          <p:cNvSpPr/>
          <p:nvPr/>
        </p:nvSpPr>
        <p:spPr>
          <a:xfrm>
            <a:off x="7338060" y="1508760"/>
            <a:ext cx="2011680" cy="1874520"/>
          </a:xfrm>
          <a:prstGeom prst="roundRect">
            <a:avLst>
              <a:gd name="adj" fmla="val 4878"/>
            </a:avLst>
          </a:prstGeom>
          <a:solidFill>
            <a:schemeClr val="bg2"/>
          </a:solidFill>
          <a:ln/>
        </p:spPr>
        <p:txBody>
          <a:bodyPr/>
          <a:lstStyle/>
          <a:p>
            <a:endParaRPr lang="fr-FR"/>
          </a:p>
        </p:txBody>
      </p:sp>
      <p:sp>
        <p:nvSpPr>
          <p:cNvPr id="20" name="step badge 4"/>
          <p:cNvSpPr/>
          <p:nvPr/>
        </p:nvSpPr>
        <p:spPr>
          <a:xfrm>
            <a:off x="7520940" y="1691640"/>
            <a:ext cx="457200" cy="457200"/>
          </a:xfrm>
          <a:prstGeom prst="ellipse">
            <a:avLst/>
          </a:prstGeom>
          <a:solidFill>
            <a:schemeClr val="accent1"/>
          </a:solidFill>
          <a:ln/>
        </p:spPr>
        <p:txBody>
          <a:bodyPr/>
          <a:lstStyle/>
          <a:p>
            <a:endParaRPr lang="fr-FR"/>
          </a:p>
        </p:txBody>
      </p:sp>
      <p:sp>
        <p:nvSpPr>
          <p:cNvPr id="21" name="Text 18"/>
          <p:cNvSpPr txBox="1"/>
          <p:nvPr/>
        </p:nvSpPr>
        <p:spPr>
          <a:xfrm>
            <a:off x="7520940"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22" name="Text 19"/>
          <p:cNvSpPr txBox="1"/>
          <p:nvPr/>
        </p:nvSpPr>
        <p:spPr>
          <a:xfrm>
            <a:off x="7520940" y="2240280"/>
            <a:ext cx="1645920" cy="365760"/>
          </a:xfrm>
          <a:prstGeom prst="rect">
            <a:avLst/>
          </a:prstGeom>
          <a:noFill/>
          <a:ln/>
        </p:spPr>
        <p:txBody>
          <a:bodyPr wrap="square" lIns="0" tIns="0" rIns="0" bIns="0" rtlCol="0" anchor="ctr"/>
          <a:lstStyle/>
          <a:p>
            <a:pPr marL="0" indent="0">
              <a:buNone/>
            </a:pPr>
            <a:r>
              <a:rPr lang="en-US" sz="1500" b="1" dirty="0">
                <a:solidFill>
                  <a:schemeClr val="tx1"/>
                </a:solidFill>
              </a:rPr>
              <a:t>DDoS </a:t>
            </a:r>
            <a:r>
              <a:rPr lang="en-US" sz="1500" b="1" cap="all" dirty="0">
                <a:solidFill>
                  <a:schemeClr val="tx1"/>
                </a:solidFill>
              </a:rPr>
              <a:t>check</a:t>
            </a:r>
            <a:endParaRPr lang="en-US" sz="1500" cap="all" dirty="0"/>
          </a:p>
        </p:txBody>
      </p:sp>
      <p:sp>
        <p:nvSpPr>
          <p:cNvPr id="23" name="Text 20"/>
          <p:cNvSpPr txBox="1"/>
          <p:nvPr/>
        </p:nvSpPr>
        <p:spPr>
          <a:xfrm>
            <a:off x="7520940" y="2606040"/>
            <a:ext cx="1828800" cy="685800"/>
          </a:xfrm>
          <a:prstGeom prst="rect">
            <a:avLst/>
          </a:prstGeom>
          <a:noFill/>
          <a:ln/>
        </p:spPr>
        <p:txBody>
          <a:bodyPr wrap="square" lIns="0" tIns="0" rIns="0" bIns="0" rtlCol="0" anchor="t"/>
          <a:lstStyle/>
          <a:p>
            <a:r>
              <a:rPr lang="en-US" sz="1600" cap="all" dirty="0">
                <a:solidFill>
                  <a:schemeClr val="accent4"/>
                </a:solidFill>
              </a:rPr>
              <a:t>Rate limits or blocks floods</a:t>
            </a:r>
          </a:p>
        </p:txBody>
      </p:sp>
      <p:sp>
        <p:nvSpPr>
          <p:cNvPr id="24" name="step 5"/>
          <p:cNvSpPr/>
          <p:nvPr/>
        </p:nvSpPr>
        <p:spPr>
          <a:xfrm>
            <a:off x="9601200" y="1508760"/>
            <a:ext cx="2011680" cy="1874520"/>
          </a:xfrm>
          <a:prstGeom prst="roundRect">
            <a:avLst>
              <a:gd name="adj" fmla="val 4878"/>
            </a:avLst>
          </a:prstGeom>
          <a:solidFill>
            <a:schemeClr val="bg2"/>
          </a:solidFill>
          <a:ln/>
        </p:spPr>
        <p:txBody>
          <a:bodyPr/>
          <a:lstStyle/>
          <a:p>
            <a:endParaRPr lang="fr-FR"/>
          </a:p>
        </p:txBody>
      </p:sp>
      <p:sp>
        <p:nvSpPr>
          <p:cNvPr id="25" name="step badge 5"/>
          <p:cNvSpPr/>
          <p:nvPr/>
        </p:nvSpPr>
        <p:spPr>
          <a:xfrm>
            <a:off x="9784080" y="1691640"/>
            <a:ext cx="457200" cy="457200"/>
          </a:xfrm>
          <a:prstGeom prst="ellipse">
            <a:avLst/>
          </a:prstGeom>
          <a:solidFill>
            <a:schemeClr val="accent1"/>
          </a:solidFill>
          <a:ln/>
        </p:spPr>
        <p:txBody>
          <a:bodyPr/>
          <a:lstStyle/>
          <a:p>
            <a:endParaRPr lang="fr-FR"/>
          </a:p>
        </p:txBody>
      </p:sp>
      <p:sp>
        <p:nvSpPr>
          <p:cNvPr id="26" name="Text 23"/>
          <p:cNvSpPr txBox="1"/>
          <p:nvPr/>
        </p:nvSpPr>
        <p:spPr>
          <a:xfrm>
            <a:off x="9784080" y="16916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27" name="Text 24"/>
          <p:cNvSpPr txBox="1"/>
          <p:nvPr/>
        </p:nvSpPr>
        <p:spPr>
          <a:xfrm>
            <a:off x="9784080" y="2240280"/>
            <a:ext cx="1645920" cy="365760"/>
          </a:xfrm>
          <a:prstGeom prst="rect">
            <a:avLst/>
          </a:prstGeom>
          <a:noFill/>
          <a:ln/>
        </p:spPr>
        <p:txBody>
          <a:bodyPr wrap="square" lIns="0" tIns="0" rIns="0" bIns="0" rtlCol="0" anchor="ctr"/>
          <a:lstStyle/>
          <a:p>
            <a:pPr marL="0" indent="0">
              <a:buNone/>
            </a:pPr>
            <a:r>
              <a:rPr lang="en-US" sz="1500" b="1" cap="all" dirty="0">
                <a:solidFill>
                  <a:schemeClr val="tx1"/>
                </a:solidFill>
              </a:rPr>
              <a:t>WAF analysis</a:t>
            </a:r>
            <a:endParaRPr lang="en-US" sz="1500" cap="all" dirty="0"/>
          </a:p>
        </p:txBody>
      </p:sp>
      <p:sp>
        <p:nvSpPr>
          <p:cNvPr id="28" name="Text 25"/>
          <p:cNvSpPr txBox="1"/>
          <p:nvPr/>
        </p:nvSpPr>
        <p:spPr>
          <a:xfrm>
            <a:off x="9784080" y="2606040"/>
            <a:ext cx="1828800" cy="685800"/>
          </a:xfrm>
          <a:prstGeom prst="rect">
            <a:avLst/>
          </a:prstGeom>
          <a:noFill/>
          <a:ln/>
        </p:spPr>
        <p:txBody>
          <a:bodyPr wrap="square" lIns="0" tIns="0" rIns="0" bIns="0" rtlCol="0" anchor="t"/>
          <a:lstStyle/>
          <a:p>
            <a:pPr indent="0">
              <a:buNone/>
            </a:pPr>
            <a:r>
              <a:rPr lang="en-US" sz="1600" cap="all" dirty="0">
                <a:solidFill>
                  <a:schemeClr val="accent4"/>
                </a:solidFill>
              </a:rPr>
              <a:t>Signature and behaviour checks: SQLi, XSS</a:t>
            </a:r>
          </a:p>
        </p:txBody>
      </p:sp>
      <p:sp>
        <p:nvSpPr>
          <p:cNvPr id="29" name="step 6"/>
          <p:cNvSpPr/>
          <p:nvPr/>
        </p:nvSpPr>
        <p:spPr>
          <a:xfrm>
            <a:off x="548640" y="3749040"/>
            <a:ext cx="2011680" cy="1874520"/>
          </a:xfrm>
          <a:prstGeom prst="roundRect">
            <a:avLst>
              <a:gd name="adj" fmla="val 4878"/>
            </a:avLst>
          </a:prstGeom>
          <a:solidFill>
            <a:schemeClr val="bg2"/>
          </a:solidFill>
          <a:ln/>
        </p:spPr>
        <p:txBody>
          <a:bodyPr/>
          <a:lstStyle/>
          <a:p>
            <a:endParaRPr lang="fr-FR"/>
          </a:p>
        </p:txBody>
      </p:sp>
      <p:sp>
        <p:nvSpPr>
          <p:cNvPr id="30" name="step badge 6"/>
          <p:cNvSpPr/>
          <p:nvPr/>
        </p:nvSpPr>
        <p:spPr>
          <a:xfrm>
            <a:off x="731520" y="3931920"/>
            <a:ext cx="457200" cy="457200"/>
          </a:xfrm>
          <a:prstGeom prst="ellipse">
            <a:avLst/>
          </a:prstGeom>
          <a:solidFill>
            <a:schemeClr val="accent1"/>
          </a:solidFill>
          <a:ln/>
        </p:spPr>
        <p:txBody>
          <a:bodyPr/>
          <a:lstStyle/>
          <a:p>
            <a:endParaRPr lang="fr-FR"/>
          </a:p>
        </p:txBody>
      </p:sp>
      <p:sp>
        <p:nvSpPr>
          <p:cNvPr id="31" name="Text 28"/>
          <p:cNvSpPr txBox="1"/>
          <p:nvPr/>
        </p:nvSpPr>
        <p:spPr>
          <a:xfrm>
            <a:off x="731520" y="393192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6</a:t>
            </a:r>
            <a:endParaRPr lang="en-US" sz="1500" dirty="0"/>
          </a:p>
        </p:txBody>
      </p:sp>
      <p:sp>
        <p:nvSpPr>
          <p:cNvPr id="32" name="Text 29"/>
          <p:cNvSpPr txBox="1"/>
          <p:nvPr/>
        </p:nvSpPr>
        <p:spPr>
          <a:xfrm>
            <a:off x="731520" y="4480560"/>
            <a:ext cx="1645920" cy="365760"/>
          </a:xfrm>
          <a:prstGeom prst="rect">
            <a:avLst/>
          </a:prstGeom>
          <a:noFill/>
          <a:ln/>
        </p:spPr>
        <p:txBody>
          <a:bodyPr wrap="square" lIns="0" tIns="0" rIns="0" bIns="0" rtlCol="0" anchor="ctr"/>
          <a:lstStyle/>
          <a:p>
            <a:pPr marL="0" indent="0">
              <a:buNone/>
            </a:pPr>
            <a:r>
              <a:rPr lang="en-US" sz="1500" b="1" cap="all" dirty="0">
                <a:solidFill>
                  <a:schemeClr val="tx1"/>
                </a:solidFill>
              </a:rPr>
              <a:t>API enforcement</a:t>
            </a:r>
            <a:endParaRPr lang="en-US" sz="1500" cap="all" dirty="0"/>
          </a:p>
        </p:txBody>
      </p:sp>
      <p:sp>
        <p:nvSpPr>
          <p:cNvPr id="33" name="Text 30"/>
          <p:cNvSpPr txBox="1"/>
          <p:nvPr/>
        </p:nvSpPr>
        <p:spPr>
          <a:xfrm>
            <a:off x="731520" y="4846320"/>
            <a:ext cx="1828800" cy="685800"/>
          </a:xfrm>
          <a:prstGeom prst="rect">
            <a:avLst/>
          </a:prstGeom>
          <a:noFill/>
          <a:ln/>
        </p:spPr>
        <p:txBody>
          <a:bodyPr wrap="square" lIns="0" tIns="0" rIns="0" bIns="0" rtlCol="0" anchor="t"/>
          <a:lstStyle/>
          <a:p>
            <a:r>
              <a:rPr lang="en-US" sz="1600" cap="all" dirty="0">
                <a:solidFill>
                  <a:schemeClr val="accent4"/>
                </a:solidFill>
              </a:rPr>
              <a:t>Validates schema; blocks BOLA, tampering</a:t>
            </a:r>
          </a:p>
        </p:txBody>
      </p:sp>
      <p:sp>
        <p:nvSpPr>
          <p:cNvPr id="34" name="step 7"/>
          <p:cNvSpPr/>
          <p:nvPr/>
        </p:nvSpPr>
        <p:spPr>
          <a:xfrm>
            <a:off x="2811780" y="3749040"/>
            <a:ext cx="2011680" cy="1874520"/>
          </a:xfrm>
          <a:prstGeom prst="roundRect">
            <a:avLst>
              <a:gd name="adj" fmla="val 4878"/>
            </a:avLst>
          </a:prstGeom>
          <a:solidFill>
            <a:schemeClr val="bg2"/>
          </a:solidFill>
          <a:ln/>
        </p:spPr>
        <p:txBody>
          <a:bodyPr/>
          <a:lstStyle/>
          <a:p>
            <a:endParaRPr lang="fr-FR"/>
          </a:p>
        </p:txBody>
      </p:sp>
      <p:sp>
        <p:nvSpPr>
          <p:cNvPr id="35" name="step badge 7"/>
          <p:cNvSpPr/>
          <p:nvPr/>
        </p:nvSpPr>
        <p:spPr>
          <a:xfrm>
            <a:off x="2994660" y="3931920"/>
            <a:ext cx="457200" cy="457200"/>
          </a:xfrm>
          <a:prstGeom prst="ellipse">
            <a:avLst/>
          </a:prstGeom>
          <a:solidFill>
            <a:schemeClr val="accent1"/>
          </a:solidFill>
          <a:ln/>
        </p:spPr>
        <p:txBody>
          <a:bodyPr/>
          <a:lstStyle/>
          <a:p>
            <a:endParaRPr lang="fr-FR"/>
          </a:p>
        </p:txBody>
      </p:sp>
      <p:sp>
        <p:nvSpPr>
          <p:cNvPr id="36" name="Text 33"/>
          <p:cNvSpPr txBox="1"/>
          <p:nvPr/>
        </p:nvSpPr>
        <p:spPr>
          <a:xfrm>
            <a:off x="2994660" y="393192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7</a:t>
            </a:r>
            <a:endParaRPr lang="en-US" sz="1500" dirty="0"/>
          </a:p>
        </p:txBody>
      </p:sp>
      <p:sp>
        <p:nvSpPr>
          <p:cNvPr id="37" name="Text 34"/>
          <p:cNvSpPr txBox="1"/>
          <p:nvPr/>
        </p:nvSpPr>
        <p:spPr>
          <a:xfrm>
            <a:off x="2994660" y="4342010"/>
            <a:ext cx="1645920" cy="365760"/>
          </a:xfrm>
          <a:prstGeom prst="rect">
            <a:avLst/>
          </a:prstGeom>
          <a:noFill/>
          <a:ln/>
        </p:spPr>
        <p:txBody>
          <a:bodyPr wrap="square" lIns="0" tIns="0" rIns="0" bIns="0" rtlCol="0" anchor="ctr"/>
          <a:lstStyle/>
          <a:p>
            <a:pPr marL="0" indent="0">
              <a:buNone/>
            </a:pPr>
            <a:r>
              <a:rPr lang="en-US" sz="1500" b="1" dirty="0">
                <a:solidFill>
                  <a:schemeClr val="tx1"/>
                </a:solidFill>
              </a:rPr>
              <a:t>Bot </a:t>
            </a:r>
            <a:r>
              <a:rPr lang="en-US" sz="1500" b="1" cap="all" dirty="0">
                <a:solidFill>
                  <a:schemeClr val="tx1"/>
                </a:solidFill>
              </a:rPr>
              <a:t>detection</a:t>
            </a:r>
            <a:endParaRPr lang="en-US" sz="1500" cap="all" dirty="0"/>
          </a:p>
        </p:txBody>
      </p:sp>
      <p:sp>
        <p:nvSpPr>
          <p:cNvPr id="38" name="Text 35"/>
          <p:cNvSpPr txBox="1"/>
          <p:nvPr/>
        </p:nvSpPr>
        <p:spPr>
          <a:xfrm>
            <a:off x="2811780" y="4572000"/>
            <a:ext cx="2011680" cy="1051560"/>
          </a:xfrm>
          <a:prstGeom prst="rect">
            <a:avLst/>
          </a:prstGeom>
          <a:noFill/>
          <a:ln/>
        </p:spPr>
        <p:txBody>
          <a:bodyPr wrap="square" lIns="0" tIns="0" rIns="0" bIns="0" rtlCol="0" anchor="t"/>
          <a:lstStyle/>
          <a:p>
            <a:pPr indent="0">
              <a:buNone/>
            </a:pPr>
            <a:r>
              <a:rPr lang="en-US" sz="1600" cap="all" dirty="0">
                <a:solidFill>
                  <a:schemeClr val="accent4"/>
                </a:solidFill>
              </a:rPr>
              <a:t>Fingerprint and behaviour; JS/CAPTCHA challenge</a:t>
            </a:r>
          </a:p>
        </p:txBody>
      </p:sp>
      <p:sp>
        <p:nvSpPr>
          <p:cNvPr id="39" name="step 8"/>
          <p:cNvSpPr/>
          <p:nvPr/>
        </p:nvSpPr>
        <p:spPr>
          <a:xfrm>
            <a:off x="5074920" y="3749040"/>
            <a:ext cx="2011680" cy="1874520"/>
          </a:xfrm>
          <a:prstGeom prst="roundRect">
            <a:avLst>
              <a:gd name="adj" fmla="val 4878"/>
            </a:avLst>
          </a:prstGeom>
          <a:solidFill>
            <a:schemeClr val="tx1"/>
          </a:solidFill>
          <a:ln/>
        </p:spPr>
        <p:txBody>
          <a:bodyPr/>
          <a:lstStyle/>
          <a:p>
            <a:endParaRPr lang="fr-FR"/>
          </a:p>
        </p:txBody>
      </p:sp>
      <p:sp>
        <p:nvSpPr>
          <p:cNvPr id="40" name="step badge 8"/>
          <p:cNvSpPr/>
          <p:nvPr/>
        </p:nvSpPr>
        <p:spPr>
          <a:xfrm>
            <a:off x="5257800" y="3931920"/>
            <a:ext cx="457200" cy="457200"/>
          </a:xfrm>
          <a:prstGeom prst="ellipse">
            <a:avLst/>
          </a:prstGeom>
          <a:solidFill>
            <a:schemeClr val="accent2"/>
          </a:solidFill>
          <a:ln/>
        </p:spPr>
        <p:txBody>
          <a:bodyPr/>
          <a:lstStyle/>
          <a:p>
            <a:endParaRPr lang="fr-FR"/>
          </a:p>
        </p:txBody>
      </p:sp>
      <p:sp>
        <p:nvSpPr>
          <p:cNvPr id="41" name="Text 38"/>
          <p:cNvSpPr txBox="1"/>
          <p:nvPr/>
        </p:nvSpPr>
        <p:spPr>
          <a:xfrm>
            <a:off x="5257800" y="393192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8</a:t>
            </a:r>
            <a:endParaRPr lang="en-US" sz="1500" dirty="0"/>
          </a:p>
        </p:txBody>
      </p:sp>
      <p:sp>
        <p:nvSpPr>
          <p:cNvPr id="42" name="Text 39"/>
          <p:cNvSpPr txBox="1"/>
          <p:nvPr/>
        </p:nvSpPr>
        <p:spPr>
          <a:xfrm>
            <a:off x="5257800" y="4480560"/>
            <a:ext cx="1645920" cy="365760"/>
          </a:xfrm>
          <a:prstGeom prst="rect">
            <a:avLst/>
          </a:prstGeom>
          <a:noFill/>
          <a:ln/>
        </p:spPr>
        <p:txBody>
          <a:bodyPr wrap="square" lIns="0" tIns="0" rIns="0" bIns="0" rtlCol="0" anchor="ctr"/>
          <a:lstStyle/>
          <a:p>
            <a:pPr marL="0" indent="0">
              <a:buNone/>
            </a:pPr>
            <a:r>
              <a:rPr lang="en-US" sz="1500" b="1" cap="all" dirty="0">
                <a:solidFill>
                  <a:schemeClr val="bg1"/>
                </a:solidFill>
              </a:rPr>
              <a:t>Decision</a:t>
            </a:r>
            <a:endParaRPr lang="en-US" sz="1500" cap="all" dirty="0"/>
          </a:p>
        </p:txBody>
      </p:sp>
      <p:sp>
        <p:nvSpPr>
          <p:cNvPr id="43" name="Text 40"/>
          <p:cNvSpPr txBox="1"/>
          <p:nvPr/>
        </p:nvSpPr>
        <p:spPr>
          <a:xfrm>
            <a:off x="5257800" y="4846320"/>
            <a:ext cx="1645920" cy="685800"/>
          </a:xfrm>
          <a:prstGeom prst="rect">
            <a:avLst/>
          </a:prstGeom>
          <a:noFill/>
          <a:ln/>
        </p:spPr>
        <p:txBody>
          <a:bodyPr wrap="square" lIns="0" tIns="0" rIns="0" bIns="0" rtlCol="0" anchor="t"/>
          <a:lstStyle/>
          <a:p>
            <a:pPr marL="0" indent="0">
              <a:buNone/>
            </a:pPr>
            <a:r>
              <a:rPr lang="en-US" sz="1200" dirty="0">
                <a:solidFill>
                  <a:schemeClr val="accent5"/>
                </a:solidFill>
              </a:rPr>
              <a:t>In milliseconds: block and log, or forward</a:t>
            </a:r>
            <a:endParaRPr lang="en-US" sz="1200" dirty="0"/>
          </a:p>
        </p:txBody>
      </p:sp>
      <p:sp>
        <p:nvSpPr>
          <p:cNvPr id="44" name="step 9"/>
          <p:cNvSpPr/>
          <p:nvPr/>
        </p:nvSpPr>
        <p:spPr>
          <a:xfrm>
            <a:off x="7338060" y="3749040"/>
            <a:ext cx="2011680" cy="1874520"/>
          </a:xfrm>
          <a:prstGeom prst="roundRect">
            <a:avLst>
              <a:gd name="adj" fmla="val 4878"/>
            </a:avLst>
          </a:prstGeom>
          <a:solidFill>
            <a:schemeClr val="bg2"/>
          </a:solidFill>
          <a:ln/>
        </p:spPr>
        <p:txBody>
          <a:bodyPr/>
          <a:lstStyle/>
          <a:p>
            <a:endParaRPr lang="fr-FR"/>
          </a:p>
        </p:txBody>
      </p:sp>
      <p:sp>
        <p:nvSpPr>
          <p:cNvPr id="45" name="step badge 9"/>
          <p:cNvSpPr/>
          <p:nvPr/>
        </p:nvSpPr>
        <p:spPr>
          <a:xfrm>
            <a:off x="7520940" y="3931920"/>
            <a:ext cx="457200" cy="457200"/>
          </a:xfrm>
          <a:prstGeom prst="ellipse">
            <a:avLst/>
          </a:prstGeom>
          <a:solidFill>
            <a:schemeClr val="accent1"/>
          </a:solidFill>
          <a:ln/>
        </p:spPr>
        <p:txBody>
          <a:bodyPr/>
          <a:lstStyle/>
          <a:p>
            <a:endParaRPr lang="fr-FR"/>
          </a:p>
        </p:txBody>
      </p:sp>
      <p:sp>
        <p:nvSpPr>
          <p:cNvPr id="46" name="Text 43"/>
          <p:cNvSpPr txBox="1"/>
          <p:nvPr/>
        </p:nvSpPr>
        <p:spPr>
          <a:xfrm>
            <a:off x="7520940" y="393192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9</a:t>
            </a:r>
            <a:endParaRPr lang="en-US" sz="1500" dirty="0"/>
          </a:p>
        </p:txBody>
      </p:sp>
      <p:sp>
        <p:nvSpPr>
          <p:cNvPr id="47" name="Text 44"/>
          <p:cNvSpPr txBox="1"/>
          <p:nvPr/>
        </p:nvSpPr>
        <p:spPr>
          <a:xfrm>
            <a:off x="7520940" y="4411285"/>
            <a:ext cx="1645920" cy="365760"/>
          </a:xfrm>
          <a:prstGeom prst="rect">
            <a:avLst/>
          </a:prstGeom>
          <a:noFill/>
          <a:ln/>
        </p:spPr>
        <p:txBody>
          <a:bodyPr wrap="square" lIns="0" tIns="0" rIns="0" bIns="0" rtlCol="0" anchor="ctr"/>
          <a:lstStyle/>
          <a:p>
            <a:pPr marL="0" indent="0">
              <a:buNone/>
            </a:pPr>
            <a:r>
              <a:rPr lang="en-US" sz="1500" b="1" cap="all" dirty="0">
                <a:solidFill>
                  <a:schemeClr val="tx1"/>
                </a:solidFill>
              </a:rPr>
              <a:t>Response inspection</a:t>
            </a:r>
            <a:endParaRPr lang="en-US" sz="1500" cap="all" dirty="0"/>
          </a:p>
        </p:txBody>
      </p:sp>
      <p:sp>
        <p:nvSpPr>
          <p:cNvPr id="48" name="Text 45"/>
          <p:cNvSpPr txBox="1"/>
          <p:nvPr/>
        </p:nvSpPr>
        <p:spPr>
          <a:xfrm>
            <a:off x="7338060" y="4707770"/>
            <a:ext cx="2011680" cy="915790"/>
          </a:xfrm>
          <a:prstGeom prst="rect">
            <a:avLst/>
          </a:prstGeom>
          <a:noFill/>
          <a:ln/>
        </p:spPr>
        <p:txBody>
          <a:bodyPr wrap="square" lIns="0" tIns="0" rIns="0" bIns="0" rtlCol="0" anchor="t"/>
          <a:lstStyle/>
          <a:p>
            <a:r>
              <a:rPr lang="en-US" sz="1600" cap="all" dirty="0">
                <a:solidFill>
                  <a:schemeClr val="accent4"/>
                </a:solidFill>
              </a:rPr>
              <a:t>Blocks or redacts sensitive data</a:t>
            </a:r>
          </a:p>
        </p:txBody>
      </p:sp>
      <p:sp>
        <p:nvSpPr>
          <p:cNvPr id="49" name="step 10"/>
          <p:cNvSpPr/>
          <p:nvPr/>
        </p:nvSpPr>
        <p:spPr>
          <a:xfrm>
            <a:off x="9601200" y="3749040"/>
            <a:ext cx="2011680" cy="1874520"/>
          </a:xfrm>
          <a:prstGeom prst="roundRect">
            <a:avLst>
              <a:gd name="adj" fmla="val 4878"/>
            </a:avLst>
          </a:prstGeom>
          <a:solidFill>
            <a:schemeClr val="bg2"/>
          </a:solidFill>
          <a:ln/>
        </p:spPr>
        <p:txBody>
          <a:bodyPr/>
          <a:lstStyle/>
          <a:p>
            <a:endParaRPr lang="fr-FR"/>
          </a:p>
        </p:txBody>
      </p:sp>
      <p:sp>
        <p:nvSpPr>
          <p:cNvPr id="50" name="step badge 10"/>
          <p:cNvSpPr/>
          <p:nvPr/>
        </p:nvSpPr>
        <p:spPr>
          <a:xfrm>
            <a:off x="9784080" y="3931920"/>
            <a:ext cx="457200" cy="457200"/>
          </a:xfrm>
          <a:prstGeom prst="ellipse">
            <a:avLst/>
          </a:prstGeom>
          <a:solidFill>
            <a:schemeClr val="accent1"/>
          </a:solidFill>
          <a:ln/>
        </p:spPr>
        <p:txBody>
          <a:bodyPr/>
          <a:lstStyle/>
          <a:p>
            <a:endParaRPr lang="fr-FR"/>
          </a:p>
        </p:txBody>
      </p:sp>
      <p:sp>
        <p:nvSpPr>
          <p:cNvPr id="51" name="Text 48"/>
          <p:cNvSpPr txBox="1"/>
          <p:nvPr/>
        </p:nvSpPr>
        <p:spPr>
          <a:xfrm>
            <a:off x="9784080" y="393192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10</a:t>
            </a:r>
            <a:endParaRPr lang="en-US" sz="1500" dirty="0"/>
          </a:p>
        </p:txBody>
      </p:sp>
      <p:sp>
        <p:nvSpPr>
          <p:cNvPr id="52" name="Text 49"/>
          <p:cNvSpPr txBox="1"/>
          <p:nvPr/>
        </p:nvSpPr>
        <p:spPr>
          <a:xfrm>
            <a:off x="9784080" y="4397430"/>
            <a:ext cx="1645920" cy="365760"/>
          </a:xfrm>
          <a:prstGeom prst="rect">
            <a:avLst/>
          </a:prstGeom>
          <a:noFill/>
          <a:ln/>
        </p:spPr>
        <p:txBody>
          <a:bodyPr wrap="square" lIns="0" tIns="0" rIns="0" bIns="0" rtlCol="0" anchor="ctr"/>
          <a:lstStyle/>
          <a:p>
            <a:pPr marL="0" indent="0">
              <a:buNone/>
            </a:pPr>
            <a:r>
              <a:rPr lang="en-US" sz="1500" b="1" cap="all" dirty="0">
                <a:solidFill>
                  <a:schemeClr val="tx1"/>
                </a:solidFill>
              </a:rPr>
              <a:t>Logging</a:t>
            </a:r>
            <a:endParaRPr lang="en-US" sz="1500" cap="all" dirty="0"/>
          </a:p>
        </p:txBody>
      </p:sp>
      <p:sp>
        <p:nvSpPr>
          <p:cNvPr id="53" name="Text 50"/>
          <p:cNvSpPr txBox="1"/>
          <p:nvPr/>
        </p:nvSpPr>
        <p:spPr>
          <a:xfrm>
            <a:off x="9601200" y="4707770"/>
            <a:ext cx="2011680" cy="824350"/>
          </a:xfrm>
          <a:prstGeom prst="rect">
            <a:avLst/>
          </a:prstGeom>
          <a:noFill/>
          <a:ln/>
        </p:spPr>
        <p:txBody>
          <a:bodyPr wrap="square" lIns="0" tIns="0" rIns="0" bIns="0" rtlCol="0" anchor="t"/>
          <a:lstStyle/>
          <a:p>
            <a:pPr indent="0">
              <a:buNone/>
            </a:pPr>
            <a:r>
              <a:rPr lang="en-US" sz="1600" cap="all" dirty="0">
                <a:solidFill>
                  <a:schemeClr val="accent4"/>
                </a:solidFill>
              </a:rPr>
              <a:t>Real-time analytics and SIEM feeds</a:t>
            </a:r>
          </a:p>
        </p:txBody>
      </p:sp>
      <p:sp>
        <p:nvSpPr>
          <p:cNvPr id="54" name="Text 51"/>
          <p:cNvSpPr txBox="1"/>
          <p:nvPr/>
        </p:nvSpPr>
        <p:spPr>
          <a:xfrm>
            <a:off x="548640" y="5943600"/>
            <a:ext cx="11064240" cy="411480"/>
          </a:xfrm>
          <a:prstGeom prst="rect">
            <a:avLst/>
          </a:prstGeom>
          <a:noFill/>
          <a:ln/>
        </p:spPr>
        <p:txBody>
          <a:bodyPr wrap="square" lIns="0" tIns="0" rIns="0" bIns="0" rtlCol="0" anchor="ctr"/>
          <a:lstStyle/>
          <a:p>
            <a:pPr marL="0" indent="0">
              <a:buNone/>
            </a:pPr>
            <a:r>
              <a:rPr lang="en-US" sz="1500" i="1" dirty="0">
                <a:solidFill>
                  <a:schemeClr val="tx2"/>
                </a:solidFill>
              </a:rPr>
              <a:t>From the user's perspective the experience is seamless — good WAAPs add only a few milliseconds.</a:t>
            </a:r>
            <a:endParaRPr lang="en-US" sz="15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36</a:t>
            </a:fld>
            <a:endParaRPr lang="en-US"/>
          </a:p>
        </p:txBody>
      </p:sp>
      <p:pic>
        <p:nvPicPr>
          <p:cNvPr id="55" name="Image 0" descr="/home/claude/unpacked/ppt/media/image1.png">
            <a:extLst>
              <a:ext uri="{FF2B5EF4-FFF2-40B4-BE49-F238E27FC236}">
                <a16:creationId xmlns:a16="http://schemas.microsoft.com/office/drawing/2014/main" id="{2F94493B-47AB-9130-7399-89A4E1A06105}"/>
              </a:ext>
            </a:extLst>
          </p:cNvPr>
          <p:cNvPicPr>
            <a:picLocks noChangeAspect="1"/>
          </p:cNvPicPr>
          <p:nvPr/>
        </p:nvPicPr>
        <p:blipFill>
          <a:blip r:embed="rId3"/>
          <a:stretch>
            <a:fillRect/>
          </a:stretch>
        </p:blipFill>
        <p:spPr>
          <a:xfrm>
            <a:off x="10904220" y="206679"/>
            <a:ext cx="960120" cy="96012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60334"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Attack journeys: how WAAP blocks real threats?</a:t>
            </a:r>
            <a:endParaRPr lang="en-US" sz="3400" cap="all" dirty="0"/>
          </a:p>
        </p:txBody>
      </p:sp>
      <p:sp>
        <p:nvSpPr>
          <p:cNvPr id="4" name="attack SQL injection"/>
          <p:cNvSpPr/>
          <p:nvPr/>
        </p:nvSpPr>
        <p:spPr>
          <a:xfrm>
            <a:off x="548640" y="1417320"/>
            <a:ext cx="5394960" cy="2148840"/>
          </a:xfrm>
          <a:prstGeom prst="roundRect">
            <a:avLst>
              <a:gd name="adj" fmla="val 4255"/>
            </a:avLst>
          </a:prstGeom>
          <a:solidFill>
            <a:schemeClr val="bg2"/>
          </a:solidFill>
          <a:ln/>
        </p:spPr>
        <p:txBody>
          <a:bodyPr/>
          <a:lstStyle/>
          <a:p>
            <a:endParaRPr lang="fr-FR"/>
          </a:p>
        </p:txBody>
      </p:sp>
      <p:sp>
        <p:nvSpPr>
          <p:cNvPr id="5" name="SQL injection tile"/>
          <p:cNvSpPr/>
          <p:nvPr/>
        </p:nvSpPr>
        <p:spPr>
          <a:xfrm>
            <a:off x="822960" y="1691640"/>
            <a:ext cx="548640" cy="548640"/>
          </a:xfrm>
          <a:prstGeom prst="roundRect">
            <a:avLst>
              <a:gd name="adj" fmla="val 20000"/>
            </a:avLst>
          </a:prstGeom>
          <a:solidFill>
            <a:schemeClr val="accent3"/>
          </a:solidFill>
          <a:ln/>
        </p:spPr>
        <p:txBody>
          <a:bodyPr/>
          <a:lstStyle/>
          <a:p>
            <a:endParaRPr lang="fr-FR"/>
          </a:p>
        </p:txBody>
      </p:sp>
      <p:pic>
        <p:nvPicPr>
          <p:cNvPr id="6" name="SQL injection glyph" descr="SQL injection"/>
          <p:cNvPicPr>
            <a:picLocks noChangeAspect="1"/>
          </p:cNvPicPr>
          <p:nvPr/>
        </p:nvPicPr>
        <p:blipFill>
          <a:blip r:embed="rId3"/>
          <a:stretch>
            <a:fillRect/>
          </a:stretch>
        </p:blipFill>
        <p:spPr>
          <a:xfrm>
            <a:off x="943661" y="1812341"/>
            <a:ext cx="307238" cy="307238"/>
          </a:xfrm>
          <a:prstGeom prst="rect">
            <a:avLst/>
          </a:prstGeom>
        </p:spPr>
      </p:pic>
      <p:sp>
        <p:nvSpPr>
          <p:cNvPr id="7" name="Text 3"/>
          <p:cNvSpPr txBox="1"/>
          <p:nvPr/>
        </p:nvSpPr>
        <p:spPr>
          <a:xfrm>
            <a:off x="1508760" y="1691640"/>
            <a:ext cx="4206240" cy="548640"/>
          </a:xfrm>
          <a:prstGeom prst="rect">
            <a:avLst/>
          </a:prstGeom>
          <a:noFill/>
          <a:ln/>
        </p:spPr>
        <p:txBody>
          <a:bodyPr wrap="square" lIns="0" tIns="0" rIns="0" bIns="0" rtlCol="0" anchor="ctr"/>
          <a:lstStyle/>
          <a:p>
            <a:pPr marL="0" indent="0">
              <a:buNone/>
            </a:pPr>
            <a:r>
              <a:rPr lang="en-US" sz="1700" b="1" cap="all" dirty="0">
                <a:solidFill>
                  <a:schemeClr val="tx1"/>
                </a:solidFill>
              </a:rPr>
              <a:t>Attack 1: SQL injection</a:t>
            </a:r>
            <a:endParaRPr lang="en-US" sz="1700" cap="all" dirty="0"/>
          </a:p>
        </p:txBody>
      </p:sp>
      <p:sp>
        <p:nvSpPr>
          <p:cNvPr id="8" name="Text 4"/>
          <p:cNvSpPr txBox="1"/>
          <p:nvPr/>
        </p:nvSpPr>
        <p:spPr>
          <a:xfrm>
            <a:off x="548640" y="2377440"/>
            <a:ext cx="5394960" cy="1051560"/>
          </a:xfrm>
          <a:prstGeom prst="rect">
            <a:avLst/>
          </a:prstGeom>
          <a:noFill/>
          <a:ln/>
        </p:spPr>
        <p:txBody>
          <a:bodyPr wrap="square" lIns="0" tIns="0" rIns="0" bIns="0" rtlCol="0" anchor="t"/>
          <a:lstStyle/>
          <a:p>
            <a:pPr marL="0" indent="0">
              <a:spcAft>
                <a:spcPts val="400"/>
              </a:spcAft>
              <a:buNone/>
            </a:pPr>
            <a:r>
              <a:rPr lang="en-US" sz="1600" b="1" dirty="0">
                <a:solidFill>
                  <a:schemeClr val="accent3"/>
                </a:solidFill>
              </a:rPr>
              <a:t>Threat: </a:t>
            </a:r>
            <a:r>
              <a:rPr lang="en-US" sz="1600" dirty="0">
                <a:solidFill>
                  <a:schemeClr val="tx2"/>
                </a:solidFill>
              </a:rPr>
              <a:t>A crafted payload such as admin' OR '1'='1 hits the login form.</a:t>
            </a:r>
            <a:endParaRPr lang="en-US" sz="1600" dirty="0"/>
          </a:p>
          <a:p>
            <a:pPr marL="0" indent="0">
              <a:spcAft>
                <a:spcPts val="400"/>
              </a:spcAft>
              <a:buNone/>
            </a:pPr>
            <a:r>
              <a:rPr lang="en-US" sz="1600" b="1" dirty="0">
                <a:solidFill>
                  <a:schemeClr val="accent1"/>
                </a:solidFill>
              </a:rPr>
              <a:t>WAAP response: </a:t>
            </a:r>
            <a:r>
              <a:rPr lang="en-US" sz="1600" dirty="0">
                <a:solidFill>
                  <a:schemeClr val="tx2"/>
                </a:solidFill>
              </a:rPr>
              <a:t>Body inspection spots the SQLi pattern; the query never reaches the database.</a:t>
            </a:r>
            <a:endParaRPr lang="en-US" sz="1600" dirty="0"/>
          </a:p>
        </p:txBody>
      </p:sp>
      <p:sp>
        <p:nvSpPr>
          <p:cNvPr id="9" name="attack Credential stuffing bot"/>
          <p:cNvSpPr/>
          <p:nvPr/>
        </p:nvSpPr>
        <p:spPr>
          <a:xfrm>
            <a:off x="6217920" y="1417320"/>
            <a:ext cx="5394960" cy="2148840"/>
          </a:xfrm>
          <a:prstGeom prst="roundRect">
            <a:avLst>
              <a:gd name="adj" fmla="val 4255"/>
            </a:avLst>
          </a:prstGeom>
          <a:solidFill>
            <a:schemeClr val="bg2"/>
          </a:solidFill>
          <a:ln/>
        </p:spPr>
        <p:txBody>
          <a:bodyPr/>
          <a:lstStyle/>
          <a:p>
            <a:endParaRPr lang="fr-FR"/>
          </a:p>
        </p:txBody>
      </p:sp>
      <p:sp>
        <p:nvSpPr>
          <p:cNvPr id="10" name="Credential stuffing bot tile"/>
          <p:cNvSpPr/>
          <p:nvPr/>
        </p:nvSpPr>
        <p:spPr>
          <a:xfrm>
            <a:off x="6492240" y="1691640"/>
            <a:ext cx="548640" cy="548640"/>
          </a:xfrm>
          <a:prstGeom prst="roundRect">
            <a:avLst>
              <a:gd name="adj" fmla="val 20000"/>
            </a:avLst>
          </a:prstGeom>
          <a:solidFill>
            <a:schemeClr val="accent3"/>
          </a:solidFill>
          <a:ln/>
        </p:spPr>
        <p:txBody>
          <a:bodyPr/>
          <a:lstStyle/>
          <a:p>
            <a:endParaRPr lang="fr-FR"/>
          </a:p>
        </p:txBody>
      </p:sp>
      <p:pic>
        <p:nvPicPr>
          <p:cNvPr id="11" name="Credential stuffing bot glyph" descr="Credential stuffing bot"/>
          <p:cNvPicPr>
            <a:picLocks noChangeAspect="1"/>
          </p:cNvPicPr>
          <p:nvPr/>
        </p:nvPicPr>
        <p:blipFill>
          <a:blip r:embed="rId4"/>
          <a:stretch>
            <a:fillRect/>
          </a:stretch>
        </p:blipFill>
        <p:spPr>
          <a:xfrm>
            <a:off x="6612941" y="1812341"/>
            <a:ext cx="307238" cy="307238"/>
          </a:xfrm>
          <a:prstGeom prst="rect">
            <a:avLst/>
          </a:prstGeom>
        </p:spPr>
      </p:pic>
      <p:sp>
        <p:nvSpPr>
          <p:cNvPr id="12" name="Text 7"/>
          <p:cNvSpPr txBox="1"/>
          <p:nvPr/>
        </p:nvSpPr>
        <p:spPr>
          <a:xfrm>
            <a:off x="7178040" y="1691640"/>
            <a:ext cx="4206240" cy="548640"/>
          </a:xfrm>
          <a:prstGeom prst="rect">
            <a:avLst/>
          </a:prstGeom>
          <a:noFill/>
          <a:ln/>
        </p:spPr>
        <p:txBody>
          <a:bodyPr wrap="square" lIns="0" tIns="0" rIns="0" bIns="0" rtlCol="0" anchor="ctr"/>
          <a:lstStyle/>
          <a:p>
            <a:pPr marL="0" indent="0">
              <a:buNone/>
            </a:pPr>
            <a:r>
              <a:rPr lang="en-US" sz="1700" b="1" cap="all" dirty="0">
                <a:solidFill>
                  <a:schemeClr val="tx1"/>
                </a:solidFill>
              </a:rPr>
              <a:t>Attack 2: Credential stuffing bot</a:t>
            </a:r>
            <a:endParaRPr lang="en-US" sz="1700" cap="all" dirty="0"/>
          </a:p>
        </p:txBody>
      </p:sp>
      <p:sp>
        <p:nvSpPr>
          <p:cNvPr id="13" name="Text 8"/>
          <p:cNvSpPr txBox="1"/>
          <p:nvPr/>
        </p:nvSpPr>
        <p:spPr>
          <a:xfrm>
            <a:off x="6492240" y="2377440"/>
            <a:ext cx="5120640" cy="1051560"/>
          </a:xfrm>
          <a:prstGeom prst="rect">
            <a:avLst/>
          </a:prstGeom>
          <a:noFill/>
          <a:ln/>
        </p:spPr>
        <p:txBody>
          <a:bodyPr wrap="square" lIns="0" tIns="0" rIns="0" bIns="0" rtlCol="0" anchor="t"/>
          <a:lstStyle/>
          <a:p>
            <a:pPr marL="0" indent="0">
              <a:spcAft>
                <a:spcPts val="400"/>
              </a:spcAft>
              <a:buNone/>
            </a:pPr>
            <a:r>
              <a:rPr lang="en-US" sz="1600" b="1" dirty="0">
                <a:solidFill>
                  <a:schemeClr val="accent3"/>
                </a:solidFill>
              </a:rPr>
              <a:t>Threat: </a:t>
            </a:r>
            <a:r>
              <a:rPr lang="en-US" sz="1600" dirty="0">
                <a:solidFill>
                  <a:schemeClr val="tx2"/>
                </a:solidFill>
              </a:rPr>
              <a:t>A botnet fires rapid logins with stolen credentials.</a:t>
            </a:r>
            <a:endParaRPr lang="en-US" sz="1600" dirty="0"/>
          </a:p>
          <a:p>
            <a:pPr marL="0" indent="0">
              <a:spcAft>
                <a:spcPts val="400"/>
              </a:spcAft>
              <a:buNone/>
            </a:pPr>
            <a:r>
              <a:rPr lang="en-US" sz="1600" b="1" dirty="0">
                <a:solidFill>
                  <a:schemeClr val="accent1"/>
                </a:solidFill>
              </a:rPr>
              <a:t>WAAP response: </a:t>
            </a:r>
            <a:r>
              <a:rPr lang="en-US" sz="1600" dirty="0">
                <a:solidFill>
                  <a:schemeClr val="tx2"/>
                </a:solidFill>
              </a:rPr>
              <a:t>Abnormal frequency and failed challenges trigger blocking and rate limits; real users log in normally.</a:t>
            </a:r>
            <a:endParaRPr lang="en-US" sz="1600" dirty="0"/>
          </a:p>
        </p:txBody>
      </p:sp>
      <p:sp>
        <p:nvSpPr>
          <p:cNvPr id="14" name="attack API data exfiltration (BOLA)"/>
          <p:cNvSpPr/>
          <p:nvPr/>
        </p:nvSpPr>
        <p:spPr>
          <a:xfrm>
            <a:off x="548640" y="3794760"/>
            <a:ext cx="5394960" cy="2148840"/>
          </a:xfrm>
          <a:prstGeom prst="roundRect">
            <a:avLst>
              <a:gd name="adj" fmla="val 4255"/>
            </a:avLst>
          </a:prstGeom>
          <a:solidFill>
            <a:schemeClr val="bg2"/>
          </a:solidFill>
          <a:ln/>
        </p:spPr>
        <p:txBody>
          <a:bodyPr/>
          <a:lstStyle/>
          <a:p>
            <a:endParaRPr lang="fr-FR"/>
          </a:p>
        </p:txBody>
      </p:sp>
      <p:sp>
        <p:nvSpPr>
          <p:cNvPr id="15" name="API data exfiltration (BOLA) tile"/>
          <p:cNvSpPr/>
          <p:nvPr/>
        </p:nvSpPr>
        <p:spPr>
          <a:xfrm>
            <a:off x="822960" y="4069080"/>
            <a:ext cx="548640" cy="548640"/>
          </a:xfrm>
          <a:prstGeom prst="roundRect">
            <a:avLst>
              <a:gd name="adj" fmla="val 20000"/>
            </a:avLst>
          </a:prstGeom>
          <a:solidFill>
            <a:schemeClr val="accent3"/>
          </a:solidFill>
          <a:ln/>
        </p:spPr>
        <p:txBody>
          <a:bodyPr/>
          <a:lstStyle/>
          <a:p>
            <a:endParaRPr lang="fr-FR"/>
          </a:p>
        </p:txBody>
      </p:sp>
      <p:pic>
        <p:nvPicPr>
          <p:cNvPr id="16" name="API data exfiltration (BOLA) glyph" descr="API data exfiltration (BOLA)"/>
          <p:cNvPicPr>
            <a:picLocks noChangeAspect="1"/>
          </p:cNvPicPr>
          <p:nvPr/>
        </p:nvPicPr>
        <p:blipFill>
          <a:blip r:embed="rId5"/>
          <a:stretch>
            <a:fillRect/>
          </a:stretch>
        </p:blipFill>
        <p:spPr>
          <a:xfrm>
            <a:off x="943661" y="4189781"/>
            <a:ext cx="307238" cy="307238"/>
          </a:xfrm>
          <a:prstGeom prst="rect">
            <a:avLst/>
          </a:prstGeom>
        </p:spPr>
      </p:pic>
      <p:sp>
        <p:nvSpPr>
          <p:cNvPr id="17" name="Text 11"/>
          <p:cNvSpPr txBox="1"/>
          <p:nvPr/>
        </p:nvSpPr>
        <p:spPr>
          <a:xfrm>
            <a:off x="1508760" y="4069080"/>
            <a:ext cx="4206240" cy="548640"/>
          </a:xfrm>
          <a:prstGeom prst="rect">
            <a:avLst/>
          </a:prstGeom>
          <a:noFill/>
          <a:ln/>
        </p:spPr>
        <p:txBody>
          <a:bodyPr wrap="square" lIns="0" tIns="0" rIns="0" bIns="0" rtlCol="0" anchor="ctr"/>
          <a:lstStyle/>
          <a:p>
            <a:pPr marL="0" indent="0">
              <a:buNone/>
            </a:pPr>
            <a:r>
              <a:rPr lang="en-US" sz="1700" b="1" cap="all" dirty="0">
                <a:solidFill>
                  <a:schemeClr val="tx1"/>
                </a:solidFill>
              </a:rPr>
              <a:t>Attack 3: API data exfiltration </a:t>
            </a:r>
            <a:r>
              <a:rPr lang="en-US" sz="1700" b="1" dirty="0">
                <a:solidFill>
                  <a:schemeClr val="tx1"/>
                </a:solidFill>
              </a:rPr>
              <a:t>(BOLA)</a:t>
            </a:r>
            <a:endParaRPr lang="en-US" sz="1700" dirty="0"/>
          </a:p>
        </p:txBody>
      </p:sp>
      <p:sp>
        <p:nvSpPr>
          <p:cNvPr id="18" name="Text 12"/>
          <p:cNvSpPr txBox="1"/>
          <p:nvPr/>
        </p:nvSpPr>
        <p:spPr>
          <a:xfrm>
            <a:off x="579120" y="4754880"/>
            <a:ext cx="5364480" cy="1051560"/>
          </a:xfrm>
          <a:prstGeom prst="rect">
            <a:avLst/>
          </a:prstGeom>
          <a:noFill/>
          <a:ln/>
        </p:spPr>
        <p:txBody>
          <a:bodyPr wrap="square" lIns="0" tIns="0" rIns="0" bIns="0" rtlCol="0" anchor="t"/>
          <a:lstStyle/>
          <a:p>
            <a:pPr marL="0" indent="0">
              <a:spcAft>
                <a:spcPts val="400"/>
              </a:spcAft>
              <a:buNone/>
            </a:pPr>
            <a:r>
              <a:rPr lang="en-US" sz="1600" b="1" dirty="0">
                <a:solidFill>
                  <a:schemeClr val="accent3"/>
                </a:solidFill>
              </a:rPr>
              <a:t>Threat: </a:t>
            </a:r>
            <a:r>
              <a:rPr lang="en-US" sz="1600" dirty="0">
                <a:solidFill>
                  <a:schemeClr val="tx2"/>
                </a:solidFill>
              </a:rPr>
              <a:t>An attacker changes an API path to read another user's data.</a:t>
            </a:r>
            <a:endParaRPr lang="en-US" sz="1600" dirty="0"/>
          </a:p>
          <a:p>
            <a:pPr marL="0" indent="0">
              <a:spcAft>
                <a:spcPts val="400"/>
              </a:spcAft>
              <a:buNone/>
            </a:pPr>
            <a:r>
              <a:rPr lang="en-US" sz="1600" b="1" dirty="0">
                <a:solidFill>
                  <a:schemeClr val="accent1"/>
                </a:solidFill>
              </a:rPr>
              <a:t>WAAP response: </a:t>
            </a:r>
            <a:r>
              <a:rPr lang="en-US" sz="1600" dirty="0">
                <a:solidFill>
                  <a:schemeClr val="tx2"/>
                </a:solidFill>
              </a:rPr>
              <a:t>Sequential ID probing is detected and blocked — even if the API has an authorisation flaw.</a:t>
            </a:r>
            <a:endParaRPr lang="en-US" sz="1600" dirty="0"/>
          </a:p>
        </p:txBody>
      </p:sp>
      <p:sp>
        <p:nvSpPr>
          <p:cNvPr id="19" name="attack Layer 7 DDoS on an API"/>
          <p:cNvSpPr/>
          <p:nvPr/>
        </p:nvSpPr>
        <p:spPr>
          <a:xfrm>
            <a:off x="6217920" y="3794760"/>
            <a:ext cx="5394960" cy="2148840"/>
          </a:xfrm>
          <a:prstGeom prst="roundRect">
            <a:avLst>
              <a:gd name="adj" fmla="val 4255"/>
            </a:avLst>
          </a:prstGeom>
          <a:solidFill>
            <a:schemeClr val="bg2"/>
          </a:solidFill>
          <a:ln/>
        </p:spPr>
        <p:txBody>
          <a:bodyPr/>
          <a:lstStyle/>
          <a:p>
            <a:endParaRPr lang="fr-FR"/>
          </a:p>
        </p:txBody>
      </p:sp>
      <p:sp>
        <p:nvSpPr>
          <p:cNvPr id="20" name="Layer 7 DDoS on an API tile"/>
          <p:cNvSpPr/>
          <p:nvPr/>
        </p:nvSpPr>
        <p:spPr>
          <a:xfrm>
            <a:off x="6492240" y="4069080"/>
            <a:ext cx="548640" cy="548640"/>
          </a:xfrm>
          <a:prstGeom prst="roundRect">
            <a:avLst>
              <a:gd name="adj" fmla="val 20000"/>
            </a:avLst>
          </a:prstGeom>
          <a:solidFill>
            <a:schemeClr val="accent3"/>
          </a:solidFill>
          <a:ln/>
        </p:spPr>
        <p:txBody>
          <a:bodyPr/>
          <a:lstStyle/>
          <a:p>
            <a:endParaRPr lang="fr-FR"/>
          </a:p>
        </p:txBody>
      </p:sp>
      <p:pic>
        <p:nvPicPr>
          <p:cNvPr id="21" name="Layer 7 DDoS on an API glyph" descr="Layer 7 DDoS on an API"/>
          <p:cNvPicPr>
            <a:picLocks noChangeAspect="1"/>
          </p:cNvPicPr>
          <p:nvPr/>
        </p:nvPicPr>
        <p:blipFill>
          <a:blip r:embed="rId6"/>
          <a:stretch>
            <a:fillRect/>
          </a:stretch>
        </p:blipFill>
        <p:spPr>
          <a:xfrm>
            <a:off x="6612941" y="4189781"/>
            <a:ext cx="307238" cy="307238"/>
          </a:xfrm>
          <a:prstGeom prst="rect">
            <a:avLst/>
          </a:prstGeom>
        </p:spPr>
      </p:pic>
      <p:sp>
        <p:nvSpPr>
          <p:cNvPr id="22" name="Text 15"/>
          <p:cNvSpPr txBox="1"/>
          <p:nvPr/>
        </p:nvSpPr>
        <p:spPr>
          <a:xfrm>
            <a:off x="7178040" y="4069080"/>
            <a:ext cx="4206240" cy="548640"/>
          </a:xfrm>
          <a:prstGeom prst="rect">
            <a:avLst/>
          </a:prstGeom>
          <a:noFill/>
          <a:ln/>
        </p:spPr>
        <p:txBody>
          <a:bodyPr wrap="square" lIns="0" tIns="0" rIns="0" bIns="0" rtlCol="0" anchor="ctr"/>
          <a:lstStyle/>
          <a:p>
            <a:pPr marL="0" indent="0">
              <a:buNone/>
            </a:pPr>
            <a:r>
              <a:rPr lang="en-US" sz="1700" b="1" cap="all" dirty="0">
                <a:solidFill>
                  <a:schemeClr val="tx1"/>
                </a:solidFill>
              </a:rPr>
              <a:t>Attack 4: Layer 7 DDoS on an API</a:t>
            </a:r>
            <a:endParaRPr lang="en-US" sz="1700" cap="all" dirty="0"/>
          </a:p>
        </p:txBody>
      </p:sp>
      <p:sp>
        <p:nvSpPr>
          <p:cNvPr id="23" name="Text 16"/>
          <p:cNvSpPr txBox="1"/>
          <p:nvPr/>
        </p:nvSpPr>
        <p:spPr>
          <a:xfrm>
            <a:off x="6217920" y="4754880"/>
            <a:ext cx="5394960" cy="1051560"/>
          </a:xfrm>
          <a:prstGeom prst="rect">
            <a:avLst/>
          </a:prstGeom>
          <a:noFill/>
          <a:ln/>
        </p:spPr>
        <p:txBody>
          <a:bodyPr wrap="square" lIns="0" tIns="0" rIns="0" bIns="0" rtlCol="0" anchor="t"/>
          <a:lstStyle/>
          <a:p>
            <a:pPr marL="0" indent="0">
              <a:spcAft>
                <a:spcPts val="400"/>
              </a:spcAft>
              <a:buNone/>
            </a:pPr>
            <a:r>
              <a:rPr lang="en-US" sz="1600" b="1" dirty="0">
                <a:solidFill>
                  <a:schemeClr val="accent3"/>
                </a:solidFill>
              </a:rPr>
              <a:t>Threat: </a:t>
            </a:r>
            <a:r>
              <a:rPr lang="en-US" sz="1600" dirty="0">
                <a:solidFill>
                  <a:schemeClr val="tx2"/>
                </a:solidFill>
              </a:rPr>
              <a:t>A flood of expensive search queries tries to degrade the API.</a:t>
            </a:r>
            <a:endParaRPr lang="en-US" sz="1600" dirty="0"/>
          </a:p>
          <a:p>
            <a:pPr marL="0" indent="0">
              <a:spcAft>
                <a:spcPts val="400"/>
              </a:spcAft>
              <a:buNone/>
            </a:pPr>
            <a:r>
              <a:rPr lang="en-US" sz="1600" b="1" dirty="0">
                <a:solidFill>
                  <a:schemeClr val="accent1"/>
                </a:solidFill>
              </a:rPr>
              <a:t>WAAP response: </a:t>
            </a:r>
            <a:r>
              <a:rPr lang="en-US" sz="1600" dirty="0">
                <a:solidFill>
                  <a:schemeClr val="tx2"/>
                </a:solidFill>
              </a:rPr>
              <a:t>Adaptive rate limits block abusive sources at the edge; the backend stays responsive.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37</a:t>
            </a:fld>
            <a:endParaRPr lang="en-US"/>
          </a:p>
        </p:txBody>
      </p:sp>
      <p:pic>
        <p:nvPicPr>
          <p:cNvPr id="3" name="Image 0" descr="/home/claude/unpacked/ppt/media/image1.png">
            <a:extLst>
              <a:ext uri="{FF2B5EF4-FFF2-40B4-BE49-F238E27FC236}">
                <a16:creationId xmlns:a16="http://schemas.microsoft.com/office/drawing/2014/main" id="{F4124E96-582B-1F08-3246-A56D007940F8}"/>
              </a:ext>
            </a:extLst>
          </p:cNvPr>
          <p:cNvPicPr>
            <a:picLocks noChangeAspect="1"/>
          </p:cNvPicPr>
          <p:nvPr/>
        </p:nvPicPr>
        <p:blipFill>
          <a:blip r:embed="rId7"/>
          <a:stretch>
            <a:fillRect/>
          </a:stretch>
        </p:blipFill>
        <p:spPr>
          <a:xfrm>
            <a:off x="11223563" y="114300"/>
            <a:ext cx="960120" cy="9601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731520" y="1280160"/>
            <a:ext cx="6205308" cy="1280160"/>
          </a:xfrm>
          <a:prstGeom prst="rect">
            <a:avLst/>
          </a:prstGeom>
          <a:noFill/>
          <a:ln/>
        </p:spPr>
        <p:txBody>
          <a:bodyPr wrap="square" lIns="0" tIns="0" rIns="0" bIns="0" rtlCol="0" anchor="b"/>
          <a:lstStyle/>
          <a:p>
            <a:pPr marL="0" indent="0">
              <a:buNone/>
            </a:pPr>
            <a:r>
              <a:rPr lang="en-US" sz="8000" b="1" dirty="0">
                <a:solidFill>
                  <a:schemeClr val="accent1"/>
                </a:solidFill>
                <a:latin typeface="Arial" pitchFamily="34" charset="0"/>
                <a:cs typeface="Arial" pitchFamily="34" charset="-120"/>
              </a:rPr>
              <a:t>Chapter 3.2</a:t>
            </a:r>
            <a:endParaRPr lang="en-US" sz="8000" dirty="0"/>
          </a:p>
        </p:txBody>
      </p:sp>
      <p:sp>
        <p:nvSpPr>
          <p:cNvPr id="3" name="Text 0"/>
          <p:cNvSpPr>
            <a:spLocks noGrp="1"/>
          </p:cNvSpPr>
          <p:nvPr>
            <p:ph type="title" idx="100" hasCustomPrompt="1"/>
          </p:nvPr>
        </p:nvSpPr>
        <p:spPr>
          <a:xfrm>
            <a:off x="0" y="2743200"/>
            <a:ext cx="12191999" cy="1005840"/>
          </a:xfrm>
          <a:prstGeom prst="rect">
            <a:avLst/>
          </a:prstGeom>
          <a:noFill/>
          <a:ln/>
        </p:spPr>
        <p:txBody>
          <a:bodyPr wrap="square" lIns="0" tIns="0" rIns="0" bIns="0" rtlCol="0" anchor="ctr"/>
          <a:lstStyle/>
          <a:p>
            <a:pPr marL="0" indent="0" algn="l">
              <a:buNone/>
            </a:pPr>
            <a:r>
              <a:rPr lang="en-US" sz="4200" b="1" cap="all" dirty="0">
                <a:solidFill>
                  <a:schemeClr val="bg1"/>
                </a:solidFill>
              </a:rPr>
              <a:t>Applications, implementation &amp; future</a:t>
            </a:r>
            <a:endParaRPr lang="en-US" sz="4200" cap="all" dirty="0"/>
          </a:p>
        </p:txBody>
      </p:sp>
      <p:sp>
        <p:nvSpPr>
          <p:cNvPr id="4" name="Text 0"/>
          <p:cNvSpPr>
            <a:spLocks noGrp="1"/>
          </p:cNvSpPr>
          <p:nvPr>
            <p:ph type="body" idx="101" hasCustomPrompt="1"/>
          </p:nvPr>
        </p:nvSpPr>
        <p:spPr>
          <a:xfrm>
            <a:off x="731520" y="3840480"/>
            <a:ext cx="10058400" cy="1280160"/>
          </a:xfrm>
          <a:prstGeom prst="rect">
            <a:avLst/>
          </a:prstGeom>
          <a:noFill/>
          <a:ln/>
        </p:spPr>
        <p:txBody>
          <a:bodyPr wrap="square" lIns="0" tIns="0" rIns="0" bIns="0" rtlCol="0" anchor="t"/>
          <a:lstStyle/>
          <a:p>
            <a:pPr marL="0" indent="0" algn="l">
              <a:buNone/>
            </a:pPr>
            <a:r>
              <a:rPr lang="en-US" sz="2000" dirty="0">
                <a:solidFill>
                  <a:schemeClr val="accent5"/>
                </a:solidFill>
              </a:rPr>
              <a:t>Who uses WAAP, how big the market is, how to deploy it step by step, and what comes next.</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38</a:t>
            </a:fld>
            <a:endParaRPr lang="en-US"/>
          </a:p>
        </p:txBody>
      </p:sp>
      <p:pic>
        <p:nvPicPr>
          <p:cNvPr id="5" name="Image 0" descr="/home/claude/unpacked/ppt/media/image1.png">
            <a:extLst>
              <a:ext uri="{FF2B5EF4-FFF2-40B4-BE49-F238E27FC236}">
                <a16:creationId xmlns:a16="http://schemas.microsoft.com/office/drawing/2014/main" id="{A41190FA-D24E-5691-419C-698E8B1E86D9}"/>
              </a:ext>
            </a:extLst>
          </p:cNvPr>
          <p:cNvPicPr>
            <a:picLocks noChangeAspect="1"/>
          </p:cNvPicPr>
          <p:nvPr/>
        </p:nvPicPr>
        <p:blipFill>
          <a:blip r:embed="rId3"/>
          <a:stretch>
            <a:fillRect/>
          </a:stretch>
        </p:blipFill>
        <p:spPr>
          <a:xfrm>
            <a:off x="10424160" y="457200"/>
            <a:ext cx="960120" cy="96012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Applications across sectors</a:t>
            </a:r>
            <a:endParaRPr lang="en-US" sz="3400" cap="all" dirty="0"/>
          </a:p>
        </p:txBody>
      </p:sp>
      <p:sp>
        <p:nvSpPr>
          <p:cNvPr id="4" name="E-commerce &amp; retail tile"/>
          <p:cNvSpPr/>
          <p:nvPr/>
        </p:nvSpPr>
        <p:spPr>
          <a:xfrm>
            <a:off x="548640" y="1554480"/>
            <a:ext cx="685800" cy="685800"/>
          </a:xfrm>
          <a:prstGeom prst="roundRect">
            <a:avLst>
              <a:gd name="adj" fmla="val 16000"/>
            </a:avLst>
          </a:prstGeom>
          <a:solidFill>
            <a:schemeClr val="accent1"/>
          </a:solidFill>
          <a:ln/>
        </p:spPr>
        <p:txBody>
          <a:bodyPr/>
          <a:lstStyle/>
          <a:p>
            <a:endParaRPr lang="fr-FR"/>
          </a:p>
        </p:txBody>
      </p:sp>
      <p:pic>
        <p:nvPicPr>
          <p:cNvPr id="5" name="E-commerce &amp; retail glyph" descr="E-commerce &amp; retail"/>
          <p:cNvPicPr>
            <a:picLocks noChangeAspect="1"/>
          </p:cNvPicPr>
          <p:nvPr/>
        </p:nvPicPr>
        <p:blipFill>
          <a:blip r:embed="rId3"/>
          <a:stretch>
            <a:fillRect/>
          </a:stretch>
        </p:blipFill>
        <p:spPr>
          <a:xfrm>
            <a:off x="699516" y="1705356"/>
            <a:ext cx="384048" cy="384048"/>
          </a:xfrm>
          <a:prstGeom prst="rect">
            <a:avLst/>
          </a:prstGeom>
        </p:spPr>
      </p:pic>
      <p:sp>
        <p:nvSpPr>
          <p:cNvPr id="6" name="Text 2"/>
          <p:cNvSpPr txBox="1"/>
          <p:nvPr/>
        </p:nvSpPr>
        <p:spPr>
          <a:xfrm>
            <a:off x="1463040" y="1417320"/>
            <a:ext cx="4480560" cy="960120"/>
          </a:xfrm>
          <a:prstGeom prst="rect">
            <a:avLst/>
          </a:prstGeom>
          <a:noFill/>
          <a:ln/>
        </p:spPr>
        <p:txBody>
          <a:bodyPr wrap="square" lIns="0" tIns="0" rIns="0" bIns="0" rtlCol="0" anchor="ctr"/>
          <a:lstStyle/>
          <a:p>
            <a:pPr marL="0" indent="0">
              <a:buNone/>
            </a:pPr>
            <a:r>
              <a:rPr lang="en-US" sz="1800" b="1" cap="all" dirty="0">
                <a:solidFill>
                  <a:schemeClr val="tx1"/>
                </a:solidFill>
              </a:rPr>
              <a:t>E-commerce &amp; retail</a:t>
            </a:r>
            <a:endParaRPr lang="en-US" sz="1800" cap="all" dirty="0"/>
          </a:p>
          <a:p>
            <a:pPr marL="0" indent="0">
              <a:buNone/>
            </a:pPr>
            <a:r>
              <a:rPr lang="en-US" sz="1600" dirty="0">
                <a:solidFill>
                  <a:schemeClr val="accent4"/>
                </a:solidFill>
              </a:rPr>
              <a:t>Stop scraping, scalping bots, card testing and checkout abuse</a:t>
            </a:r>
            <a:endParaRPr lang="en-US" sz="1600" dirty="0"/>
          </a:p>
        </p:txBody>
      </p:sp>
      <p:sp>
        <p:nvSpPr>
          <p:cNvPr id="7" name="Banking &amp; fintech tile"/>
          <p:cNvSpPr/>
          <p:nvPr/>
        </p:nvSpPr>
        <p:spPr>
          <a:xfrm>
            <a:off x="6217920" y="1554480"/>
            <a:ext cx="685800" cy="685800"/>
          </a:xfrm>
          <a:prstGeom prst="roundRect">
            <a:avLst>
              <a:gd name="adj" fmla="val 16000"/>
            </a:avLst>
          </a:prstGeom>
          <a:solidFill>
            <a:schemeClr val="accent1"/>
          </a:solidFill>
          <a:ln/>
        </p:spPr>
        <p:txBody>
          <a:bodyPr/>
          <a:lstStyle/>
          <a:p>
            <a:endParaRPr lang="fr-FR"/>
          </a:p>
        </p:txBody>
      </p:sp>
      <p:pic>
        <p:nvPicPr>
          <p:cNvPr id="8" name="Banking &amp; fintech glyph" descr="Banking &amp; fintech"/>
          <p:cNvPicPr>
            <a:picLocks noChangeAspect="1"/>
          </p:cNvPicPr>
          <p:nvPr/>
        </p:nvPicPr>
        <p:blipFill>
          <a:blip r:embed="rId4"/>
          <a:stretch>
            <a:fillRect/>
          </a:stretch>
        </p:blipFill>
        <p:spPr>
          <a:xfrm>
            <a:off x="6368796" y="1705356"/>
            <a:ext cx="384048" cy="384048"/>
          </a:xfrm>
          <a:prstGeom prst="rect">
            <a:avLst/>
          </a:prstGeom>
        </p:spPr>
      </p:pic>
      <p:sp>
        <p:nvSpPr>
          <p:cNvPr id="9" name="Text 4"/>
          <p:cNvSpPr txBox="1"/>
          <p:nvPr/>
        </p:nvSpPr>
        <p:spPr>
          <a:xfrm>
            <a:off x="7132320" y="1417320"/>
            <a:ext cx="4480560" cy="960120"/>
          </a:xfrm>
          <a:prstGeom prst="rect">
            <a:avLst/>
          </a:prstGeom>
          <a:noFill/>
          <a:ln/>
        </p:spPr>
        <p:txBody>
          <a:bodyPr wrap="square" lIns="0" tIns="0" rIns="0" bIns="0" rtlCol="0" anchor="ctr"/>
          <a:lstStyle/>
          <a:p>
            <a:pPr marL="0" indent="0">
              <a:buNone/>
            </a:pPr>
            <a:r>
              <a:rPr lang="en-US" sz="1800" b="1" cap="all" dirty="0">
                <a:solidFill>
                  <a:schemeClr val="tx1"/>
                </a:solidFill>
              </a:rPr>
              <a:t>Banking &amp; fintech</a:t>
            </a:r>
            <a:endParaRPr lang="en-US" sz="1800" cap="all" dirty="0"/>
          </a:p>
          <a:p>
            <a:pPr marL="0" indent="0">
              <a:buNone/>
            </a:pPr>
            <a:r>
              <a:rPr lang="en-US" sz="1600" dirty="0">
                <a:solidFill>
                  <a:schemeClr val="accent4"/>
                </a:solidFill>
              </a:rPr>
              <a:t>Secure open-banking APIs, block account takeover and fraud</a:t>
            </a:r>
            <a:endParaRPr lang="en-US" sz="1600" dirty="0"/>
          </a:p>
        </p:txBody>
      </p:sp>
      <p:sp>
        <p:nvSpPr>
          <p:cNvPr id="10" name="Healthcare tile"/>
          <p:cNvSpPr/>
          <p:nvPr/>
        </p:nvSpPr>
        <p:spPr>
          <a:xfrm>
            <a:off x="548640" y="3108960"/>
            <a:ext cx="685800" cy="685800"/>
          </a:xfrm>
          <a:prstGeom prst="roundRect">
            <a:avLst>
              <a:gd name="adj" fmla="val 16000"/>
            </a:avLst>
          </a:prstGeom>
          <a:solidFill>
            <a:schemeClr val="accent1"/>
          </a:solidFill>
          <a:ln/>
        </p:spPr>
        <p:txBody>
          <a:bodyPr/>
          <a:lstStyle/>
          <a:p>
            <a:endParaRPr lang="fr-FR"/>
          </a:p>
        </p:txBody>
      </p:sp>
      <p:pic>
        <p:nvPicPr>
          <p:cNvPr id="11" name="Healthcare glyph" descr="Healthcare"/>
          <p:cNvPicPr>
            <a:picLocks noChangeAspect="1"/>
          </p:cNvPicPr>
          <p:nvPr/>
        </p:nvPicPr>
        <p:blipFill>
          <a:blip r:embed="rId5"/>
          <a:stretch>
            <a:fillRect/>
          </a:stretch>
        </p:blipFill>
        <p:spPr>
          <a:xfrm>
            <a:off x="699516" y="3259836"/>
            <a:ext cx="384048" cy="384048"/>
          </a:xfrm>
          <a:prstGeom prst="rect">
            <a:avLst/>
          </a:prstGeom>
        </p:spPr>
      </p:pic>
      <p:sp>
        <p:nvSpPr>
          <p:cNvPr id="12" name="Text 6"/>
          <p:cNvSpPr txBox="1"/>
          <p:nvPr/>
        </p:nvSpPr>
        <p:spPr>
          <a:xfrm>
            <a:off x="1463040" y="2971800"/>
            <a:ext cx="4480560" cy="960120"/>
          </a:xfrm>
          <a:prstGeom prst="rect">
            <a:avLst/>
          </a:prstGeom>
          <a:noFill/>
          <a:ln/>
        </p:spPr>
        <p:txBody>
          <a:bodyPr wrap="square" lIns="0" tIns="0" rIns="0" bIns="0" rtlCol="0" anchor="ctr"/>
          <a:lstStyle/>
          <a:p>
            <a:pPr marL="0" indent="0">
              <a:buNone/>
            </a:pPr>
            <a:r>
              <a:rPr lang="en-US" b="1" cap="all" dirty="0"/>
              <a:t>Healthcare</a:t>
            </a:r>
          </a:p>
          <a:p>
            <a:pPr marL="0" indent="0">
              <a:buNone/>
            </a:pPr>
            <a:r>
              <a:rPr lang="en-US" sz="1600" dirty="0">
                <a:solidFill>
                  <a:schemeClr val="accent4"/>
                </a:solidFill>
              </a:rPr>
              <a:t>Protect patient portals and health APIs; support HIPAA/GDPR</a:t>
            </a:r>
            <a:endParaRPr lang="en-US" sz="1600" dirty="0"/>
          </a:p>
        </p:txBody>
      </p:sp>
      <p:sp>
        <p:nvSpPr>
          <p:cNvPr id="13" name="Travel &amp; hospitality tile"/>
          <p:cNvSpPr/>
          <p:nvPr/>
        </p:nvSpPr>
        <p:spPr>
          <a:xfrm>
            <a:off x="6217920" y="3108960"/>
            <a:ext cx="685800" cy="685800"/>
          </a:xfrm>
          <a:prstGeom prst="roundRect">
            <a:avLst>
              <a:gd name="adj" fmla="val 16000"/>
            </a:avLst>
          </a:prstGeom>
          <a:solidFill>
            <a:schemeClr val="accent1"/>
          </a:solidFill>
          <a:ln/>
        </p:spPr>
        <p:txBody>
          <a:bodyPr/>
          <a:lstStyle/>
          <a:p>
            <a:endParaRPr lang="fr-FR"/>
          </a:p>
        </p:txBody>
      </p:sp>
      <p:pic>
        <p:nvPicPr>
          <p:cNvPr id="14" name="Travel &amp; hospitality glyph" descr="Travel &amp; hospitality"/>
          <p:cNvPicPr>
            <a:picLocks noChangeAspect="1"/>
          </p:cNvPicPr>
          <p:nvPr/>
        </p:nvPicPr>
        <p:blipFill>
          <a:blip r:embed="rId6"/>
          <a:stretch>
            <a:fillRect/>
          </a:stretch>
        </p:blipFill>
        <p:spPr>
          <a:xfrm>
            <a:off x="6368796" y="3259836"/>
            <a:ext cx="384048" cy="384048"/>
          </a:xfrm>
          <a:prstGeom prst="rect">
            <a:avLst/>
          </a:prstGeom>
        </p:spPr>
      </p:pic>
      <p:sp>
        <p:nvSpPr>
          <p:cNvPr id="15" name="Text 8"/>
          <p:cNvSpPr txBox="1"/>
          <p:nvPr/>
        </p:nvSpPr>
        <p:spPr>
          <a:xfrm>
            <a:off x="7132320" y="2971800"/>
            <a:ext cx="4480560" cy="960120"/>
          </a:xfrm>
          <a:prstGeom prst="rect">
            <a:avLst/>
          </a:prstGeom>
          <a:noFill/>
          <a:ln/>
        </p:spPr>
        <p:txBody>
          <a:bodyPr wrap="square" lIns="0" tIns="0" rIns="0" bIns="0" rtlCol="0" anchor="ctr"/>
          <a:lstStyle/>
          <a:p>
            <a:pPr marL="0" indent="0">
              <a:buNone/>
            </a:pPr>
            <a:r>
              <a:rPr lang="en-US" sz="1800" b="1" cap="all" dirty="0">
                <a:solidFill>
                  <a:schemeClr val="tx1"/>
                </a:solidFill>
              </a:rPr>
              <a:t>Travel &amp; hospitality</a:t>
            </a:r>
            <a:endParaRPr lang="en-US" sz="1800" cap="all" dirty="0"/>
          </a:p>
          <a:p>
            <a:pPr marL="0" indent="0">
              <a:buNone/>
            </a:pPr>
            <a:r>
              <a:rPr lang="en-US" sz="1600" dirty="0">
                <a:solidFill>
                  <a:schemeClr val="accent4"/>
                </a:solidFill>
              </a:rPr>
              <a:t>Shield booking engines from inventory hoarding and fake reservations</a:t>
            </a:r>
            <a:endParaRPr lang="en-US" sz="1600" dirty="0"/>
          </a:p>
        </p:txBody>
      </p:sp>
      <p:sp>
        <p:nvSpPr>
          <p:cNvPr id="16" name="Public sector tile"/>
          <p:cNvSpPr/>
          <p:nvPr/>
        </p:nvSpPr>
        <p:spPr>
          <a:xfrm>
            <a:off x="548640" y="4663440"/>
            <a:ext cx="685800" cy="685800"/>
          </a:xfrm>
          <a:prstGeom prst="roundRect">
            <a:avLst>
              <a:gd name="adj" fmla="val 16000"/>
            </a:avLst>
          </a:prstGeom>
          <a:solidFill>
            <a:schemeClr val="accent1"/>
          </a:solidFill>
          <a:ln/>
        </p:spPr>
        <p:txBody>
          <a:bodyPr/>
          <a:lstStyle/>
          <a:p>
            <a:endParaRPr lang="fr-FR"/>
          </a:p>
        </p:txBody>
      </p:sp>
      <p:pic>
        <p:nvPicPr>
          <p:cNvPr id="17" name="Public sector glyph" descr="Public sector"/>
          <p:cNvPicPr>
            <a:picLocks noChangeAspect="1"/>
          </p:cNvPicPr>
          <p:nvPr/>
        </p:nvPicPr>
        <p:blipFill>
          <a:blip r:embed="rId7"/>
          <a:stretch>
            <a:fillRect/>
          </a:stretch>
        </p:blipFill>
        <p:spPr>
          <a:xfrm>
            <a:off x="699516" y="4814316"/>
            <a:ext cx="384048" cy="384048"/>
          </a:xfrm>
          <a:prstGeom prst="rect">
            <a:avLst/>
          </a:prstGeom>
        </p:spPr>
      </p:pic>
      <p:sp>
        <p:nvSpPr>
          <p:cNvPr id="18" name="Text 10"/>
          <p:cNvSpPr txBox="1"/>
          <p:nvPr/>
        </p:nvSpPr>
        <p:spPr>
          <a:xfrm>
            <a:off x="1463040" y="4526280"/>
            <a:ext cx="4480560" cy="960120"/>
          </a:xfrm>
          <a:prstGeom prst="rect">
            <a:avLst/>
          </a:prstGeom>
          <a:noFill/>
          <a:ln/>
        </p:spPr>
        <p:txBody>
          <a:bodyPr wrap="square" lIns="0" tIns="0" rIns="0" bIns="0" rtlCol="0" anchor="ctr"/>
          <a:lstStyle/>
          <a:p>
            <a:pPr marL="0" indent="0">
              <a:buNone/>
            </a:pPr>
            <a:r>
              <a:rPr lang="en-US" sz="1800" b="1" cap="all" dirty="0">
                <a:solidFill>
                  <a:schemeClr val="tx1"/>
                </a:solidFill>
              </a:rPr>
              <a:t>Public sector</a:t>
            </a:r>
            <a:endParaRPr lang="en-US" sz="1800" cap="all" dirty="0"/>
          </a:p>
          <a:p>
            <a:pPr marL="0" indent="0">
              <a:buNone/>
            </a:pPr>
            <a:r>
              <a:rPr lang="en-US" sz="1600" dirty="0">
                <a:solidFill>
                  <a:schemeClr val="accent4"/>
                </a:solidFill>
              </a:rPr>
              <a:t>Keep e-government services online under DDoS and hacktivism</a:t>
            </a:r>
            <a:endParaRPr lang="en-US" sz="1600" dirty="0"/>
          </a:p>
        </p:txBody>
      </p:sp>
      <p:sp>
        <p:nvSpPr>
          <p:cNvPr id="19" name="SaaS &amp; AI platforms tile"/>
          <p:cNvSpPr/>
          <p:nvPr/>
        </p:nvSpPr>
        <p:spPr>
          <a:xfrm>
            <a:off x="6217920" y="4663440"/>
            <a:ext cx="685800" cy="685800"/>
          </a:xfrm>
          <a:prstGeom prst="roundRect">
            <a:avLst>
              <a:gd name="adj" fmla="val 16000"/>
            </a:avLst>
          </a:prstGeom>
          <a:solidFill>
            <a:schemeClr val="accent1"/>
          </a:solidFill>
          <a:ln/>
        </p:spPr>
        <p:txBody>
          <a:bodyPr/>
          <a:lstStyle/>
          <a:p>
            <a:endParaRPr lang="fr-FR"/>
          </a:p>
        </p:txBody>
      </p:sp>
      <p:pic>
        <p:nvPicPr>
          <p:cNvPr id="20" name="SaaS &amp; AI platforms glyph" descr="SaaS &amp; AI platforms"/>
          <p:cNvPicPr>
            <a:picLocks noChangeAspect="1"/>
          </p:cNvPicPr>
          <p:nvPr/>
        </p:nvPicPr>
        <p:blipFill>
          <a:blip r:embed="rId8"/>
          <a:stretch>
            <a:fillRect/>
          </a:stretch>
        </p:blipFill>
        <p:spPr>
          <a:xfrm>
            <a:off x="6368796" y="4814316"/>
            <a:ext cx="384048" cy="384048"/>
          </a:xfrm>
          <a:prstGeom prst="rect">
            <a:avLst/>
          </a:prstGeom>
        </p:spPr>
      </p:pic>
      <p:sp>
        <p:nvSpPr>
          <p:cNvPr id="21" name="Text 12"/>
          <p:cNvSpPr txBox="1"/>
          <p:nvPr/>
        </p:nvSpPr>
        <p:spPr>
          <a:xfrm>
            <a:off x="7132320" y="4526280"/>
            <a:ext cx="4480560" cy="960120"/>
          </a:xfrm>
          <a:prstGeom prst="rect">
            <a:avLst/>
          </a:prstGeom>
          <a:noFill/>
          <a:ln/>
        </p:spPr>
        <p:txBody>
          <a:bodyPr wrap="square" lIns="0" tIns="0" rIns="0" bIns="0" rtlCol="0" anchor="ctr"/>
          <a:lstStyle/>
          <a:p>
            <a:pPr marL="0" indent="0">
              <a:buNone/>
            </a:pPr>
            <a:r>
              <a:rPr lang="en-US" sz="1800" b="1" dirty="0">
                <a:solidFill>
                  <a:schemeClr val="tx1"/>
                </a:solidFill>
              </a:rPr>
              <a:t>SaaS &amp; AI </a:t>
            </a:r>
            <a:r>
              <a:rPr lang="en-US" sz="1800" b="1" cap="all" dirty="0">
                <a:solidFill>
                  <a:schemeClr val="tx1"/>
                </a:solidFill>
              </a:rPr>
              <a:t>platforms</a:t>
            </a:r>
            <a:endParaRPr lang="en-US" sz="1800" cap="all" dirty="0"/>
          </a:p>
          <a:p>
            <a:pPr marL="0" indent="0">
              <a:buNone/>
            </a:pPr>
            <a:r>
              <a:rPr lang="en-US" sz="1600" dirty="0">
                <a:solidFill>
                  <a:schemeClr val="accent4"/>
                </a:solidFill>
              </a:rPr>
              <a:t>Protect multi-tenant APIs and LLM endpoints from abuse</a:t>
            </a:r>
            <a:endParaRPr lang="en-US" sz="1600" dirty="0"/>
          </a:p>
        </p:txBody>
      </p:sp>
      <p:sp>
        <p:nvSpPr>
          <p:cNvPr id="22" name="Text 13"/>
          <p:cNvSpPr txBox="1"/>
          <p:nvPr/>
        </p:nvSpPr>
        <p:spPr>
          <a:xfrm>
            <a:off x="548640" y="5852160"/>
            <a:ext cx="11064240" cy="411480"/>
          </a:xfrm>
          <a:prstGeom prst="rect">
            <a:avLst/>
          </a:prstGeom>
          <a:noFill/>
          <a:ln/>
        </p:spPr>
        <p:txBody>
          <a:bodyPr wrap="square" lIns="0" tIns="0" rIns="0" bIns="0" rtlCol="0" anchor="ctr"/>
          <a:lstStyle/>
          <a:p>
            <a:pPr marL="0" indent="0">
              <a:buNone/>
            </a:pPr>
            <a:r>
              <a:rPr lang="en-US" sz="1500" i="1" dirty="0">
                <a:solidFill>
                  <a:schemeClr val="tx2"/>
                </a:solidFill>
              </a:rPr>
              <a:t>Common thread: any business exposing revenue or data through web pages and APIs.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39</a:t>
            </a:fld>
            <a:endParaRPr lang="en-US"/>
          </a:p>
        </p:txBody>
      </p:sp>
      <p:pic>
        <p:nvPicPr>
          <p:cNvPr id="3" name="Image 0" descr="/home/claude/unpacked/ppt/media/image1.png">
            <a:extLst>
              <a:ext uri="{FF2B5EF4-FFF2-40B4-BE49-F238E27FC236}">
                <a16:creationId xmlns:a16="http://schemas.microsoft.com/office/drawing/2014/main" id="{72B1859E-4F25-4892-DA23-1401444C4B40}"/>
              </a:ext>
            </a:extLst>
          </p:cNvPr>
          <p:cNvPicPr>
            <a:picLocks noChangeAspect="1"/>
          </p:cNvPicPr>
          <p:nvPr/>
        </p:nvPicPr>
        <p:blipFill>
          <a:blip r:embed="rId9"/>
          <a:stretch>
            <a:fillRect/>
          </a:stretch>
        </p:blipFill>
        <p:spPr>
          <a:xfrm>
            <a:off x="11007246" y="182880"/>
            <a:ext cx="960120" cy="96012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A fast-growing market</a:t>
            </a:r>
            <a:endParaRPr lang="en-US" sz="3400" cap="all" dirty="0"/>
          </a:p>
        </p:txBody>
      </p:sp>
      <p:sp>
        <p:nvSpPr>
          <p:cNvPr id="4" name="Text 1"/>
          <p:cNvSpPr txBox="1"/>
          <p:nvPr/>
        </p:nvSpPr>
        <p:spPr>
          <a:xfrm>
            <a:off x="548640" y="1463040"/>
            <a:ext cx="2377440" cy="868680"/>
          </a:xfrm>
          <a:prstGeom prst="rect">
            <a:avLst/>
          </a:prstGeom>
          <a:noFill/>
          <a:ln/>
        </p:spPr>
        <p:txBody>
          <a:bodyPr wrap="square" lIns="0" tIns="0" rIns="0" bIns="0" rtlCol="0" anchor="ctr"/>
          <a:lstStyle/>
          <a:p>
            <a:pPr marL="0" indent="0">
              <a:buNone/>
            </a:pPr>
            <a:r>
              <a:rPr lang="en-US" sz="4800" b="1" dirty="0">
                <a:solidFill>
                  <a:schemeClr val="accent1"/>
                </a:solidFill>
              </a:rPr>
              <a:t>$7.8B</a:t>
            </a:r>
            <a:endParaRPr lang="en-US" sz="4800" dirty="0"/>
          </a:p>
        </p:txBody>
      </p:sp>
      <p:sp>
        <p:nvSpPr>
          <p:cNvPr id="5" name="Text 2"/>
          <p:cNvSpPr txBox="1"/>
          <p:nvPr/>
        </p:nvSpPr>
        <p:spPr>
          <a:xfrm>
            <a:off x="3017520" y="1463040"/>
            <a:ext cx="2926080" cy="868680"/>
          </a:xfrm>
          <a:prstGeom prst="rect">
            <a:avLst/>
          </a:prstGeom>
          <a:noFill/>
          <a:ln/>
        </p:spPr>
        <p:txBody>
          <a:bodyPr wrap="square" lIns="0" tIns="0" rIns="0" bIns="0" rtlCol="0" anchor="ctr"/>
          <a:lstStyle/>
          <a:p>
            <a:pPr marL="0" indent="0">
              <a:buNone/>
            </a:pPr>
            <a:r>
              <a:rPr lang="en-US" sz="1600" b="1" cap="all" dirty="0">
                <a:solidFill>
                  <a:schemeClr val="accent4"/>
                </a:solidFill>
              </a:rPr>
              <a:t>estimated cloud WAAP market in 2026</a:t>
            </a:r>
          </a:p>
        </p:txBody>
      </p:sp>
      <p:sp>
        <p:nvSpPr>
          <p:cNvPr id="6" name="Text 3"/>
          <p:cNvSpPr txBox="1"/>
          <p:nvPr/>
        </p:nvSpPr>
        <p:spPr>
          <a:xfrm>
            <a:off x="548640" y="2560320"/>
            <a:ext cx="2377440" cy="868680"/>
          </a:xfrm>
          <a:prstGeom prst="rect">
            <a:avLst/>
          </a:prstGeom>
          <a:noFill/>
          <a:ln/>
        </p:spPr>
        <p:txBody>
          <a:bodyPr wrap="square" lIns="0" tIns="0" rIns="0" bIns="0" rtlCol="0" anchor="ctr"/>
          <a:lstStyle/>
          <a:p>
            <a:pPr marL="0" indent="0">
              <a:buNone/>
            </a:pPr>
            <a:r>
              <a:rPr lang="en-US" sz="4800" b="1" dirty="0">
                <a:solidFill>
                  <a:schemeClr val="accent1"/>
                </a:solidFill>
              </a:rPr>
              <a:t>14.5%</a:t>
            </a:r>
            <a:endParaRPr lang="en-US" sz="4800" dirty="0"/>
          </a:p>
        </p:txBody>
      </p:sp>
      <p:sp>
        <p:nvSpPr>
          <p:cNvPr id="7" name="Text 4"/>
          <p:cNvSpPr txBox="1"/>
          <p:nvPr/>
        </p:nvSpPr>
        <p:spPr>
          <a:xfrm>
            <a:off x="2920539" y="2433551"/>
            <a:ext cx="2926080" cy="868680"/>
          </a:xfrm>
          <a:prstGeom prst="rect">
            <a:avLst/>
          </a:prstGeom>
          <a:noFill/>
          <a:ln/>
        </p:spPr>
        <p:txBody>
          <a:bodyPr wrap="square" lIns="0" tIns="0" rIns="0" bIns="0" rtlCol="0" anchor="ctr"/>
          <a:lstStyle/>
          <a:p>
            <a:pPr marL="0" indent="0">
              <a:buNone/>
            </a:pPr>
            <a:r>
              <a:rPr lang="en-US" sz="1600" b="1" cap="all" dirty="0">
                <a:solidFill>
                  <a:schemeClr val="accent4"/>
                </a:solidFill>
              </a:rPr>
              <a:t>projected</a:t>
            </a:r>
            <a:r>
              <a:rPr lang="en-US" sz="1500" dirty="0">
                <a:solidFill>
                  <a:schemeClr val="tx2"/>
                </a:solidFill>
              </a:rPr>
              <a:t> </a:t>
            </a:r>
            <a:r>
              <a:rPr lang="en-US" sz="1600" b="1" cap="all" dirty="0">
                <a:solidFill>
                  <a:schemeClr val="accent4"/>
                </a:solidFill>
              </a:rPr>
              <a:t>annual</a:t>
            </a:r>
            <a:r>
              <a:rPr lang="en-US" sz="1500" dirty="0">
                <a:solidFill>
                  <a:schemeClr val="tx2"/>
                </a:solidFill>
              </a:rPr>
              <a:t> </a:t>
            </a:r>
            <a:r>
              <a:rPr lang="en-US" sz="1600" b="1" cap="all" dirty="0">
                <a:solidFill>
                  <a:schemeClr val="accent4"/>
                </a:solidFill>
              </a:rPr>
              <a:t>growth</a:t>
            </a:r>
            <a:r>
              <a:rPr lang="en-US" sz="1500" dirty="0">
                <a:solidFill>
                  <a:schemeClr val="tx2"/>
                </a:solidFill>
              </a:rPr>
              <a:t>, </a:t>
            </a:r>
            <a:r>
              <a:rPr lang="en-US" sz="1600" b="1" cap="all" dirty="0">
                <a:solidFill>
                  <a:schemeClr val="accent4"/>
                </a:solidFill>
              </a:rPr>
              <a:t>2026–2035</a:t>
            </a:r>
          </a:p>
        </p:txBody>
      </p:sp>
      <p:sp>
        <p:nvSpPr>
          <p:cNvPr id="8" name="Text 5"/>
          <p:cNvSpPr txBox="1"/>
          <p:nvPr/>
        </p:nvSpPr>
        <p:spPr>
          <a:xfrm>
            <a:off x="548640" y="3657600"/>
            <a:ext cx="2377440" cy="868680"/>
          </a:xfrm>
          <a:prstGeom prst="rect">
            <a:avLst/>
          </a:prstGeom>
          <a:noFill/>
          <a:ln/>
        </p:spPr>
        <p:txBody>
          <a:bodyPr wrap="square" lIns="0" tIns="0" rIns="0" bIns="0" rtlCol="0" anchor="ctr"/>
          <a:lstStyle/>
          <a:p>
            <a:pPr marL="0" indent="0">
              <a:buNone/>
            </a:pPr>
            <a:r>
              <a:rPr lang="en-US" sz="4800" b="1" dirty="0">
                <a:solidFill>
                  <a:schemeClr val="accent1"/>
                </a:solidFill>
              </a:rPr>
              <a:t>36%</a:t>
            </a:r>
            <a:endParaRPr lang="en-US" sz="4800" dirty="0"/>
          </a:p>
        </p:txBody>
      </p:sp>
      <p:sp>
        <p:nvSpPr>
          <p:cNvPr id="9" name="Text 6"/>
          <p:cNvSpPr txBox="1"/>
          <p:nvPr/>
        </p:nvSpPr>
        <p:spPr>
          <a:xfrm>
            <a:off x="3017520" y="3657600"/>
            <a:ext cx="2926080" cy="868680"/>
          </a:xfrm>
          <a:prstGeom prst="rect">
            <a:avLst/>
          </a:prstGeom>
          <a:noFill/>
          <a:ln/>
        </p:spPr>
        <p:txBody>
          <a:bodyPr wrap="square" lIns="0" tIns="0" rIns="0" bIns="0" rtlCol="0" anchor="ctr"/>
          <a:lstStyle/>
          <a:p>
            <a:pPr marL="0" indent="0">
              <a:buNone/>
            </a:pPr>
            <a:r>
              <a:rPr lang="en-US" sz="1600" b="1" cap="all" dirty="0">
                <a:solidFill>
                  <a:schemeClr val="accent4"/>
                </a:solidFill>
              </a:rPr>
              <a:t>share</a:t>
            </a:r>
            <a:r>
              <a:rPr lang="en-US" sz="1500" dirty="0">
                <a:solidFill>
                  <a:schemeClr val="tx2"/>
                </a:solidFill>
              </a:rPr>
              <a:t> </a:t>
            </a:r>
            <a:r>
              <a:rPr lang="en-US" sz="1600" b="1" cap="all" dirty="0">
                <a:solidFill>
                  <a:schemeClr val="accent4"/>
                </a:solidFill>
              </a:rPr>
              <a:t>held by API security, the fastest-growing segment</a:t>
            </a:r>
          </a:p>
        </p:txBody>
      </p:sp>
      <p:sp>
        <p:nvSpPr>
          <p:cNvPr id="10" name="Text 7"/>
          <p:cNvSpPr txBox="1"/>
          <p:nvPr/>
        </p:nvSpPr>
        <p:spPr>
          <a:xfrm>
            <a:off x="548640" y="4754880"/>
            <a:ext cx="2377440" cy="868680"/>
          </a:xfrm>
          <a:prstGeom prst="rect">
            <a:avLst/>
          </a:prstGeom>
          <a:noFill/>
          <a:ln/>
        </p:spPr>
        <p:txBody>
          <a:bodyPr wrap="square" lIns="0" tIns="0" rIns="0" bIns="0" rtlCol="0" anchor="ctr"/>
          <a:lstStyle/>
          <a:p>
            <a:pPr marL="0" indent="0">
              <a:buNone/>
            </a:pPr>
            <a:r>
              <a:rPr lang="en-US" sz="4800" b="1" dirty="0">
                <a:solidFill>
                  <a:schemeClr val="accent1"/>
                </a:solidFill>
              </a:rPr>
              <a:t>47%</a:t>
            </a:r>
            <a:endParaRPr lang="en-US" sz="4800" dirty="0"/>
          </a:p>
        </p:txBody>
      </p:sp>
      <p:sp>
        <p:nvSpPr>
          <p:cNvPr id="11" name="Text 8"/>
          <p:cNvSpPr txBox="1"/>
          <p:nvPr/>
        </p:nvSpPr>
        <p:spPr>
          <a:xfrm>
            <a:off x="2865121" y="4647507"/>
            <a:ext cx="2926080" cy="868680"/>
          </a:xfrm>
          <a:prstGeom prst="rect">
            <a:avLst/>
          </a:prstGeom>
          <a:noFill/>
          <a:ln/>
        </p:spPr>
        <p:txBody>
          <a:bodyPr wrap="square" lIns="0" tIns="0" rIns="0" bIns="0" rtlCol="0" anchor="ctr"/>
          <a:lstStyle/>
          <a:p>
            <a:pPr marL="0" indent="0">
              <a:buNone/>
            </a:pPr>
            <a:r>
              <a:rPr lang="en-US" sz="1600" b="1" cap="all" dirty="0">
                <a:solidFill>
                  <a:schemeClr val="accent4"/>
                </a:solidFill>
              </a:rPr>
              <a:t>of</a:t>
            </a:r>
            <a:r>
              <a:rPr lang="en-US" sz="1500" dirty="0">
                <a:solidFill>
                  <a:schemeClr val="tx2"/>
                </a:solidFill>
              </a:rPr>
              <a:t> </a:t>
            </a:r>
            <a:r>
              <a:rPr lang="en-US" sz="1600" b="1" cap="all" dirty="0">
                <a:solidFill>
                  <a:schemeClr val="accent4"/>
                </a:solidFill>
              </a:rPr>
              <a:t>web</a:t>
            </a:r>
            <a:r>
              <a:rPr lang="en-US" sz="1500" dirty="0">
                <a:solidFill>
                  <a:schemeClr val="tx2"/>
                </a:solidFill>
              </a:rPr>
              <a:t> </a:t>
            </a:r>
            <a:r>
              <a:rPr lang="en-US" sz="1600" b="1" cap="all" dirty="0">
                <a:solidFill>
                  <a:schemeClr val="accent4"/>
                </a:solidFill>
              </a:rPr>
              <a:t>traffic</a:t>
            </a:r>
            <a:r>
              <a:rPr lang="en-US" sz="1500" dirty="0">
                <a:solidFill>
                  <a:schemeClr val="tx2"/>
                </a:solidFill>
              </a:rPr>
              <a:t> </a:t>
            </a:r>
            <a:r>
              <a:rPr lang="en-US" sz="1600" b="1" cap="all" dirty="0">
                <a:solidFill>
                  <a:schemeClr val="accent4"/>
                </a:solidFill>
              </a:rPr>
              <a:t>generated</a:t>
            </a:r>
            <a:r>
              <a:rPr lang="en-US" sz="1500" dirty="0">
                <a:solidFill>
                  <a:schemeClr val="tx2"/>
                </a:solidFill>
              </a:rPr>
              <a:t> </a:t>
            </a:r>
            <a:r>
              <a:rPr lang="en-US" sz="1600" b="1" cap="all" dirty="0">
                <a:solidFill>
                  <a:schemeClr val="accent4"/>
                </a:solidFill>
              </a:rPr>
              <a:t>by bots</a:t>
            </a:r>
          </a:p>
        </p:txBody>
      </p:sp>
      <p:graphicFrame>
        <p:nvGraphicFramePr>
          <p:cNvPr id="12" name="market chart"/>
          <p:cNvGraphicFramePr/>
          <p:nvPr/>
        </p:nvGraphicFramePr>
        <p:xfrm>
          <a:off x="6400800" y="1371600"/>
          <a:ext cx="52120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9"/>
          <p:cNvSpPr txBox="1"/>
          <p:nvPr/>
        </p:nvSpPr>
        <p:spPr>
          <a:xfrm>
            <a:off x="548640" y="5897880"/>
            <a:ext cx="11064240" cy="320040"/>
          </a:xfrm>
          <a:prstGeom prst="rect">
            <a:avLst/>
          </a:prstGeom>
          <a:noFill/>
          <a:ln/>
        </p:spPr>
        <p:txBody>
          <a:bodyPr wrap="square" lIns="0" tIns="0" rIns="0" bIns="0" rtlCol="0" anchor="ctr"/>
          <a:lstStyle/>
          <a:p>
            <a:pPr marL="0" indent="0">
              <a:buNone/>
            </a:pPr>
            <a:r>
              <a:rPr lang="en-US" sz="1000" dirty="0">
                <a:solidFill>
                  <a:schemeClr val="accent4"/>
                </a:solidFill>
              </a:rPr>
              <a:t>Source: Business Research Insights, Cloud WAAP Market report (2026–2035). Projection compounds the stated CAGR.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40</a:t>
            </a:fld>
            <a:endParaRPr lang="en-US"/>
          </a:p>
        </p:txBody>
      </p:sp>
      <p:pic>
        <p:nvPicPr>
          <p:cNvPr id="3" name="Image 0" descr="/home/claude/unpacked/ppt/media/image1.png">
            <a:extLst>
              <a:ext uri="{FF2B5EF4-FFF2-40B4-BE49-F238E27FC236}">
                <a16:creationId xmlns:a16="http://schemas.microsoft.com/office/drawing/2014/main" id="{5FF8282A-79DD-0B9D-9107-13F5EB1926F2}"/>
              </a:ext>
            </a:extLst>
          </p:cNvPr>
          <p:cNvPicPr>
            <a:picLocks noChangeAspect="1"/>
          </p:cNvPicPr>
          <p:nvPr/>
        </p:nvPicPr>
        <p:blipFill>
          <a:blip r:embed="rId4"/>
          <a:stretch>
            <a:fillRect/>
          </a:stretch>
        </p:blipFill>
        <p:spPr>
          <a:xfrm>
            <a:off x="10652760" y="205740"/>
            <a:ext cx="960120" cy="96012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Implementing WAAP</a:t>
            </a:r>
            <a:r>
              <a:rPr lang="en-US" sz="3400" b="1" dirty="0">
                <a:solidFill>
                  <a:schemeClr val="tx1"/>
                </a:solidFill>
              </a:rPr>
              <a:t>: a practical roadmap</a:t>
            </a:r>
            <a:endParaRPr lang="en-US" sz="3400" dirty="0"/>
          </a:p>
        </p:txBody>
      </p:sp>
      <p:sp>
        <p:nvSpPr>
          <p:cNvPr id="4" name="roadmap axis"/>
          <p:cNvSpPr/>
          <p:nvPr/>
        </p:nvSpPr>
        <p:spPr>
          <a:xfrm>
            <a:off x="1097280" y="1874520"/>
            <a:ext cx="8503920" cy="0"/>
          </a:xfrm>
          <a:prstGeom prst="line">
            <a:avLst/>
          </a:prstGeom>
          <a:noFill/>
          <a:ln w="25400">
            <a:solidFill>
              <a:schemeClr val="accent4"/>
            </a:solidFill>
            <a:prstDash val="solid"/>
          </a:ln>
        </p:spPr>
        <p:txBody>
          <a:bodyPr/>
          <a:lstStyle/>
          <a:p>
            <a:endParaRPr lang="fr-FR"/>
          </a:p>
        </p:txBody>
      </p:sp>
      <p:sp>
        <p:nvSpPr>
          <p:cNvPr id="5" name="roadmap step 1"/>
          <p:cNvSpPr/>
          <p:nvPr/>
        </p:nvSpPr>
        <p:spPr>
          <a:xfrm>
            <a:off x="685800" y="1463040"/>
            <a:ext cx="822960" cy="822960"/>
          </a:xfrm>
          <a:prstGeom prst="ellipse">
            <a:avLst/>
          </a:prstGeom>
          <a:solidFill>
            <a:schemeClr val="accent1"/>
          </a:solidFill>
          <a:ln w="38100">
            <a:solidFill>
              <a:schemeClr val="bg1"/>
            </a:solidFill>
            <a:prstDash val="solid"/>
          </a:ln>
        </p:spPr>
        <p:txBody>
          <a:bodyPr/>
          <a:lstStyle/>
          <a:p>
            <a:endParaRPr lang="fr-FR"/>
          </a:p>
        </p:txBody>
      </p:sp>
      <p:sp>
        <p:nvSpPr>
          <p:cNvPr id="6" name="Text 3"/>
          <p:cNvSpPr txBox="1"/>
          <p:nvPr/>
        </p:nvSpPr>
        <p:spPr>
          <a:xfrm>
            <a:off x="685800" y="1463040"/>
            <a:ext cx="822960" cy="822960"/>
          </a:xfrm>
          <a:prstGeom prst="rect">
            <a:avLst/>
          </a:prstGeom>
          <a:noFill/>
          <a:ln/>
        </p:spPr>
        <p:txBody>
          <a:bodyPr wrap="square" lIns="0" tIns="0" rIns="0" bIns="0" rtlCol="0" anchor="ctr"/>
          <a:lstStyle/>
          <a:p>
            <a:pPr marL="0" indent="0" algn="ctr">
              <a:buNone/>
            </a:pPr>
            <a:r>
              <a:rPr lang="en-US" sz="2600" b="1" dirty="0">
                <a:solidFill>
                  <a:schemeClr val="bg1"/>
                </a:solidFill>
              </a:rPr>
              <a:t>1</a:t>
            </a:r>
            <a:endParaRPr lang="en-US" sz="2600" dirty="0"/>
          </a:p>
        </p:txBody>
      </p:sp>
      <p:sp>
        <p:nvSpPr>
          <p:cNvPr id="7" name="roadmap card 1"/>
          <p:cNvSpPr/>
          <p:nvPr/>
        </p:nvSpPr>
        <p:spPr>
          <a:xfrm>
            <a:off x="548640" y="2606040"/>
            <a:ext cx="2606040" cy="3474720"/>
          </a:xfrm>
          <a:prstGeom prst="roundRect">
            <a:avLst>
              <a:gd name="adj" fmla="val 3509"/>
            </a:avLst>
          </a:prstGeom>
          <a:solidFill>
            <a:schemeClr val="bg2"/>
          </a:solidFill>
          <a:ln/>
        </p:spPr>
        <p:txBody>
          <a:bodyPr/>
          <a:lstStyle/>
          <a:p>
            <a:endParaRPr lang="fr-FR"/>
          </a:p>
        </p:txBody>
      </p:sp>
      <p:sp>
        <p:nvSpPr>
          <p:cNvPr id="8" name="Inventory &amp; risk ranking tile"/>
          <p:cNvSpPr/>
          <p:nvPr/>
        </p:nvSpPr>
        <p:spPr>
          <a:xfrm>
            <a:off x="822960" y="2834640"/>
            <a:ext cx="502920" cy="502920"/>
          </a:xfrm>
          <a:prstGeom prst="roundRect">
            <a:avLst>
              <a:gd name="adj" fmla="val 21818"/>
            </a:avLst>
          </a:prstGeom>
          <a:solidFill>
            <a:schemeClr val="accent1"/>
          </a:solidFill>
          <a:ln/>
        </p:spPr>
        <p:txBody>
          <a:bodyPr/>
          <a:lstStyle/>
          <a:p>
            <a:endParaRPr lang="fr-FR"/>
          </a:p>
        </p:txBody>
      </p:sp>
      <p:pic>
        <p:nvPicPr>
          <p:cNvPr id="9" name="Inventory &amp; risk ranking glyph" descr="Inventory &amp; risk ranking"/>
          <p:cNvPicPr>
            <a:picLocks noChangeAspect="1"/>
          </p:cNvPicPr>
          <p:nvPr/>
        </p:nvPicPr>
        <p:blipFill>
          <a:blip r:embed="rId3"/>
          <a:stretch>
            <a:fillRect/>
          </a:stretch>
        </p:blipFill>
        <p:spPr>
          <a:xfrm>
            <a:off x="933602" y="2945282"/>
            <a:ext cx="281635" cy="281635"/>
          </a:xfrm>
          <a:prstGeom prst="rect">
            <a:avLst/>
          </a:prstGeom>
        </p:spPr>
      </p:pic>
      <p:sp>
        <p:nvSpPr>
          <p:cNvPr id="10" name="Text 6"/>
          <p:cNvSpPr txBox="1"/>
          <p:nvPr/>
        </p:nvSpPr>
        <p:spPr>
          <a:xfrm>
            <a:off x="822960" y="3474720"/>
            <a:ext cx="2103120" cy="685800"/>
          </a:xfrm>
          <a:prstGeom prst="rect">
            <a:avLst/>
          </a:prstGeom>
          <a:noFill/>
          <a:ln/>
        </p:spPr>
        <p:txBody>
          <a:bodyPr wrap="square" lIns="0" tIns="0" rIns="0" bIns="0" rtlCol="0" anchor="t"/>
          <a:lstStyle/>
          <a:p>
            <a:pPr marL="0" indent="0">
              <a:buNone/>
            </a:pPr>
            <a:r>
              <a:rPr lang="en-US" sz="1700" b="1" cap="all" dirty="0">
                <a:solidFill>
                  <a:schemeClr val="tx1"/>
                </a:solidFill>
              </a:rPr>
              <a:t>Inventory &amp; risk ranking</a:t>
            </a:r>
            <a:endParaRPr lang="en-US" sz="1700" cap="all" dirty="0"/>
          </a:p>
        </p:txBody>
      </p:sp>
      <p:sp>
        <p:nvSpPr>
          <p:cNvPr id="11" name="Text 7"/>
          <p:cNvSpPr txBox="1"/>
          <p:nvPr/>
        </p:nvSpPr>
        <p:spPr>
          <a:xfrm>
            <a:off x="533400" y="4206240"/>
            <a:ext cx="2392680" cy="1737360"/>
          </a:xfrm>
          <a:prstGeom prst="rect">
            <a:avLst/>
          </a:prstGeom>
          <a:noFill/>
          <a:ln/>
        </p:spPr>
        <p:txBody>
          <a:bodyPr wrap="square" lIns="0" tIns="0" rIns="0" bIns="0" rtlCol="0" anchor="t"/>
          <a:lstStyle/>
          <a:p>
            <a:pPr marL="0" indent="0">
              <a:buNone/>
            </a:pPr>
            <a:r>
              <a:rPr lang="en-US" sz="1600" cap="all" dirty="0">
                <a:solidFill>
                  <a:schemeClr val="accent4"/>
                </a:solidFill>
              </a:rPr>
              <a:t>Find every app and API, including shadow endpoints. Rank by data sensitivity, impact and exposure; onboard payment APIs and portals first.</a:t>
            </a:r>
            <a:endParaRPr lang="en-US" sz="1600" cap="all" dirty="0"/>
          </a:p>
        </p:txBody>
      </p:sp>
      <p:sp>
        <p:nvSpPr>
          <p:cNvPr id="12" name="roadmap step 2"/>
          <p:cNvSpPr/>
          <p:nvPr/>
        </p:nvSpPr>
        <p:spPr>
          <a:xfrm>
            <a:off x="3520440" y="1463040"/>
            <a:ext cx="822960" cy="822960"/>
          </a:xfrm>
          <a:prstGeom prst="ellipse">
            <a:avLst/>
          </a:prstGeom>
          <a:solidFill>
            <a:schemeClr val="accent1"/>
          </a:solidFill>
          <a:ln w="38100">
            <a:solidFill>
              <a:schemeClr val="bg1"/>
            </a:solidFill>
            <a:prstDash val="solid"/>
          </a:ln>
        </p:spPr>
        <p:txBody>
          <a:bodyPr/>
          <a:lstStyle/>
          <a:p>
            <a:endParaRPr lang="fr-FR"/>
          </a:p>
        </p:txBody>
      </p:sp>
      <p:sp>
        <p:nvSpPr>
          <p:cNvPr id="13" name="Text 9"/>
          <p:cNvSpPr txBox="1"/>
          <p:nvPr/>
        </p:nvSpPr>
        <p:spPr>
          <a:xfrm>
            <a:off x="3520440" y="1463040"/>
            <a:ext cx="822960" cy="822960"/>
          </a:xfrm>
          <a:prstGeom prst="rect">
            <a:avLst/>
          </a:prstGeom>
          <a:noFill/>
          <a:ln/>
        </p:spPr>
        <p:txBody>
          <a:bodyPr wrap="square" lIns="0" tIns="0" rIns="0" bIns="0" rtlCol="0" anchor="ctr"/>
          <a:lstStyle/>
          <a:p>
            <a:pPr marL="0" indent="0" algn="ctr">
              <a:buNone/>
            </a:pPr>
            <a:r>
              <a:rPr lang="en-US" sz="2600" b="1" dirty="0">
                <a:solidFill>
                  <a:schemeClr val="bg1"/>
                </a:solidFill>
              </a:rPr>
              <a:t>2</a:t>
            </a:r>
            <a:endParaRPr lang="en-US" sz="2600" dirty="0"/>
          </a:p>
        </p:txBody>
      </p:sp>
      <p:sp>
        <p:nvSpPr>
          <p:cNvPr id="14" name="roadmap card 2"/>
          <p:cNvSpPr/>
          <p:nvPr/>
        </p:nvSpPr>
        <p:spPr>
          <a:xfrm>
            <a:off x="3383280" y="2606040"/>
            <a:ext cx="2606040" cy="3474720"/>
          </a:xfrm>
          <a:prstGeom prst="roundRect">
            <a:avLst>
              <a:gd name="adj" fmla="val 3509"/>
            </a:avLst>
          </a:prstGeom>
          <a:solidFill>
            <a:schemeClr val="bg2"/>
          </a:solidFill>
          <a:ln/>
        </p:spPr>
        <p:txBody>
          <a:bodyPr/>
          <a:lstStyle/>
          <a:p>
            <a:endParaRPr lang="fr-FR"/>
          </a:p>
        </p:txBody>
      </p:sp>
      <p:sp>
        <p:nvSpPr>
          <p:cNvPr id="15" name="Choose the deployment model tile"/>
          <p:cNvSpPr/>
          <p:nvPr/>
        </p:nvSpPr>
        <p:spPr>
          <a:xfrm>
            <a:off x="3657600" y="2834640"/>
            <a:ext cx="502920" cy="502920"/>
          </a:xfrm>
          <a:prstGeom prst="roundRect">
            <a:avLst>
              <a:gd name="adj" fmla="val 21818"/>
            </a:avLst>
          </a:prstGeom>
          <a:solidFill>
            <a:schemeClr val="accent1"/>
          </a:solidFill>
          <a:ln/>
        </p:spPr>
        <p:txBody>
          <a:bodyPr/>
          <a:lstStyle/>
          <a:p>
            <a:endParaRPr lang="fr-FR"/>
          </a:p>
        </p:txBody>
      </p:sp>
      <p:pic>
        <p:nvPicPr>
          <p:cNvPr id="16" name="Choose the deployment model glyph" descr="Choose the deployment model"/>
          <p:cNvPicPr>
            <a:picLocks noChangeAspect="1"/>
          </p:cNvPicPr>
          <p:nvPr/>
        </p:nvPicPr>
        <p:blipFill>
          <a:blip r:embed="rId4"/>
          <a:stretch>
            <a:fillRect/>
          </a:stretch>
        </p:blipFill>
        <p:spPr>
          <a:xfrm>
            <a:off x="3768242" y="2945282"/>
            <a:ext cx="281635" cy="281635"/>
          </a:xfrm>
          <a:prstGeom prst="rect">
            <a:avLst/>
          </a:prstGeom>
        </p:spPr>
      </p:pic>
      <p:sp>
        <p:nvSpPr>
          <p:cNvPr id="17" name="Text 12"/>
          <p:cNvSpPr txBox="1"/>
          <p:nvPr/>
        </p:nvSpPr>
        <p:spPr>
          <a:xfrm>
            <a:off x="3383279" y="3474720"/>
            <a:ext cx="2590801" cy="685800"/>
          </a:xfrm>
          <a:prstGeom prst="rect">
            <a:avLst/>
          </a:prstGeom>
          <a:noFill/>
          <a:ln/>
        </p:spPr>
        <p:txBody>
          <a:bodyPr wrap="square" lIns="0" tIns="0" rIns="0" bIns="0" rtlCol="0" anchor="t"/>
          <a:lstStyle/>
          <a:p>
            <a:pPr marL="0" indent="0">
              <a:buNone/>
            </a:pPr>
            <a:r>
              <a:rPr lang="en-US" sz="1700" b="1" cap="all" dirty="0"/>
              <a:t>Choose the deployment model</a:t>
            </a:r>
          </a:p>
        </p:txBody>
      </p:sp>
      <p:sp>
        <p:nvSpPr>
          <p:cNvPr id="18" name="Text 13"/>
          <p:cNvSpPr txBox="1"/>
          <p:nvPr/>
        </p:nvSpPr>
        <p:spPr>
          <a:xfrm>
            <a:off x="3383280" y="4206240"/>
            <a:ext cx="2606040" cy="1737360"/>
          </a:xfrm>
          <a:prstGeom prst="rect">
            <a:avLst/>
          </a:prstGeom>
          <a:noFill/>
          <a:ln/>
        </p:spPr>
        <p:txBody>
          <a:bodyPr wrap="square" lIns="0" tIns="0" rIns="0" bIns="0" rtlCol="0" anchor="t"/>
          <a:lstStyle/>
          <a:p>
            <a:pPr marL="0" indent="0">
              <a:buNone/>
            </a:pPr>
            <a:r>
              <a:rPr lang="en-US" sz="1600" cap="all" dirty="0">
                <a:solidFill>
                  <a:schemeClr val="accent4"/>
                </a:solidFill>
              </a:rPr>
              <a:t>Cloud WAAP via DNS for scale and low overhead; self-hosted or hybrid for residency; sidecars for in-cluster services.</a:t>
            </a:r>
          </a:p>
        </p:txBody>
      </p:sp>
      <p:sp>
        <p:nvSpPr>
          <p:cNvPr id="19" name="roadmap step 3"/>
          <p:cNvSpPr/>
          <p:nvPr/>
        </p:nvSpPr>
        <p:spPr>
          <a:xfrm>
            <a:off x="6355080" y="1463040"/>
            <a:ext cx="822960" cy="822960"/>
          </a:xfrm>
          <a:prstGeom prst="ellipse">
            <a:avLst/>
          </a:prstGeom>
          <a:solidFill>
            <a:schemeClr val="accent1"/>
          </a:solidFill>
          <a:ln w="38100">
            <a:solidFill>
              <a:schemeClr val="bg1"/>
            </a:solidFill>
            <a:prstDash val="solid"/>
          </a:ln>
        </p:spPr>
        <p:txBody>
          <a:bodyPr/>
          <a:lstStyle/>
          <a:p>
            <a:endParaRPr lang="fr-FR"/>
          </a:p>
        </p:txBody>
      </p:sp>
      <p:sp>
        <p:nvSpPr>
          <p:cNvPr id="20" name="Text 15"/>
          <p:cNvSpPr txBox="1"/>
          <p:nvPr/>
        </p:nvSpPr>
        <p:spPr>
          <a:xfrm>
            <a:off x="6355080" y="1463040"/>
            <a:ext cx="822960" cy="822960"/>
          </a:xfrm>
          <a:prstGeom prst="rect">
            <a:avLst/>
          </a:prstGeom>
          <a:noFill/>
          <a:ln/>
        </p:spPr>
        <p:txBody>
          <a:bodyPr wrap="square" lIns="0" tIns="0" rIns="0" bIns="0" rtlCol="0" anchor="ctr"/>
          <a:lstStyle/>
          <a:p>
            <a:pPr marL="0" indent="0" algn="ctr">
              <a:buNone/>
            </a:pPr>
            <a:r>
              <a:rPr lang="en-US" sz="2600" b="1" dirty="0">
                <a:solidFill>
                  <a:schemeClr val="bg1"/>
                </a:solidFill>
              </a:rPr>
              <a:t>3</a:t>
            </a:r>
            <a:endParaRPr lang="en-US" sz="2600" dirty="0"/>
          </a:p>
        </p:txBody>
      </p:sp>
      <p:sp>
        <p:nvSpPr>
          <p:cNvPr id="21" name="roadmap card 3"/>
          <p:cNvSpPr/>
          <p:nvPr/>
        </p:nvSpPr>
        <p:spPr>
          <a:xfrm>
            <a:off x="6217920" y="2606040"/>
            <a:ext cx="2606040" cy="3474720"/>
          </a:xfrm>
          <a:prstGeom prst="roundRect">
            <a:avLst>
              <a:gd name="adj" fmla="val 3509"/>
            </a:avLst>
          </a:prstGeom>
          <a:solidFill>
            <a:schemeClr val="bg2"/>
          </a:solidFill>
          <a:ln/>
        </p:spPr>
        <p:txBody>
          <a:bodyPr/>
          <a:lstStyle/>
          <a:p>
            <a:endParaRPr lang="fr-FR"/>
          </a:p>
        </p:txBody>
      </p:sp>
      <p:sp>
        <p:nvSpPr>
          <p:cNvPr id="22" name="Start in monitor mode tile"/>
          <p:cNvSpPr/>
          <p:nvPr/>
        </p:nvSpPr>
        <p:spPr>
          <a:xfrm>
            <a:off x="6492240" y="2834640"/>
            <a:ext cx="502920" cy="502920"/>
          </a:xfrm>
          <a:prstGeom prst="roundRect">
            <a:avLst>
              <a:gd name="adj" fmla="val 21818"/>
            </a:avLst>
          </a:prstGeom>
          <a:solidFill>
            <a:schemeClr val="accent1"/>
          </a:solidFill>
          <a:ln/>
        </p:spPr>
        <p:txBody>
          <a:bodyPr/>
          <a:lstStyle/>
          <a:p>
            <a:endParaRPr lang="fr-FR"/>
          </a:p>
        </p:txBody>
      </p:sp>
      <p:pic>
        <p:nvPicPr>
          <p:cNvPr id="23" name="Start in monitor mode glyph" descr="Start in monitor mode"/>
          <p:cNvPicPr>
            <a:picLocks noChangeAspect="1"/>
          </p:cNvPicPr>
          <p:nvPr/>
        </p:nvPicPr>
        <p:blipFill>
          <a:blip r:embed="rId5"/>
          <a:stretch>
            <a:fillRect/>
          </a:stretch>
        </p:blipFill>
        <p:spPr>
          <a:xfrm>
            <a:off x="6602882" y="2945282"/>
            <a:ext cx="281635" cy="281635"/>
          </a:xfrm>
          <a:prstGeom prst="rect">
            <a:avLst/>
          </a:prstGeom>
        </p:spPr>
      </p:pic>
      <p:sp>
        <p:nvSpPr>
          <p:cNvPr id="24" name="Text 18"/>
          <p:cNvSpPr txBox="1"/>
          <p:nvPr/>
        </p:nvSpPr>
        <p:spPr>
          <a:xfrm>
            <a:off x="6429895" y="3429000"/>
            <a:ext cx="2103120" cy="685800"/>
          </a:xfrm>
          <a:prstGeom prst="rect">
            <a:avLst/>
          </a:prstGeom>
          <a:noFill/>
          <a:ln/>
        </p:spPr>
        <p:txBody>
          <a:bodyPr wrap="square" lIns="0" tIns="0" rIns="0" bIns="0" rtlCol="0" anchor="t"/>
          <a:lstStyle/>
          <a:p>
            <a:pPr marL="0" indent="0">
              <a:buNone/>
            </a:pPr>
            <a:r>
              <a:rPr lang="en-US" sz="1700" b="1" cap="all" dirty="0"/>
              <a:t>Start in monitor mode</a:t>
            </a:r>
          </a:p>
        </p:txBody>
      </p:sp>
      <p:sp>
        <p:nvSpPr>
          <p:cNvPr id="25" name="Text 19"/>
          <p:cNvSpPr txBox="1"/>
          <p:nvPr/>
        </p:nvSpPr>
        <p:spPr>
          <a:xfrm>
            <a:off x="6469380" y="4023359"/>
            <a:ext cx="2354580" cy="1737360"/>
          </a:xfrm>
          <a:prstGeom prst="rect">
            <a:avLst/>
          </a:prstGeom>
          <a:noFill/>
          <a:ln/>
        </p:spPr>
        <p:txBody>
          <a:bodyPr wrap="square" lIns="0" tIns="0" rIns="0" bIns="0" rtlCol="0" anchor="t"/>
          <a:lstStyle/>
          <a:p>
            <a:pPr marL="0" indent="0">
              <a:buNone/>
            </a:pPr>
            <a:r>
              <a:rPr lang="en-US" sz="1600" cap="all" dirty="0">
                <a:solidFill>
                  <a:schemeClr val="accent4"/>
                </a:solidFill>
              </a:rPr>
              <a:t>Let the platform learn normal traffic, tune false positives, then move to blocking — low-risk apps first, critical services last</a:t>
            </a:r>
            <a:r>
              <a:rPr lang="en-US" sz="1400" dirty="0">
                <a:solidFill>
                  <a:schemeClr val="accent4"/>
                </a:solidFill>
              </a:rPr>
              <a:t>.</a:t>
            </a:r>
            <a:endParaRPr lang="en-US" sz="1400" dirty="0"/>
          </a:p>
        </p:txBody>
      </p:sp>
      <p:sp>
        <p:nvSpPr>
          <p:cNvPr id="26" name="roadmap step 4"/>
          <p:cNvSpPr/>
          <p:nvPr/>
        </p:nvSpPr>
        <p:spPr>
          <a:xfrm>
            <a:off x="9189720" y="1463040"/>
            <a:ext cx="822960" cy="822960"/>
          </a:xfrm>
          <a:prstGeom prst="ellipse">
            <a:avLst/>
          </a:prstGeom>
          <a:solidFill>
            <a:schemeClr val="accent1"/>
          </a:solidFill>
          <a:ln w="38100">
            <a:solidFill>
              <a:schemeClr val="bg1"/>
            </a:solidFill>
            <a:prstDash val="solid"/>
          </a:ln>
        </p:spPr>
        <p:txBody>
          <a:bodyPr/>
          <a:lstStyle/>
          <a:p>
            <a:endParaRPr lang="fr-FR"/>
          </a:p>
        </p:txBody>
      </p:sp>
      <p:sp>
        <p:nvSpPr>
          <p:cNvPr id="27" name="Text 21"/>
          <p:cNvSpPr txBox="1"/>
          <p:nvPr/>
        </p:nvSpPr>
        <p:spPr>
          <a:xfrm>
            <a:off x="9189720" y="1463040"/>
            <a:ext cx="822960" cy="822960"/>
          </a:xfrm>
          <a:prstGeom prst="rect">
            <a:avLst/>
          </a:prstGeom>
          <a:noFill/>
          <a:ln/>
        </p:spPr>
        <p:txBody>
          <a:bodyPr wrap="square" lIns="0" tIns="0" rIns="0" bIns="0" rtlCol="0" anchor="ctr"/>
          <a:lstStyle/>
          <a:p>
            <a:pPr marL="0" indent="0" algn="ctr">
              <a:buNone/>
            </a:pPr>
            <a:r>
              <a:rPr lang="en-US" sz="2600" b="1" dirty="0">
                <a:solidFill>
                  <a:schemeClr val="bg1"/>
                </a:solidFill>
              </a:rPr>
              <a:t>4</a:t>
            </a:r>
            <a:endParaRPr lang="en-US" sz="2600" dirty="0"/>
          </a:p>
        </p:txBody>
      </p:sp>
      <p:sp>
        <p:nvSpPr>
          <p:cNvPr id="28" name="roadmap card 4"/>
          <p:cNvSpPr/>
          <p:nvPr/>
        </p:nvSpPr>
        <p:spPr>
          <a:xfrm>
            <a:off x="9052560" y="2606040"/>
            <a:ext cx="2606040" cy="3474720"/>
          </a:xfrm>
          <a:prstGeom prst="roundRect">
            <a:avLst>
              <a:gd name="adj" fmla="val 3509"/>
            </a:avLst>
          </a:prstGeom>
          <a:solidFill>
            <a:schemeClr val="bg2"/>
          </a:solidFill>
          <a:ln/>
        </p:spPr>
        <p:txBody>
          <a:bodyPr/>
          <a:lstStyle/>
          <a:p>
            <a:endParaRPr lang="fr-FR"/>
          </a:p>
        </p:txBody>
      </p:sp>
      <p:sp>
        <p:nvSpPr>
          <p:cNvPr id="29" name="Integrate CI/CD, SIEM, observability tile"/>
          <p:cNvSpPr/>
          <p:nvPr/>
        </p:nvSpPr>
        <p:spPr>
          <a:xfrm>
            <a:off x="9326880" y="2834640"/>
            <a:ext cx="502920" cy="502920"/>
          </a:xfrm>
          <a:prstGeom prst="roundRect">
            <a:avLst>
              <a:gd name="adj" fmla="val 21818"/>
            </a:avLst>
          </a:prstGeom>
          <a:solidFill>
            <a:schemeClr val="accent1"/>
          </a:solidFill>
          <a:ln/>
        </p:spPr>
        <p:txBody>
          <a:bodyPr/>
          <a:lstStyle/>
          <a:p>
            <a:endParaRPr lang="fr-FR"/>
          </a:p>
        </p:txBody>
      </p:sp>
      <p:pic>
        <p:nvPicPr>
          <p:cNvPr id="30" name="Integrate CI/CD, SIEM, observability glyph" descr="Integrate CI/CD, SIEM, observability"/>
          <p:cNvPicPr>
            <a:picLocks noChangeAspect="1"/>
          </p:cNvPicPr>
          <p:nvPr/>
        </p:nvPicPr>
        <p:blipFill>
          <a:blip r:embed="rId6"/>
          <a:stretch>
            <a:fillRect/>
          </a:stretch>
        </p:blipFill>
        <p:spPr>
          <a:xfrm>
            <a:off x="9437522" y="2945282"/>
            <a:ext cx="281635" cy="281635"/>
          </a:xfrm>
          <a:prstGeom prst="rect">
            <a:avLst/>
          </a:prstGeom>
        </p:spPr>
      </p:pic>
      <p:sp>
        <p:nvSpPr>
          <p:cNvPr id="31" name="Text 24"/>
          <p:cNvSpPr txBox="1"/>
          <p:nvPr/>
        </p:nvSpPr>
        <p:spPr>
          <a:xfrm>
            <a:off x="9035935" y="3474720"/>
            <a:ext cx="2607425" cy="685800"/>
          </a:xfrm>
          <a:prstGeom prst="rect">
            <a:avLst/>
          </a:prstGeom>
          <a:noFill/>
          <a:ln/>
        </p:spPr>
        <p:txBody>
          <a:bodyPr wrap="square" lIns="0" tIns="0" rIns="0" bIns="0" rtlCol="0" anchor="t"/>
          <a:lstStyle/>
          <a:p>
            <a:r>
              <a:rPr lang="en-US" sz="1700" b="1" cap="all" dirty="0"/>
              <a:t>Integrate CI/CD, SIEM, observability</a:t>
            </a:r>
          </a:p>
        </p:txBody>
      </p:sp>
      <p:sp>
        <p:nvSpPr>
          <p:cNvPr id="32" name="Text 25"/>
          <p:cNvSpPr txBox="1"/>
          <p:nvPr/>
        </p:nvSpPr>
        <p:spPr>
          <a:xfrm>
            <a:off x="9052560" y="4206240"/>
            <a:ext cx="2606040" cy="1874520"/>
          </a:xfrm>
          <a:prstGeom prst="rect">
            <a:avLst/>
          </a:prstGeom>
          <a:noFill/>
          <a:ln/>
        </p:spPr>
        <p:txBody>
          <a:bodyPr wrap="square" lIns="0" tIns="0" rIns="0" bIns="0" rtlCol="0" anchor="t"/>
          <a:lstStyle/>
          <a:p>
            <a:pPr marL="0" indent="0">
              <a:buNone/>
            </a:pPr>
            <a:r>
              <a:rPr lang="en-US" sz="1600" cap="all" dirty="0">
                <a:solidFill>
                  <a:schemeClr val="accent4"/>
                </a:solidFill>
              </a:rPr>
              <a:t>Sync new endpoints and schemas at deploy time, feed alerts to the SOC, and track latency and attack trends.</a:t>
            </a:r>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41</a:t>
            </a:fld>
            <a:endParaRPr lang="en-US"/>
          </a:p>
        </p:txBody>
      </p:sp>
      <p:pic>
        <p:nvPicPr>
          <p:cNvPr id="33" name="Image 0" descr="/home/claude/unpacked/ppt/media/image1.png">
            <a:extLst>
              <a:ext uri="{FF2B5EF4-FFF2-40B4-BE49-F238E27FC236}">
                <a16:creationId xmlns:a16="http://schemas.microsoft.com/office/drawing/2014/main" id="{3F04FDE4-D694-3D56-288A-D05B33C56214}"/>
              </a:ext>
            </a:extLst>
          </p:cNvPr>
          <p:cNvPicPr>
            <a:picLocks noChangeAspect="1"/>
          </p:cNvPicPr>
          <p:nvPr/>
        </p:nvPicPr>
        <p:blipFill>
          <a:blip r:embed="rId7"/>
          <a:stretch>
            <a:fillRect/>
          </a:stretch>
        </p:blipFill>
        <p:spPr>
          <a:xfrm>
            <a:off x="10743574" y="418369"/>
            <a:ext cx="960120" cy="96012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400" b="1" cap="all" dirty="0">
                <a:solidFill>
                  <a:schemeClr val="tx1"/>
                </a:solidFill>
              </a:rPr>
              <a:t>Future trends</a:t>
            </a:r>
            <a:endParaRPr lang="en-US" sz="3400" cap="all" dirty="0"/>
          </a:p>
        </p:txBody>
      </p:sp>
      <p:sp>
        <p:nvSpPr>
          <p:cNvPr id="4" name="card Securing AI &amp; agents"/>
          <p:cNvSpPr/>
          <p:nvPr/>
        </p:nvSpPr>
        <p:spPr>
          <a:xfrm>
            <a:off x="548640" y="1417320"/>
            <a:ext cx="3505200" cy="2171700"/>
          </a:xfrm>
          <a:prstGeom prst="roundRect">
            <a:avLst>
              <a:gd name="adj" fmla="val 4211"/>
            </a:avLst>
          </a:prstGeom>
          <a:solidFill>
            <a:schemeClr val="bg2"/>
          </a:solidFill>
          <a:ln/>
        </p:spPr>
        <p:txBody>
          <a:bodyPr/>
          <a:lstStyle/>
          <a:p>
            <a:endParaRPr lang="fr-FR"/>
          </a:p>
        </p:txBody>
      </p:sp>
      <p:sp>
        <p:nvSpPr>
          <p:cNvPr id="5" name="Securing AI &amp; agents tile"/>
          <p:cNvSpPr/>
          <p:nvPr/>
        </p:nvSpPr>
        <p:spPr>
          <a:xfrm>
            <a:off x="822960" y="1691640"/>
            <a:ext cx="548640" cy="548640"/>
          </a:xfrm>
          <a:prstGeom prst="roundRect">
            <a:avLst>
              <a:gd name="adj" fmla="val 20000"/>
            </a:avLst>
          </a:prstGeom>
          <a:solidFill>
            <a:schemeClr val="accent2"/>
          </a:solidFill>
          <a:ln/>
        </p:spPr>
        <p:txBody>
          <a:bodyPr/>
          <a:lstStyle/>
          <a:p>
            <a:endParaRPr lang="fr-FR"/>
          </a:p>
        </p:txBody>
      </p:sp>
      <p:pic>
        <p:nvPicPr>
          <p:cNvPr id="6" name="Securing AI &amp; agents glyph" descr="Securing AI &amp; agents"/>
          <p:cNvPicPr>
            <a:picLocks noChangeAspect="1"/>
          </p:cNvPicPr>
          <p:nvPr/>
        </p:nvPicPr>
        <p:blipFill>
          <a:blip r:embed="rId3"/>
          <a:stretch>
            <a:fillRect/>
          </a:stretch>
        </p:blipFill>
        <p:spPr>
          <a:xfrm>
            <a:off x="943661" y="1812341"/>
            <a:ext cx="307238" cy="307238"/>
          </a:xfrm>
          <a:prstGeom prst="rect">
            <a:avLst/>
          </a:prstGeom>
        </p:spPr>
      </p:pic>
      <p:sp>
        <p:nvSpPr>
          <p:cNvPr id="7" name="Text 3"/>
          <p:cNvSpPr txBox="1"/>
          <p:nvPr/>
        </p:nvSpPr>
        <p:spPr>
          <a:xfrm>
            <a:off x="1508760" y="1691640"/>
            <a:ext cx="2316480" cy="548640"/>
          </a:xfrm>
          <a:prstGeom prst="rect">
            <a:avLst/>
          </a:prstGeom>
          <a:noFill/>
          <a:ln/>
        </p:spPr>
        <p:txBody>
          <a:bodyPr wrap="square" lIns="0" tIns="0" rIns="0" bIns="0" rtlCol="0" anchor="ctr"/>
          <a:lstStyle/>
          <a:p>
            <a:pPr marL="0" indent="0">
              <a:buNone/>
            </a:pPr>
            <a:r>
              <a:rPr lang="en-US" sz="1700" b="1" cap="all" dirty="0">
                <a:solidFill>
                  <a:schemeClr val="tx1"/>
                </a:solidFill>
              </a:rPr>
              <a:t>Securing AI &amp; agents</a:t>
            </a:r>
            <a:endParaRPr lang="en-US" sz="1700" cap="all" dirty="0"/>
          </a:p>
        </p:txBody>
      </p:sp>
      <p:sp>
        <p:nvSpPr>
          <p:cNvPr id="8" name="Text 4"/>
          <p:cNvSpPr txBox="1"/>
          <p:nvPr/>
        </p:nvSpPr>
        <p:spPr>
          <a:xfrm>
            <a:off x="822960" y="2377440"/>
            <a:ext cx="2956560" cy="1028700"/>
          </a:xfrm>
          <a:prstGeom prst="rect">
            <a:avLst/>
          </a:prstGeom>
          <a:noFill/>
          <a:ln/>
        </p:spPr>
        <p:txBody>
          <a:bodyPr wrap="square" lIns="0" tIns="0" rIns="0" bIns="0" rtlCol="0" anchor="t"/>
          <a:lstStyle/>
          <a:p>
            <a:pPr marL="0" indent="0">
              <a:buNone/>
            </a:pPr>
            <a:r>
              <a:rPr lang="en-US" sz="1600" cap="all" dirty="0">
                <a:solidFill>
                  <a:schemeClr val="accent4"/>
                </a:solidFill>
              </a:rPr>
              <a:t>WAAP extends to LLM endpoints, prompt-injection filtering and agent identity, since AI runs on APIs.</a:t>
            </a:r>
          </a:p>
        </p:txBody>
      </p:sp>
      <p:sp>
        <p:nvSpPr>
          <p:cNvPr id="9" name="card AI vs AI defence"/>
          <p:cNvSpPr/>
          <p:nvPr/>
        </p:nvSpPr>
        <p:spPr>
          <a:xfrm>
            <a:off x="4328160" y="1417320"/>
            <a:ext cx="3505200" cy="2171700"/>
          </a:xfrm>
          <a:prstGeom prst="roundRect">
            <a:avLst>
              <a:gd name="adj" fmla="val 4211"/>
            </a:avLst>
          </a:prstGeom>
          <a:solidFill>
            <a:schemeClr val="bg2"/>
          </a:solidFill>
          <a:ln/>
        </p:spPr>
        <p:txBody>
          <a:bodyPr/>
          <a:lstStyle/>
          <a:p>
            <a:endParaRPr lang="fr-FR"/>
          </a:p>
        </p:txBody>
      </p:sp>
      <p:sp>
        <p:nvSpPr>
          <p:cNvPr id="10" name="AI vs AI defence tile"/>
          <p:cNvSpPr/>
          <p:nvPr/>
        </p:nvSpPr>
        <p:spPr>
          <a:xfrm>
            <a:off x="4602480" y="1691640"/>
            <a:ext cx="548640" cy="548640"/>
          </a:xfrm>
          <a:prstGeom prst="roundRect">
            <a:avLst>
              <a:gd name="adj" fmla="val 20000"/>
            </a:avLst>
          </a:prstGeom>
          <a:solidFill>
            <a:schemeClr val="accent2"/>
          </a:solidFill>
          <a:ln/>
        </p:spPr>
        <p:txBody>
          <a:bodyPr/>
          <a:lstStyle/>
          <a:p>
            <a:endParaRPr lang="fr-FR"/>
          </a:p>
        </p:txBody>
      </p:sp>
      <p:pic>
        <p:nvPicPr>
          <p:cNvPr id="11" name="AI vs AI defence glyph" descr="AI vs AI defence"/>
          <p:cNvPicPr>
            <a:picLocks noChangeAspect="1"/>
          </p:cNvPicPr>
          <p:nvPr/>
        </p:nvPicPr>
        <p:blipFill>
          <a:blip r:embed="rId4"/>
          <a:stretch>
            <a:fillRect/>
          </a:stretch>
        </p:blipFill>
        <p:spPr>
          <a:xfrm>
            <a:off x="4723181" y="1812341"/>
            <a:ext cx="307238" cy="307238"/>
          </a:xfrm>
          <a:prstGeom prst="rect">
            <a:avLst/>
          </a:prstGeom>
        </p:spPr>
      </p:pic>
      <p:sp>
        <p:nvSpPr>
          <p:cNvPr id="12" name="Text 7"/>
          <p:cNvSpPr txBox="1"/>
          <p:nvPr/>
        </p:nvSpPr>
        <p:spPr>
          <a:xfrm>
            <a:off x="5288280" y="1691640"/>
            <a:ext cx="2316480" cy="548640"/>
          </a:xfrm>
          <a:prstGeom prst="rect">
            <a:avLst/>
          </a:prstGeom>
          <a:noFill/>
          <a:ln/>
        </p:spPr>
        <p:txBody>
          <a:bodyPr wrap="square" lIns="0" tIns="0" rIns="0" bIns="0" rtlCol="0" anchor="ctr"/>
          <a:lstStyle/>
          <a:p>
            <a:pPr marL="0" indent="0">
              <a:buNone/>
            </a:pPr>
            <a:r>
              <a:rPr lang="en-US" sz="1700" b="1" cap="all" dirty="0">
                <a:solidFill>
                  <a:schemeClr val="tx1"/>
                </a:solidFill>
              </a:rPr>
              <a:t>AI vs AI defence</a:t>
            </a:r>
            <a:endParaRPr lang="en-US" sz="1700" cap="all" dirty="0"/>
          </a:p>
        </p:txBody>
      </p:sp>
      <p:sp>
        <p:nvSpPr>
          <p:cNvPr id="13" name="Text 8"/>
          <p:cNvSpPr txBox="1"/>
          <p:nvPr/>
        </p:nvSpPr>
        <p:spPr>
          <a:xfrm>
            <a:off x="4328160" y="2279599"/>
            <a:ext cx="2956560" cy="1028700"/>
          </a:xfrm>
          <a:prstGeom prst="rect">
            <a:avLst/>
          </a:prstGeom>
          <a:noFill/>
          <a:ln/>
        </p:spPr>
        <p:txBody>
          <a:bodyPr wrap="square" lIns="0" tIns="0" rIns="0" bIns="0" rtlCol="0" anchor="t"/>
          <a:lstStyle/>
          <a:p>
            <a:pPr marL="0" indent="0">
              <a:buNone/>
            </a:pPr>
            <a:r>
              <a:rPr lang="en-US" sz="1600" cap="all" dirty="0">
                <a:solidFill>
                  <a:schemeClr val="accent4"/>
                </a:solidFill>
              </a:rPr>
              <a:t>Attackers use AI to scale; defenders answer with autonomous ML detection and auto-tuned policies.</a:t>
            </a:r>
          </a:p>
        </p:txBody>
      </p:sp>
      <p:sp>
        <p:nvSpPr>
          <p:cNvPr id="14" name="card Platform convergence"/>
          <p:cNvSpPr/>
          <p:nvPr/>
        </p:nvSpPr>
        <p:spPr>
          <a:xfrm>
            <a:off x="8107680" y="1417320"/>
            <a:ext cx="3505200" cy="2171700"/>
          </a:xfrm>
          <a:prstGeom prst="roundRect">
            <a:avLst>
              <a:gd name="adj" fmla="val 4211"/>
            </a:avLst>
          </a:prstGeom>
          <a:solidFill>
            <a:schemeClr val="bg2"/>
          </a:solidFill>
          <a:ln/>
        </p:spPr>
        <p:txBody>
          <a:bodyPr/>
          <a:lstStyle/>
          <a:p>
            <a:endParaRPr lang="fr-FR"/>
          </a:p>
        </p:txBody>
      </p:sp>
      <p:sp>
        <p:nvSpPr>
          <p:cNvPr id="15" name="Platform convergence tile"/>
          <p:cNvSpPr/>
          <p:nvPr/>
        </p:nvSpPr>
        <p:spPr>
          <a:xfrm>
            <a:off x="8382000" y="1691640"/>
            <a:ext cx="548640" cy="548640"/>
          </a:xfrm>
          <a:prstGeom prst="roundRect">
            <a:avLst>
              <a:gd name="adj" fmla="val 20000"/>
            </a:avLst>
          </a:prstGeom>
          <a:solidFill>
            <a:schemeClr val="accent1"/>
          </a:solidFill>
          <a:ln/>
        </p:spPr>
        <p:txBody>
          <a:bodyPr/>
          <a:lstStyle/>
          <a:p>
            <a:endParaRPr lang="fr-FR"/>
          </a:p>
        </p:txBody>
      </p:sp>
      <p:pic>
        <p:nvPicPr>
          <p:cNvPr id="16" name="Platform convergence glyph" descr="Platform convergence"/>
          <p:cNvPicPr>
            <a:picLocks noChangeAspect="1"/>
          </p:cNvPicPr>
          <p:nvPr/>
        </p:nvPicPr>
        <p:blipFill>
          <a:blip r:embed="rId5"/>
          <a:stretch>
            <a:fillRect/>
          </a:stretch>
        </p:blipFill>
        <p:spPr>
          <a:xfrm>
            <a:off x="8502701" y="1812341"/>
            <a:ext cx="307238" cy="307238"/>
          </a:xfrm>
          <a:prstGeom prst="rect">
            <a:avLst/>
          </a:prstGeom>
        </p:spPr>
      </p:pic>
      <p:sp>
        <p:nvSpPr>
          <p:cNvPr id="17" name="Text 11"/>
          <p:cNvSpPr txBox="1"/>
          <p:nvPr/>
        </p:nvSpPr>
        <p:spPr>
          <a:xfrm>
            <a:off x="9067800" y="1691640"/>
            <a:ext cx="2316480" cy="548640"/>
          </a:xfrm>
          <a:prstGeom prst="rect">
            <a:avLst/>
          </a:prstGeom>
          <a:noFill/>
          <a:ln/>
        </p:spPr>
        <p:txBody>
          <a:bodyPr wrap="square" lIns="0" tIns="0" rIns="0" bIns="0" rtlCol="0" anchor="ctr"/>
          <a:lstStyle/>
          <a:p>
            <a:pPr marL="0" indent="0">
              <a:buNone/>
            </a:pPr>
            <a:r>
              <a:rPr lang="en-US" sz="1700" b="1" cap="all" dirty="0">
                <a:solidFill>
                  <a:schemeClr val="tx1"/>
                </a:solidFill>
              </a:rPr>
              <a:t>Platform convergence</a:t>
            </a:r>
            <a:endParaRPr lang="en-US" sz="1700" cap="all" dirty="0"/>
          </a:p>
        </p:txBody>
      </p:sp>
      <p:sp>
        <p:nvSpPr>
          <p:cNvPr id="18" name="Text 12"/>
          <p:cNvSpPr txBox="1"/>
          <p:nvPr/>
        </p:nvSpPr>
        <p:spPr>
          <a:xfrm>
            <a:off x="8382000" y="2377440"/>
            <a:ext cx="2956560" cy="1028700"/>
          </a:xfrm>
          <a:prstGeom prst="rect">
            <a:avLst/>
          </a:prstGeom>
          <a:noFill/>
          <a:ln/>
        </p:spPr>
        <p:txBody>
          <a:bodyPr wrap="square" lIns="0" tIns="0" rIns="0" bIns="0" rtlCol="0" anchor="t"/>
          <a:lstStyle/>
          <a:p>
            <a:pPr marL="0" indent="0">
              <a:buNone/>
            </a:pPr>
            <a:r>
              <a:rPr lang="en-US" sz="1600" cap="all" dirty="0">
                <a:solidFill>
                  <a:schemeClr val="accent4"/>
                </a:solidFill>
              </a:rPr>
              <a:t>WAAP merges with API security, CDN, SASE and CNAPP into unified platforms</a:t>
            </a:r>
            <a:r>
              <a:rPr lang="en-US" sz="1400" dirty="0">
                <a:solidFill>
                  <a:schemeClr val="accent4"/>
                </a:solidFill>
              </a:rPr>
              <a:t>.</a:t>
            </a:r>
            <a:endParaRPr lang="en-US" sz="1400" dirty="0"/>
          </a:p>
        </p:txBody>
      </p:sp>
      <p:sp>
        <p:nvSpPr>
          <p:cNvPr id="19" name="card Shift-left &amp; API posture"/>
          <p:cNvSpPr/>
          <p:nvPr/>
        </p:nvSpPr>
        <p:spPr>
          <a:xfrm>
            <a:off x="548640" y="3863340"/>
            <a:ext cx="3505200" cy="2171700"/>
          </a:xfrm>
          <a:prstGeom prst="roundRect">
            <a:avLst>
              <a:gd name="adj" fmla="val 4211"/>
            </a:avLst>
          </a:prstGeom>
          <a:solidFill>
            <a:schemeClr val="bg2"/>
          </a:solidFill>
          <a:ln/>
        </p:spPr>
        <p:txBody>
          <a:bodyPr/>
          <a:lstStyle/>
          <a:p>
            <a:endParaRPr lang="fr-FR"/>
          </a:p>
        </p:txBody>
      </p:sp>
      <p:sp>
        <p:nvSpPr>
          <p:cNvPr id="20" name="Shift-left &amp; API posture tile"/>
          <p:cNvSpPr/>
          <p:nvPr/>
        </p:nvSpPr>
        <p:spPr>
          <a:xfrm>
            <a:off x="822960" y="4137660"/>
            <a:ext cx="548640" cy="548640"/>
          </a:xfrm>
          <a:prstGeom prst="roundRect">
            <a:avLst>
              <a:gd name="adj" fmla="val 20000"/>
            </a:avLst>
          </a:prstGeom>
          <a:solidFill>
            <a:schemeClr val="accent1"/>
          </a:solidFill>
          <a:ln/>
        </p:spPr>
        <p:txBody>
          <a:bodyPr/>
          <a:lstStyle/>
          <a:p>
            <a:endParaRPr lang="fr-FR"/>
          </a:p>
        </p:txBody>
      </p:sp>
      <p:pic>
        <p:nvPicPr>
          <p:cNvPr id="21" name="Shift-left &amp; API posture glyph" descr="Shift-left &amp; API posture"/>
          <p:cNvPicPr>
            <a:picLocks noChangeAspect="1"/>
          </p:cNvPicPr>
          <p:nvPr/>
        </p:nvPicPr>
        <p:blipFill>
          <a:blip r:embed="rId6"/>
          <a:stretch>
            <a:fillRect/>
          </a:stretch>
        </p:blipFill>
        <p:spPr>
          <a:xfrm>
            <a:off x="943661" y="4258361"/>
            <a:ext cx="307238" cy="307238"/>
          </a:xfrm>
          <a:prstGeom prst="rect">
            <a:avLst/>
          </a:prstGeom>
        </p:spPr>
      </p:pic>
      <p:sp>
        <p:nvSpPr>
          <p:cNvPr id="22" name="Text 15"/>
          <p:cNvSpPr txBox="1"/>
          <p:nvPr/>
        </p:nvSpPr>
        <p:spPr>
          <a:xfrm>
            <a:off x="1508760" y="4137660"/>
            <a:ext cx="2316480" cy="548640"/>
          </a:xfrm>
          <a:prstGeom prst="rect">
            <a:avLst/>
          </a:prstGeom>
          <a:noFill/>
          <a:ln/>
        </p:spPr>
        <p:txBody>
          <a:bodyPr wrap="square" lIns="0" tIns="0" rIns="0" bIns="0" rtlCol="0" anchor="ctr"/>
          <a:lstStyle/>
          <a:p>
            <a:pPr marL="0" indent="0">
              <a:buNone/>
            </a:pPr>
            <a:r>
              <a:rPr lang="en-US" sz="1700" b="1" cap="all" dirty="0">
                <a:solidFill>
                  <a:schemeClr val="tx1"/>
                </a:solidFill>
              </a:rPr>
              <a:t>Shift-left &amp; API posture</a:t>
            </a:r>
            <a:endParaRPr lang="en-US" sz="1700" cap="all" dirty="0"/>
          </a:p>
        </p:txBody>
      </p:sp>
      <p:sp>
        <p:nvSpPr>
          <p:cNvPr id="23" name="Text 16"/>
          <p:cNvSpPr txBox="1"/>
          <p:nvPr/>
        </p:nvSpPr>
        <p:spPr>
          <a:xfrm>
            <a:off x="822960" y="4823460"/>
            <a:ext cx="2956560" cy="1028700"/>
          </a:xfrm>
          <a:prstGeom prst="rect">
            <a:avLst/>
          </a:prstGeom>
          <a:noFill/>
          <a:ln/>
        </p:spPr>
        <p:txBody>
          <a:bodyPr wrap="square" lIns="0" tIns="0" rIns="0" bIns="0" rtlCol="0" anchor="t"/>
          <a:lstStyle/>
          <a:p>
            <a:pPr marL="0" indent="0">
              <a:buNone/>
            </a:pPr>
            <a:r>
              <a:rPr lang="en-US" sz="1600" cap="all" dirty="0">
                <a:solidFill>
                  <a:schemeClr val="accent4"/>
                </a:solidFill>
              </a:rPr>
              <a:t>Security tests in CI/CD, API posture management and policy-as-code from design to runtime.</a:t>
            </a:r>
          </a:p>
        </p:txBody>
      </p:sp>
      <p:sp>
        <p:nvSpPr>
          <p:cNvPr id="24" name="card Zero Trust for apps"/>
          <p:cNvSpPr/>
          <p:nvPr/>
        </p:nvSpPr>
        <p:spPr>
          <a:xfrm>
            <a:off x="4328160" y="3863340"/>
            <a:ext cx="3505200" cy="2171700"/>
          </a:xfrm>
          <a:prstGeom prst="roundRect">
            <a:avLst>
              <a:gd name="adj" fmla="val 4211"/>
            </a:avLst>
          </a:prstGeom>
          <a:solidFill>
            <a:schemeClr val="bg2"/>
          </a:solidFill>
          <a:ln/>
        </p:spPr>
        <p:txBody>
          <a:bodyPr/>
          <a:lstStyle/>
          <a:p>
            <a:endParaRPr lang="fr-FR"/>
          </a:p>
        </p:txBody>
      </p:sp>
      <p:sp>
        <p:nvSpPr>
          <p:cNvPr id="25" name="Zero Trust for apps tile"/>
          <p:cNvSpPr/>
          <p:nvPr/>
        </p:nvSpPr>
        <p:spPr>
          <a:xfrm>
            <a:off x="4602480" y="4137660"/>
            <a:ext cx="548640" cy="548640"/>
          </a:xfrm>
          <a:prstGeom prst="roundRect">
            <a:avLst>
              <a:gd name="adj" fmla="val 20000"/>
            </a:avLst>
          </a:prstGeom>
          <a:solidFill>
            <a:schemeClr val="accent1"/>
          </a:solidFill>
          <a:ln/>
        </p:spPr>
        <p:txBody>
          <a:bodyPr/>
          <a:lstStyle/>
          <a:p>
            <a:endParaRPr lang="fr-FR"/>
          </a:p>
        </p:txBody>
      </p:sp>
      <p:pic>
        <p:nvPicPr>
          <p:cNvPr id="26" name="Zero Trust for apps glyph" descr="Zero Trust for apps"/>
          <p:cNvPicPr>
            <a:picLocks noChangeAspect="1"/>
          </p:cNvPicPr>
          <p:nvPr/>
        </p:nvPicPr>
        <p:blipFill>
          <a:blip r:embed="rId7"/>
          <a:stretch>
            <a:fillRect/>
          </a:stretch>
        </p:blipFill>
        <p:spPr>
          <a:xfrm>
            <a:off x="4723181" y="4258361"/>
            <a:ext cx="307238" cy="307238"/>
          </a:xfrm>
          <a:prstGeom prst="rect">
            <a:avLst/>
          </a:prstGeom>
        </p:spPr>
      </p:pic>
      <p:sp>
        <p:nvSpPr>
          <p:cNvPr id="27" name="Text 19"/>
          <p:cNvSpPr txBox="1"/>
          <p:nvPr/>
        </p:nvSpPr>
        <p:spPr>
          <a:xfrm>
            <a:off x="5288280" y="4137660"/>
            <a:ext cx="2316480" cy="548640"/>
          </a:xfrm>
          <a:prstGeom prst="rect">
            <a:avLst/>
          </a:prstGeom>
          <a:noFill/>
          <a:ln/>
        </p:spPr>
        <p:txBody>
          <a:bodyPr wrap="square" lIns="0" tIns="0" rIns="0" bIns="0" rtlCol="0" anchor="ctr"/>
          <a:lstStyle/>
          <a:p>
            <a:pPr marL="0" indent="0">
              <a:buNone/>
            </a:pPr>
            <a:r>
              <a:rPr lang="en-US" sz="1700" b="1" cap="all" dirty="0">
                <a:solidFill>
                  <a:schemeClr val="tx1"/>
                </a:solidFill>
              </a:rPr>
              <a:t>Zero Trust for apps</a:t>
            </a:r>
            <a:endParaRPr lang="en-US" sz="1700" cap="all" dirty="0"/>
          </a:p>
        </p:txBody>
      </p:sp>
      <p:sp>
        <p:nvSpPr>
          <p:cNvPr id="28" name="Text 20"/>
          <p:cNvSpPr txBox="1"/>
          <p:nvPr/>
        </p:nvSpPr>
        <p:spPr>
          <a:xfrm>
            <a:off x="4602480" y="4823460"/>
            <a:ext cx="2956560" cy="1028700"/>
          </a:xfrm>
          <a:prstGeom prst="rect">
            <a:avLst/>
          </a:prstGeom>
          <a:noFill/>
          <a:ln/>
        </p:spPr>
        <p:txBody>
          <a:bodyPr wrap="square" lIns="0" tIns="0" rIns="0" bIns="0" rtlCol="0" anchor="t"/>
          <a:lstStyle/>
          <a:p>
            <a:r>
              <a:rPr lang="en-US" sz="1600" cap="all" dirty="0">
                <a:solidFill>
                  <a:schemeClr val="accent4"/>
                </a:solidFill>
              </a:rPr>
              <a:t>Continuous verification of every request, user, device and machine identity.</a:t>
            </a:r>
          </a:p>
        </p:txBody>
      </p:sp>
      <p:sp>
        <p:nvSpPr>
          <p:cNvPr id="29" name="card Post-quantum readiness"/>
          <p:cNvSpPr/>
          <p:nvPr/>
        </p:nvSpPr>
        <p:spPr>
          <a:xfrm>
            <a:off x="8107680" y="3863340"/>
            <a:ext cx="3505200" cy="2171700"/>
          </a:xfrm>
          <a:prstGeom prst="roundRect">
            <a:avLst>
              <a:gd name="adj" fmla="val 4211"/>
            </a:avLst>
          </a:prstGeom>
          <a:solidFill>
            <a:schemeClr val="bg2"/>
          </a:solidFill>
          <a:ln/>
        </p:spPr>
        <p:txBody>
          <a:bodyPr/>
          <a:lstStyle/>
          <a:p>
            <a:endParaRPr lang="fr-FR"/>
          </a:p>
        </p:txBody>
      </p:sp>
      <p:sp>
        <p:nvSpPr>
          <p:cNvPr id="30" name="Post-quantum readiness tile"/>
          <p:cNvSpPr/>
          <p:nvPr/>
        </p:nvSpPr>
        <p:spPr>
          <a:xfrm>
            <a:off x="8382000" y="4137660"/>
            <a:ext cx="548640" cy="548640"/>
          </a:xfrm>
          <a:prstGeom prst="roundRect">
            <a:avLst>
              <a:gd name="adj" fmla="val 20000"/>
            </a:avLst>
          </a:prstGeom>
          <a:solidFill>
            <a:schemeClr val="accent1"/>
          </a:solidFill>
          <a:ln/>
        </p:spPr>
        <p:txBody>
          <a:bodyPr/>
          <a:lstStyle/>
          <a:p>
            <a:endParaRPr lang="fr-FR"/>
          </a:p>
        </p:txBody>
      </p:sp>
      <p:pic>
        <p:nvPicPr>
          <p:cNvPr id="31" name="Post-quantum readiness glyph" descr="Post-quantum readiness"/>
          <p:cNvPicPr>
            <a:picLocks noChangeAspect="1"/>
          </p:cNvPicPr>
          <p:nvPr/>
        </p:nvPicPr>
        <p:blipFill>
          <a:blip r:embed="rId8"/>
          <a:stretch>
            <a:fillRect/>
          </a:stretch>
        </p:blipFill>
        <p:spPr>
          <a:xfrm>
            <a:off x="8502701" y="4258361"/>
            <a:ext cx="307238" cy="307238"/>
          </a:xfrm>
          <a:prstGeom prst="rect">
            <a:avLst/>
          </a:prstGeom>
        </p:spPr>
      </p:pic>
      <p:sp>
        <p:nvSpPr>
          <p:cNvPr id="32" name="Text 23"/>
          <p:cNvSpPr txBox="1"/>
          <p:nvPr/>
        </p:nvSpPr>
        <p:spPr>
          <a:xfrm>
            <a:off x="9067800" y="4137660"/>
            <a:ext cx="2316480" cy="548640"/>
          </a:xfrm>
          <a:prstGeom prst="rect">
            <a:avLst/>
          </a:prstGeom>
          <a:noFill/>
          <a:ln/>
        </p:spPr>
        <p:txBody>
          <a:bodyPr wrap="square" lIns="0" tIns="0" rIns="0" bIns="0" rtlCol="0" anchor="ctr"/>
          <a:lstStyle/>
          <a:p>
            <a:pPr marL="0" indent="0">
              <a:buNone/>
            </a:pPr>
            <a:r>
              <a:rPr lang="en-US" sz="1700" b="1" cap="all" dirty="0">
                <a:solidFill>
                  <a:schemeClr val="tx1"/>
                </a:solidFill>
              </a:rPr>
              <a:t>Post-quantum readiness</a:t>
            </a:r>
            <a:endParaRPr lang="en-US" sz="1700" cap="all" dirty="0"/>
          </a:p>
        </p:txBody>
      </p:sp>
      <p:sp>
        <p:nvSpPr>
          <p:cNvPr id="33" name="Text 24"/>
          <p:cNvSpPr txBox="1"/>
          <p:nvPr/>
        </p:nvSpPr>
        <p:spPr>
          <a:xfrm>
            <a:off x="8382000" y="4823460"/>
            <a:ext cx="2956560" cy="1028700"/>
          </a:xfrm>
          <a:prstGeom prst="rect">
            <a:avLst/>
          </a:prstGeom>
          <a:noFill/>
          <a:ln/>
        </p:spPr>
        <p:txBody>
          <a:bodyPr wrap="square" lIns="0" tIns="0" rIns="0" bIns="0" rtlCol="0" anchor="t"/>
          <a:lstStyle/>
          <a:p>
            <a:pPr indent="0">
              <a:buNone/>
            </a:pPr>
            <a:r>
              <a:rPr lang="en-US" sz="1600" cap="all" dirty="0">
                <a:solidFill>
                  <a:schemeClr val="accent4"/>
                </a:solidFill>
              </a:rPr>
              <a:t>Edge TLS migrates to hybrid post-quantum key exchange to protect traffic long term.</a:t>
            </a:r>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42</a:t>
            </a:fld>
            <a:endParaRPr lang="en-US"/>
          </a:p>
        </p:txBody>
      </p:sp>
      <p:pic>
        <p:nvPicPr>
          <p:cNvPr id="34" name="Image 0" descr="/home/claude/unpacked/ppt/media/image1.png">
            <a:extLst>
              <a:ext uri="{FF2B5EF4-FFF2-40B4-BE49-F238E27FC236}">
                <a16:creationId xmlns:a16="http://schemas.microsoft.com/office/drawing/2014/main" id="{26BCC06C-2C98-8E6A-89E3-F16AFFDDA19A}"/>
              </a:ext>
            </a:extLst>
          </p:cNvPr>
          <p:cNvPicPr>
            <a:picLocks noChangeAspect="1"/>
          </p:cNvPicPr>
          <p:nvPr/>
        </p:nvPicPr>
        <p:blipFill>
          <a:blip r:embed="rId9"/>
          <a:stretch>
            <a:fillRect/>
          </a:stretch>
        </p:blipFill>
        <p:spPr>
          <a:xfrm>
            <a:off x="10738738" y="227347"/>
            <a:ext cx="960120" cy="96012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731520" y="640080"/>
            <a:ext cx="5448563" cy="822960"/>
          </a:xfrm>
          <a:prstGeom prst="rect">
            <a:avLst/>
          </a:prstGeom>
          <a:noFill/>
          <a:ln/>
        </p:spPr>
        <p:txBody>
          <a:bodyPr wrap="square" lIns="0" tIns="0" rIns="0" bIns="0" rtlCol="0" anchor="ctr"/>
          <a:lstStyle/>
          <a:p>
            <a:pPr marL="0" indent="0">
              <a:buNone/>
            </a:pPr>
            <a:r>
              <a:rPr lang="en-US" sz="4400" b="1" cap="all" dirty="0">
                <a:solidFill>
                  <a:schemeClr val="bg1"/>
                </a:solidFill>
                <a:latin typeface="Arial" pitchFamily="34" charset="0"/>
                <a:ea typeface="Arial" pitchFamily="34" charset="-122"/>
                <a:cs typeface="Arial" pitchFamily="34" charset="-120"/>
              </a:rPr>
              <a:t>Key takeaways</a:t>
            </a:r>
            <a:endParaRPr lang="en-US" sz="4400" cap="all" dirty="0"/>
          </a:p>
        </p:txBody>
      </p:sp>
      <p:sp>
        <p:nvSpPr>
          <p:cNvPr id="3" name="takeaway 1 tile"/>
          <p:cNvSpPr/>
          <p:nvPr/>
        </p:nvSpPr>
        <p:spPr>
          <a:xfrm>
            <a:off x="731520" y="1737360"/>
            <a:ext cx="594360" cy="594360"/>
          </a:xfrm>
          <a:prstGeom prst="roundRect">
            <a:avLst>
              <a:gd name="adj" fmla="val 18462"/>
            </a:avLst>
          </a:prstGeom>
          <a:solidFill>
            <a:schemeClr val="accent1"/>
          </a:solidFill>
          <a:ln/>
        </p:spPr>
        <p:txBody>
          <a:bodyPr/>
          <a:lstStyle/>
          <a:p>
            <a:endParaRPr lang="fr-FR"/>
          </a:p>
        </p:txBody>
      </p:sp>
      <p:pic>
        <p:nvPicPr>
          <p:cNvPr id="4" name="takeaway 1 glyph" descr="takeaway 1"/>
          <p:cNvPicPr>
            <a:picLocks noChangeAspect="1"/>
          </p:cNvPicPr>
          <p:nvPr/>
        </p:nvPicPr>
        <p:blipFill>
          <a:blip r:embed="rId3"/>
          <a:stretch>
            <a:fillRect/>
          </a:stretch>
        </p:blipFill>
        <p:spPr>
          <a:xfrm>
            <a:off x="862279" y="1868119"/>
            <a:ext cx="332842" cy="332842"/>
          </a:xfrm>
          <a:prstGeom prst="rect">
            <a:avLst/>
          </a:prstGeom>
        </p:spPr>
      </p:pic>
      <p:sp>
        <p:nvSpPr>
          <p:cNvPr id="5" name="Text 2"/>
          <p:cNvSpPr txBox="1"/>
          <p:nvPr/>
        </p:nvSpPr>
        <p:spPr>
          <a:xfrm>
            <a:off x="1454201" y="1650060"/>
            <a:ext cx="9875520" cy="594360"/>
          </a:xfrm>
          <a:prstGeom prst="rect">
            <a:avLst/>
          </a:prstGeom>
          <a:noFill/>
          <a:ln/>
        </p:spPr>
        <p:txBody>
          <a:bodyPr wrap="square" lIns="0" tIns="0" rIns="0" bIns="0" rtlCol="0" anchor="ctr"/>
          <a:lstStyle/>
          <a:p>
            <a:pPr marL="0" indent="0">
              <a:buNone/>
            </a:pPr>
            <a:r>
              <a:rPr lang="en-US" sz="2000" b="1" cap="all" dirty="0">
                <a:solidFill>
                  <a:schemeClr val="accent1">
                    <a:lumMod val="50000"/>
                  </a:schemeClr>
                </a:solidFill>
              </a:rPr>
              <a:t>API</a:t>
            </a:r>
            <a:r>
              <a:rPr lang="en-US" sz="2000" b="1" dirty="0">
                <a:solidFill>
                  <a:schemeClr val="accent1">
                    <a:lumMod val="50000"/>
                  </a:schemeClr>
                </a:solidFill>
              </a:rPr>
              <a:t>s</a:t>
            </a:r>
            <a:r>
              <a:rPr lang="en-US" sz="2000" dirty="0">
                <a:solidFill>
                  <a:schemeClr val="accent1">
                    <a:lumMod val="50000"/>
                  </a:schemeClr>
                </a:solidFill>
              </a:rPr>
              <a:t> </a:t>
            </a:r>
            <a:r>
              <a:rPr lang="en-US" sz="2000" b="1" cap="all" dirty="0">
                <a:solidFill>
                  <a:schemeClr val="accent1">
                    <a:lumMod val="50000"/>
                  </a:schemeClr>
                </a:solidFill>
              </a:rPr>
              <a:t>are now the top attack vector, and the classic WAF cannot keep up alone</a:t>
            </a:r>
          </a:p>
        </p:txBody>
      </p:sp>
      <p:sp>
        <p:nvSpPr>
          <p:cNvPr id="6" name="takeaway 2 tile"/>
          <p:cNvSpPr/>
          <p:nvPr/>
        </p:nvSpPr>
        <p:spPr>
          <a:xfrm>
            <a:off x="731520" y="2606040"/>
            <a:ext cx="594360" cy="594360"/>
          </a:xfrm>
          <a:prstGeom prst="roundRect">
            <a:avLst>
              <a:gd name="adj" fmla="val 18462"/>
            </a:avLst>
          </a:prstGeom>
          <a:solidFill>
            <a:schemeClr val="accent1"/>
          </a:solidFill>
          <a:ln/>
        </p:spPr>
        <p:txBody>
          <a:bodyPr/>
          <a:lstStyle/>
          <a:p>
            <a:endParaRPr lang="fr-FR"/>
          </a:p>
        </p:txBody>
      </p:sp>
      <p:pic>
        <p:nvPicPr>
          <p:cNvPr id="7" name="takeaway 2 glyph" descr="takeaway 2"/>
          <p:cNvPicPr>
            <a:picLocks noChangeAspect="1"/>
          </p:cNvPicPr>
          <p:nvPr/>
        </p:nvPicPr>
        <p:blipFill>
          <a:blip r:embed="rId4"/>
          <a:stretch>
            <a:fillRect/>
          </a:stretch>
        </p:blipFill>
        <p:spPr>
          <a:xfrm>
            <a:off x="862279" y="2736799"/>
            <a:ext cx="332842" cy="332842"/>
          </a:xfrm>
          <a:prstGeom prst="rect">
            <a:avLst/>
          </a:prstGeom>
        </p:spPr>
      </p:pic>
      <p:sp>
        <p:nvSpPr>
          <p:cNvPr id="8" name="Text 4"/>
          <p:cNvSpPr txBox="1"/>
          <p:nvPr/>
        </p:nvSpPr>
        <p:spPr>
          <a:xfrm>
            <a:off x="1485731" y="2584120"/>
            <a:ext cx="9875520" cy="594360"/>
          </a:xfrm>
          <a:prstGeom prst="rect">
            <a:avLst/>
          </a:prstGeom>
          <a:noFill/>
          <a:ln/>
        </p:spPr>
        <p:txBody>
          <a:bodyPr wrap="square" lIns="0" tIns="0" rIns="0" bIns="0" rtlCol="0" anchor="ctr"/>
          <a:lstStyle/>
          <a:p>
            <a:pPr marL="0" indent="0">
              <a:buNone/>
            </a:pPr>
            <a:r>
              <a:rPr lang="en-US" sz="2000" b="1" i="1" cap="all" dirty="0">
                <a:solidFill>
                  <a:schemeClr val="accent1">
                    <a:lumMod val="50000"/>
                  </a:schemeClr>
                </a:solidFill>
              </a:rPr>
              <a:t>WAAP unifies Next-Gen WAF, API security, bot management and DDoS protection</a:t>
            </a:r>
          </a:p>
        </p:txBody>
      </p:sp>
      <p:sp>
        <p:nvSpPr>
          <p:cNvPr id="9" name="takeaway 3 tile"/>
          <p:cNvSpPr/>
          <p:nvPr/>
        </p:nvSpPr>
        <p:spPr>
          <a:xfrm>
            <a:off x="731520" y="3474720"/>
            <a:ext cx="594360" cy="594360"/>
          </a:xfrm>
          <a:prstGeom prst="roundRect">
            <a:avLst>
              <a:gd name="adj" fmla="val 18462"/>
            </a:avLst>
          </a:prstGeom>
          <a:solidFill>
            <a:schemeClr val="accent1"/>
          </a:solidFill>
          <a:ln/>
        </p:spPr>
        <p:txBody>
          <a:bodyPr/>
          <a:lstStyle/>
          <a:p>
            <a:endParaRPr lang="fr-FR"/>
          </a:p>
        </p:txBody>
      </p:sp>
      <p:pic>
        <p:nvPicPr>
          <p:cNvPr id="10" name="takeaway 3 glyph" descr="takeaway 3"/>
          <p:cNvPicPr>
            <a:picLocks noChangeAspect="1"/>
          </p:cNvPicPr>
          <p:nvPr/>
        </p:nvPicPr>
        <p:blipFill>
          <a:blip r:embed="rId5"/>
          <a:stretch>
            <a:fillRect/>
          </a:stretch>
        </p:blipFill>
        <p:spPr>
          <a:xfrm>
            <a:off x="862279" y="3605479"/>
            <a:ext cx="332842" cy="332842"/>
          </a:xfrm>
          <a:prstGeom prst="rect">
            <a:avLst/>
          </a:prstGeom>
        </p:spPr>
      </p:pic>
      <p:sp>
        <p:nvSpPr>
          <p:cNvPr id="11" name="Text 6"/>
          <p:cNvSpPr txBox="1"/>
          <p:nvPr/>
        </p:nvSpPr>
        <p:spPr>
          <a:xfrm>
            <a:off x="1485730" y="3343961"/>
            <a:ext cx="10706269" cy="594360"/>
          </a:xfrm>
          <a:prstGeom prst="rect">
            <a:avLst/>
          </a:prstGeom>
          <a:noFill/>
          <a:ln/>
        </p:spPr>
        <p:txBody>
          <a:bodyPr wrap="square" lIns="0" tIns="0" rIns="0" bIns="0" rtlCol="0" anchor="ctr"/>
          <a:lstStyle/>
          <a:p>
            <a:pPr marL="0" indent="0">
              <a:buNone/>
            </a:pPr>
            <a:r>
              <a:rPr lang="en-US" sz="2000" b="1" i="1" cap="all" dirty="0">
                <a:solidFill>
                  <a:schemeClr val="accent1">
                    <a:lumMod val="50000"/>
                  </a:schemeClr>
                </a:solidFill>
              </a:rPr>
              <a:t>Adaptive</a:t>
            </a:r>
            <a:r>
              <a:rPr lang="en-US" sz="2000" b="1" cap="all" dirty="0">
                <a:solidFill>
                  <a:schemeClr val="bg1"/>
                </a:solidFill>
              </a:rPr>
              <a:t> </a:t>
            </a:r>
            <a:r>
              <a:rPr lang="en-US" sz="2000" b="1" i="1" cap="all" dirty="0">
                <a:solidFill>
                  <a:schemeClr val="accent1">
                    <a:lumMod val="50000"/>
                  </a:schemeClr>
                </a:solidFill>
              </a:rPr>
              <a:t>ML, a positive security model and edge delivery make it effective</a:t>
            </a:r>
          </a:p>
        </p:txBody>
      </p:sp>
      <p:sp>
        <p:nvSpPr>
          <p:cNvPr id="12" name="takeaway 4 tile"/>
          <p:cNvSpPr/>
          <p:nvPr/>
        </p:nvSpPr>
        <p:spPr>
          <a:xfrm>
            <a:off x="731520" y="4343400"/>
            <a:ext cx="594360" cy="594360"/>
          </a:xfrm>
          <a:prstGeom prst="roundRect">
            <a:avLst>
              <a:gd name="adj" fmla="val 18462"/>
            </a:avLst>
          </a:prstGeom>
          <a:solidFill>
            <a:schemeClr val="accent1"/>
          </a:solidFill>
          <a:ln/>
        </p:spPr>
        <p:txBody>
          <a:bodyPr/>
          <a:lstStyle/>
          <a:p>
            <a:endParaRPr lang="fr-FR"/>
          </a:p>
        </p:txBody>
      </p:sp>
      <p:pic>
        <p:nvPicPr>
          <p:cNvPr id="13" name="takeaway 4 glyph" descr="takeaway 4"/>
          <p:cNvPicPr>
            <a:picLocks noChangeAspect="1"/>
          </p:cNvPicPr>
          <p:nvPr/>
        </p:nvPicPr>
        <p:blipFill>
          <a:blip r:embed="rId6"/>
          <a:stretch>
            <a:fillRect/>
          </a:stretch>
        </p:blipFill>
        <p:spPr>
          <a:xfrm>
            <a:off x="862279" y="4474159"/>
            <a:ext cx="332842" cy="332842"/>
          </a:xfrm>
          <a:prstGeom prst="rect">
            <a:avLst/>
          </a:prstGeom>
        </p:spPr>
      </p:pic>
      <p:sp>
        <p:nvSpPr>
          <p:cNvPr id="14" name="Text 8"/>
          <p:cNvSpPr txBox="1"/>
          <p:nvPr/>
        </p:nvSpPr>
        <p:spPr>
          <a:xfrm>
            <a:off x="1456639" y="4343400"/>
            <a:ext cx="10735361" cy="594360"/>
          </a:xfrm>
          <a:prstGeom prst="rect">
            <a:avLst/>
          </a:prstGeom>
          <a:noFill/>
          <a:ln/>
        </p:spPr>
        <p:txBody>
          <a:bodyPr wrap="square" lIns="0" tIns="0" rIns="0" bIns="0" rtlCol="0" anchor="ctr"/>
          <a:lstStyle/>
          <a:p>
            <a:pPr marL="0" indent="0">
              <a:buNone/>
            </a:pPr>
            <a:r>
              <a:rPr lang="en-US" sz="2000" b="1" i="1" cap="all" dirty="0">
                <a:solidFill>
                  <a:schemeClr val="accent1">
                    <a:lumMod val="50000"/>
                  </a:schemeClr>
                </a:solidFill>
              </a:rPr>
              <a:t>Start with inventory, deploy in monitor mode, then integrate into </a:t>
            </a:r>
            <a:r>
              <a:rPr lang="en-US" sz="2000" b="1" i="1" cap="all" dirty="0" err="1">
                <a:solidFill>
                  <a:schemeClr val="accent1">
                    <a:lumMod val="50000"/>
                  </a:schemeClr>
                </a:solidFill>
              </a:rPr>
              <a:t>DevSecOps</a:t>
            </a:r>
            <a:endParaRPr lang="en-US" sz="2000" b="1" i="1" cap="all" dirty="0">
              <a:solidFill>
                <a:schemeClr val="accent1">
                  <a:lumMod val="50000"/>
                </a:schemeClr>
              </a:solidFill>
            </a:endParaRPr>
          </a:p>
        </p:txBody>
      </p:sp>
      <p:sp>
        <p:nvSpPr>
          <p:cNvPr id="15" name="takeaway 5 tile"/>
          <p:cNvSpPr/>
          <p:nvPr/>
        </p:nvSpPr>
        <p:spPr>
          <a:xfrm>
            <a:off x="731520" y="5212080"/>
            <a:ext cx="594360" cy="594360"/>
          </a:xfrm>
          <a:prstGeom prst="roundRect">
            <a:avLst>
              <a:gd name="adj" fmla="val 18462"/>
            </a:avLst>
          </a:prstGeom>
          <a:solidFill>
            <a:schemeClr val="accent1"/>
          </a:solidFill>
          <a:ln/>
        </p:spPr>
        <p:txBody>
          <a:bodyPr/>
          <a:lstStyle/>
          <a:p>
            <a:endParaRPr lang="fr-FR"/>
          </a:p>
        </p:txBody>
      </p:sp>
      <p:pic>
        <p:nvPicPr>
          <p:cNvPr id="16" name="takeaway 5 glyph" descr="takeaway 5"/>
          <p:cNvPicPr>
            <a:picLocks noChangeAspect="1"/>
          </p:cNvPicPr>
          <p:nvPr/>
        </p:nvPicPr>
        <p:blipFill>
          <a:blip r:embed="rId7"/>
          <a:stretch>
            <a:fillRect/>
          </a:stretch>
        </p:blipFill>
        <p:spPr>
          <a:xfrm>
            <a:off x="862279" y="5342839"/>
            <a:ext cx="332842" cy="332842"/>
          </a:xfrm>
          <a:prstGeom prst="rect">
            <a:avLst/>
          </a:prstGeom>
        </p:spPr>
      </p:pic>
      <p:sp>
        <p:nvSpPr>
          <p:cNvPr id="17" name="Text 10"/>
          <p:cNvSpPr txBox="1"/>
          <p:nvPr/>
        </p:nvSpPr>
        <p:spPr>
          <a:xfrm>
            <a:off x="1600200" y="5212080"/>
            <a:ext cx="9875520" cy="594360"/>
          </a:xfrm>
          <a:prstGeom prst="rect">
            <a:avLst/>
          </a:prstGeom>
          <a:noFill/>
          <a:ln/>
        </p:spPr>
        <p:txBody>
          <a:bodyPr wrap="square" lIns="0" tIns="0" rIns="0" bIns="0" rtlCol="0" anchor="ctr"/>
          <a:lstStyle/>
          <a:p>
            <a:pPr marL="0" indent="0">
              <a:buNone/>
            </a:pPr>
            <a:r>
              <a:rPr lang="en-US" sz="2400" b="1" i="1" cap="all" dirty="0">
                <a:solidFill>
                  <a:schemeClr val="accent1">
                    <a:lumMod val="50000"/>
                  </a:schemeClr>
                </a:solidFill>
              </a:rPr>
              <a:t>Next frontier: protecting AI applications and agents</a:t>
            </a:r>
          </a:p>
        </p:txBody>
      </p:sp>
      <p:sp>
        <p:nvSpPr>
          <p:cNvPr id="18" name="Text 11"/>
          <p:cNvSpPr txBox="1"/>
          <p:nvPr/>
        </p:nvSpPr>
        <p:spPr>
          <a:xfrm>
            <a:off x="731520" y="6035040"/>
            <a:ext cx="7315200" cy="457200"/>
          </a:xfrm>
          <a:prstGeom prst="rect">
            <a:avLst/>
          </a:prstGeom>
          <a:noFill/>
          <a:ln/>
        </p:spPr>
        <p:txBody>
          <a:bodyPr wrap="square" lIns="0" tIns="0" rIns="0" bIns="0" rtlCol="0" anchor="ctr"/>
          <a:lstStyle/>
          <a:p>
            <a:pPr marL="0" indent="0">
              <a:buNone/>
            </a:pPr>
            <a:r>
              <a:rPr lang="en-US" sz="1800" dirty="0">
                <a:solidFill>
                  <a:schemeClr val="accent5"/>
                </a:solidFill>
              </a:rPr>
              <a:t>Thank you — questions?</a:t>
            </a:r>
            <a:endParaRPr lang="en-US" sz="1800" dirty="0"/>
          </a:p>
        </p:txBody>
      </p:sp>
      <p:pic>
        <p:nvPicPr>
          <p:cNvPr id="19" name="Image 0" descr="/home/claude/unpacked/ppt/media/image1.png">
            <a:extLst>
              <a:ext uri="{FF2B5EF4-FFF2-40B4-BE49-F238E27FC236}">
                <a16:creationId xmlns:a16="http://schemas.microsoft.com/office/drawing/2014/main" id="{707C2570-4E87-23F6-6D22-8E0FDF2CDFD5}"/>
              </a:ext>
            </a:extLst>
          </p:cNvPr>
          <p:cNvPicPr>
            <a:picLocks noChangeAspect="1"/>
          </p:cNvPicPr>
          <p:nvPr/>
        </p:nvPicPr>
        <p:blipFill>
          <a:blip r:embed="rId8"/>
          <a:stretch>
            <a:fillRect/>
          </a:stretch>
        </p:blipFill>
        <p:spPr>
          <a:xfrm>
            <a:off x="10980420" y="343840"/>
            <a:ext cx="960120" cy="960120"/>
          </a:xfrm>
          <a:prstGeom prst="rect">
            <a:avLst/>
          </a:prstGeom>
        </p:spPr>
      </p:pic>
    </p:spTree>
  </p:cSld>
  <p:clrMapOvr>
    <a:masterClrMapping/>
  </p:clrMapOvr>
</p:sld>
</file>

<file path=ppt/theme/theme1.xml><?xml version="1.0" encoding="utf-8"?>
<a:theme xmlns:a="http://schemas.openxmlformats.org/drawingml/2006/main" name="WAAP Shield">
  <a:themeElements>
    <a:clrScheme name="WAAP Shield">
      <a:dk1>
        <a:srgbClr val="101820"/>
      </a:dk1>
      <a:lt1>
        <a:srgbClr val="FFFFFF"/>
      </a:lt1>
      <a:dk2>
        <a:srgbClr val="24323F"/>
      </a:dk2>
      <a:lt2>
        <a:srgbClr val="EEF2F4"/>
      </a:lt2>
      <a:accent1>
        <a:srgbClr val="00A99D"/>
      </a:accent1>
      <a:accent2>
        <a:srgbClr val="F2A541"/>
      </a:accent2>
      <a:accent3>
        <a:srgbClr val="E5484D"/>
      </a:accent3>
      <a:accent4>
        <a:srgbClr val="5B6B7A"/>
      </a:accent4>
      <a:accent5>
        <a:srgbClr val="BFE9E5"/>
      </a:accent5>
      <a:accent6>
        <a:srgbClr val="2E3B4A"/>
      </a:accent6>
      <a:hlink>
        <a:srgbClr val="00A99D"/>
      </a:hlink>
      <a:folHlink>
        <a:srgbClr val="5B6B7A"/>
      </a:folHlink>
    </a:clrScheme>
    <a:fontScheme name="WAAP Shiel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3720</TotalTime>
  <Words>4745</Words>
  <Application>Microsoft Macintosh PowerPoint</Application>
  <PresentationFormat>Widescreen</PresentationFormat>
  <Paragraphs>641</Paragraphs>
  <Slides>43</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Abadi</vt:lpstr>
      <vt:lpstr>Arial</vt:lpstr>
      <vt:lpstr>Calibri</vt:lpstr>
      <vt:lpstr>Wingdings</vt:lpstr>
      <vt:lpstr>WAAP Shield</vt:lpstr>
      <vt:lpstr>WAAP: Web Application &amp; API Protection</vt:lpstr>
      <vt:lpstr>OUR JOURNEY ….</vt:lpstr>
      <vt:lpstr>PART 01: THE ISSUE</vt:lpstr>
      <vt:lpstr>Why WAAP matters?</vt:lpstr>
      <vt:lpstr>Applications and APIs run the digital enterprise</vt:lpstr>
      <vt:lpstr>The threat in numbers</vt:lpstr>
      <vt:lpstr>Real-world API breaches</vt:lpstr>
      <vt:lpstr>The cost of getting it wrong</vt:lpstr>
      <vt:lpstr>Automated threats: bots and DDoS</vt:lpstr>
      <vt:lpstr>Compliance expects application-layer defences</vt:lpstr>
      <vt:lpstr>From WAF to WAAP</vt:lpstr>
      <vt:lpstr>Origins: three decades of evolution</vt:lpstr>
      <vt:lpstr>How a traditional WAF works?</vt:lpstr>
      <vt:lpstr>The OWASP Top 10 web application risks</vt:lpstr>
      <vt:lpstr>Why the classic WAF falls short (1/2)</vt:lpstr>
      <vt:lpstr>Why the classic WAF falls short (2/2)</vt:lpstr>
      <vt:lpstr>Traditional WAF vs WAAP</vt:lpstr>
      <vt:lpstr>PART 02: WHAT?</vt:lpstr>
      <vt:lpstr>WAAP concepts</vt:lpstr>
      <vt:lpstr>What is WAAP?</vt:lpstr>
      <vt:lpstr>Four pillars, one defensive layer</vt:lpstr>
      <vt:lpstr>Key operational principles</vt:lpstr>
      <vt:lpstr>Security models: how WAAP decides?</vt:lpstr>
      <vt:lpstr>Core components &amp; technical features</vt:lpstr>
      <vt:lpstr>Next-Gen WAF: the foundation layer</vt:lpstr>
      <vt:lpstr>API discovery &amp; protection</vt:lpstr>
      <vt:lpstr>OWASP API Security Top 10 (2023)</vt:lpstr>
      <vt:lpstr>Advanced bot management</vt:lpstr>
      <vt:lpstr>DDoS &amp; availability protection</vt:lpstr>
      <vt:lpstr>Telemetry, analytics &amp; policy automation</vt:lpstr>
      <vt:lpstr>PART 03: HOW &amp;APPs</vt:lpstr>
      <vt:lpstr>Architecture &amp; models</vt:lpstr>
      <vt:lpstr>WAAP vs WAF vs API gateway vs CDN</vt:lpstr>
      <vt:lpstr>Better together: where each component fits?</vt:lpstr>
      <vt:lpstr>Architecture and deployment models</vt:lpstr>
      <vt:lpstr>Data flow: what happens to each request?</vt:lpstr>
      <vt:lpstr>Attack journeys: how WAAP blocks real threats?</vt:lpstr>
      <vt:lpstr>Applications, implementation &amp; future</vt:lpstr>
      <vt:lpstr>Applications across sectors</vt:lpstr>
      <vt:lpstr>A fast-growing market</vt:lpstr>
      <vt:lpstr>Implementing WAAP: a practical roadmap</vt:lpstr>
      <vt:lpstr>Future trends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WAAP: Web Application and API Protection</dc:title>
  <dc:subject>PptxGenJS Presentation</dc:subject>
  <dc:creator>Hermann Kamgang</dc:creator>
  <cp:lastModifiedBy>PASSI LEVRAI</cp:lastModifiedBy>
  <cp:revision>6</cp:revision>
  <dcterms:created xsi:type="dcterms:W3CDTF">2026-10-11T13:36:41Z</dcterms:created>
  <dcterms:modified xsi:type="dcterms:W3CDTF">2026-10-14T19:15:53Z</dcterms:modified>
</cp:coreProperties>
</file>