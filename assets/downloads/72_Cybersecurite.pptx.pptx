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7" r:id="rId1"/>
  </p:sldMasterIdLst>
  <p:notesMasterIdLst>
    <p:notesMasterId r:id="rId18"/>
  </p:notesMasterIdLst>
  <p:sldIdLst>
    <p:sldId id="256" r:id="rId2"/>
    <p:sldId id="278" r:id="rId3"/>
    <p:sldId id="257" r:id="rId4"/>
    <p:sldId id="258" r:id="rId5"/>
    <p:sldId id="259" r:id="rId6"/>
    <p:sldId id="260" r:id="rId7"/>
    <p:sldId id="261" r:id="rId8"/>
    <p:sldId id="276" r:id="rId9"/>
    <p:sldId id="277" r:id="rId10"/>
    <p:sldId id="263" r:id="rId11"/>
    <p:sldId id="264" r:id="rId12"/>
    <p:sldId id="265" r:id="rId13"/>
    <p:sldId id="268" r:id="rId14"/>
    <p:sldId id="269" r:id="rId15"/>
    <p:sldId id="271" r:id="rId16"/>
    <p:sldId id="272" r:id="rId17"/>
  </p:sldIdLst>
  <p:sldSz cx="18288000" cy="10287000"/>
  <p:notesSz cx="6858000" cy="9144000"/>
  <p:embeddedFontLst>
    <p:embeddedFont>
      <p:font typeface="Calibri" panose="020F0502020204030204" pitchFamily="34" charset="0"/>
      <p:regular r:id="rId19"/>
      <p:bold r:id="rId20"/>
      <p:italic r:id="rId21"/>
      <p:boldItalic r:id="rId22"/>
    </p:embeddedFont>
    <p:embeddedFont>
      <p:font typeface="Algerian" panose="04020705040A02060702" pitchFamily="82" charset="0"/>
      <p:regular r:id="rId23"/>
    </p:embeddedFont>
    <p:embeddedFont>
      <p:font typeface="Teko" panose="020B0604020202020204" charset="0"/>
      <p:regular r:id="rId24"/>
      <p:bold r:id="rId25"/>
    </p:embeddedFont>
    <p:embeddedFont>
      <p:font typeface="Montserrat" panose="020B0604020202020204" charset="0"/>
      <p:regular r:id="rId26"/>
      <p:bold r:id="rId27"/>
      <p:italic r:id="rId28"/>
      <p:boldItalic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3203" autoAdjust="0"/>
  </p:normalViewPr>
  <p:slideViewPr>
    <p:cSldViewPr snapToGrid="0">
      <p:cViewPr varScale="1">
        <p:scale>
          <a:sx n="38" d="100"/>
          <a:sy n="38" d="100"/>
        </p:scale>
        <p:origin x="688" y="6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13994451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 smtClean="0"/>
              <a:t>“Bonjour à toutes et à tous.</a:t>
            </a:r>
            <a:br>
              <a:rPr lang="fr-FR" dirty="0" smtClean="0"/>
            </a:br>
            <a:r>
              <a:rPr lang="fr-FR" dirty="0" smtClean="0"/>
              <a:t>Je suis Nathan Gaius Ondoua Ekanga, ingénieur en technologies d’</a:t>
            </a:r>
            <a:r>
              <a:rPr lang="fr-FR" dirty="0" err="1" smtClean="0"/>
              <a:t>infocommunication</a:t>
            </a:r>
            <a:r>
              <a:rPr lang="fr-FR" dirty="0" smtClean="0"/>
              <a:t>, certifié NSE4 et Google Project Manager.</a:t>
            </a:r>
            <a:br>
              <a:rPr lang="fr-FR" dirty="0" smtClean="0"/>
            </a:br>
            <a:r>
              <a:rPr lang="fr-FR" dirty="0" smtClean="0"/>
              <a:t>Aujourd’hui, je vais vous parler d’un sujet passionnant et d’actualité : </a:t>
            </a:r>
            <a:r>
              <a:rPr lang="fr-FR" i="1" dirty="0" smtClean="0"/>
              <a:t>la </a:t>
            </a:r>
            <a:r>
              <a:rPr lang="fr-FR" i="1" dirty="0" err="1" smtClean="0"/>
              <a:t>cybersécurité</a:t>
            </a:r>
            <a:r>
              <a:rPr lang="fr-FR" i="1" dirty="0" smtClean="0"/>
              <a:t> à l’ère de l’intelligence artificielle</a:t>
            </a:r>
            <a:r>
              <a:rPr lang="fr-FR" dirty="0" smtClean="0"/>
              <a:t>.</a:t>
            </a:r>
            <a:br>
              <a:rPr lang="fr-FR" dirty="0" smtClean="0"/>
            </a:br>
            <a:r>
              <a:rPr lang="fr-FR" dirty="0" smtClean="0"/>
              <a:t>Un thème où technologie, éthique et stratégie se rencontrent.”</a:t>
            </a:r>
            <a:endParaRPr dirty="0"/>
          </a:p>
        </p:txBody>
      </p:sp>
      <p:sp>
        <p:nvSpPr>
          <p:cNvPr id="88" name="Google Shape;8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064977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lang="fr-FR" sz="1100" b="0" i="0" u="none" strike="noStrike" cap="none" dirty="0" smtClean="0">
              <a:solidFill>
                <a:srgbClr val="000000"/>
              </a:solidFill>
              <a:effectLst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811873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fr-FR" sz="1100" b="0" i="0" u="none" strike="noStrike" cap="none" dirty="0" smtClean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“L’intelligence artificielle n’a pas seulement changé la façon dont nous travaillons, elle a aussi redéfini la façon dont nous nous défendons — et dont nous sommes attaqués.”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fr-FR" dirty="0" smtClean="0"/>
              <a:t>“Depuis quelques années, l’intelligence artificielle s’impose dans tous les domaines — santé, finance, transport — et bien sûr, dans la </a:t>
            </a:r>
            <a:r>
              <a:rPr lang="fr-FR" dirty="0" err="1" smtClean="0"/>
              <a:t>cybersécurité</a:t>
            </a:r>
            <a:r>
              <a:rPr lang="fr-FR" dirty="0" smtClean="0"/>
              <a:t>.</a:t>
            </a:r>
            <a:br>
              <a:rPr lang="fr-FR" dirty="0" smtClean="0"/>
            </a:br>
            <a:r>
              <a:rPr lang="fr-FR" dirty="0" smtClean="0"/>
              <a:t>L’IA peut analyser, protéger, anticiper… mais elle peut aussi attaquer.</a:t>
            </a:r>
            <a:br>
              <a:rPr lang="fr-FR" dirty="0" smtClean="0"/>
            </a:br>
            <a:r>
              <a:rPr lang="fr-FR" dirty="0" smtClean="0"/>
              <a:t>C’est un outil à double tranchant.</a:t>
            </a:r>
            <a:br>
              <a:rPr lang="fr-FR" dirty="0" smtClean="0"/>
            </a:br>
            <a:r>
              <a:rPr lang="fr-FR" dirty="0" smtClean="0"/>
              <a:t>Mon objectif aujourd’hui, c’est de vous montrer comment l’IA renforce la </a:t>
            </a:r>
            <a:r>
              <a:rPr lang="fr-FR" dirty="0" err="1" smtClean="0"/>
              <a:t>cybersécurité</a:t>
            </a:r>
            <a:r>
              <a:rPr lang="fr-FR" dirty="0" smtClean="0"/>
              <a:t>, mais aussi comment elle la met en danger.”</a:t>
            </a:r>
          </a:p>
        </p:txBody>
      </p:sp>
      <p:sp>
        <p:nvSpPr>
          <p:cNvPr id="174" name="Google Shape;17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62000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945463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 smtClean="0"/>
              <a:t>“Le premier changement, c’est l’échelle.</a:t>
            </a:r>
            <a:br>
              <a:rPr lang="fr-FR" dirty="0" smtClean="0"/>
            </a:br>
            <a:r>
              <a:rPr lang="fr-FR" dirty="0" smtClean="0"/>
              <a:t>Les systèmes de sécurité doivent traiter des millions d’événements par seconde.</a:t>
            </a:r>
            <a:br>
              <a:rPr lang="fr-FR" dirty="0" smtClean="0"/>
            </a:br>
            <a:r>
              <a:rPr lang="fr-FR" dirty="0" smtClean="0"/>
              <a:t>Aucun humain ne peut suivre cette cadence.</a:t>
            </a:r>
            <a:br>
              <a:rPr lang="fr-FR" dirty="0" smtClean="0"/>
            </a:br>
            <a:r>
              <a:rPr lang="fr-FR" dirty="0" smtClean="0"/>
              <a:t>L’IA, elle, le peut : elle apprend, corrèle, et réagit plus vite que nous.</a:t>
            </a:r>
            <a:br>
              <a:rPr lang="fr-FR" dirty="0" smtClean="0"/>
            </a:br>
            <a:r>
              <a:rPr lang="fr-FR" dirty="0" smtClean="0"/>
              <a:t>Mais cela signifie aussi que la défense dépend de plus en plus des machines.”</a:t>
            </a:r>
            <a:endParaRPr dirty="0"/>
          </a:p>
        </p:txBody>
      </p:sp>
      <p:sp>
        <p:nvSpPr>
          <p:cNvPr id="232" name="Google Shape;23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20644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Here we move from the ‘why’ to the ‘how’ — how AI is reshaping </a:t>
            </a:r>
            <a:r>
              <a:rPr lang="en-US" dirty="0" err="1" smtClean="0"/>
              <a:t>cybersecurity</a:t>
            </a:r>
            <a:r>
              <a:rPr lang="en-US" dirty="0" smtClean="0"/>
              <a:t> in practice.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 smtClean="0"/>
              <a:t>“L’IA est déjà un pilier de la </a:t>
            </a:r>
            <a:r>
              <a:rPr lang="fr-FR" dirty="0" err="1" smtClean="0"/>
              <a:t>cybersécurité</a:t>
            </a:r>
            <a:r>
              <a:rPr lang="fr-FR" dirty="0" smtClean="0"/>
              <a:t> moderne.</a:t>
            </a:r>
            <a:br>
              <a:rPr lang="fr-FR" dirty="0" smtClean="0"/>
            </a:br>
            <a:r>
              <a:rPr lang="fr-FR" dirty="0" smtClean="0"/>
              <a:t>Grâce à l’apprentissage automatique, elle détecte les anomalies, analyse les comportements utilisateurs et automatise les réponses aux incidents.</a:t>
            </a:r>
            <a:br>
              <a:rPr lang="fr-FR" dirty="0" smtClean="0"/>
            </a:br>
            <a:r>
              <a:rPr lang="fr-FR" dirty="0" smtClean="0"/>
              <a:t>Les solutions comme les SOC modernes, les EDR ou les SIEM intelligents s’appuient déjà sur ces capacités.</a:t>
            </a:r>
            <a:br>
              <a:rPr lang="fr-FR" dirty="0" smtClean="0"/>
            </a:br>
            <a:r>
              <a:rPr lang="fr-FR" dirty="0" smtClean="0"/>
              <a:t>En clair, l’IA aide l’humain à voir ce qu’il ne pourrait pas voir seul.”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 smtClean="0"/>
              <a:t>“Prenons des exemples :</a:t>
            </a:r>
            <a:br>
              <a:rPr lang="fr-FR" dirty="0" smtClean="0"/>
            </a:br>
            <a:r>
              <a:rPr lang="fr-FR" dirty="0" smtClean="0"/>
              <a:t>L’IA aide à filtrer les </a:t>
            </a:r>
            <a:r>
              <a:rPr lang="fr-FR" dirty="0" err="1" smtClean="0"/>
              <a:t>spams</a:t>
            </a:r>
            <a:r>
              <a:rPr lang="fr-FR" dirty="0" smtClean="0"/>
              <a:t>, à détecter les </a:t>
            </a:r>
            <a:r>
              <a:rPr lang="fr-FR" dirty="0" err="1" smtClean="0"/>
              <a:t>phishing</a:t>
            </a:r>
            <a:r>
              <a:rPr lang="fr-FR" dirty="0" smtClean="0"/>
              <a:t> intelligents, à corréler des alertes dans des masses de logs.</a:t>
            </a:r>
            <a:br>
              <a:rPr lang="fr-FR" dirty="0" smtClean="0"/>
            </a:br>
            <a:r>
              <a:rPr lang="fr-FR" dirty="0" smtClean="0"/>
              <a:t>Dans un SOC, elle réduit les faux positifs et permet une meilleure priorisation des incidents.</a:t>
            </a:r>
            <a:br>
              <a:rPr lang="fr-FR" dirty="0" smtClean="0"/>
            </a:br>
            <a:r>
              <a:rPr lang="fr-FR" dirty="0" smtClean="0"/>
              <a:t>C’est un gain d’efficacité et de rapidité considérable.”</a:t>
            </a:r>
            <a:endParaRPr dirty="0"/>
          </a:p>
        </p:txBody>
      </p:sp>
      <p:sp>
        <p:nvSpPr>
          <p:cNvPr id="276" name="Google Shape;27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393343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 smtClean="0"/>
              <a:t>“Mais le revers de la médaille, c’est que les attaquants utilisent aussi l’IA.</a:t>
            </a:r>
            <a:br>
              <a:rPr lang="fr-FR" dirty="0" smtClean="0"/>
            </a:br>
            <a:r>
              <a:rPr lang="fr-FR" dirty="0" smtClean="0"/>
              <a:t>Des outils comme </a:t>
            </a:r>
            <a:r>
              <a:rPr lang="fr-FR" dirty="0" err="1" smtClean="0"/>
              <a:t>WormGPT</a:t>
            </a:r>
            <a:r>
              <a:rPr lang="fr-FR" dirty="0" smtClean="0"/>
              <a:t> ou </a:t>
            </a:r>
            <a:r>
              <a:rPr lang="fr-FR" dirty="0" err="1" smtClean="0"/>
              <a:t>FraudGPT</a:t>
            </a:r>
            <a:r>
              <a:rPr lang="fr-FR" dirty="0" smtClean="0"/>
              <a:t> permettent de générer des e-mails de </a:t>
            </a:r>
            <a:r>
              <a:rPr lang="fr-FR" dirty="0" err="1" smtClean="0"/>
              <a:t>phishing</a:t>
            </a:r>
            <a:r>
              <a:rPr lang="fr-FR" dirty="0" smtClean="0"/>
              <a:t> crédibles, sans fautes, parfaitement ciblés.</a:t>
            </a:r>
            <a:br>
              <a:rPr lang="fr-FR" dirty="0" smtClean="0"/>
            </a:br>
            <a:r>
              <a:rPr lang="fr-FR" dirty="0" smtClean="0"/>
              <a:t>Les </a:t>
            </a:r>
            <a:r>
              <a:rPr lang="fr-FR" dirty="0" err="1" smtClean="0"/>
              <a:t>deepfakes</a:t>
            </a:r>
            <a:r>
              <a:rPr lang="fr-FR" dirty="0" smtClean="0"/>
              <a:t> audio et vidéo servent à tromper les entreprises.</a:t>
            </a:r>
            <a:br>
              <a:rPr lang="fr-FR" dirty="0" smtClean="0"/>
            </a:br>
            <a:r>
              <a:rPr lang="fr-FR" dirty="0" smtClean="0"/>
              <a:t>Et certains malwares deviennent ‘intelligents’, capables de s’adapter en temps réel aux défenses.”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 smtClean="0"/>
              <a:t>“Un cas réel : une entreprise a perdu plusieurs centaines de milliers d’euros après avoir reçu un appel vocal du ‘PDG’.</a:t>
            </a:r>
            <a:br>
              <a:rPr lang="fr-FR" dirty="0" smtClean="0"/>
            </a:br>
            <a:r>
              <a:rPr lang="fr-FR" dirty="0" smtClean="0"/>
              <a:t>En réalité, c’était un </a:t>
            </a:r>
            <a:r>
              <a:rPr lang="fr-FR" dirty="0" err="1" smtClean="0"/>
              <a:t>deepfake</a:t>
            </a:r>
            <a:r>
              <a:rPr lang="fr-FR" dirty="0" smtClean="0"/>
              <a:t> audio généré par IA.</a:t>
            </a:r>
            <a:br>
              <a:rPr lang="fr-FR" dirty="0" smtClean="0"/>
            </a:br>
            <a:r>
              <a:rPr lang="fr-FR" dirty="0" smtClean="0"/>
              <a:t>Autre exemple : des campagnes de désinformation alimentées par des IA capables de produire des milliers de faux contenus par jour.</a:t>
            </a:r>
            <a:br>
              <a:rPr lang="fr-FR" dirty="0" smtClean="0"/>
            </a:br>
            <a:r>
              <a:rPr lang="fr-FR" dirty="0" smtClean="0"/>
              <a:t>Ces situations montrent que l’IA est devenue une arme numérique à part entière.”</a:t>
            </a:r>
            <a:endParaRPr dirty="0"/>
          </a:p>
        </p:txBody>
      </p:sp>
      <p:sp>
        <p:nvSpPr>
          <p:cNvPr id="311" name="Google Shape;31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8437526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 smtClean="0"/>
              <a:t>“Dans le domaine militaire, l’IA joue déjà un rôle clé.</a:t>
            </a:r>
            <a:br>
              <a:rPr lang="fr-FR" dirty="0" smtClean="0"/>
            </a:br>
            <a:r>
              <a:rPr lang="fr-FR" dirty="0" smtClean="0"/>
              <a:t>Analyse de renseignement, détection d’intrusions, automatisation de contre-attaques…</a:t>
            </a:r>
            <a:br>
              <a:rPr lang="fr-FR" dirty="0" smtClean="0"/>
            </a:br>
            <a:r>
              <a:rPr lang="fr-FR" dirty="0" smtClean="0"/>
              <a:t>Elle change la nature même de la guerre, en rendant le cyberespace aussi stratégique que le terrain physique.</a:t>
            </a:r>
            <a:br>
              <a:rPr lang="fr-FR" dirty="0" smtClean="0"/>
            </a:br>
            <a:r>
              <a:rPr lang="fr-FR" dirty="0" smtClean="0"/>
              <a:t>Cela pose la question de la souveraineté : qui contrôle les algorithmes contrôle la puissance numérique.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 smtClean="0"/>
              <a:t>“Le SOC du futur sera un SOC augmenté : des analystes humains soutenus par des IA capables de corréler, prioriser et anticiper les menaces.</a:t>
            </a:r>
            <a:br>
              <a:rPr lang="fr-FR" dirty="0" smtClean="0"/>
            </a:br>
            <a:r>
              <a:rPr lang="fr-FR" dirty="0" smtClean="0"/>
              <a:t>On ne remplacera pas l’humain, mais on va l’augmenter.</a:t>
            </a:r>
            <a:br>
              <a:rPr lang="fr-FR" dirty="0" smtClean="0"/>
            </a:br>
            <a:r>
              <a:rPr lang="fr-FR" dirty="0" smtClean="0"/>
              <a:t>L’IA prendra la charge répétitive, et l’humain gardera la décision stratégique.”</a:t>
            </a:r>
            <a:endParaRPr dirty="0"/>
          </a:p>
        </p:txBody>
      </p:sp>
      <p:sp>
        <p:nvSpPr>
          <p:cNvPr id="311" name="Google Shape;31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773877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 smtClean="0"/>
              <a:t>“Mais il faut rester vigilants.</a:t>
            </a:r>
            <a:br>
              <a:rPr lang="fr-FR" dirty="0" smtClean="0"/>
            </a:br>
            <a:r>
              <a:rPr lang="fr-FR" dirty="0" smtClean="0"/>
              <a:t>Les algorithmes ne sont pas neutres : ils apprennent à partir de données, et ces données peuvent être biaisées.</a:t>
            </a:r>
            <a:br>
              <a:rPr lang="fr-FR" dirty="0" smtClean="0"/>
            </a:br>
            <a:r>
              <a:rPr lang="fr-FR" dirty="0" smtClean="0"/>
              <a:t>Si une IA apprend qu’un comportement est ‘suspect’ sur une base fausse, elle peut discriminer, se tromper, ou même accuser à tort.</a:t>
            </a:r>
            <a:br>
              <a:rPr lang="fr-FR" dirty="0" smtClean="0"/>
            </a:br>
            <a:r>
              <a:rPr lang="fr-FR" dirty="0" smtClean="0"/>
              <a:t>L’éthique devient donc un pilier essentiel de la </a:t>
            </a:r>
            <a:r>
              <a:rPr lang="fr-FR" dirty="0" err="1" smtClean="0"/>
              <a:t>cybersécurité</a:t>
            </a:r>
            <a:r>
              <a:rPr lang="fr-FR" dirty="0" smtClean="0"/>
              <a:t>.”</a:t>
            </a:r>
            <a:endParaRPr dirty="0"/>
          </a:p>
        </p:txBody>
      </p:sp>
      <p:sp>
        <p:nvSpPr>
          <p:cNvPr id="341" name="Google Shape;34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5303001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 smtClean="0"/>
              <a:t>“Aujourd’hui, la majorité des IA de </a:t>
            </a:r>
            <a:r>
              <a:rPr lang="fr-FR" dirty="0" err="1" smtClean="0"/>
              <a:t>cybersécurité</a:t>
            </a:r>
            <a:r>
              <a:rPr lang="fr-FR" dirty="0" smtClean="0"/>
              <a:t> appartiennent à de grands groupes étrangers.</a:t>
            </a:r>
            <a:br>
              <a:rPr lang="fr-FR" dirty="0" smtClean="0"/>
            </a:br>
            <a:r>
              <a:rPr lang="fr-FR" dirty="0" smtClean="0"/>
              <a:t>Cela pose un risque de dépendance technologique.</a:t>
            </a:r>
            <a:br>
              <a:rPr lang="fr-FR" dirty="0" smtClean="0"/>
            </a:br>
            <a:r>
              <a:rPr lang="fr-FR" dirty="0" smtClean="0"/>
              <a:t>Il est donc crucial de développer des solutions locales, open source et souveraines, capables de garantir notre indépendance numérique.</a:t>
            </a:r>
            <a:endParaRPr dirty="0"/>
          </a:p>
        </p:txBody>
      </p:sp>
      <p:sp>
        <p:nvSpPr>
          <p:cNvPr id="391" name="Google Shape;39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452728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 smtClean="0"/>
              <a:t>“L’IA n’est pas magique.</a:t>
            </a:r>
            <a:br>
              <a:rPr lang="fr-FR" dirty="0" smtClean="0"/>
            </a:br>
            <a:r>
              <a:rPr lang="fr-FR" dirty="0" smtClean="0"/>
              <a:t>Elle peut se tromper, produire des faux positifs, consommer énormément d’énergie et dépendre d’équipes hautement qualifiées.</a:t>
            </a:r>
            <a:br>
              <a:rPr lang="fr-FR" dirty="0" smtClean="0"/>
            </a:br>
            <a:r>
              <a:rPr lang="fr-FR" dirty="0" smtClean="0"/>
              <a:t>En résumé : sans compétence humaine, une IA reste aveugle.</a:t>
            </a:r>
            <a:endParaRPr dirty="0"/>
          </a:p>
        </p:txBody>
      </p:sp>
      <p:sp>
        <p:nvSpPr>
          <p:cNvPr id="412" name="Google Shape;41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4068780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 smtClean="0"/>
              <a:t>“L’avenir, c’est la collaboration entre l’humain et la machine.</a:t>
            </a:r>
            <a:br>
              <a:rPr lang="fr-FR" dirty="0" smtClean="0"/>
            </a:br>
            <a:r>
              <a:rPr lang="fr-FR" dirty="0" smtClean="0"/>
              <a:t>L’IA ne remplace pas le raisonnement humain, elle le complète.</a:t>
            </a:r>
            <a:br>
              <a:rPr lang="fr-FR" dirty="0" smtClean="0"/>
            </a:br>
            <a:r>
              <a:rPr lang="fr-FR" dirty="0" smtClean="0"/>
              <a:t>La véritable force, c’est cette alliance entre la vitesse de calcul et le jugement humain.”</a:t>
            </a:r>
            <a:endParaRPr dirty="0"/>
          </a:p>
        </p:txBody>
      </p:sp>
      <p:sp>
        <p:nvSpPr>
          <p:cNvPr id="573" name="Google Shape;57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2842942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 smtClean="0"/>
              <a:t>“Pour conclure :</a:t>
            </a:r>
            <a:br>
              <a:rPr lang="fr-FR" dirty="0" smtClean="0"/>
            </a:br>
            <a:r>
              <a:rPr lang="fr-FR" dirty="0" smtClean="0"/>
              <a:t>L’IA est à la fois une opportunité et une menace.</a:t>
            </a:r>
            <a:br>
              <a:rPr lang="fr-FR" dirty="0" smtClean="0"/>
            </a:br>
            <a:r>
              <a:rPr lang="fr-FR" dirty="0" smtClean="0"/>
              <a:t>Ce n’est pas l’IA qu’il faut craindre, mais la manière dont nous l’utilisons.</a:t>
            </a:r>
            <a:br>
              <a:rPr lang="fr-FR" dirty="0" smtClean="0"/>
            </a:br>
            <a:r>
              <a:rPr lang="fr-FR" dirty="0" smtClean="0"/>
              <a:t>Le futur de la </a:t>
            </a:r>
            <a:r>
              <a:rPr lang="fr-FR" dirty="0" err="1" smtClean="0"/>
              <a:t>cybersécurité</a:t>
            </a:r>
            <a:r>
              <a:rPr lang="fr-FR" dirty="0" smtClean="0"/>
              <a:t> sera cognitif : une alliance entre intelligence humaine et intelligence artificielle.”</a:t>
            </a:r>
            <a:endParaRPr dirty="0"/>
          </a:p>
        </p:txBody>
      </p:sp>
      <p:sp>
        <p:nvSpPr>
          <p:cNvPr id="589" name="Google Shape;589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6390654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00" i="1" dirty="0" smtClean="0">
                <a:solidFill>
                  <a:schemeClr val="bg1"/>
                </a:solidFill>
              </a:rPr>
              <a:t>L’intelligence artificielle ne remplacera jamais l’intelligence humaine, mais elle révélera la faiblesse de ceux qui cessent de penser. </a:t>
            </a:r>
            <a:endParaRPr dirty="0"/>
          </a:p>
        </p:txBody>
      </p:sp>
      <p:sp>
        <p:nvSpPr>
          <p:cNvPr id="657" name="Google Shape;657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0586786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 smtClean="0"/>
              <a:t>“Merci pour votre attention.</a:t>
            </a:r>
            <a:br>
              <a:rPr lang="fr-FR" dirty="0" smtClean="0"/>
            </a:br>
            <a:r>
              <a:rPr lang="fr-FR" dirty="0" smtClean="0"/>
              <a:t>Je suis Nathan Gaius Ondoua Ekanga.</a:t>
            </a:r>
            <a:br>
              <a:rPr lang="fr-FR" dirty="0" smtClean="0"/>
            </a:br>
            <a:r>
              <a:rPr lang="fr-FR" dirty="0" smtClean="0"/>
              <a:t>Pensez sécurité, pensez intelligence, et souvenez-vous :</a:t>
            </a:r>
            <a:br>
              <a:rPr lang="fr-FR" dirty="0" smtClean="0"/>
            </a:br>
            <a:r>
              <a:rPr lang="fr-FR" i="1" dirty="0" err="1" smtClean="0"/>
              <a:t>Think</a:t>
            </a:r>
            <a:r>
              <a:rPr lang="fr-FR" i="1" dirty="0" smtClean="0"/>
              <a:t> Secure. </a:t>
            </a:r>
            <a:r>
              <a:rPr lang="fr-FR" i="1" dirty="0" err="1" smtClean="0"/>
              <a:t>Connect</a:t>
            </a:r>
            <a:r>
              <a:rPr lang="fr-FR" i="1" dirty="0" smtClean="0"/>
              <a:t> Smart.</a:t>
            </a:r>
            <a:r>
              <a:rPr lang="fr-FR" dirty="0" smtClean="0"/>
              <a:t>”</a:t>
            </a:r>
            <a:endParaRPr dirty="0"/>
          </a:p>
        </p:txBody>
      </p:sp>
      <p:sp>
        <p:nvSpPr>
          <p:cNvPr id="670" name="Google Shape;670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3976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>
            <a:spLocks noGrp="1"/>
          </p:cNvSpPr>
          <p:nvPr>
            <p:ph type="ctrTitle"/>
          </p:nvPr>
        </p:nvSpPr>
        <p:spPr>
          <a:xfrm>
            <a:off x="685800" y="2206625"/>
            <a:ext cx="156954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3"/>
          <p:cNvSpPr txBox="1">
            <a:spLocks noGrp="1"/>
          </p:cNvSpPr>
          <p:nvPr>
            <p:ph type="subTitle" idx="1"/>
          </p:nvPr>
        </p:nvSpPr>
        <p:spPr>
          <a:xfrm>
            <a:off x="5333100" y="5877225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>
                <a:solidFill>
                  <a:schemeClr val="lt1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grpSp>
        <p:nvGrpSpPr>
          <p:cNvPr id="12" name="Google Shape;12;p3"/>
          <p:cNvGrpSpPr/>
          <p:nvPr/>
        </p:nvGrpSpPr>
        <p:grpSpPr>
          <a:xfrm>
            <a:off x="463151" y="452860"/>
            <a:ext cx="2939055" cy="698967"/>
            <a:chOff x="0" y="0"/>
            <a:chExt cx="3918740" cy="931956"/>
          </a:xfrm>
        </p:grpSpPr>
        <p:grpSp>
          <p:nvGrpSpPr>
            <p:cNvPr id="13" name="Google Shape;13;p3"/>
            <p:cNvGrpSpPr/>
            <p:nvPr/>
          </p:nvGrpSpPr>
          <p:grpSpPr>
            <a:xfrm>
              <a:off x="0" y="0"/>
              <a:ext cx="931956" cy="931956"/>
              <a:chOff x="0" y="0"/>
              <a:chExt cx="812800" cy="812800"/>
            </a:xfrm>
          </p:grpSpPr>
          <p:sp>
            <p:nvSpPr>
              <p:cNvPr id="14" name="Google Shape;14;p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CE1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Google Shape;15;p3"/>
              <p:cNvSpPr txBox="1"/>
              <p:nvPr/>
            </p:nvSpPr>
            <p:spPr>
              <a:xfrm>
                <a:off x="76200" y="28575"/>
                <a:ext cx="660300" cy="70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6" name="Google Shape;16;p3"/>
            <p:cNvSpPr/>
            <p:nvPr/>
          </p:nvSpPr>
          <p:spPr>
            <a:xfrm>
              <a:off x="126847" y="135566"/>
              <a:ext cx="678264" cy="675797"/>
            </a:xfrm>
            <a:custGeom>
              <a:avLst/>
              <a:gdLst/>
              <a:ahLst/>
              <a:cxnLst/>
              <a:rect l="l" t="t" r="r" b="b"/>
              <a:pathLst>
                <a:path w="678264" h="675797" extrusionOk="0">
                  <a:moveTo>
                    <a:pt x="0" y="0"/>
                  </a:moveTo>
                  <a:lnTo>
                    <a:pt x="678264" y="0"/>
                  </a:lnTo>
                  <a:lnTo>
                    <a:pt x="678264" y="675797"/>
                  </a:lnTo>
                  <a:lnTo>
                    <a:pt x="0" y="67579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17" name="Google Shape;17;p3"/>
            <p:cNvSpPr txBox="1"/>
            <p:nvPr/>
          </p:nvSpPr>
          <p:spPr>
            <a:xfrm>
              <a:off x="1080440" y="127336"/>
              <a:ext cx="2838300" cy="749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50" b="0" i="0" u="none" strike="noStrike" cap="none">
                  <a:solidFill>
                    <a:srgbClr val="FFFFFF"/>
                  </a:solidFill>
                  <a:latin typeface="Teko"/>
                  <a:ea typeface="Teko"/>
                  <a:cs typeface="Teko"/>
                  <a:sym typeface="Teko"/>
                </a:rPr>
                <a:t>LOGO COMPANY</a:t>
              </a: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>
            <a:spLocks noGrp="1"/>
          </p:cNvSpPr>
          <p:nvPr>
            <p:ph type="title"/>
          </p:nvPr>
        </p:nvSpPr>
        <p:spPr>
          <a:xfrm>
            <a:off x="652400" y="2360250"/>
            <a:ext cx="159435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body" idx="1"/>
          </p:nvPr>
        </p:nvSpPr>
        <p:spPr>
          <a:xfrm>
            <a:off x="5920175" y="5133325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grpSp>
        <p:nvGrpSpPr>
          <p:cNvPr id="21" name="Google Shape;21;p4"/>
          <p:cNvGrpSpPr/>
          <p:nvPr/>
        </p:nvGrpSpPr>
        <p:grpSpPr>
          <a:xfrm>
            <a:off x="463151" y="452860"/>
            <a:ext cx="2939055" cy="698967"/>
            <a:chOff x="0" y="0"/>
            <a:chExt cx="3918740" cy="931956"/>
          </a:xfrm>
        </p:grpSpPr>
        <p:grpSp>
          <p:nvGrpSpPr>
            <p:cNvPr id="22" name="Google Shape;22;p4"/>
            <p:cNvGrpSpPr/>
            <p:nvPr/>
          </p:nvGrpSpPr>
          <p:grpSpPr>
            <a:xfrm>
              <a:off x="0" y="0"/>
              <a:ext cx="931956" cy="931956"/>
              <a:chOff x="0" y="0"/>
              <a:chExt cx="812800" cy="812800"/>
            </a:xfrm>
          </p:grpSpPr>
          <p:sp>
            <p:nvSpPr>
              <p:cNvPr id="23" name="Google Shape;23;p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CE1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Google Shape;24;p4"/>
              <p:cNvSpPr txBox="1"/>
              <p:nvPr/>
            </p:nvSpPr>
            <p:spPr>
              <a:xfrm>
                <a:off x="76200" y="28575"/>
                <a:ext cx="660300" cy="70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5" name="Google Shape;25;p4"/>
            <p:cNvSpPr/>
            <p:nvPr/>
          </p:nvSpPr>
          <p:spPr>
            <a:xfrm>
              <a:off x="126847" y="135566"/>
              <a:ext cx="678264" cy="675797"/>
            </a:xfrm>
            <a:custGeom>
              <a:avLst/>
              <a:gdLst/>
              <a:ahLst/>
              <a:cxnLst/>
              <a:rect l="l" t="t" r="r" b="b"/>
              <a:pathLst>
                <a:path w="678264" h="675797" extrusionOk="0">
                  <a:moveTo>
                    <a:pt x="0" y="0"/>
                  </a:moveTo>
                  <a:lnTo>
                    <a:pt x="678264" y="0"/>
                  </a:lnTo>
                  <a:lnTo>
                    <a:pt x="678264" y="675797"/>
                  </a:lnTo>
                  <a:lnTo>
                    <a:pt x="0" y="67579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26" name="Google Shape;26;p4"/>
            <p:cNvSpPr txBox="1"/>
            <p:nvPr/>
          </p:nvSpPr>
          <p:spPr>
            <a:xfrm>
              <a:off x="1080440" y="127336"/>
              <a:ext cx="2838300" cy="749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50" b="0" i="0" u="none" strike="noStrike" cap="none">
                  <a:solidFill>
                    <a:srgbClr val="FFFFFF"/>
                  </a:solidFill>
                  <a:latin typeface="Teko"/>
                  <a:ea typeface="Teko"/>
                  <a:cs typeface="Teko"/>
                  <a:sym typeface="Teko"/>
                </a:rPr>
                <a:t>LOGO COMPANY</a:t>
              </a: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517482" y="0"/>
            <a:ext cx="19012818" cy="10583301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5"/>
          <p:cNvSpPr txBox="1">
            <a:spLocks noGrp="1"/>
          </p:cNvSpPr>
          <p:nvPr>
            <p:ph type="title"/>
          </p:nvPr>
        </p:nvSpPr>
        <p:spPr>
          <a:xfrm>
            <a:off x="661900" y="1029225"/>
            <a:ext cx="153075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None/>
              <a:defRPr cap="none"/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Font typeface="Teko"/>
              <a:buNone/>
              <a:defRPr sz="12000">
                <a:latin typeface="Teko"/>
                <a:ea typeface="Teko"/>
                <a:cs typeface="Teko"/>
                <a:sym typeface="Tek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Font typeface="Teko"/>
              <a:buNone/>
              <a:defRPr sz="12000">
                <a:latin typeface="Teko"/>
                <a:ea typeface="Teko"/>
                <a:cs typeface="Teko"/>
                <a:sym typeface="Tek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Font typeface="Teko"/>
              <a:buNone/>
              <a:defRPr sz="12000">
                <a:latin typeface="Teko"/>
                <a:ea typeface="Teko"/>
                <a:cs typeface="Teko"/>
                <a:sym typeface="Tek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Font typeface="Teko"/>
              <a:buNone/>
              <a:defRPr sz="12000">
                <a:latin typeface="Teko"/>
                <a:ea typeface="Teko"/>
                <a:cs typeface="Teko"/>
                <a:sym typeface="Tek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Font typeface="Teko"/>
              <a:buNone/>
              <a:defRPr sz="12000">
                <a:latin typeface="Teko"/>
                <a:ea typeface="Teko"/>
                <a:cs typeface="Teko"/>
                <a:sym typeface="Tek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Font typeface="Teko"/>
              <a:buNone/>
              <a:defRPr sz="12000">
                <a:latin typeface="Teko"/>
                <a:ea typeface="Teko"/>
                <a:cs typeface="Teko"/>
                <a:sym typeface="Tek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Font typeface="Teko"/>
              <a:buNone/>
              <a:defRPr sz="12000">
                <a:latin typeface="Teko"/>
                <a:ea typeface="Teko"/>
                <a:cs typeface="Teko"/>
                <a:sym typeface="Tek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Font typeface="Teko"/>
              <a:buNone/>
              <a:defRPr sz="12000">
                <a:latin typeface="Teko"/>
                <a:ea typeface="Teko"/>
                <a:cs typeface="Teko"/>
                <a:sym typeface="Teko"/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body" idx="1"/>
          </p:nvPr>
        </p:nvSpPr>
        <p:spPr>
          <a:xfrm>
            <a:off x="6988213" y="7396313"/>
            <a:ext cx="77724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>
                <a:solidFill>
                  <a:schemeClr val="lt1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>
                <a:solidFill>
                  <a:schemeClr val="lt1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>
                <a:solidFill>
                  <a:schemeClr val="lt1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>
                <a:solidFill>
                  <a:schemeClr val="lt1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>
                <a:solidFill>
                  <a:schemeClr val="lt1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>
                <a:solidFill>
                  <a:schemeClr val="lt1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>
                <a:solidFill>
                  <a:schemeClr val="lt1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>
                <a:solidFill>
                  <a:schemeClr val="lt1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grpSp>
        <p:nvGrpSpPr>
          <p:cNvPr id="31" name="Google Shape;31;p5"/>
          <p:cNvGrpSpPr/>
          <p:nvPr/>
        </p:nvGrpSpPr>
        <p:grpSpPr>
          <a:xfrm>
            <a:off x="463151" y="452860"/>
            <a:ext cx="2939055" cy="698967"/>
            <a:chOff x="0" y="0"/>
            <a:chExt cx="3918740" cy="931956"/>
          </a:xfrm>
        </p:grpSpPr>
        <p:grpSp>
          <p:nvGrpSpPr>
            <p:cNvPr id="32" name="Google Shape;32;p5"/>
            <p:cNvGrpSpPr/>
            <p:nvPr/>
          </p:nvGrpSpPr>
          <p:grpSpPr>
            <a:xfrm>
              <a:off x="0" y="0"/>
              <a:ext cx="931956" cy="931956"/>
              <a:chOff x="0" y="0"/>
              <a:chExt cx="812800" cy="812800"/>
            </a:xfrm>
          </p:grpSpPr>
          <p:sp>
            <p:nvSpPr>
              <p:cNvPr id="33" name="Google Shape;33;p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CE1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Google Shape;34;p5"/>
              <p:cNvSpPr txBox="1"/>
              <p:nvPr/>
            </p:nvSpPr>
            <p:spPr>
              <a:xfrm>
                <a:off x="76200" y="28575"/>
                <a:ext cx="660300" cy="70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5" name="Google Shape;35;p5"/>
            <p:cNvSpPr/>
            <p:nvPr/>
          </p:nvSpPr>
          <p:spPr>
            <a:xfrm>
              <a:off x="126847" y="135566"/>
              <a:ext cx="678264" cy="675797"/>
            </a:xfrm>
            <a:custGeom>
              <a:avLst/>
              <a:gdLst/>
              <a:ahLst/>
              <a:cxnLst/>
              <a:rect l="l" t="t" r="r" b="b"/>
              <a:pathLst>
                <a:path w="678264" h="675797" extrusionOk="0">
                  <a:moveTo>
                    <a:pt x="0" y="0"/>
                  </a:moveTo>
                  <a:lnTo>
                    <a:pt x="678264" y="0"/>
                  </a:lnTo>
                  <a:lnTo>
                    <a:pt x="678264" y="675797"/>
                  </a:lnTo>
                  <a:lnTo>
                    <a:pt x="0" y="67579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36" name="Google Shape;36;p5"/>
            <p:cNvSpPr txBox="1"/>
            <p:nvPr/>
          </p:nvSpPr>
          <p:spPr>
            <a:xfrm>
              <a:off x="1080440" y="127336"/>
              <a:ext cx="2838300" cy="749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50" b="0" i="0" u="none" strike="noStrike" cap="none">
                  <a:solidFill>
                    <a:srgbClr val="FFFFFF"/>
                  </a:solidFill>
                  <a:latin typeface="Teko"/>
                  <a:ea typeface="Teko"/>
                  <a:cs typeface="Teko"/>
                  <a:sym typeface="Teko"/>
                </a:rPr>
                <a:t>LOGO COMPANY</a:t>
              </a: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>
            <a:spLocks noGrp="1"/>
          </p:cNvSpPr>
          <p:nvPr>
            <p:ph type="title"/>
          </p:nvPr>
        </p:nvSpPr>
        <p:spPr>
          <a:xfrm>
            <a:off x="652400" y="2360250"/>
            <a:ext cx="159435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body" idx="1"/>
          </p:nvPr>
        </p:nvSpPr>
        <p:spPr>
          <a:xfrm>
            <a:off x="3166150" y="4899075"/>
            <a:ext cx="54891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83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/>
            </a:lvl1pPr>
            <a:lvl2pPr marL="914400" lvl="1" indent="-3683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  <a:defRPr/>
            </a:lvl2pPr>
            <a:lvl3pPr marL="1371600" lvl="2" indent="-3683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/>
            </a:lvl3pPr>
            <a:lvl4pPr marL="1828800" lvl="3" indent="-3683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  <a:defRPr/>
            </a:lvl4pPr>
            <a:lvl5pPr marL="2286000" lvl="4" indent="-3683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200"/>
              <a:buChar char="»"/>
              <a:defRPr/>
            </a:lvl5pPr>
            <a:lvl6pPr marL="2743200" lvl="5" indent="-3683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/>
            </a:lvl6pPr>
            <a:lvl7pPr marL="3200400" lvl="6" indent="-3683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/>
            </a:lvl7pPr>
            <a:lvl8pPr marL="3657600" lvl="7" indent="-3683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/>
            </a:lvl8pPr>
            <a:lvl9pPr marL="4114800" lvl="8" indent="-3683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2"/>
          </p:nvPr>
        </p:nvSpPr>
        <p:spPr>
          <a:xfrm>
            <a:off x="8862089" y="4899075"/>
            <a:ext cx="54891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83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/>
            </a:lvl1pPr>
            <a:lvl2pPr marL="914400" lvl="1" indent="-3683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  <a:defRPr/>
            </a:lvl2pPr>
            <a:lvl3pPr marL="1371600" lvl="2" indent="-3683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/>
            </a:lvl3pPr>
            <a:lvl4pPr marL="1828800" lvl="3" indent="-3683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  <a:defRPr/>
            </a:lvl4pPr>
            <a:lvl5pPr marL="2286000" lvl="4" indent="-3683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200"/>
              <a:buChar char="»"/>
              <a:defRPr/>
            </a:lvl5pPr>
            <a:lvl6pPr marL="2743200" lvl="5" indent="-3683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/>
            </a:lvl6pPr>
            <a:lvl7pPr marL="3200400" lvl="6" indent="-3683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/>
            </a:lvl7pPr>
            <a:lvl8pPr marL="3657600" lvl="7" indent="-3683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/>
            </a:lvl8pPr>
            <a:lvl9pPr marL="4114800" lvl="8" indent="-3683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/>
            </a:lvl9pPr>
          </a:lstStyle>
          <a:p>
            <a:endParaRPr/>
          </a:p>
        </p:txBody>
      </p:sp>
      <p:grpSp>
        <p:nvGrpSpPr>
          <p:cNvPr id="41" name="Google Shape;41;p6"/>
          <p:cNvGrpSpPr/>
          <p:nvPr/>
        </p:nvGrpSpPr>
        <p:grpSpPr>
          <a:xfrm>
            <a:off x="463151" y="452860"/>
            <a:ext cx="2939055" cy="698967"/>
            <a:chOff x="0" y="0"/>
            <a:chExt cx="3918740" cy="931956"/>
          </a:xfrm>
        </p:grpSpPr>
        <p:grpSp>
          <p:nvGrpSpPr>
            <p:cNvPr id="42" name="Google Shape;42;p6"/>
            <p:cNvGrpSpPr/>
            <p:nvPr/>
          </p:nvGrpSpPr>
          <p:grpSpPr>
            <a:xfrm>
              <a:off x="0" y="0"/>
              <a:ext cx="931956" cy="931956"/>
              <a:chOff x="0" y="0"/>
              <a:chExt cx="812800" cy="812800"/>
            </a:xfrm>
          </p:grpSpPr>
          <p:sp>
            <p:nvSpPr>
              <p:cNvPr id="43" name="Google Shape;43;p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CE1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44;p6"/>
              <p:cNvSpPr txBox="1"/>
              <p:nvPr/>
            </p:nvSpPr>
            <p:spPr>
              <a:xfrm>
                <a:off x="76200" y="28575"/>
                <a:ext cx="660300" cy="70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5" name="Google Shape;45;p6"/>
            <p:cNvSpPr/>
            <p:nvPr/>
          </p:nvSpPr>
          <p:spPr>
            <a:xfrm>
              <a:off x="126847" y="135566"/>
              <a:ext cx="678264" cy="675797"/>
            </a:xfrm>
            <a:custGeom>
              <a:avLst/>
              <a:gdLst/>
              <a:ahLst/>
              <a:cxnLst/>
              <a:rect l="l" t="t" r="r" b="b"/>
              <a:pathLst>
                <a:path w="678264" h="675797" extrusionOk="0">
                  <a:moveTo>
                    <a:pt x="0" y="0"/>
                  </a:moveTo>
                  <a:lnTo>
                    <a:pt x="678264" y="0"/>
                  </a:lnTo>
                  <a:lnTo>
                    <a:pt x="678264" y="675797"/>
                  </a:lnTo>
                  <a:lnTo>
                    <a:pt x="0" y="67579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46" name="Google Shape;46;p6"/>
            <p:cNvSpPr txBox="1"/>
            <p:nvPr/>
          </p:nvSpPr>
          <p:spPr>
            <a:xfrm>
              <a:off x="1080440" y="127336"/>
              <a:ext cx="2838300" cy="749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50" b="0" i="0" u="none" strike="noStrike" cap="none">
                  <a:solidFill>
                    <a:srgbClr val="FFFFFF"/>
                  </a:solidFill>
                  <a:latin typeface="Teko"/>
                  <a:ea typeface="Teko"/>
                  <a:cs typeface="Teko"/>
                  <a:sym typeface="Teko"/>
                </a:rPr>
                <a:t>LOGO COMPANY</a:t>
              </a: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oogle Shape;48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517482" y="0"/>
            <a:ext cx="19012818" cy="10583301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7"/>
          <p:cNvSpPr txBox="1">
            <a:spLocks noGrp="1"/>
          </p:cNvSpPr>
          <p:nvPr>
            <p:ph type="title"/>
          </p:nvPr>
        </p:nvSpPr>
        <p:spPr>
          <a:xfrm>
            <a:off x="652400" y="2360250"/>
            <a:ext cx="159435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body" idx="1"/>
          </p:nvPr>
        </p:nvSpPr>
        <p:spPr>
          <a:xfrm>
            <a:off x="2307251" y="5317575"/>
            <a:ext cx="61137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83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/>
            </a:lvl1pPr>
            <a:lvl2pPr marL="914400" lvl="1" indent="-3683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  <a:defRPr/>
            </a:lvl2pPr>
            <a:lvl3pPr marL="1371600" lvl="2" indent="-3683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/>
            </a:lvl3pPr>
            <a:lvl4pPr marL="1828800" lvl="3" indent="-3683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  <a:defRPr/>
            </a:lvl4pPr>
            <a:lvl5pPr marL="2286000" lvl="4" indent="-3683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200"/>
              <a:buChar char="»"/>
              <a:defRPr/>
            </a:lvl5pPr>
            <a:lvl6pPr marL="2743200" lvl="5" indent="-3683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/>
            </a:lvl6pPr>
            <a:lvl7pPr marL="3200400" lvl="6" indent="-3683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/>
            </a:lvl7pPr>
            <a:lvl8pPr marL="3657600" lvl="7" indent="-3683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/>
            </a:lvl8pPr>
            <a:lvl9pPr marL="4114800" lvl="8" indent="-3683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body" idx="2"/>
          </p:nvPr>
        </p:nvSpPr>
        <p:spPr>
          <a:xfrm>
            <a:off x="8644514" y="5317575"/>
            <a:ext cx="61167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83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/>
            </a:lvl1pPr>
            <a:lvl2pPr marL="914400" lvl="1" indent="-3683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  <a:defRPr/>
            </a:lvl2pPr>
            <a:lvl3pPr marL="1371600" lvl="2" indent="-3683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/>
            </a:lvl3pPr>
            <a:lvl4pPr marL="1828800" lvl="3" indent="-3683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  <a:defRPr/>
            </a:lvl4pPr>
            <a:lvl5pPr marL="2286000" lvl="4" indent="-3683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200"/>
              <a:buChar char="»"/>
              <a:defRPr/>
            </a:lvl5pPr>
            <a:lvl6pPr marL="2743200" lvl="5" indent="-3683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/>
            </a:lvl6pPr>
            <a:lvl7pPr marL="3200400" lvl="6" indent="-3683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/>
            </a:lvl7pPr>
            <a:lvl8pPr marL="3657600" lvl="7" indent="-3683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/>
            </a:lvl8pPr>
            <a:lvl9pPr marL="4114800" lvl="8" indent="-3683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/>
            </a:lvl9pPr>
          </a:lstStyle>
          <a:p>
            <a:endParaRPr/>
          </a:p>
        </p:txBody>
      </p:sp>
      <p:grpSp>
        <p:nvGrpSpPr>
          <p:cNvPr id="52" name="Google Shape;52;p7"/>
          <p:cNvGrpSpPr/>
          <p:nvPr/>
        </p:nvGrpSpPr>
        <p:grpSpPr>
          <a:xfrm>
            <a:off x="463151" y="452860"/>
            <a:ext cx="2939055" cy="698967"/>
            <a:chOff x="0" y="0"/>
            <a:chExt cx="3918740" cy="931956"/>
          </a:xfrm>
        </p:grpSpPr>
        <p:grpSp>
          <p:nvGrpSpPr>
            <p:cNvPr id="53" name="Google Shape;53;p7"/>
            <p:cNvGrpSpPr/>
            <p:nvPr/>
          </p:nvGrpSpPr>
          <p:grpSpPr>
            <a:xfrm>
              <a:off x="0" y="0"/>
              <a:ext cx="931956" cy="931956"/>
              <a:chOff x="0" y="0"/>
              <a:chExt cx="812800" cy="812800"/>
            </a:xfrm>
          </p:grpSpPr>
          <p:sp>
            <p:nvSpPr>
              <p:cNvPr id="54" name="Google Shape;54;p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CE1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Google Shape;55;p7"/>
              <p:cNvSpPr txBox="1"/>
              <p:nvPr/>
            </p:nvSpPr>
            <p:spPr>
              <a:xfrm>
                <a:off x="76200" y="28575"/>
                <a:ext cx="660300" cy="70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56" name="Google Shape;56;p7"/>
            <p:cNvSpPr/>
            <p:nvPr/>
          </p:nvSpPr>
          <p:spPr>
            <a:xfrm>
              <a:off x="126847" y="135566"/>
              <a:ext cx="678264" cy="675797"/>
            </a:xfrm>
            <a:custGeom>
              <a:avLst/>
              <a:gdLst/>
              <a:ahLst/>
              <a:cxnLst/>
              <a:rect l="l" t="t" r="r" b="b"/>
              <a:pathLst>
                <a:path w="678264" h="675797" extrusionOk="0">
                  <a:moveTo>
                    <a:pt x="0" y="0"/>
                  </a:moveTo>
                  <a:lnTo>
                    <a:pt x="678264" y="0"/>
                  </a:lnTo>
                  <a:lnTo>
                    <a:pt x="678264" y="675797"/>
                  </a:lnTo>
                  <a:lnTo>
                    <a:pt x="0" y="67579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57" name="Google Shape;57;p7"/>
            <p:cNvSpPr txBox="1"/>
            <p:nvPr/>
          </p:nvSpPr>
          <p:spPr>
            <a:xfrm>
              <a:off x="1080440" y="127336"/>
              <a:ext cx="2838300" cy="749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50" b="0" i="0" u="none" strike="noStrike" cap="none">
                  <a:solidFill>
                    <a:srgbClr val="FFFFFF"/>
                  </a:solidFill>
                  <a:latin typeface="Teko"/>
                  <a:ea typeface="Teko"/>
                  <a:cs typeface="Teko"/>
                  <a:sym typeface="Teko"/>
                </a:rPr>
                <a:t>LOGO COMPANY</a:t>
              </a: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"/>
          <p:cNvSpPr txBox="1">
            <a:spLocks noGrp="1"/>
          </p:cNvSpPr>
          <p:nvPr>
            <p:ph type="title"/>
          </p:nvPr>
        </p:nvSpPr>
        <p:spPr>
          <a:xfrm>
            <a:off x="652400" y="2360250"/>
            <a:ext cx="159435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60" name="Google Shape;60;p8"/>
          <p:cNvGrpSpPr/>
          <p:nvPr/>
        </p:nvGrpSpPr>
        <p:grpSpPr>
          <a:xfrm>
            <a:off x="463151" y="452860"/>
            <a:ext cx="2939055" cy="698967"/>
            <a:chOff x="0" y="0"/>
            <a:chExt cx="3918740" cy="931956"/>
          </a:xfrm>
        </p:grpSpPr>
        <p:grpSp>
          <p:nvGrpSpPr>
            <p:cNvPr id="61" name="Google Shape;61;p8"/>
            <p:cNvGrpSpPr/>
            <p:nvPr/>
          </p:nvGrpSpPr>
          <p:grpSpPr>
            <a:xfrm>
              <a:off x="0" y="0"/>
              <a:ext cx="931956" cy="931956"/>
              <a:chOff x="0" y="0"/>
              <a:chExt cx="812800" cy="812800"/>
            </a:xfrm>
          </p:grpSpPr>
          <p:sp>
            <p:nvSpPr>
              <p:cNvPr id="62" name="Google Shape;62;p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CE1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Google Shape;63;p8"/>
              <p:cNvSpPr txBox="1"/>
              <p:nvPr/>
            </p:nvSpPr>
            <p:spPr>
              <a:xfrm>
                <a:off x="76200" y="28575"/>
                <a:ext cx="660300" cy="70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4" name="Google Shape;64;p8"/>
            <p:cNvSpPr/>
            <p:nvPr/>
          </p:nvSpPr>
          <p:spPr>
            <a:xfrm>
              <a:off x="126847" y="135566"/>
              <a:ext cx="678264" cy="675797"/>
            </a:xfrm>
            <a:custGeom>
              <a:avLst/>
              <a:gdLst/>
              <a:ahLst/>
              <a:cxnLst/>
              <a:rect l="l" t="t" r="r" b="b"/>
              <a:pathLst>
                <a:path w="678264" h="675797" extrusionOk="0">
                  <a:moveTo>
                    <a:pt x="0" y="0"/>
                  </a:moveTo>
                  <a:lnTo>
                    <a:pt x="678264" y="0"/>
                  </a:lnTo>
                  <a:lnTo>
                    <a:pt x="678264" y="675797"/>
                  </a:lnTo>
                  <a:lnTo>
                    <a:pt x="0" y="67579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65" name="Google Shape;65;p8"/>
            <p:cNvSpPr txBox="1"/>
            <p:nvPr/>
          </p:nvSpPr>
          <p:spPr>
            <a:xfrm>
              <a:off x="1080440" y="127336"/>
              <a:ext cx="2838300" cy="749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50" b="0" i="0" u="none" strike="noStrike" cap="none">
                  <a:solidFill>
                    <a:srgbClr val="FFFFFF"/>
                  </a:solidFill>
                  <a:latin typeface="Teko"/>
                  <a:ea typeface="Teko"/>
                  <a:cs typeface="Teko"/>
                  <a:sym typeface="Teko"/>
                </a:rPr>
                <a:t>LOGO COMPANY</a:t>
              </a: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9"/>
          <p:cNvSpPr txBox="1">
            <a:spLocks noGrp="1"/>
          </p:cNvSpPr>
          <p:nvPr>
            <p:ph type="title"/>
          </p:nvPr>
        </p:nvSpPr>
        <p:spPr>
          <a:xfrm>
            <a:off x="603275" y="3716800"/>
            <a:ext cx="15552900" cy="11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Font typeface="Teko"/>
              <a:buNone/>
              <a:defRPr sz="12000">
                <a:latin typeface="Teko"/>
                <a:ea typeface="Teko"/>
                <a:cs typeface="Teko"/>
                <a:sym typeface="Tek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Font typeface="Teko"/>
              <a:buNone/>
              <a:defRPr sz="12000">
                <a:latin typeface="Teko"/>
                <a:ea typeface="Teko"/>
                <a:cs typeface="Teko"/>
                <a:sym typeface="Tek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Font typeface="Teko"/>
              <a:buNone/>
              <a:defRPr sz="12000">
                <a:latin typeface="Teko"/>
                <a:ea typeface="Teko"/>
                <a:cs typeface="Teko"/>
                <a:sym typeface="Tek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Font typeface="Teko"/>
              <a:buNone/>
              <a:defRPr sz="12000">
                <a:latin typeface="Teko"/>
                <a:ea typeface="Teko"/>
                <a:cs typeface="Teko"/>
                <a:sym typeface="Tek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Font typeface="Teko"/>
              <a:buNone/>
              <a:defRPr sz="12000">
                <a:latin typeface="Teko"/>
                <a:ea typeface="Teko"/>
                <a:cs typeface="Teko"/>
                <a:sym typeface="Tek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Font typeface="Teko"/>
              <a:buNone/>
              <a:defRPr sz="12000">
                <a:latin typeface="Teko"/>
                <a:ea typeface="Teko"/>
                <a:cs typeface="Teko"/>
                <a:sym typeface="Tek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Font typeface="Teko"/>
              <a:buNone/>
              <a:defRPr sz="12000">
                <a:latin typeface="Teko"/>
                <a:ea typeface="Teko"/>
                <a:cs typeface="Teko"/>
                <a:sym typeface="Tek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Font typeface="Teko"/>
              <a:buNone/>
              <a:defRPr sz="12000">
                <a:latin typeface="Teko"/>
                <a:ea typeface="Teko"/>
                <a:cs typeface="Teko"/>
                <a:sym typeface="Teko"/>
              </a:defRPr>
            </a:lvl9pPr>
          </a:lstStyle>
          <a:p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body" idx="1"/>
          </p:nvPr>
        </p:nvSpPr>
        <p:spPr>
          <a:xfrm>
            <a:off x="8469600" y="5251600"/>
            <a:ext cx="6995700" cy="376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83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/>
            </a:lvl1pPr>
            <a:lvl2pPr marL="914400" lvl="1" indent="-3683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  <a:defRPr/>
            </a:lvl2pPr>
            <a:lvl3pPr marL="1371600" lvl="2" indent="-3683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/>
            </a:lvl3pPr>
            <a:lvl4pPr marL="1828800" lvl="3" indent="-3683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  <a:defRPr/>
            </a:lvl4pPr>
            <a:lvl5pPr marL="2286000" lvl="4" indent="-3683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200"/>
              <a:buChar char="»"/>
              <a:defRPr/>
            </a:lvl5pPr>
            <a:lvl6pPr marL="2743200" lvl="5" indent="-3683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/>
            </a:lvl6pPr>
            <a:lvl7pPr marL="3200400" lvl="6" indent="-3683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/>
            </a:lvl7pPr>
            <a:lvl8pPr marL="3657600" lvl="7" indent="-3683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/>
            </a:lvl8pPr>
            <a:lvl9pPr marL="4114800" lvl="8" indent="-3683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/>
            </a:lvl9pPr>
          </a:lstStyle>
          <a:p>
            <a:endParaRPr/>
          </a:p>
        </p:txBody>
      </p:sp>
      <p:sp>
        <p:nvSpPr>
          <p:cNvPr id="69" name="Google Shape;69;p9"/>
          <p:cNvSpPr txBox="1">
            <a:spLocks noGrp="1"/>
          </p:cNvSpPr>
          <p:nvPr>
            <p:ph type="body" idx="2"/>
          </p:nvPr>
        </p:nvSpPr>
        <p:spPr>
          <a:xfrm>
            <a:off x="3402200" y="5251600"/>
            <a:ext cx="4917900" cy="46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/>
            </a:lvl9pPr>
          </a:lstStyle>
          <a:p>
            <a:endParaRPr/>
          </a:p>
        </p:txBody>
      </p:sp>
      <p:grpSp>
        <p:nvGrpSpPr>
          <p:cNvPr id="70" name="Google Shape;70;p9"/>
          <p:cNvGrpSpPr/>
          <p:nvPr/>
        </p:nvGrpSpPr>
        <p:grpSpPr>
          <a:xfrm>
            <a:off x="463151" y="452860"/>
            <a:ext cx="2939055" cy="698967"/>
            <a:chOff x="0" y="0"/>
            <a:chExt cx="3918740" cy="931956"/>
          </a:xfrm>
        </p:grpSpPr>
        <p:grpSp>
          <p:nvGrpSpPr>
            <p:cNvPr id="71" name="Google Shape;71;p9"/>
            <p:cNvGrpSpPr/>
            <p:nvPr/>
          </p:nvGrpSpPr>
          <p:grpSpPr>
            <a:xfrm>
              <a:off x="0" y="0"/>
              <a:ext cx="931956" cy="931956"/>
              <a:chOff x="0" y="0"/>
              <a:chExt cx="812800" cy="812800"/>
            </a:xfrm>
          </p:grpSpPr>
          <p:sp>
            <p:nvSpPr>
              <p:cNvPr id="72" name="Google Shape;72;p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CE1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Google Shape;73;p9"/>
              <p:cNvSpPr txBox="1"/>
              <p:nvPr/>
            </p:nvSpPr>
            <p:spPr>
              <a:xfrm>
                <a:off x="76200" y="28575"/>
                <a:ext cx="660300" cy="70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74" name="Google Shape;74;p9"/>
            <p:cNvSpPr/>
            <p:nvPr/>
          </p:nvSpPr>
          <p:spPr>
            <a:xfrm>
              <a:off x="126847" y="135566"/>
              <a:ext cx="678264" cy="675797"/>
            </a:xfrm>
            <a:custGeom>
              <a:avLst/>
              <a:gdLst/>
              <a:ahLst/>
              <a:cxnLst/>
              <a:rect l="l" t="t" r="r" b="b"/>
              <a:pathLst>
                <a:path w="678264" h="675797" extrusionOk="0">
                  <a:moveTo>
                    <a:pt x="0" y="0"/>
                  </a:moveTo>
                  <a:lnTo>
                    <a:pt x="678264" y="0"/>
                  </a:lnTo>
                  <a:lnTo>
                    <a:pt x="678264" y="675797"/>
                  </a:lnTo>
                  <a:lnTo>
                    <a:pt x="0" y="67579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75" name="Google Shape;75;p9"/>
            <p:cNvSpPr txBox="1"/>
            <p:nvPr/>
          </p:nvSpPr>
          <p:spPr>
            <a:xfrm>
              <a:off x="1080440" y="127336"/>
              <a:ext cx="2838300" cy="749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50" b="0" i="0" u="none" strike="noStrike" cap="none">
                  <a:solidFill>
                    <a:srgbClr val="FFFFFF"/>
                  </a:solidFill>
                  <a:latin typeface="Teko"/>
                  <a:ea typeface="Teko"/>
                  <a:cs typeface="Teko"/>
                  <a:sym typeface="Teko"/>
                </a:rPr>
                <a:t>LOGO COMPANY</a:t>
              </a: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0"/>
          <p:cNvSpPr txBox="1">
            <a:spLocks noGrp="1"/>
          </p:cNvSpPr>
          <p:nvPr>
            <p:ph type="title"/>
          </p:nvPr>
        </p:nvSpPr>
        <p:spPr>
          <a:xfrm>
            <a:off x="573125" y="4267200"/>
            <a:ext cx="152331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Font typeface="Teko"/>
              <a:buNone/>
              <a:defRPr sz="12000">
                <a:latin typeface="Teko"/>
                <a:ea typeface="Teko"/>
                <a:cs typeface="Teko"/>
                <a:sym typeface="Tek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Font typeface="Teko"/>
              <a:buNone/>
              <a:defRPr sz="12000">
                <a:latin typeface="Teko"/>
                <a:ea typeface="Teko"/>
                <a:cs typeface="Teko"/>
                <a:sym typeface="Tek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Font typeface="Teko"/>
              <a:buNone/>
              <a:defRPr sz="12000">
                <a:latin typeface="Teko"/>
                <a:ea typeface="Teko"/>
                <a:cs typeface="Teko"/>
                <a:sym typeface="Tek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Font typeface="Teko"/>
              <a:buNone/>
              <a:defRPr sz="12000">
                <a:latin typeface="Teko"/>
                <a:ea typeface="Teko"/>
                <a:cs typeface="Teko"/>
                <a:sym typeface="Tek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Font typeface="Teko"/>
              <a:buNone/>
              <a:defRPr sz="12000">
                <a:latin typeface="Teko"/>
                <a:ea typeface="Teko"/>
                <a:cs typeface="Teko"/>
                <a:sym typeface="Tek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Font typeface="Teko"/>
              <a:buNone/>
              <a:defRPr sz="12000">
                <a:latin typeface="Teko"/>
                <a:ea typeface="Teko"/>
                <a:cs typeface="Teko"/>
                <a:sym typeface="Tek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Font typeface="Teko"/>
              <a:buNone/>
              <a:defRPr sz="12000">
                <a:latin typeface="Teko"/>
                <a:ea typeface="Teko"/>
                <a:cs typeface="Teko"/>
                <a:sym typeface="Tek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Font typeface="Teko"/>
              <a:buNone/>
              <a:defRPr sz="12000">
                <a:latin typeface="Teko"/>
                <a:ea typeface="Teko"/>
                <a:cs typeface="Teko"/>
                <a:sym typeface="Teko"/>
              </a:defRPr>
            </a:lvl9pPr>
          </a:lstStyle>
          <a:p>
            <a:endParaRPr/>
          </a:p>
        </p:txBody>
      </p:sp>
      <p:sp>
        <p:nvSpPr>
          <p:cNvPr id="78" name="Google Shape;78;p10"/>
          <p:cNvSpPr>
            <a:spLocks noGrp="1"/>
          </p:cNvSpPr>
          <p:nvPr>
            <p:ph type="pic" idx="2"/>
          </p:nvPr>
        </p:nvSpPr>
        <p:spPr>
          <a:xfrm>
            <a:off x="11579221" y="5937525"/>
            <a:ext cx="3487800" cy="2616000"/>
          </a:xfrm>
          <a:prstGeom prst="rect">
            <a:avLst/>
          </a:prstGeom>
          <a:noFill/>
          <a:ln>
            <a:noFill/>
          </a:ln>
        </p:spPr>
      </p:sp>
      <p:sp>
        <p:nvSpPr>
          <p:cNvPr id="79" name="Google Shape;79;p10"/>
          <p:cNvSpPr txBox="1">
            <a:spLocks noGrp="1"/>
          </p:cNvSpPr>
          <p:nvPr>
            <p:ph type="body" idx="1"/>
          </p:nvPr>
        </p:nvSpPr>
        <p:spPr>
          <a:xfrm>
            <a:off x="2280263" y="5702863"/>
            <a:ext cx="54864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/>
            </a:lvl9pPr>
          </a:lstStyle>
          <a:p>
            <a:endParaRPr/>
          </a:p>
        </p:txBody>
      </p:sp>
      <p:grpSp>
        <p:nvGrpSpPr>
          <p:cNvPr id="80" name="Google Shape;80;p10"/>
          <p:cNvGrpSpPr/>
          <p:nvPr/>
        </p:nvGrpSpPr>
        <p:grpSpPr>
          <a:xfrm>
            <a:off x="463151" y="452860"/>
            <a:ext cx="2939055" cy="698967"/>
            <a:chOff x="0" y="0"/>
            <a:chExt cx="3918740" cy="931956"/>
          </a:xfrm>
        </p:grpSpPr>
        <p:grpSp>
          <p:nvGrpSpPr>
            <p:cNvPr id="81" name="Google Shape;81;p10"/>
            <p:cNvGrpSpPr/>
            <p:nvPr/>
          </p:nvGrpSpPr>
          <p:grpSpPr>
            <a:xfrm>
              <a:off x="0" y="0"/>
              <a:ext cx="931956" cy="931956"/>
              <a:chOff x="0" y="0"/>
              <a:chExt cx="812800" cy="812800"/>
            </a:xfrm>
          </p:grpSpPr>
          <p:sp>
            <p:nvSpPr>
              <p:cNvPr id="82" name="Google Shape;82;p1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5CE1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" name="Google Shape;83;p10"/>
              <p:cNvSpPr txBox="1"/>
              <p:nvPr/>
            </p:nvSpPr>
            <p:spPr>
              <a:xfrm>
                <a:off x="76200" y="28575"/>
                <a:ext cx="660300" cy="70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84" name="Google Shape;84;p10"/>
            <p:cNvSpPr/>
            <p:nvPr/>
          </p:nvSpPr>
          <p:spPr>
            <a:xfrm>
              <a:off x="126847" y="135566"/>
              <a:ext cx="678264" cy="675797"/>
            </a:xfrm>
            <a:custGeom>
              <a:avLst/>
              <a:gdLst/>
              <a:ahLst/>
              <a:cxnLst/>
              <a:rect l="l" t="t" r="r" b="b"/>
              <a:pathLst>
                <a:path w="678264" h="675797" extrusionOk="0">
                  <a:moveTo>
                    <a:pt x="0" y="0"/>
                  </a:moveTo>
                  <a:lnTo>
                    <a:pt x="678264" y="0"/>
                  </a:lnTo>
                  <a:lnTo>
                    <a:pt x="678264" y="675797"/>
                  </a:lnTo>
                  <a:lnTo>
                    <a:pt x="0" y="67579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">
                <a:alphaModFix/>
              </a:blip>
              <a:stretch>
                <a:fillRect/>
              </a:stretch>
            </a:blipFill>
            <a:ln>
              <a:noFill/>
            </a:ln>
          </p:spPr>
        </p:sp>
        <p:sp>
          <p:nvSpPr>
            <p:cNvPr id="85" name="Google Shape;85;p10"/>
            <p:cNvSpPr txBox="1"/>
            <p:nvPr/>
          </p:nvSpPr>
          <p:spPr>
            <a:xfrm>
              <a:off x="1080440" y="127336"/>
              <a:ext cx="2838300" cy="749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50" b="0" i="0" u="none" strike="noStrike" cap="none">
                  <a:solidFill>
                    <a:srgbClr val="FFFFFF"/>
                  </a:solidFill>
                  <a:latin typeface="Teko"/>
                  <a:ea typeface="Teko"/>
                  <a:cs typeface="Teko"/>
                  <a:sym typeface="Teko"/>
                </a:rPr>
                <a:t>LOGO COMPANY</a:t>
              </a: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652400" y="2360250"/>
            <a:ext cx="159435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0"/>
              <a:buFont typeface="Teko"/>
              <a:buNone/>
              <a:defRPr sz="12000" i="0" u="none" strike="noStrike" cap="none">
                <a:solidFill>
                  <a:schemeClr val="accent3"/>
                </a:solidFill>
                <a:latin typeface="Teko"/>
                <a:ea typeface="Teko"/>
                <a:cs typeface="Teko"/>
                <a:sym typeface="Tek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5395725" y="47234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8300" algn="l" rtl="0">
              <a:spcBef>
                <a:spcPts val="640"/>
              </a:spcBef>
              <a:spcAft>
                <a:spcPts val="0"/>
              </a:spcAft>
              <a:buClr>
                <a:schemeClr val="accent3"/>
              </a:buClr>
              <a:buSzPts val="2200"/>
              <a:buFont typeface="Teko"/>
              <a:buChar char="•"/>
              <a:defRPr sz="2200" i="0" u="none" strike="noStrike" cap="none">
                <a:solidFill>
                  <a:schemeClr val="accent3"/>
                </a:solidFill>
                <a:latin typeface="Teko"/>
                <a:ea typeface="Teko"/>
                <a:cs typeface="Teko"/>
                <a:sym typeface="Teko"/>
              </a:defRPr>
            </a:lvl1pPr>
            <a:lvl2pPr marL="914400" marR="0" lvl="1" indent="-368300" algn="l" rtl="0">
              <a:spcBef>
                <a:spcPts val="560"/>
              </a:spcBef>
              <a:spcAft>
                <a:spcPts val="0"/>
              </a:spcAft>
              <a:buClr>
                <a:schemeClr val="accent3"/>
              </a:buClr>
              <a:buSzPts val="2200"/>
              <a:buFont typeface="Teko"/>
              <a:buChar char="–"/>
              <a:defRPr sz="2200" i="0" u="none" strike="noStrike" cap="none">
                <a:solidFill>
                  <a:schemeClr val="accent3"/>
                </a:solidFill>
                <a:latin typeface="Teko"/>
                <a:ea typeface="Teko"/>
                <a:cs typeface="Teko"/>
                <a:sym typeface="Teko"/>
              </a:defRPr>
            </a:lvl2pPr>
            <a:lvl3pPr marL="1371600" marR="0" lvl="2" indent="-368300" algn="l" rtl="0">
              <a:spcBef>
                <a:spcPts val="480"/>
              </a:spcBef>
              <a:spcAft>
                <a:spcPts val="0"/>
              </a:spcAft>
              <a:buClr>
                <a:schemeClr val="accent3"/>
              </a:buClr>
              <a:buSzPts val="2200"/>
              <a:buFont typeface="Teko"/>
              <a:buChar char="•"/>
              <a:defRPr sz="2200" i="0" u="none" strike="noStrike" cap="none">
                <a:solidFill>
                  <a:schemeClr val="accent3"/>
                </a:solidFill>
                <a:latin typeface="Teko"/>
                <a:ea typeface="Teko"/>
                <a:cs typeface="Teko"/>
                <a:sym typeface="Teko"/>
              </a:defRPr>
            </a:lvl3pPr>
            <a:lvl4pPr marL="1828800" marR="0" lvl="3" indent="-368300" algn="l" rtl="0"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2200"/>
              <a:buFont typeface="Teko"/>
              <a:buChar char="–"/>
              <a:defRPr sz="2200" i="0" u="none" strike="noStrike" cap="none">
                <a:solidFill>
                  <a:schemeClr val="accent3"/>
                </a:solidFill>
                <a:latin typeface="Teko"/>
                <a:ea typeface="Teko"/>
                <a:cs typeface="Teko"/>
                <a:sym typeface="Teko"/>
              </a:defRPr>
            </a:lvl4pPr>
            <a:lvl5pPr marL="2286000" marR="0" lvl="4" indent="-368300" algn="l" rtl="0"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2200"/>
              <a:buFont typeface="Teko"/>
              <a:buChar char="»"/>
              <a:defRPr sz="2200" i="0" u="none" strike="noStrike" cap="none">
                <a:solidFill>
                  <a:schemeClr val="accent3"/>
                </a:solidFill>
                <a:latin typeface="Teko"/>
                <a:ea typeface="Teko"/>
                <a:cs typeface="Teko"/>
                <a:sym typeface="Teko"/>
              </a:defRPr>
            </a:lvl5pPr>
            <a:lvl6pPr marL="2743200" marR="0" lvl="5" indent="-368300" algn="l" rtl="0"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2200"/>
              <a:buFont typeface="Teko"/>
              <a:buChar char="•"/>
              <a:defRPr sz="2200" i="0" u="none" strike="noStrike" cap="none">
                <a:solidFill>
                  <a:schemeClr val="accent3"/>
                </a:solidFill>
                <a:latin typeface="Teko"/>
                <a:ea typeface="Teko"/>
                <a:cs typeface="Teko"/>
                <a:sym typeface="Teko"/>
              </a:defRPr>
            </a:lvl6pPr>
            <a:lvl7pPr marL="3200400" marR="0" lvl="6" indent="-368300" algn="l" rtl="0"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2200"/>
              <a:buFont typeface="Teko"/>
              <a:buChar char="•"/>
              <a:defRPr sz="2200" i="0" u="none" strike="noStrike" cap="none">
                <a:solidFill>
                  <a:schemeClr val="accent3"/>
                </a:solidFill>
                <a:latin typeface="Teko"/>
                <a:ea typeface="Teko"/>
                <a:cs typeface="Teko"/>
                <a:sym typeface="Teko"/>
              </a:defRPr>
            </a:lvl7pPr>
            <a:lvl8pPr marL="3657600" marR="0" lvl="7" indent="-368300" algn="l" rtl="0"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2200"/>
              <a:buFont typeface="Teko"/>
              <a:buChar char="•"/>
              <a:defRPr sz="2200" i="0" u="none" strike="noStrike" cap="none">
                <a:solidFill>
                  <a:schemeClr val="accent3"/>
                </a:solidFill>
                <a:latin typeface="Teko"/>
                <a:ea typeface="Teko"/>
                <a:cs typeface="Teko"/>
                <a:sym typeface="Teko"/>
              </a:defRPr>
            </a:lvl8pPr>
            <a:lvl9pPr marL="4114800" marR="0" lvl="8" indent="-368300" algn="l" rtl="0"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2200"/>
              <a:buFont typeface="Teko"/>
              <a:buChar char="•"/>
              <a:defRPr sz="2200" i="0" u="none" strike="noStrike" cap="none">
                <a:solidFill>
                  <a:schemeClr val="accent3"/>
                </a:solidFill>
                <a:latin typeface="Teko"/>
                <a:ea typeface="Teko"/>
                <a:cs typeface="Teko"/>
                <a:sym typeface="Tek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7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7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3.png"/><Relationship Id="rId9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2.png"/><Relationship Id="rId7" Type="http://schemas.openxmlformats.org/officeDocument/2006/relationships/image" Target="../media/image19.png"/><Relationship Id="rId12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11" Type="http://schemas.openxmlformats.org/officeDocument/2006/relationships/image" Target="../media/image13.png"/><Relationship Id="rId5" Type="http://schemas.openxmlformats.org/officeDocument/2006/relationships/image" Target="../media/image10.png"/><Relationship Id="rId10" Type="http://schemas.openxmlformats.org/officeDocument/2006/relationships/image" Target="../media/image21.png"/><Relationship Id="rId4" Type="http://schemas.openxmlformats.org/officeDocument/2006/relationships/image" Target="../media/image3.png"/><Relationship Id="rId9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27.png"/><Relationship Id="rId4" Type="http://schemas.openxmlformats.org/officeDocument/2006/relationships/image" Target="../media/image7.png"/><Relationship Id="rId9" Type="http://schemas.openxmlformats.org/officeDocument/2006/relationships/image" Target="../media/image2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7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20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7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20.png"/><Relationship Id="rId4" Type="http://schemas.openxmlformats.org/officeDocument/2006/relationships/image" Target="../media/image3.png"/><Relationship Id="rId9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2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9.png"/><Relationship Id="rId4" Type="http://schemas.openxmlformats.org/officeDocument/2006/relationships/image" Target="../media/image33.png"/><Relationship Id="rId9" Type="http://schemas.openxmlformats.org/officeDocument/2006/relationships/image" Target="../media/image3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5" Type="http://schemas.openxmlformats.org/officeDocument/2006/relationships/image" Target="../media/image3.png"/><Relationship Id="rId4" Type="http://schemas.openxmlformats.org/officeDocument/2006/relationships/image" Target="../media/image3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4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5.png"/><Relationship Id="rId5" Type="http://schemas.openxmlformats.org/officeDocument/2006/relationships/image" Target="../media/image3.png"/><Relationship Id="rId4" Type="http://schemas.openxmlformats.org/officeDocument/2006/relationships/image" Target="../media/image4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38"/>
        </a:solidFill>
        <a:effectLst/>
      </p:bgPr>
    </p:bg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00225" y="-127638"/>
            <a:ext cx="18939100" cy="105422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1" name="Google Shape;91;p11"/>
          <p:cNvGrpSpPr/>
          <p:nvPr/>
        </p:nvGrpSpPr>
        <p:grpSpPr>
          <a:xfrm>
            <a:off x="11566530" y="992243"/>
            <a:ext cx="5692770" cy="8137872"/>
            <a:chOff x="0" y="-47625"/>
            <a:chExt cx="1646718" cy="2354001"/>
          </a:xfrm>
        </p:grpSpPr>
        <p:sp>
          <p:nvSpPr>
            <p:cNvPr id="92" name="Google Shape;92;p11"/>
            <p:cNvSpPr/>
            <p:nvPr/>
          </p:nvSpPr>
          <p:spPr>
            <a:xfrm>
              <a:off x="0" y="0"/>
              <a:ext cx="1646718" cy="2306376"/>
            </a:xfrm>
            <a:custGeom>
              <a:avLst/>
              <a:gdLst/>
              <a:ahLst/>
              <a:cxnLst/>
              <a:rect l="l" t="t" r="r" b="b"/>
              <a:pathLst>
                <a:path w="1646718" h="2306376" extrusionOk="0">
                  <a:moveTo>
                    <a:pt x="0" y="0"/>
                  </a:moveTo>
                  <a:lnTo>
                    <a:pt x="1646718" y="0"/>
                  </a:lnTo>
                  <a:lnTo>
                    <a:pt x="1646718" y="2306376"/>
                  </a:lnTo>
                  <a:lnTo>
                    <a:pt x="0" y="230637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 cmpd="sng">
              <a:solidFill>
                <a:srgbClr val="5CE1E6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93" name="Google Shape;93;p11"/>
            <p:cNvSpPr txBox="1"/>
            <p:nvPr/>
          </p:nvSpPr>
          <p:spPr>
            <a:xfrm>
              <a:off x="0" y="-47625"/>
              <a:ext cx="1646718" cy="235400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4" name="Google Shape;94;p11"/>
          <p:cNvGrpSpPr/>
          <p:nvPr/>
        </p:nvGrpSpPr>
        <p:grpSpPr>
          <a:xfrm>
            <a:off x="13080465" y="992241"/>
            <a:ext cx="2809881" cy="409797"/>
            <a:chOff x="0" y="-47625"/>
            <a:chExt cx="812800" cy="118539"/>
          </a:xfrm>
        </p:grpSpPr>
        <p:sp>
          <p:nvSpPr>
            <p:cNvPr id="95" name="Google Shape;95;p11"/>
            <p:cNvSpPr/>
            <p:nvPr/>
          </p:nvSpPr>
          <p:spPr>
            <a:xfrm>
              <a:off x="0" y="0"/>
              <a:ext cx="812800" cy="70914"/>
            </a:xfrm>
            <a:custGeom>
              <a:avLst/>
              <a:gdLst/>
              <a:ahLst/>
              <a:cxnLst/>
              <a:rect l="l" t="t" r="r" b="b"/>
              <a:pathLst>
                <a:path w="812800" h="70914" extrusionOk="0">
                  <a:moveTo>
                    <a:pt x="0" y="0"/>
                  </a:moveTo>
                  <a:lnTo>
                    <a:pt x="812800" y="0"/>
                  </a:lnTo>
                  <a:lnTo>
                    <a:pt x="812800" y="70914"/>
                  </a:lnTo>
                  <a:lnTo>
                    <a:pt x="0" y="70914"/>
                  </a:lnTo>
                  <a:close/>
                </a:path>
              </a:pathLst>
            </a:custGeom>
            <a:solidFill>
              <a:srgbClr val="5CE1E6"/>
            </a:solidFill>
            <a:ln>
              <a:noFill/>
            </a:ln>
          </p:spPr>
        </p:sp>
        <p:sp>
          <p:nvSpPr>
            <p:cNvPr id="96" name="Google Shape;96;p11"/>
            <p:cNvSpPr txBox="1"/>
            <p:nvPr/>
          </p:nvSpPr>
          <p:spPr>
            <a:xfrm>
              <a:off x="0" y="-47625"/>
              <a:ext cx="812800" cy="1185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7" name="Google Shape;97;p11"/>
          <p:cNvGrpSpPr/>
          <p:nvPr/>
        </p:nvGrpSpPr>
        <p:grpSpPr>
          <a:xfrm rot="5400000">
            <a:off x="10366487" y="4938602"/>
            <a:ext cx="2809881" cy="409797"/>
            <a:chOff x="0" y="-47625"/>
            <a:chExt cx="812800" cy="118539"/>
          </a:xfrm>
        </p:grpSpPr>
        <p:sp>
          <p:nvSpPr>
            <p:cNvPr id="98" name="Google Shape;98;p11"/>
            <p:cNvSpPr/>
            <p:nvPr/>
          </p:nvSpPr>
          <p:spPr>
            <a:xfrm>
              <a:off x="0" y="0"/>
              <a:ext cx="812800" cy="70914"/>
            </a:xfrm>
            <a:custGeom>
              <a:avLst/>
              <a:gdLst/>
              <a:ahLst/>
              <a:cxnLst/>
              <a:rect l="l" t="t" r="r" b="b"/>
              <a:pathLst>
                <a:path w="812800" h="70914" extrusionOk="0">
                  <a:moveTo>
                    <a:pt x="0" y="0"/>
                  </a:moveTo>
                  <a:lnTo>
                    <a:pt x="812800" y="0"/>
                  </a:lnTo>
                  <a:lnTo>
                    <a:pt x="812800" y="70914"/>
                  </a:lnTo>
                  <a:lnTo>
                    <a:pt x="0" y="70914"/>
                  </a:lnTo>
                  <a:close/>
                </a:path>
              </a:pathLst>
            </a:custGeom>
            <a:solidFill>
              <a:srgbClr val="5CE1E6"/>
            </a:solidFill>
            <a:ln>
              <a:noFill/>
            </a:ln>
          </p:spPr>
        </p:sp>
        <p:sp>
          <p:nvSpPr>
            <p:cNvPr id="99" name="Google Shape;99;p11"/>
            <p:cNvSpPr txBox="1"/>
            <p:nvPr/>
          </p:nvSpPr>
          <p:spPr>
            <a:xfrm>
              <a:off x="0" y="-47625"/>
              <a:ext cx="812800" cy="1185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0" name="Google Shape;100;p11"/>
          <p:cNvGrpSpPr/>
          <p:nvPr/>
        </p:nvGrpSpPr>
        <p:grpSpPr>
          <a:xfrm rot="5400000">
            <a:off x="15814104" y="4938602"/>
            <a:ext cx="2809881" cy="409797"/>
            <a:chOff x="0" y="-47625"/>
            <a:chExt cx="812800" cy="118539"/>
          </a:xfrm>
        </p:grpSpPr>
        <p:sp>
          <p:nvSpPr>
            <p:cNvPr id="101" name="Google Shape;101;p11"/>
            <p:cNvSpPr/>
            <p:nvPr/>
          </p:nvSpPr>
          <p:spPr>
            <a:xfrm>
              <a:off x="0" y="0"/>
              <a:ext cx="812800" cy="70914"/>
            </a:xfrm>
            <a:custGeom>
              <a:avLst/>
              <a:gdLst/>
              <a:ahLst/>
              <a:cxnLst/>
              <a:rect l="l" t="t" r="r" b="b"/>
              <a:pathLst>
                <a:path w="812800" h="70914" extrusionOk="0">
                  <a:moveTo>
                    <a:pt x="0" y="0"/>
                  </a:moveTo>
                  <a:lnTo>
                    <a:pt x="812800" y="0"/>
                  </a:lnTo>
                  <a:lnTo>
                    <a:pt x="812800" y="70914"/>
                  </a:lnTo>
                  <a:lnTo>
                    <a:pt x="0" y="70914"/>
                  </a:lnTo>
                  <a:close/>
                </a:path>
              </a:pathLst>
            </a:custGeom>
            <a:solidFill>
              <a:srgbClr val="5CE1E6"/>
            </a:solidFill>
            <a:ln>
              <a:noFill/>
            </a:ln>
          </p:spPr>
        </p:sp>
        <p:sp>
          <p:nvSpPr>
            <p:cNvPr id="102" name="Google Shape;102;p11"/>
            <p:cNvSpPr txBox="1"/>
            <p:nvPr/>
          </p:nvSpPr>
          <p:spPr>
            <a:xfrm>
              <a:off x="0" y="-47625"/>
              <a:ext cx="812800" cy="1185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3" name="Google Shape;103;p11"/>
          <p:cNvGrpSpPr/>
          <p:nvPr/>
        </p:nvGrpSpPr>
        <p:grpSpPr>
          <a:xfrm>
            <a:off x="13080465" y="8720319"/>
            <a:ext cx="2809881" cy="409797"/>
            <a:chOff x="0" y="-47625"/>
            <a:chExt cx="812800" cy="118539"/>
          </a:xfrm>
        </p:grpSpPr>
        <p:sp>
          <p:nvSpPr>
            <p:cNvPr id="104" name="Google Shape;104;p11"/>
            <p:cNvSpPr/>
            <p:nvPr/>
          </p:nvSpPr>
          <p:spPr>
            <a:xfrm>
              <a:off x="0" y="0"/>
              <a:ext cx="812800" cy="70914"/>
            </a:xfrm>
            <a:custGeom>
              <a:avLst/>
              <a:gdLst/>
              <a:ahLst/>
              <a:cxnLst/>
              <a:rect l="l" t="t" r="r" b="b"/>
              <a:pathLst>
                <a:path w="812800" h="70914" extrusionOk="0">
                  <a:moveTo>
                    <a:pt x="0" y="0"/>
                  </a:moveTo>
                  <a:lnTo>
                    <a:pt x="812800" y="0"/>
                  </a:lnTo>
                  <a:lnTo>
                    <a:pt x="812800" y="70914"/>
                  </a:lnTo>
                  <a:lnTo>
                    <a:pt x="0" y="70914"/>
                  </a:lnTo>
                  <a:close/>
                </a:path>
              </a:pathLst>
            </a:custGeom>
            <a:solidFill>
              <a:srgbClr val="5CE1E6"/>
            </a:solidFill>
            <a:ln>
              <a:noFill/>
            </a:ln>
          </p:spPr>
        </p:sp>
        <p:sp>
          <p:nvSpPr>
            <p:cNvPr id="105" name="Google Shape;105;p11"/>
            <p:cNvSpPr txBox="1"/>
            <p:nvPr/>
          </p:nvSpPr>
          <p:spPr>
            <a:xfrm>
              <a:off x="0" y="-47625"/>
              <a:ext cx="812800" cy="1185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6" name="Google Shape;106;p11"/>
          <p:cNvSpPr txBox="1"/>
          <p:nvPr/>
        </p:nvSpPr>
        <p:spPr>
          <a:xfrm>
            <a:off x="570880" y="2452549"/>
            <a:ext cx="10740553" cy="36563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just">
              <a:lnSpc>
                <a:spcPct val="120014"/>
              </a:lnSpc>
            </a:pPr>
            <a:r>
              <a:rPr lang="en-US" sz="6600" b="1" i="1" dirty="0" smtClean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CYBERSECURITY IN THE AGE OF ARTIFICIAL INTELLIGENCE</a:t>
            </a:r>
            <a:endParaRPr lang="en-US" sz="1000" b="1" i="1" dirty="0">
              <a:solidFill>
                <a:schemeClr val="tx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107" name="Google Shape;107;p11"/>
          <p:cNvGrpSpPr/>
          <p:nvPr/>
        </p:nvGrpSpPr>
        <p:grpSpPr>
          <a:xfrm>
            <a:off x="783919" y="7018165"/>
            <a:ext cx="6114516" cy="1989374"/>
            <a:chOff x="0" y="-47625"/>
            <a:chExt cx="1460038" cy="523950"/>
          </a:xfrm>
        </p:grpSpPr>
        <p:sp>
          <p:nvSpPr>
            <p:cNvPr id="108" name="Google Shape;108;p11"/>
            <p:cNvSpPr/>
            <p:nvPr/>
          </p:nvSpPr>
          <p:spPr>
            <a:xfrm>
              <a:off x="0" y="0"/>
              <a:ext cx="1460038" cy="476325"/>
            </a:xfrm>
            <a:custGeom>
              <a:avLst/>
              <a:gdLst/>
              <a:ahLst/>
              <a:cxnLst/>
              <a:rect l="l" t="t" r="r" b="b"/>
              <a:pathLst>
                <a:path w="1460038" h="476325" extrusionOk="0">
                  <a:moveTo>
                    <a:pt x="0" y="0"/>
                  </a:moveTo>
                  <a:lnTo>
                    <a:pt x="1460038" y="0"/>
                  </a:lnTo>
                  <a:lnTo>
                    <a:pt x="1460038" y="476325"/>
                  </a:lnTo>
                  <a:lnTo>
                    <a:pt x="0" y="47632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 cmpd="sng">
              <a:solidFill>
                <a:srgbClr val="5CE1E6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109" name="Google Shape;109;p11"/>
            <p:cNvSpPr txBox="1"/>
            <p:nvPr/>
          </p:nvSpPr>
          <p:spPr>
            <a:xfrm>
              <a:off x="0" y="-47625"/>
              <a:ext cx="1460038" cy="5239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0" name="Google Shape;110;p11"/>
          <p:cNvGrpSpPr/>
          <p:nvPr/>
        </p:nvGrpSpPr>
        <p:grpSpPr>
          <a:xfrm>
            <a:off x="849132" y="7198991"/>
            <a:ext cx="6250704" cy="1989374"/>
            <a:chOff x="0" y="-47625"/>
            <a:chExt cx="1523043" cy="523950"/>
          </a:xfrm>
        </p:grpSpPr>
        <p:sp>
          <p:nvSpPr>
            <p:cNvPr id="111" name="Google Shape;111;p11"/>
            <p:cNvSpPr/>
            <p:nvPr/>
          </p:nvSpPr>
          <p:spPr>
            <a:xfrm>
              <a:off x="0" y="0"/>
              <a:ext cx="1460038" cy="476325"/>
            </a:xfrm>
            <a:custGeom>
              <a:avLst/>
              <a:gdLst/>
              <a:ahLst/>
              <a:cxnLst/>
              <a:rect l="l" t="t" r="r" b="b"/>
              <a:pathLst>
                <a:path w="1460038" h="476325" extrusionOk="0">
                  <a:moveTo>
                    <a:pt x="0" y="0"/>
                  </a:moveTo>
                  <a:lnTo>
                    <a:pt x="1460038" y="0"/>
                  </a:lnTo>
                  <a:lnTo>
                    <a:pt x="1460038" y="476325"/>
                  </a:lnTo>
                  <a:lnTo>
                    <a:pt x="0" y="47632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 cmpd="sng">
              <a:solidFill>
                <a:srgbClr val="06D59F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112" name="Google Shape;112;p11"/>
            <p:cNvSpPr txBox="1"/>
            <p:nvPr/>
          </p:nvSpPr>
          <p:spPr>
            <a:xfrm>
              <a:off x="0" y="-47625"/>
              <a:ext cx="1523043" cy="5239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9" name="Google Shape;119;p11"/>
          <p:cNvSpPr txBox="1"/>
          <p:nvPr/>
        </p:nvSpPr>
        <p:spPr>
          <a:xfrm>
            <a:off x="934898" y="7430625"/>
            <a:ext cx="5812558" cy="15388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n-US" sz="2000" dirty="0" err="1">
                <a:solidFill>
                  <a:schemeClr val="tx2">
                    <a:lumMod val="75000"/>
                  </a:schemeClr>
                </a:solidFill>
              </a:rPr>
              <a:t>Présenté</a:t>
            </a:r>
            <a:r>
              <a:rPr lang="en-US" sz="2000" dirty="0">
                <a:solidFill>
                  <a:schemeClr val="tx2">
                    <a:lumMod val="75000"/>
                  </a:schemeClr>
                </a:solidFill>
              </a:rPr>
              <a:t> par </a:t>
            </a:r>
            <a:r>
              <a:rPr lang="en-US" sz="2000" b="1" i="1" dirty="0" smtClean="0">
                <a:solidFill>
                  <a:srgbClr val="7030A0"/>
                </a:solidFill>
                <a:latin typeface="Algerian" panose="04020705040A02060702" pitchFamily="82" charset="0"/>
              </a:rPr>
              <a:t>NATHAN GAIUS ONDOUA EKANGA</a:t>
            </a:r>
          </a:p>
          <a:p>
            <a:r>
              <a:rPr lang="en-US" sz="1600" b="1" dirty="0" smtClean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Engineering </a:t>
            </a:r>
            <a:r>
              <a:rPr lang="en-US" sz="16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Specialist in </a:t>
            </a:r>
            <a:r>
              <a:rPr lang="en-US" sz="1600" b="1" dirty="0" err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Infocommunication</a:t>
            </a:r>
            <a:r>
              <a:rPr lang="en-US" sz="16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Technologies and Special Communication Systems</a:t>
            </a:r>
          </a:p>
          <a:p>
            <a:r>
              <a:rPr lang="en-US" sz="16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Certified NSE4, Google Project Manager</a:t>
            </a:r>
          </a:p>
          <a:p>
            <a:r>
              <a:rPr lang="en-US" sz="16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focused on Linux System Administration and </a:t>
            </a:r>
            <a:r>
              <a:rPr lang="en-US" sz="1600" b="1" dirty="0" err="1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Cybersecurity</a:t>
            </a:r>
            <a:r>
              <a:rPr lang="en-US" sz="16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en-US" sz="16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16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Technical staff Manager HELIOS PROJECT</a:t>
            </a:r>
          </a:p>
        </p:txBody>
      </p:sp>
      <p:sp>
        <p:nvSpPr>
          <p:cNvPr id="120" name="Google Shape;120;p11"/>
          <p:cNvSpPr/>
          <p:nvPr/>
        </p:nvSpPr>
        <p:spPr>
          <a:xfrm>
            <a:off x="8814032" y="665925"/>
            <a:ext cx="1469549" cy="1472226"/>
          </a:xfrm>
          <a:custGeom>
            <a:avLst/>
            <a:gdLst/>
            <a:ahLst/>
            <a:cxnLst/>
            <a:rect l="l" t="t" r="r" b="b"/>
            <a:pathLst>
              <a:path w="1469549" h="1472226" extrusionOk="0">
                <a:moveTo>
                  <a:pt x="0" y="0"/>
                </a:moveTo>
                <a:lnTo>
                  <a:pt x="1469549" y="0"/>
                </a:lnTo>
                <a:lnTo>
                  <a:pt x="1469549" y="1472226"/>
                </a:lnTo>
                <a:lnTo>
                  <a:pt x="0" y="147222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pic>
        <p:nvPicPr>
          <p:cNvPr id="121" name="Google Shape;121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588923" y="6810424"/>
            <a:ext cx="4632655" cy="2404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2231400" y="1677550"/>
            <a:ext cx="4527650" cy="67672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20800" y="1554450"/>
            <a:ext cx="1131100" cy="52373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2396042" y="514112"/>
            <a:ext cx="5553746" cy="9094048"/>
          </a:xfrm>
          <a:prstGeom prst="rect">
            <a:avLst/>
          </a:prstGeom>
          <a:noFill/>
          <a:ln>
            <a:noFill/>
          </a:ln>
        </p:spPr>
      </p:pic>
      <p:pic>
        <p:nvPicPr>
          <p:cNvPr id="38" name="Image 37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0729" y="9481381"/>
            <a:ext cx="3266606" cy="762570"/>
          </a:xfrm>
          <a:prstGeom prst="rect">
            <a:avLst/>
          </a:prstGeom>
        </p:spPr>
      </p:pic>
      <p:pic>
        <p:nvPicPr>
          <p:cNvPr id="39" name="Picture 4">
            <a:extLst>
              <a:ext uri="{FF2B5EF4-FFF2-40B4-BE49-F238E27FC236}">
                <a16:creationId xmlns:a16="http://schemas.microsoft.com/office/drawing/2014/main" xmlns="" id="{270D83C3-D98F-456B-7963-90A37116DD8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25415" y="220034"/>
            <a:ext cx="1546869" cy="154441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4240161" y="2364581"/>
            <a:ext cx="15695400" cy="1470000"/>
          </a:xfrm>
        </p:spPr>
        <p:txBody>
          <a:bodyPr>
            <a:normAutofit fontScale="90000"/>
          </a:bodyPr>
          <a:lstStyle/>
          <a:p>
            <a:r>
              <a:rPr lang="fr-FR" dirty="0"/>
              <a:t>💡 Idée </a:t>
            </a:r>
            <a:r>
              <a:rPr lang="fr-FR" dirty="0" smtClean="0"/>
              <a:t>maîtresse</a:t>
            </a:r>
            <a:endParaRPr lang="fr-FR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651819" y="4901304"/>
            <a:ext cx="14394426" cy="3411786"/>
          </a:xfrm>
        </p:spPr>
        <p:txBody>
          <a:bodyPr>
            <a:noAutofit/>
          </a:bodyPr>
          <a:lstStyle/>
          <a:p>
            <a:r>
              <a:rPr lang="fr-FR" sz="3600" dirty="0"/>
              <a:t>« L’intelligence artificielle n’est pas l’ennemie de la </a:t>
            </a:r>
            <a:r>
              <a:rPr lang="fr-FR" sz="3600" dirty="0" err="1"/>
              <a:t>cybersécurité</a:t>
            </a:r>
            <a:r>
              <a:rPr lang="fr-FR" sz="3600" dirty="0"/>
              <a:t> : elle en est désormais la condition. »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270D83C3-D98F-456B-7963-90A37116DD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570" y="190537"/>
            <a:ext cx="1168169" cy="1166315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7739" y="594282"/>
            <a:ext cx="3266606" cy="762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38988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38"/>
        </a:solidFill>
        <a:effectLst/>
      </p:bgPr>
    </p:bg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09477" y="557057"/>
            <a:ext cx="7209274" cy="926819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1" name="Google Shape;131;p12"/>
          <p:cNvGrpSpPr/>
          <p:nvPr/>
        </p:nvGrpSpPr>
        <p:grpSpPr>
          <a:xfrm>
            <a:off x="1028700" y="1329089"/>
            <a:ext cx="9101392" cy="1989374"/>
            <a:chOff x="0" y="-47625"/>
            <a:chExt cx="2397075" cy="523950"/>
          </a:xfrm>
        </p:grpSpPr>
        <p:sp>
          <p:nvSpPr>
            <p:cNvPr id="132" name="Google Shape;132;p12"/>
            <p:cNvSpPr/>
            <p:nvPr/>
          </p:nvSpPr>
          <p:spPr>
            <a:xfrm>
              <a:off x="0" y="0"/>
              <a:ext cx="2397075" cy="476325"/>
            </a:xfrm>
            <a:custGeom>
              <a:avLst/>
              <a:gdLst/>
              <a:ahLst/>
              <a:cxnLst/>
              <a:rect l="l" t="t" r="r" b="b"/>
              <a:pathLst>
                <a:path w="2397075" h="476325" extrusionOk="0">
                  <a:moveTo>
                    <a:pt x="0" y="0"/>
                  </a:moveTo>
                  <a:lnTo>
                    <a:pt x="2397075" y="0"/>
                  </a:lnTo>
                  <a:lnTo>
                    <a:pt x="2397075" y="476325"/>
                  </a:lnTo>
                  <a:lnTo>
                    <a:pt x="0" y="47632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 cmpd="sng">
              <a:solidFill>
                <a:srgbClr val="5CE1E6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133" name="Google Shape;133;p12"/>
            <p:cNvSpPr txBox="1"/>
            <p:nvPr/>
          </p:nvSpPr>
          <p:spPr>
            <a:xfrm>
              <a:off x="0" y="-47625"/>
              <a:ext cx="2397075" cy="5239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0" name="Google Shape;140;p12"/>
          <p:cNvGrpSpPr/>
          <p:nvPr/>
        </p:nvGrpSpPr>
        <p:grpSpPr>
          <a:xfrm>
            <a:off x="1028700" y="3974703"/>
            <a:ext cx="1731395" cy="1912221"/>
            <a:chOff x="0" y="-47625"/>
            <a:chExt cx="456005" cy="503630"/>
          </a:xfrm>
        </p:grpSpPr>
        <p:sp>
          <p:nvSpPr>
            <p:cNvPr id="141" name="Google Shape;141;p12"/>
            <p:cNvSpPr/>
            <p:nvPr/>
          </p:nvSpPr>
          <p:spPr>
            <a:xfrm>
              <a:off x="0" y="0"/>
              <a:ext cx="456005" cy="456005"/>
            </a:xfrm>
            <a:custGeom>
              <a:avLst/>
              <a:gdLst/>
              <a:ahLst/>
              <a:cxnLst/>
              <a:rect l="l" t="t" r="r" b="b"/>
              <a:pathLst>
                <a:path w="456005" h="456005" extrusionOk="0">
                  <a:moveTo>
                    <a:pt x="0" y="0"/>
                  </a:moveTo>
                  <a:lnTo>
                    <a:pt x="456005" y="0"/>
                  </a:lnTo>
                  <a:lnTo>
                    <a:pt x="456005" y="456005"/>
                  </a:lnTo>
                  <a:lnTo>
                    <a:pt x="0" y="45600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 cmpd="sng">
              <a:solidFill>
                <a:srgbClr val="5CE1E6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142" name="Google Shape;142;p12"/>
            <p:cNvSpPr txBox="1"/>
            <p:nvPr/>
          </p:nvSpPr>
          <p:spPr>
            <a:xfrm>
              <a:off x="0" y="-47625"/>
              <a:ext cx="456005" cy="5036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3" name="Google Shape;143;p12"/>
          <p:cNvGrpSpPr/>
          <p:nvPr/>
        </p:nvGrpSpPr>
        <p:grpSpPr>
          <a:xfrm>
            <a:off x="11793908" y="4131722"/>
            <a:ext cx="1788056" cy="1912221"/>
            <a:chOff x="-14923" y="-47625"/>
            <a:chExt cx="470928" cy="503630"/>
          </a:xfrm>
        </p:grpSpPr>
        <p:sp>
          <p:nvSpPr>
            <p:cNvPr id="144" name="Google Shape;144;p12"/>
            <p:cNvSpPr/>
            <p:nvPr/>
          </p:nvSpPr>
          <p:spPr>
            <a:xfrm>
              <a:off x="-14923" y="-38822"/>
              <a:ext cx="456005" cy="456005"/>
            </a:xfrm>
            <a:custGeom>
              <a:avLst/>
              <a:gdLst/>
              <a:ahLst/>
              <a:cxnLst/>
              <a:rect l="l" t="t" r="r" b="b"/>
              <a:pathLst>
                <a:path w="456005" h="456005" extrusionOk="0">
                  <a:moveTo>
                    <a:pt x="0" y="0"/>
                  </a:moveTo>
                  <a:lnTo>
                    <a:pt x="456005" y="0"/>
                  </a:lnTo>
                  <a:lnTo>
                    <a:pt x="456005" y="456005"/>
                  </a:lnTo>
                  <a:lnTo>
                    <a:pt x="0" y="45600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 cmpd="sng">
              <a:solidFill>
                <a:srgbClr val="06D59F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145" name="Google Shape;145;p12"/>
            <p:cNvSpPr txBox="1"/>
            <p:nvPr/>
          </p:nvSpPr>
          <p:spPr>
            <a:xfrm>
              <a:off x="0" y="-47625"/>
              <a:ext cx="456005" cy="5036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6" name="Google Shape;146;p12"/>
          <p:cNvGrpSpPr/>
          <p:nvPr/>
        </p:nvGrpSpPr>
        <p:grpSpPr>
          <a:xfrm>
            <a:off x="4640278" y="4096974"/>
            <a:ext cx="1731395" cy="1912221"/>
            <a:chOff x="0" y="-47625"/>
            <a:chExt cx="456005" cy="503630"/>
          </a:xfrm>
        </p:grpSpPr>
        <p:sp>
          <p:nvSpPr>
            <p:cNvPr id="147" name="Google Shape;147;p12"/>
            <p:cNvSpPr/>
            <p:nvPr/>
          </p:nvSpPr>
          <p:spPr>
            <a:xfrm>
              <a:off x="0" y="0"/>
              <a:ext cx="456005" cy="456005"/>
            </a:xfrm>
            <a:custGeom>
              <a:avLst/>
              <a:gdLst/>
              <a:ahLst/>
              <a:cxnLst/>
              <a:rect l="l" t="t" r="r" b="b"/>
              <a:pathLst>
                <a:path w="456005" h="456005" extrusionOk="0">
                  <a:moveTo>
                    <a:pt x="0" y="0"/>
                  </a:moveTo>
                  <a:lnTo>
                    <a:pt x="456005" y="0"/>
                  </a:lnTo>
                  <a:lnTo>
                    <a:pt x="456005" y="456005"/>
                  </a:lnTo>
                  <a:lnTo>
                    <a:pt x="0" y="45600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 cmpd="sng">
              <a:solidFill>
                <a:srgbClr val="06D59F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148" name="Google Shape;148;p12"/>
            <p:cNvSpPr txBox="1"/>
            <p:nvPr/>
          </p:nvSpPr>
          <p:spPr>
            <a:xfrm>
              <a:off x="0" y="-47625"/>
              <a:ext cx="456005" cy="5036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9" name="Google Shape;149;p12"/>
          <p:cNvGrpSpPr/>
          <p:nvPr/>
        </p:nvGrpSpPr>
        <p:grpSpPr>
          <a:xfrm>
            <a:off x="7276267" y="4096973"/>
            <a:ext cx="1731395" cy="1912221"/>
            <a:chOff x="0" y="-47625"/>
            <a:chExt cx="456005" cy="503630"/>
          </a:xfrm>
        </p:grpSpPr>
        <p:sp>
          <p:nvSpPr>
            <p:cNvPr id="150" name="Google Shape;150;p12"/>
            <p:cNvSpPr/>
            <p:nvPr/>
          </p:nvSpPr>
          <p:spPr>
            <a:xfrm>
              <a:off x="0" y="0"/>
              <a:ext cx="456005" cy="456005"/>
            </a:xfrm>
            <a:custGeom>
              <a:avLst/>
              <a:gdLst/>
              <a:ahLst/>
              <a:cxnLst/>
              <a:rect l="l" t="t" r="r" b="b"/>
              <a:pathLst>
                <a:path w="456005" h="456005" extrusionOk="0">
                  <a:moveTo>
                    <a:pt x="0" y="0"/>
                  </a:moveTo>
                  <a:lnTo>
                    <a:pt x="456005" y="0"/>
                  </a:lnTo>
                  <a:lnTo>
                    <a:pt x="456005" y="456005"/>
                  </a:lnTo>
                  <a:lnTo>
                    <a:pt x="0" y="45600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 cmpd="sng">
              <a:solidFill>
                <a:srgbClr val="06D59F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151" name="Google Shape;151;p12"/>
            <p:cNvSpPr txBox="1"/>
            <p:nvPr/>
          </p:nvSpPr>
          <p:spPr>
            <a:xfrm>
              <a:off x="0" y="-47625"/>
              <a:ext cx="456005" cy="5036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2" name="Google Shape;152;p12"/>
          <p:cNvGrpSpPr/>
          <p:nvPr/>
        </p:nvGrpSpPr>
        <p:grpSpPr>
          <a:xfrm>
            <a:off x="4479924" y="3752043"/>
            <a:ext cx="1841224" cy="2134881"/>
            <a:chOff x="0" y="-106268"/>
            <a:chExt cx="484931" cy="562273"/>
          </a:xfrm>
        </p:grpSpPr>
        <p:sp>
          <p:nvSpPr>
            <p:cNvPr id="153" name="Google Shape;153;p12"/>
            <p:cNvSpPr/>
            <p:nvPr/>
          </p:nvSpPr>
          <p:spPr>
            <a:xfrm>
              <a:off x="0" y="0"/>
              <a:ext cx="456005" cy="456005"/>
            </a:xfrm>
            <a:custGeom>
              <a:avLst/>
              <a:gdLst/>
              <a:ahLst/>
              <a:cxnLst/>
              <a:rect l="l" t="t" r="r" b="b"/>
              <a:pathLst>
                <a:path w="456005" h="456005" extrusionOk="0">
                  <a:moveTo>
                    <a:pt x="0" y="0"/>
                  </a:moveTo>
                  <a:lnTo>
                    <a:pt x="456005" y="0"/>
                  </a:lnTo>
                  <a:lnTo>
                    <a:pt x="456005" y="456005"/>
                  </a:lnTo>
                  <a:lnTo>
                    <a:pt x="0" y="45600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 cmpd="sng">
              <a:solidFill>
                <a:srgbClr val="5CE1E6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154" name="Google Shape;154;p12"/>
            <p:cNvSpPr txBox="1"/>
            <p:nvPr/>
          </p:nvSpPr>
          <p:spPr>
            <a:xfrm>
              <a:off x="28926" y="-106268"/>
              <a:ext cx="456005" cy="5036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6" name="Google Shape;156;p12"/>
          <p:cNvSpPr txBox="1"/>
          <p:nvPr/>
        </p:nvSpPr>
        <p:spPr>
          <a:xfrm>
            <a:off x="1133888" y="5894555"/>
            <a:ext cx="3708267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i="0" u="none" strike="noStrike" cap="none" dirty="0">
                <a:solidFill>
                  <a:srgbClr val="FFFFFF"/>
                </a:solidFill>
                <a:latin typeface="Teko"/>
                <a:ea typeface="Teko"/>
                <a:cs typeface="Teko"/>
                <a:sym typeface="Teko"/>
              </a:rPr>
              <a:t>INTRODUCTION</a:t>
            </a:r>
            <a:endParaRPr sz="700" dirty="0"/>
          </a:p>
        </p:txBody>
      </p:sp>
      <p:sp>
        <p:nvSpPr>
          <p:cNvPr id="158" name="Google Shape;158;p12"/>
          <p:cNvSpPr txBox="1"/>
          <p:nvPr/>
        </p:nvSpPr>
        <p:spPr>
          <a:xfrm>
            <a:off x="7198939" y="5896091"/>
            <a:ext cx="5394053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19990"/>
              </a:lnSpc>
            </a:pPr>
            <a:r>
              <a:rPr lang="en-US" sz="3200" b="0" i="0" u="none" strike="noStrike" cap="none" dirty="0" smtClean="0">
                <a:solidFill>
                  <a:srgbClr val="FFFFFF"/>
                </a:solidFill>
                <a:latin typeface="Teko"/>
                <a:ea typeface="Teko"/>
                <a:cs typeface="Teko"/>
                <a:sym typeface="Teko"/>
              </a:rPr>
              <a:t>CYBERSECURITY AND AI</a:t>
            </a:r>
            <a:endParaRPr sz="700" dirty="0"/>
          </a:p>
        </p:txBody>
      </p:sp>
      <p:sp>
        <p:nvSpPr>
          <p:cNvPr id="159" name="Google Shape;159;p12"/>
          <p:cNvSpPr txBox="1"/>
          <p:nvPr/>
        </p:nvSpPr>
        <p:spPr>
          <a:xfrm>
            <a:off x="1189054" y="4256367"/>
            <a:ext cx="1410687" cy="1529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39" b="0" i="0" u="none" strike="noStrike" cap="none">
                <a:solidFill>
                  <a:srgbClr val="FFFFFF"/>
                </a:solidFill>
                <a:latin typeface="Teko"/>
                <a:ea typeface="Teko"/>
                <a:cs typeface="Teko"/>
                <a:sym typeface="Teko"/>
              </a:rPr>
              <a:t>01.</a:t>
            </a:r>
            <a:endParaRPr/>
          </a:p>
        </p:txBody>
      </p:sp>
      <p:grpSp>
        <p:nvGrpSpPr>
          <p:cNvPr id="160" name="Google Shape;160;p12"/>
          <p:cNvGrpSpPr/>
          <p:nvPr/>
        </p:nvGrpSpPr>
        <p:grpSpPr>
          <a:xfrm>
            <a:off x="7151058" y="3974703"/>
            <a:ext cx="1731395" cy="1912221"/>
            <a:chOff x="0" y="-47625"/>
            <a:chExt cx="456005" cy="503630"/>
          </a:xfrm>
        </p:grpSpPr>
        <p:sp>
          <p:nvSpPr>
            <p:cNvPr id="161" name="Google Shape;161;p12"/>
            <p:cNvSpPr/>
            <p:nvPr/>
          </p:nvSpPr>
          <p:spPr>
            <a:xfrm>
              <a:off x="0" y="0"/>
              <a:ext cx="456005" cy="456005"/>
            </a:xfrm>
            <a:custGeom>
              <a:avLst/>
              <a:gdLst/>
              <a:ahLst/>
              <a:cxnLst/>
              <a:rect l="l" t="t" r="r" b="b"/>
              <a:pathLst>
                <a:path w="456005" h="456005" extrusionOk="0">
                  <a:moveTo>
                    <a:pt x="0" y="0"/>
                  </a:moveTo>
                  <a:lnTo>
                    <a:pt x="456005" y="0"/>
                  </a:lnTo>
                  <a:lnTo>
                    <a:pt x="456005" y="456005"/>
                  </a:lnTo>
                  <a:lnTo>
                    <a:pt x="0" y="45600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 cmpd="sng">
              <a:solidFill>
                <a:srgbClr val="5CE1E6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162" name="Google Shape;162;p12"/>
            <p:cNvSpPr txBox="1"/>
            <p:nvPr/>
          </p:nvSpPr>
          <p:spPr>
            <a:xfrm>
              <a:off x="0" y="-47625"/>
              <a:ext cx="456005" cy="5036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3" name="Google Shape;163;p12"/>
          <p:cNvSpPr txBox="1"/>
          <p:nvPr/>
        </p:nvSpPr>
        <p:spPr>
          <a:xfrm>
            <a:off x="1252572" y="1610641"/>
            <a:ext cx="9157897" cy="1825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2" b="0" i="0" u="none" strike="noStrike" cap="none">
                <a:solidFill>
                  <a:srgbClr val="FFFFFF"/>
                </a:solidFill>
                <a:latin typeface="Teko"/>
                <a:ea typeface="Teko"/>
                <a:cs typeface="Teko"/>
                <a:sym typeface="Teko"/>
              </a:rPr>
              <a:t>TABLE OF CONTENTS</a:t>
            </a:r>
            <a:endParaRPr/>
          </a:p>
        </p:txBody>
      </p:sp>
      <p:sp>
        <p:nvSpPr>
          <p:cNvPr id="164" name="Google Shape;164;p12"/>
          <p:cNvSpPr txBox="1"/>
          <p:nvPr/>
        </p:nvSpPr>
        <p:spPr>
          <a:xfrm>
            <a:off x="7407558" y="4245875"/>
            <a:ext cx="1410687" cy="1529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39" b="0" i="0" u="none" strike="noStrike" cap="none" dirty="0">
                <a:solidFill>
                  <a:srgbClr val="FFFFFF"/>
                </a:solidFill>
                <a:latin typeface="Teko"/>
                <a:ea typeface="Teko"/>
                <a:cs typeface="Teko"/>
                <a:sym typeface="Teko"/>
              </a:rPr>
              <a:t>03.</a:t>
            </a:r>
            <a:endParaRPr dirty="0"/>
          </a:p>
        </p:txBody>
      </p:sp>
      <p:sp>
        <p:nvSpPr>
          <p:cNvPr id="165" name="Google Shape;165;p12"/>
          <p:cNvSpPr txBox="1"/>
          <p:nvPr/>
        </p:nvSpPr>
        <p:spPr>
          <a:xfrm>
            <a:off x="3515658" y="5896541"/>
            <a:ext cx="4119009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19990"/>
              </a:lnSpc>
            </a:pPr>
            <a:r>
              <a:rPr lang="en-US" sz="3200" dirty="0" smtClean="0">
                <a:solidFill>
                  <a:srgbClr val="FFFFFF"/>
                </a:solidFill>
                <a:latin typeface="Teko"/>
                <a:ea typeface="Teko"/>
                <a:cs typeface="Teko"/>
                <a:sym typeface="Teko"/>
              </a:rPr>
              <a:t>WHY </a:t>
            </a:r>
            <a:r>
              <a:rPr lang="en-US" sz="3200" dirty="0">
                <a:solidFill>
                  <a:srgbClr val="FFFFFF"/>
                </a:solidFill>
                <a:latin typeface="Teko"/>
                <a:ea typeface="Teko"/>
                <a:cs typeface="Teko"/>
                <a:sym typeface="Teko"/>
              </a:rPr>
              <a:t>AI CHANGE EVERYTHING?</a:t>
            </a:r>
            <a:endParaRPr sz="700" dirty="0"/>
          </a:p>
        </p:txBody>
      </p:sp>
      <p:sp>
        <p:nvSpPr>
          <p:cNvPr id="167" name="Google Shape;167;p12"/>
          <p:cNvSpPr txBox="1"/>
          <p:nvPr/>
        </p:nvSpPr>
        <p:spPr>
          <a:xfrm>
            <a:off x="4750106" y="4245875"/>
            <a:ext cx="1410687" cy="1529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39" b="0" i="0" u="none" strike="noStrike" cap="none" dirty="0">
                <a:solidFill>
                  <a:srgbClr val="FFFFFF"/>
                </a:solidFill>
                <a:latin typeface="Teko"/>
                <a:ea typeface="Teko"/>
                <a:cs typeface="Teko"/>
                <a:sym typeface="Teko"/>
              </a:rPr>
              <a:t>02.</a:t>
            </a:r>
            <a:endParaRPr dirty="0"/>
          </a:p>
        </p:txBody>
      </p:sp>
      <p:sp>
        <p:nvSpPr>
          <p:cNvPr id="168" name="Google Shape;168;p12"/>
          <p:cNvSpPr/>
          <p:nvPr/>
        </p:nvSpPr>
        <p:spPr>
          <a:xfrm>
            <a:off x="16053182" y="5676750"/>
            <a:ext cx="1469549" cy="1472226"/>
          </a:xfrm>
          <a:custGeom>
            <a:avLst/>
            <a:gdLst/>
            <a:ahLst/>
            <a:cxnLst/>
            <a:rect l="l" t="t" r="r" b="b"/>
            <a:pathLst>
              <a:path w="1469549" h="1472226" extrusionOk="0">
                <a:moveTo>
                  <a:pt x="0" y="0"/>
                </a:moveTo>
                <a:lnTo>
                  <a:pt x="1469550" y="0"/>
                </a:lnTo>
                <a:lnTo>
                  <a:pt x="1469550" y="1472226"/>
                </a:lnTo>
                <a:lnTo>
                  <a:pt x="0" y="147222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pic>
        <p:nvPicPr>
          <p:cNvPr id="169" name="Google Shape;169;p1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953775" y="717988"/>
            <a:ext cx="5255725" cy="2718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7600" y="3785785"/>
            <a:ext cx="1131100" cy="5712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4702425" y="3785802"/>
            <a:ext cx="1131100" cy="571215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4" name="Google Shape;143;p12"/>
          <p:cNvGrpSpPr/>
          <p:nvPr/>
        </p:nvGrpSpPr>
        <p:grpSpPr>
          <a:xfrm>
            <a:off x="1140829" y="4074732"/>
            <a:ext cx="1731395" cy="1912221"/>
            <a:chOff x="0" y="-47625"/>
            <a:chExt cx="456005" cy="503630"/>
          </a:xfrm>
        </p:grpSpPr>
        <p:sp>
          <p:nvSpPr>
            <p:cNvPr id="45" name="Google Shape;144;p12"/>
            <p:cNvSpPr/>
            <p:nvPr/>
          </p:nvSpPr>
          <p:spPr>
            <a:xfrm>
              <a:off x="0" y="0"/>
              <a:ext cx="456005" cy="456005"/>
            </a:xfrm>
            <a:custGeom>
              <a:avLst/>
              <a:gdLst/>
              <a:ahLst/>
              <a:cxnLst/>
              <a:rect l="l" t="t" r="r" b="b"/>
              <a:pathLst>
                <a:path w="456005" h="456005" extrusionOk="0">
                  <a:moveTo>
                    <a:pt x="0" y="0"/>
                  </a:moveTo>
                  <a:lnTo>
                    <a:pt x="456005" y="0"/>
                  </a:lnTo>
                  <a:lnTo>
                    <a:pt x="456005" y="456005"/>
                  </a:lnTo>
                  <a:lnTo>
                    <a:pt x="0" y="45600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 cmpd="sng">
              <a:solidFill>
                <a:srgbClr val="06D59F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46" name="Google Shape;145;p12"/>
            <p:cNvSpPr txBox="1"/>
            <p:nvPr/>
          </p:nvSpPr>
          <p:spPr>
            <a:xfrm>
              <a:off x="0" y="-47625"/>
              <a:ext cx="456005" cy="5036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7" name="Google Shape;160;p12"/>
          <p:cNvGrpSpPr/>
          <p:nvPr/>
        </p:nvGrpSpPr>
        <p:grpSpPr>
          <a:xfrm>
            <a:off x="11074555" y="3160295"/>
            <a:ext cx="2332018" cy="2615300"/>
            <a:chOff x="-160534" y="-244610"/>
            <a:chExt cx="614194" cy="688803"/>
          </a:xfrm>
        </p:grpSpPr>
        <p:sp>
          <p:nvSpPr>
            <p:cNvPr id="48" name="Google Shape;161;p12"/>
            <p:cNvSpPr/>
            <p:nvPr/>
          </p:nvSpPr>
          <p:spPr>
            <a:xfrm>
              <a:off x="-2345" y="-11812"/>
              <a:ext cx="456005" cy="456005"/>
            </a:xfrm>
            <a:custGeom>
              <a:avLst/>
              <a:gdLst/>
              <a:ahLst/>
              <a:cxnLst/>
              <a:rect l="l" t="t" r="r" b="b"/>
              <a:pathLst>
                <a:path w="456005" h="456005" extrusionOk="0">
                  <a:moveTo>
                    <a:pt x="0" y="0"/>
                  </a:moveTo>
                  <a:lnTo>
                    <a:pt x="456005" y="0"/>
                  </a:lnTo>
                  <a:lnTo>
                    <a:pt x="456005" y="456005"/>
                  </a:lnTo>
                  <a:lnTo>
                    <a:pt x="0" y="45600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 cmpd="sng">
              <a:solidFill>
                <a:srgbClr val="5CE1E6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49" name="Google Shape;162;p12"/>
            <p:cNvSpPr txBox="1"/>
            <p:nvPr/>
          </p:nvSpPr>
          <p:spPr>
            <a:xfrm>
              <a:off x="-160534" y="-244610"/>
              <a:ext cx="456005" cy="5036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0" name="Google Shape;164;p12"/>
          <p:cNvSpPr txBox="1"/>
          <p:nvPr/>
        </p:nvSpPr>
        <p:spPr>
          <a:xfrm>
            <a:off x="11924846" y="4147031"/>
            <a:ext cx="1410687" cy="1853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39" b="0" i="0" u="none" strike="noStrike" cap="none" dirty="0" smtClean="0">
                <a:solidFill>
                  <a:srgbClr val="FFFFFF"/>
                </a:solidFill>
                <a:latin typeface="Teko"/>
                <a:ea typeface="Teko"/>
                <a:cs typeface="Teko"/>
                <a:sym typeface="Teko"/>
              </a:rPr>
              <a:t>04.</a:t>
            </a:r>
            <a:endParaRPr dirty="0"/>
          </a:p>
        </p:txBody>
      </p:sp>
      <p:grpSp>
        <p:nvGrpSpPr>
          <p:cNvPr id="51" name="Google Shape;143;p12"/>
          <p:cNvGrpSpPr/>
          <p:nvPr/>
        </p:nvGrpSpPr>
        <p:grpSpPr>
          <a:xfrm>
            <a:off x="1145747" y="6647708"/>
            <a:ext cx="1731395" cy="1912221"/>
            <a:chOff x="0" y="-47625"/>
            <a:chExt cx="456005" cy="503630"/>
          </a:xfrm>
        </p:grpSpPr>
        <p:sp>
          <p:nvSpPr>
            <p:cNvPr id="52" name="Google Shape;144;p12"/>
            <p:cNvSpPr/>
            <p:nvPr/>
          </p:nvSpPr>
          <p:spPr>
            <a:xfrm>
              <a:off x="0" y="0"/>
              <a:ext cx="456005" cy="456005"/>
            </a:xfrm>
            <a:custGeom>
              <a:avLst/>
              <a:gdLst/>
              <a:ahLst/>
              <a:cxnLst/>
              <a:rect l="l" t="t" r="r" b="b"/>
              <a:pathLst>
                <a:path w="456005" h="456005" extrusionOk="0">
                  <a:moveTo>
                    <a:pt x="0" y="0"/>
                  </a:moveTo>
                  <a:lnTo>
                    <a:pt x="456005" y="0"/>
                  </a:lnTo>
                  <a:lnTo>
                    <a:pt x="456005" y="456005"/>
                  </a:lnTo>
                  <a:lnTo>
                    <a:pt x="0" y="45600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 cmpd="sng">
              <a:solidFill>
                <a:srgbClr val="06D59F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53" name="Google Shape;145;p12"/>
            <p:cNvSpPr txBox="1"/>
            <p:nvPr/>
          </p:nvSpPr>
          <p:spPr>
            <a:xfrm>
              <a:off x="0" y="-47625"/>
              <a:ext cx="456005" cy="5036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4" name="Google Shape;143;p12"/>
          <p:cNvGrpSpPr/>
          <p:nvPr/>
        </p:nvGrpSpPr>
        <p:grpSpPr>
          <a:xfrm>
            <a:off x="4620300" y="6647709"/>
            <a:ext cx="1731395" cy="1912221"/>
            <a:chOff x="0" y="-47625"/>
            <a:chExt cx="456005" cy="503630"/>
          </a:xfrm>
        </p:grpSpPr>
        <p:sp>
          <p:nvSpPr>
            <p:cNvPr id="55" name="Google Shape;144;p12"/>
            <p:cNvSpPr/>
            <p:nvPr/>
          </p:nvSpPr>
          <p:spPr>
            <a:xfrm>
              <a:off x="0" y="0"/>
              <a:ext cx="456005" cy="456005"/>
            </a:xfrm>
            <a:custGeom>
              <a:avLst/>
              <a:gdLst/>
              <a:ahLst/>
              <a:cxnLst/>
              <a:rect l="l" t="t" r="r" b="b"/>
              <a:pathLst>
                <a:path w="456005" h="456005" extrusionOk="0">
                  <a:moveTo>
                    <a:pt x="0" y="0"/>
                  </a:moveTo>
                  <a:lnTo>
                    <a:pt x="456005" y="0"/>
                  </a:lnTo>
                  <a:lnTo>
                    <a:pt x="456005" y="456005"/>
                  </a:lnTo>
                  <a:lnTo>
                    <a:pt x="0" y="45600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 cmpd="sng">
              <a:solidFill>
                <a:srgbClr val="06D59F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56" name="Google Shape;145;p12"/>
            <p:cNvSpPr txBox="1"/>
            <p:nvPr/>
          </p:nvSpPr>
          <p:spPr>
            <a:xfrm>
              <a:off x="0" y="-47625"/>
              <a:ext cx="456005" cy="5036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7" name="Google Shape;143;p12"/>
          <p:cNvGrpSpPr/>
          <p:nvPr/>
        </p:nvGrpSpPr>
        <p:grpSpPr>
          <a:xfrm>
            <a:off x="7361462" y="6626596"/>
            <a:ext cx="1731395" cy="1912221"/>
            <a:chOff x="0" y="-47625"/>
            <a:chExt cx="456005" cy="503630"/>
          </a:xfrm>
        </p:grpSpPr>
        <p:sp>
          <p:nvSpPr>
            <p:cNvPr id="58" name="Google Shape;144;p12"/>
            <p:cNvSpPr/>
            <p:nvPr/>
          </p:nvSpPr>
          <p:spPr>
            <a:xfrm>
              <a:off x="0" y="0"/>
              <a:ext cx="456005" cy="456005"/>
            </a:xfrm>
            <a:custGeom>
              <a:avLst/>
              <a:gdLst/>
              <a:ahLst/>
              <a:cxnLst/>
              <a:rect l="l" t="t" r="r" b="b"/>
              <a:pathLst>
                <a:path w="456005" h="456005" extrusionOk="0">
                  <a:moveTo>
                    <a:pt x="0" y="0"/>
                  </a:moveTo>
                  <a:lnTo>
                    <a:pt x="456005" y="0"/>
                  </a:lnTo>
                  <a:lnTo>
                    <a:pt x="456005" y="456005"/>
                  </a:lnTo>
                  <a:lnTo>
                    <a:pt x="0" y="45600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 cmpd="sng">
              <a:solidFill>
                <a:srgbClr val="06D59F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59" name="Google Shape;145;p12"/>
            <p:cNvSpPr txBox="1"/>
            <p:nvPr/>
          </p:nvSpPr>
          <p:spPr>
            <a:xfrm>
              <a:off x="0" y="-47625"/>
              <a:ext cx="456005" cy="5036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0" name="Google Shape;143;p12"/>
          <p:cNvGrpSpPr/>
          <p:nvPr/>
        </p:nvGrpSpPr>
        <p:grpSpPr>
          <a:xfrm>
            <a:off x="11783237" y="6647438"/>
            <a:ext cx="1731395" cy="1912221"/>
            <a:chOff x="0" y="-47625"/>
            <a:chExt cx="456005" cy="503630"/>
          </a:xfrm>
        </p:grpSpPr>
        <p:sp>
          <p:nvSpPr>
            <p:cNvPr id="61" name="Google Shape;144;p12"/>
            <p:cNvSpPr/>
            <p:nvPr/>
          </p:nvSpPr>
          <p:spPr>
            <a:xfrm>
              <a:off x="0" y="0"/>
              <a:ext cx="456005" cy="456005"/>
            </a:xfrm>
            <a:custGeom>
              <a:avLst/>
              <a:gdLst/>
              <a:ahLst/>
              <a:cxnLst/>
              <a:rect l="l" t="t" r="r" b="b"/>
              <a:pathLst>
                <a:path w="456005" h="456005" extrusionOk="0">
                  <a:moveTo>
                    <a:pt x="0" y="0"/>
                  </a:moveTo>
                  <a:lnTo>
                    <a:pt x="456005" y="0"/>
                  </a:lnTo>
                  <a:lnTo>
                    <a:pt x="456005" y="456005"/>
                  </a:lnTo>
                  <a:lnTo>
                    <a:pt x="0" y="45600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 cmpd="sng">
              <a:solidFill>
                <a:srgbClr val="06D59F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62" name="Google Shape;145;p12"/>
            <p:cNvSpPr txBox="1"/>
            <p:nvPr/>
          </p:nvSpPr>
          <p:spPr>
            <a:xfrm>
              <a:off x="0" y="-47625"/>
              <a:ext cx="456005" cy="5036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4" name="Google Shape;160;p12"/>
          <p:cNvGrpSpPr/>
          <p:nvPr/>
        </p:nvGrpSpPr>
        <p:grpSpPr>
          <a:xfrm>
            <a:off x="1028699" y="6544637"/>
            <a:ext cx="1731395" cy="1912221"/>
            <a:chOff x="0" y="-47625"/>
            <a:chExt cx="456005" cy="503630"/>
          </a:xfrm>
        </p:grpSpPr>
        <p:sp>
          <p:nvSpPr>
            <p:cNvPr id="65" name="Google Shape;161;p12"/>
            <p:cNvSpPr/>
            <p:nvPr/>
          </p:nvSpPr>
          <p:spPr>
            <a:xfrm>
              <a:off x="0" y="0"/>
              <a:ext cx="456005" cy="456005"/>
            </a:xfrm>
            <a:custGeom>
              <a:avLst/>
              <a:gdLst/>
              <a:ahLst/>
              <a:cxnLst/>
              <a:rect l="l" t="t" r="r" b="b"/>
              <a:pathLst>
                <a:path w="456005" h="456005" extrusionOk="0">
                  <a:moveTo>
                    <a:pt x="0" y="0"/>
                  </a:moveTo>
                  <a:lnTo>
                    <a:pt x="456005" y="0"/>
                  </a:lnTo>
                  <a:lnTo>
                    <a:pt x="456005" y="456005"/>
                  </a:lnTo>
                  <a:lnTo>
                    <a:pt x="0" y="45600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 cmpd="sng">
              <a:solidFill>
                <a:srgbClr val="5CE1E6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66" name="Google Shape;162;p12"/>
            <p:cNvSpPr txBox="1"/>
            <p:nvPr/>
          </p:nvSpPr>
          <p:spPr>
            <a:xfrm>
              <a:off x="0" y="-47625"/>
              <a:ext cx="456005" cy="5036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7" name="Google Shape;160;p12"/>
          <p:cNvGrpSpPr/>
          <p:nvPr/>
        </p:nvGrpSpPr>
        <p:grpSpPr>
          <a:xfrm>
            <a:off x="4484150" y="6556097"/>
            <a:ext cx="1731395" cy="1912221"/>
            <a:chOff x="0" y="-47625"/>
            <a:chExt cx="456005" cy="503630"/>
          </a:xfrm>
        </p:grpSpPr>
        <p:sp>
          <p:nvSpPr>
            <p:cNvPr id="68" name="Google Shape;161;p12"/>
            <p:cNvSpPr/>
            <p:nvPr/>
          </p:nvSpPr>
          <p:spPr>
            <a:xfrm>
              <a:off x="0" y="0"/>
              <a:ext cx="456005" cy="456005"/>
            </a:xfrm>
            <a:custGeom>
              <a:avLst/>
              <a:gdLst/>
              <a:ahLst/>
              <a:cxnLst/>
              <a:rect l="l" t="t" r="r" b="b"/>
              <a:pathLst>
                <a:path w="456005" h="456005" extrusionOk="0">
                  <a:moveTo>
                    <a:pt x="0" y="0"/>
                  </a:moveTo>
                  <a:lnTo>
                    <a:pt x="456005" y="0"/>
                  </a:lnTo>
                  <a:lnTo>
                    <a:pt x="456005" y="456005"/>
                  </a:lnTo>
                  <a:lnTo>
                    <a:pt x="0" y="45600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 cmpd="sng">
              <a:solidFill>
                <a:srgbClr val="5CE1E6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69" name="Google Shape;162;p12"/>
            <p:cNvSpPr txBox="1"/>
            <p:nvPr/>
          </p:nvSpPr>
          <p:spPr>
            <a:xfrm>
              <a:off x="0" y="-47625"/>
              <a:ext cx="456005" cy="5036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0" name="Google Shape;160;p12"/>
          <p:cNvGrpSpPr/>
          <p:nvPr/>
        </p:nvGrpSpPr>
        <p:grpSpPr>
          <a:xfrm>
            <a:off x="7246323" y="6556097"/>
            <a:ext cx="1731395" cy="1912221"/>
            <a:chOff x="0" y="-47625"/>
            <a:chExt cx="456005" cy="503630"/>
          </a:xfrm>
        </p:grpSpPr>
        <p:sp>
          <p:nvSpPr>
            <p:cNvPr id="71" name="Google Shape;161;p12"/>
            <p:cNvSpPr/>
            <p:nvPr/>
          </p:nvSpPr>
          <p:spPr>
            <a:xfrm>
              <a:off x="0" y="0"/>
              <a:ext cx="456005" cy="456005"/>
            </a:xfrm>
            <a:custGeom>
              <a:avLst/>
              <a:gdLst/>
              <a:ahLst/>
              <a:cxnLst/>
              <a:rect l="l" t="t" r="r" b="b"/>
              <a:pathLst>
                <a:path w="456005" h="456005" extrusionOk="0">
                  <a:moveTo>
                    <a:pt x="0" y="0"/>
                  </a:moveTo>
                  <a:lnTo>
                    <a:pt x="456005" y="0"/>
                  </a:lnTo>
                  <a:lnTo>
                    <a:pt x="456005" y="456005"/>
                  </a:lnTo>
                  <a:lnTo>
                    <a:pt x="0" y="45600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 cmpd="sng">
              <a:solidFill>
                <a:srgbClr val="5CE1E6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72" name="Google Shape;162;p12"/>
            <p:cNvSpPr txBox="1"/>
            <p:nvPr/>
          </p:nvSpPr>
          <p:spPr>
            <a:xfrm>
              <a:off x="0" y="-47625"/>
              <a:ext cx="456005" cy="5036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3" name="Google Shape;160;p12"/>
          <p:cNvGrpSpPr/>
          <p:nvPr/>
        </p:nvGrpSpPr>
        <p:grpSpPr>
          <a:xfrm>
            <a:off x="11682675" y="6560160"/>
            <a:ext cx="1731395" cy="1912221"/>
            <a:chOff x="0" y="-47625"/>
            <a:chExt cx="456005" cy="503630"/>
          </a:xfrm>
        </p:grpSpPr>
        <p:sp>
          <p:nvSpPr>
            <p:cNvPr id="74" name="Google Shape;161;p12"/>
            <p:cNvSpPr/>
            <p:nvPr/>
          </p:nvSpPr>
          <p:spPr>
            <a:xfrm>
              <a:off x="0" y="0"/>
              <a:ext cx="456005" cy="456005"/>
            </a:xfrm>
            <a:custGeom>
              <a:avLst/>
              <a:gdLst/>
              <a:ahLst/>
              <a:cxnLst/>
              <a:rect l="l" t="t" r="r" b="b"/>
              <a:pathLst>
                <a:path w="456005" h="456005" extrusionOk="0">
                  <a:moveTo>
                    <a:pt x="0" y="0"/>
                  </a:moveTo>
                  <a:lnTo>
                    <a:pt x="456005" y="0"/>
                  </a:lnTo>
                  <a:lnTo>
                    <a:pt x="456005" y="456005"/>
                  </a:lnTo>
                  <a:lnTo>
                    <a:pt x="0" y="45600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 cmpd="sng">
              <a:solidFill>
                <a:srgbClr val="5CE1E6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75" name="Google Shape;162;p12"/>
            <p:cNvSpPr txBox="1"/>
            <p:nvPr/>
          </p:nvSpPr>
          <p:spPr>
            <a:xfrm>
              <a:off x="0" y="-47625"/>
              <a:ext cx="456005" cy="5036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6" name="Google Shape;167;p12"/>
          <p:cNvSpPr txBox="1"/>
          <p:nvPr/>
        </p:nvSpPr>
        <p:spPr>
          <a:xfrm>
            <a:off x="1200606" y="6816608"/>
            <a:ext cx="1410687" cy="1853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39" b="0" i="0" u="none" strike="noStrike" cap="none" dirty="0" smtClean="0">
                <a:solidFill>
                  <a:srgbClr val="FFFFFF"/>
                </a:solidFill>
                <a:latin typeface="Teko"/>
                <a:ea typeface="Teko"/>
                <a:cs typeface="Teko"/>
                <a:sym typeface="Teko"/>
              </a:rPr>
              <a:t>05.</a:t>
            </a:r>
            <a:endParaRPr dirty="0"/>
          </a:p>
        </p:txBody>
      </p:sp>
      <p:sp>
        <p:nvSpPr>
          <p:cNvPr id="77" name="Google Shape;167;p12"/>
          <p:cNvSpPr txBox="1"/>
          <p:nvPr/>
        </p:nvSpPr>
        <p:spPr>
          <a:xfrm>
            <a:off x="4769556" y="6816607"/>
            <a:ext cx="1410687" cy="1853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39" b="0" i="0" u="none" strike="noStrike" cap="none" dirty="0" smtClean="0">
                <a:solidFill>
                  <a:srgbClr val="FFFFFF"/>
                </a:solidFill>
                <a:latin typeface="Teko"/>
                <a:ea typeface="Teko"/>
                <a:cs typeface="Teko"/>
                <a:sym typeface="Teko"/>
              </a:rPr>
              <a:t>06.</a:t>
            </a:r>
            <a:endParaRPr dirty="0"/>
          </a:p>
        </p:txBody>
      </p:sp>
      <p:sp>
        <p:nvSpPr>
          <p:cNvPr id="78" name="Google Shape;167;p12"/>
          <p:cNvSpPr txBox="1"/>
          <p:nvPr/>
        </p:nvSpPr>
        <p:spPr>
          <a:xfrm>
            <a:off x="7501923" y="6816607"/>
            <a:ext cx="1410687" cy="1853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39" b="0" i="0" u="none" strike="noStrike" cap="none" dirty="0" smtClean="0">
                <a:solidFill>
                  <a:srgbClr val="FFFFFF"/>
                </a:solidFill>
                <a:latin typeface="Teko"/>
                <a:ea typeface="Teko"/>
                <a:cs typeface="Teko"/>
                <a:sym typeface="Teko"/>
              </a:rPr>
              <a:t>07.</a:t>
            </a:r>
            <a:endParaRPr dirty="0"/>
          </a:p>
        </p:txBody>
      </p:sp>
      <p:sp>
        <p:nvSpPr>
          <p:cNvPr id="79" name="Google Shape;167;p12"/>
          <p:cNvSpPr txBox="1"/>
          <p:nvPr/>
        </p:nvSpPr>
        <p:spPr>
          <a:xfrm>
            <a:off x="11891936" y="6817210"/>
            <a:ext cx="1410687" cy="1853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39" b="0" i="0" u="none" strike="noStrike" cap="none" dirty="0" smtClean="0">
                <a:solidFill>
                  <a:srgbClr val="FFFFFF"/>
                </a:solidFill>
                <a:latin typeface="Teko"/>
                <a:ea typeface="Teko"/>
                <a:cs typeface="Teko"/>
                <a:sym typeface="Teko"/>
              </a:rPr>
              <a:t>08.</a:t>
            </a:r>
            <a:endParaRPr dirty="0"/>
          </a:p>
        </p:txBody>
      </p:sp>
      <p:sp>
        <p:nvSpPr>
          <p:cNvPr id="80" name="Google Shape;156;p12"/>
          <p:cNvSpPr txBox="1"/>
          <p:nvPr/>
        </p:nvSpPr>
        <p:spPr>
          <a:xfrm>
            <a:off x="11484157" y="5861101"/>
            <a:ext cx="4223667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 smtClean="0">
                <a:solidFill>
                  <a:srgbClr val="FFFFFF"/>
                </a:solidFill>
                <a:latin typeface="Teko"/>
                <a:cs typeface="Teko"/>
                <a:sym typeface="Teko"/>
              </a:rPr>
              <a:t>CYBERATTACKS AND AI</a:t>
            </a:r>
            <a:endParaRPr sz="700" dirty="0"/>
          </a:p>
        </p:txBody>
      </p:sp>
      <p:sp>
        <p:nvSpPr>
          <p:cNvPr id="81" name="Google Shape;156;p12"/>
          <p:cNvSpPr txBox="1"/>
          <p:nvPr/>
        </p:nvSpPr>
        <p:spPr>
          <a:xfrm>
            <a:off x="949982" y="8519475"/>
            <a:ext cx="3708267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i="0" u="none" strike="noStrike" cap="none" dirty="0" smtClean="0">
                <a:solidFill>
                  <a:srgbClr val="FFFFFF"/>
                </a:solidFill>
                <a:latin typeface="Teko"/>
                <a:ea typeface="Teko"/>
                <a:cs typeface="Teko"/>
                <a:sym typeface="Teko"/>
              </a:rPr>
              <a:t>CYBERWAR AND AI</a:t>
            </a:r>
            <a:endParaRPr sz="700" dirty="0"/>
          </a:p>
        </p:txBody>
      </p:sp>
      <p:sp>
        <p:nvSpPr>
          <p:cNvPr id="82" name="Google Shape;156;p12"/>
          <p:cNvSpPr txBox="1"/>
          <p:nvPr/>
        </p:nvSpPr>
        <p:spPr>
          <a:xfrm>
            <a:off x="4433062" y="8535906"/>
            <a:ext cx="3708267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i="0" u="none" strike="noStrike" cap="none" dirty="0" smtClean="0">
                <a:solidFill>
                  <a:srgbClr val="FFFFFF"/>
                </a:solidFill>
                <a:latin typeface="Teko"/>
                <a:ea typeface="Teko"/>
                <a:cs typeface="Teko"/>
                <a:sym typeface="Teko"/>
              </a:rPr>
              <a:t>ETHICS AND BIAS</a:t>
            </a:r>
            <a:endParaRPr sz="700" dirty="0"/>
          </a:p>
        </p:txBody>
      </p:sp>
      <p:sp>
        <p:nvSpPr>
          <p:cNvPr id="83" name="Google Shape;156;p12"/>
          <p:cNvSpPr txBox="1"/>
          <p:nvPr/>
        </p:nvSpPr>
        <p:spPr>
          <a:xfrm>
            <a:off x="7290669" y="8519475"/>
            <a:ext cx="3708267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19990"/>
              </a:lnSpc>
            </a:pPr>
            <a:r>
              <a:rPr lang="en-US" sz="3200" dirty="0">
                <a:solidFill>
                  <a:srgbClr val="FFFFFF"/>
                </a:solidFill>
                <a:latin typeface="Teko"/>
                <a:ea typeface="Teko"/>
                <a:cs typeface="Teko"/>
                <a:sym typeface="Teko"/>
              </a:rPr>
              <a:t>CURRENT LIMITATIONS</a:t>
            </a:r>
          </a:p>
        </p:txBody>
      </p:sp>
      <p:sp>
        <p:nvSpPr>
          <p:cNvPr id="84" name="Google Shape;156;p12"/>
          <p:cNvSpPr txBox="1"/>
          <p:nvPr/>
        </p:nvSpPr>
        <p:spPr>
          <a:xfrm>
            <a:off x="11727830" y="8519475"/>
            <a:ext cx="3708267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i="0" u="none" strike="noStrike" cap="none" dirty="0" smtClean="0">
                <a:solidFill>
                  <a:srgbClr val="FFFFFF"/>
                </a:solidFill>
                <a:latin typeface="Teko"/>
                <a:ea typeface="Teko"/>
                <a:cs typeface="Teko"/>
                <a:sym typeface="Teko"/>
              </a:rPr>
              <a:t>CONCLUSION</a:t>
            </a:r>
            <a:endParaRPr sz="700" dirty="0"/>
          </a:p>
        </p:txBody>
      </p:sp>
      <p:pic>
        <p:nvPicPr>
          <p:cNvPr id="86" name="Google Shape;409;p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1113441" y="1110942"/>
            <a:ext cx="3205650" cy="22288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38"/>
        </a:solidFill>
        <a:effectLst/>
      </p:bgPr>
    </p:bg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Google Shape;17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50275" y="460088"/>
            <a:ext cx="7209274" cy="926821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7" name="Google Shape;177;p13"/>
          <p:cNvGrpSpPr/>
          <p:nvPr/>
        </p:nvGrpSpPr>
        <p:grpSpPr>
          <a:xfrm>
            <a:off x="1028699" y="1842542"/>
            <a:ext cx="1731395" cy="1912221"/>
            <a:chOff x="0" y="-47625"/>
            <a:chExt cx="456005" cy="503630"/>
          </a:xfrm>
        </p:grpSpPr>
        <p:sp>
          <p:nvSpPr>
            <p:cNvPr id="178" name="Google Shape;178;p13"/>
            <p:cNvSpPr/>
            <p:nvPr/>
          </p:nvSpPr>
          <p:spPr>
            <a:xfrm>
              <a:off x="0" y="0"/>
              <a:ext cx="456005" cy="456005"/>
            </a:xfrm>
            <a:custGeom>
              <a:avLst/>
              <a:gdLst/>
              <a:ahLst/>
              <a:cxnLst/>
              <a:rect l="l" t="t" r="r" b="b"/>
              <a:pathLst>
                <a:path w="456005" h="456005" extrusionOk="0">
                  <a:moveTo>
                    <a:pt x="0" y="0"/>
                  </a:moveTo>
                  <a:lnTo>
                    <a:pt x="456005" y="0"/>
                  </a:lnTo>
                  <a:lnTo>
                    <a:pt x="456005" y="456005"/>
                  </a:lnTo>
                  <a:lnTo>
                    <a:pt x="0" y="45600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 cmpd="sng">
              <a:solidFill>
                <a:srgbClr val="5CE1E6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179" name="Google Shape;179;p13"/>
            <p:cNvSpPr txBox="1"/>
            <p:nvPr/>
          </p:nvSpPr>
          <p:spPr>
            <a:xfrm>
              <a:off x="0" y="-47625"/>
              <a:ext cx="456005" cy="5036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0" name="Google Shape;180;p13"/>
          <p:cNvGrpSpPr/>
          <p:nvPr/>
        </p:nvGrpSpPr>
        <p:grpSpPr>
          <a:xfrm>
            <a:off x="1151438" y="1946359"/>
            <a:ext cx="1731395" cy="1912221"/>
            <a:chOff x="0" y="-47625"/>
            <a:chExt cx="456005" cy="503630"/>
          </a:xfrm>
        </p:grpSpPr>
        <p:sp>
          <p:nvSpPr>
            <p:cNvPr id="181" name="Google Shape;181;p13"/>
            <p:cNvSpPr/>
            <p:nvPr/>
          </p:nvSpPr>
          <p:spPr>
            <a:xfrm>
              <a:off x="0" y="0"/>
              <a:ext cx="456005" cy="456005"/>
            </a:xfrm>
            <a:custGeom>
              <a:avLst/>
              <a:gdLst/>
              <a:ahLst/>
              <a:cxnLst/>
              <a:rect l="l" t="t" r="r" b="b"/>
              <a:pathLst>
                <a:path w="456005" h="456005" extrusionOk="0">
                  <a:moveTo>
                    <a:pt x="0" y="0"/>
                  </a:moveTo>
                  <a:lnTo>
                    <a:pt x="456005" y="0"/>
                  </a:lnTo>
                  <a:lnTo>
                    <a:pt x="456005" y="456005"/>
                  </a:lnTo>
                  <a:lnTo>
                    <a:pt x="0" y="45600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 cmpd="sng">
              <a:solidFill>
                <a:srgbClr val="06D59F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182" name="Google Shape;182;p13"/>
            <p:cNvSpPr txBox="1"/>
            <p:nvPr/>
          </p:nvSpPr>
          <p:spPr>
            <a:xfrm>
              <a:off x="0" y="-47625"/>
              <a:ext cx="456005" cy="5036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9" name="Google Shape;189;p13"/>
          <p:cNvSpPr txBox="1"/>
          <p:nvPr/>
        </p:nvSpPr>
        <p:spPr>
          <a:xfrm>
            <a:off x="4407670" y="1860348"/>
            <a:ext cx="7378075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2" b="0" i="0" u="none" strike="noStrike" cap="none" dirty="0">
                <a:solidFill>
                  <a:srgbClr val="FFFFFF"/>
                </a:solidFill>
                <a:latin typeface="Teko"/>
                <a:ea typeface="Teko"/>
                <a:cs typeface="Teko"/>
                <a:sym typeface="Teko"/>
              </a:rPr>
              <a:t>INTRODUCTION</a:t>
            </a:r>
            <a:endParaRPr dirty="0"/>
          </a:p>
        </p:txBody>
      </p:sp>
      <p:sp>
        <p:nvSpPr>
          <p:cNvPr id="190" name="Google Shape;190;p13"/>
          <p:cNvSpPr txBox="1"/>
          <p:nvPr/>
        </p:nvSpPr>
        <p:spPr>
          <a:xfrm>
            <a:off x="4041873" y="4618558"/>
            <a:ext cx="7174200" cy="2585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just"/>
            <a:r>
              <a:rPr lang="en-US" sz="2800" dirty="0">
                <a:solidFill>
                  <a:schemeClr val="bg1"/>
                </a:solidFill>
              </a:rPr>
              <a:t>Artificial intelligence (AI) is transforming every area of the digital world, including </a:t>
            </a:r>
            <a:r>
              <a:rPr lang="en-US" sz="2800" dirty="0" err="1">
                <a:solidFill>
                  <a:schemeClr val="bg1"/>
                </a:solidFill>
              </a:rPr>
              <a:t>cybersecurity</a:t>
            </a:r>
            <a:r>
              <a:rPr lang="en-US" sz="2800" dirty="0" smtClean="0">
                <a:solidFill>
                  <a:schemeClr val="bg1"/>
                </a:solidFill>
              </a:rPr>
              <a:t>.</a:t>
            </a:r>
          </a:p>
          <a:p>
            <a:pPr algn="just"/>
            <a:r>
              <a:rPr lang="en-US" sz="2800" dirty="0" smtClean="0">
                <a:solidFill>
                  <a:schemeClr val="bg1"/>
                </a:solidFill>
              </a:rPr>
              <a:t>It </a:t>
            </a:r>
            <a:r>
              <a:rPr lang="en-US" sz="2800" dirty="0">
                <a:solidFill>
                  <a:schemeClr val="bg1"/>
                </a:solidFill>
              </a:rPr>
              <a:t>provides powerful tools for detection and analysis, but it also opens up new paths for attack</a:t>
            </a:r>
            <a:endParaRPr lang="fr-FR" sz="2800" dirty="0">
              <a:solidFill>
                <a:schemeClr val="bg1"/>
              </a:solidFill>
            </a:endParaRPr>
          </a:p>
        </p:txBody>
      </p:sp>
      <p:sp>
        <p:nvSpPr>
          <p:cNvPr id="191" name="Google Shape;191;p13"/>
          <p:cNvSpPr txBox="1"/>
          <p:nvPr/>
        </p:nvSpPr>
        <p:spPr>
          <a:xfrm>
            <a:off x="1189054" y="2105749"/>
            <a:ext cx="1410687" cy="1529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39" b="0" i="0" u="none" strike="noStrike" cap="none" dirty="0">
                <a:solidFill>
                  <a:srgbClr val="FFFFFF"/>
                </a:solidFill>
                <a:latin typeface="Teko"/>
                <a:ea typeface="Teko"/>
                <a:cs typeface="Teko"/>
                <a:sym typeface="Teko"/>
              </a:rPr>
              <a:t>01.</a:t>
            </a:r>
            <a:endParaRPr dirty="0"/>
          </a:p>
        </p:txBody>
      </p:sp>
      <p:grpSp>
        <p:nvGrpSpPr>
          <p:cNvPr id="192" name="Google Shape;192;p13"/>
          <p:cNvGrpSpPr/>
          <p:nvPr/>
        </p:nvGrpSpPr>
        <p:grpSpPr>
          <a:xfrm rot="5400000">
            <a:off x="10830856" y="4723071"/>
            <a:ext cx="2809881" cy="409797"/>
            <a:chOff x="0" y="-47625"/>
            <a:chExt cx="812800" cy="118539"/>
          </a:xfrm>
        </p:grpSpPr>
        <p:sp>
          <p:nvSpPr>
            <p:cNvPr id="193" name="Google Shape;193;p13"/>
            <p:cNvSpPr/>
            <p:nvPr/>
          </p:nvSpPr>
          <p:spPr>
            <a:xfrm>
              <a:off x="0" y="0"/>
              <a:ext cx="812800" cy="70914"/>
            </a:xfrm>
            <a:custGeom>
              <a:avLst/>
              <a:gdLst/>
              <a:ahLst/>
              <a:cxnLst/>
              <a:rect l="l" t="t" r="r" b="b"/>
              <a:pathLst>
                <a:path w="812800" h="70914" extrusionOk="0">
                  <a:moveTo>
                    <a:pt x="0" y="0"/>
                  </a:moveTo>
                  <a:lnTo>
                    <a:pt x="812800" y="0"/>
                  </a:lnTo>
                  <a:lnTo>
                    <a:pt x="812800" y="70914"/>
                  </a:lnTo>
                  <a:lnTo>
                    <a:pt x="0" y="70914"/>
                  </a:lnTo>
                  <a:close/>
                </a:path>
              </a:pathLst>
            </a:custGeom>
            <a:solidFill>
              <a:srgbClr val="5CE1E6"/>
            </a:solidFill>
            <a:ln>
              <a:noFill/>
            </a:ln>
          </p:spPr>
        </p:sp>
        <p:sp>
          <p:nvSpPr>
            <p:cNvPr id="194" name="Google Shape;194;p13"/>
            <p:cNvSpPr txBox="1"/>
            <p:nvPr/>
          </p:nvSpPr>
          <p:spPr>
            <a:xfrm>
              <a:off x="0" y="-47625"/>
              <a:ext cx="812800" cy="1185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5" name="Google Shape;195;p13"/>
          <p:cNvGrpSpPr/>
          <p:nvPr/>
        </p:nvGrpSpPr>
        <p:grpSpPr>
          <a:xfrm rot="5400000">
            <a:off x="16059257" y="4723071"/>
            <a:ext cx="2809881" cy="409797"/>
            <a:chOff x="0" y="-47625"/>
            <a:chExt cx="812800" cy="118539"/>
          </a:xfrm>
        </p:grpSpPr>
        <p:sp>
          <p:nvSpPr>
            <p:cNvPr id="196" name="Google Shape;196;p13"/>
            <p:cNvSpPr/>
            <p:nvPr/>
          </p:nvSpPr>
          <p:spPr>
            <a:xfrm>
              <a:off x="0" y="0"/>
              <a:ext cx="812800" cy="70914"/>
            </a:xfrm>
            <a:custGeom>
              <a:avLst/>
              <a:gdLst/>
              <a:ahLst/>
              <a:cxnLst/>
              <a:rect l="l" t="t" r="r" b="b"/>
              <a:pathLst>
                <a:path w="812800" h="70914" extrusionOk="0">
                  <a:moveTo>
                    <a:pt x="0" y="0"/>
                  </a:moveTo>
                  <a:lnTo>
                    <a:pt x="812800" y="0"/>
                  </a:lnTo>
                  <a:lnTo>
                    <a:pt x="812800" y="70914"/>
                  </a:lnTo>
                  <a:lnTo>
                    <a:pt x="0" y="70914"/>
                  </a:lnTo>
                  <a:close/>
                </a:path>
              </a:pathLst>
            </a:custGeom>
            <a:solidFill>
              <a:srgbClr val="5CE1E6"/>
            </a:solidFill>
            <a:ln>
              <a:noFill/>
            </a:ln>
          </p:spPr>
        </p:sp>
        <p:sp>
          <p:nvSpPr>
            <p:cNvPr id="197" name="Google Shape;197;p13"/>
            <p:cNvSpPr txBox="1"/>
            <p:nvPr/>
          </p:nvSpPr>
          <p:spPr>
            <a:xfrm>
              <a:off x="0" y="-47625"/>
              <a:ext cx="812800" cy="1185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8" name="Google Shape;198;p13"/>
          <p:cNvSpPr/>
          <p:nvPr/>
        </p:nvSpPr>
        <p:spPr>
          <a:xfrm>
            <a:off x="-734775" y="6589877"/>
            <a:ext cx="1469549" cy="1472226"/>
          </a:xfrm>
          <a:custGeom>
            <a:avLst/>
            <a:gdLst/>
            <a:ahLst/>
            <a:cxnLst/>
            <a:rect l="l" t="t" r="r" b="b"/>
            <a:pathLst>
              <a:path w="1469549" h="1472226" extrusionOk="0">
                <a:moveTo>
                  <a:pt x="0" y="0"/>
                </a:moveTo>
                <a:lnTo>
                  <a:pt x="1469550" y="0"/>
                </a:lnTo>
                <a:lnTo>
                  <a:pt x="1469550" y="1472226"/>
                </a:lnTo>
                <a:lnTo>
                  <a:pt x="0" y="147222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pic>
        <p:nvPicPr>
          <p:cNvPr id="199" name="Google Shape;199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253050" y="1353100"/>
            <a:ext cx="5006251" cy="748216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1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976325" y="3858601"/>
            <a:ext cx="1229775" cy="57227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1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-1490213" y="5782350"/>
            <a:ext cx="3093295" cy="308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1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-2012975" y="9252048"/>
            <a:ext cx="7315200" cy="23774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1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-2012975" y="78162"/>
            <a:ext cx="7315200" cy="237744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" name="Picture 4">
            <a:extLst>
              <a:ext uri="{FF2B5EF4-FFF2-40B4-BE49-F238E27FC236}">
                <a16:creationId xmlns:a16="http://schemas.microsoft.com/office/drawing/2014/main" xmlns="" id="{270D83C3-D98F-456B-7963-90A37116DD8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2388" y="409749"/>
            <a:ext cx="992621" cy="99104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38"/>
        </a:solidFill>
        <a:effectLst/>
      </p:bgPr>
    </p:bg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Google Shape;208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17482" y="0"/>
            <a:ext cx="19012818" cy="10583301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14"/>
          <p:cNvSpPr txBox="1"/>
          <p:nvPr/>
        </p:nvSpPr>
        <p:spPr>
          <a:xfrm>
            <a:off x="1365337" y="7262178"/>
            <a:ext cx="15557326" cy="2216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2" b="0" i="0" u="none" strike="noStrike" cap="none" dirty="0">
                <a:solidFill>
                  <a:srgbClr val="FFFFFF"/>
                </a:solidFill>
                <a:latin typeface="Teko"/>
                <a:ea typeface="Teko"/>
                <a:cs typeface="Teko"/>
                <a:sym typeface="Teko"/>
              </a:rPr>
              <a:t>WELCOME TO </a:t>
            </a:r>
            <a:r>
              <a:rPr lang="en-US" sz="12002" b="0" i="0" u="none" strike="noStrike" cap="none" dirty="0" smtClean="0">
                <a:solidFill>
                  <a:srgbClr val="FFFFFF"/>
                </a:solidFill>
                <a:latin typeface="Teko"/>
                <a:ea typeface="Teko"/>
                <a:cs typeface="Teko"/>
                <a:sym typeface="Teko"/>
              </a:rPr>
              <a:t>CYBER-WEDNESDAY</a:t>
            </a:r>
            <a:endParaRPr dirty="0"/>
          </a:p>
        </p:txBody>
      </p:sp>
      <p:sp>
        <p:nvSpPr>
          <p:cNvPr id="216" name="Google Shape;216;p14"/>
          <p:cNvSpPr txBox="1"/>
          <p:nvPr/>
        </p:nvSpPr>
        <p:spPr>
          <a:xfrm>
            <a:off x="1365337" y="8885555"/>
            <a:ext cx="1555732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fr-FR" sz="2400" dirty="0">
                <a:solidFill>
                  <a:schemeClr val="bg1"/>
                </a:solidFill>
              </a:rPr>
              <a:t>Entre promesse technologique et menace émergente</a:t>
            </a:r>
            <a:endParaRPr lang="fr-FR" sz="2400" dirty="0">
              <a:solidFill>
                <a:schemeClr val="bg1"/>
              </a:solidFill>
            </a:endParaRPr>
          </a:p>
        </p:txBody>
      </p:sp>
      <p:grpSp>
        <p:nvGrpSpPr>
          <p:cNvPr id="217" name="Google Shape;217;p14"/>
          <p:cNvGrpSpPr/>
          <p:nvPr/>
        </p:nvGrpSpPr>
        <p:grpSpPr>
          <a:xfrm rot="5400000">
            <a:off x="12109123" y="3993014"/>
            <a:ext cx="2809881" cy="409797"/>
            <a:chOff x="0" y="-47625"/>
            <a:chExt cx="812800" cy="118539"/>
          </a:xfrm>
        </p:grpSpPr>
        <p:sp>
          <p:nvSpPr>
            <p:cNvPr id="218" name="Google Shape;218;p14"/>
            <p:cNvSpPr/>
            <p:nvPr/>
          </p:nvSpPr>
          <p:spPr>
            <a:xfrm>
              <a:off x="0" y="0"/>
              <a:ext cx="812800" cy="70914"/>
            </a:xfrm>
            <a:custGeom>
              <a:avLst/>
              <a:gdLst/>
              <a:ahLst/>
              <a:cxnLst/>
              <a:rect l="l" t="t" r="r" b="b"/>
              <a:pathLst>
                <a:path w="812800" h="70914" extrusionOk="0">
                  <a:moveTo>
                    <a:pt x="0" y="0"/>
                  </a:moveTo>
                  <a:lnTo>
                    <a:pt x="812800" y="0"/>
                  </a:lnTo>
                  <a:lnTo>
                    <a:pt x="812800" y="70914"/>
                  </a:lnTo>
                  <a:lnTo>
                    <a:pt x="0" y="70914"/>
                  </a:lnTo>
                  <a:close/>
                </a:path>
              </a:pathLst>
            </a:custGeom>
            <a:solidFill>
              <a:srgbClr val="5CE1E6"/>
            </a:solidFill>
            <a:ln>
              <a:noFill/>
            </a:ln>
          </p:spPr>
        </p:sp>
        <p:sp>
          <p:nvSpPr>
            <p:cNvPr id="219" name="Google Shape;219;p14"/>
            <p:cNvSpPr txBox="1"/>
            <p:nvPr/>
          </p:nvSpPr>
          <p:spPr>
            <a:xfrm>
              <a:off x="0" y="-47625"/>
              <a:ext cx="812800" cy="1185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0" name="Google Shape;220;p14"/>
          <p:cNvGrpSpPr/>
          <p:nvPr/>
        </p:nvGrpSpPr>
        <p:grpSpPr>
          <a:xfrm rot="5400000">
            <a:off x="3509691" y="3993014"/>
            <a:ext cx="2809881" cy="409797"/>
            <a:chOff x="0" y="-47625"/>
            <a:chExt cx="812800" cy="118539"/>
          </a:xfrm>
        </p:grpSpPr>
        <p:sp>
          <p:nvSpPr>
            <p:cNvPr id="221" name="Google Shape;221;p14"/>
            <p:cNvSpPr/>
            <p:nvPr/>
          </p:nvSpPr>
          <p:spPr>
            <a:xfrm>
              <a:off x="0" y="0"/>
              <a:ext cx="812800" cy="70914"/>
            </a:xfrm>
            <a:custGeom>
              <a:avLst/>
              <a:gdLst/>
              <a:ahLst/>
              <a:cxnLst/>
              <a:rect l="l" t="t" r="r" b="b"/>
              <a:pathLst>
                <a:path w="812800" h="70914" extrusionOk="0">
                  <a:moveTo>
                    <a:pt x="0" y="0"/>
                  </a:moveTo>
                  <a:lnTo>
                    <a:pt x="812800" y="0"/>
                  </a:lnTo>
                  <a:lnTo>
                    <a:pt x="812800" y="70914"/>
                  </a:lnTo>
                  <a:lnTo>
                    <a:pt x="0" y="70914"/>
                  </a:lnTo>
                  <a:close/>
                </a:path>
              </a:pathLst>
            </a:custGeom>
            <a:solidFill>
              <a:srgbClr val="5CE1E6"/>
            </a:solidFill>
            <a:ln>
              <a:noFill/>
            </a:ln>
          </p:spPr>
        </p:sp>
        <p:sp>
          <p:nvSpPr>
            <p:cNvPr id="222" name="Google Shape;222;p14"/>
            <p:cNvSpPr txBox="1"/>
            <p:nvPr/>
          </p:nvSpPr>
          <p:spPr>
            <a:xfrm>
              <a:off x="0" y="-47625"/>
              <a:ext cx="812800" cy="1185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3" name="Google Shape;223;p14"/>
          <p:cNvSpPr/>
          <p:nvPr/>
        </p:nvSpPr>
        <p:spPr>
          <a:xfrm>
            <a:off x="1767427" y="3470890"/>
            <a:ext cx="1469549" cy="1472226"/>
          </a:xfrm>
          <a:custGeom>
            <a:avLst/>
            <a:gdLst/>
            <a:ahLst/>
            <a:cxnLst/>
            <a:rect l="l" t="t" r="r" b="b"/>
            <a:pathLst>
              <a:path w="1469549" h="1472226" extrusionOk="0">
                <a:moveTo>
                  <a:pt x="0" y="0"/>
                </a:moveTo>
                <a:lnTo>
                  <a:pt x="1469549" y="0"/>
                </a:lnTo>
                <a:lnTo>
                  <a:pt x="1469549" y="1472226"/>
                </a:lnTo>
                <a:lnTo>
                  <a:pt x="0" y="147222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pic>
        <p:nvPicPr>
          <p:cNvPr id="224" name="Google Shape;224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610275" y="1387838"/>
            <a:ext cx="4947075" cy="2558833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903650" y="1415750"/>
            <a:ext cx="8378250" cy="5567223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1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-3170801" y="150368"/>
            <a:ext cx="7880534" cy="3748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1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1573150" y="-582579"/>
            <a:ext cx="8154276" cy="171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14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4134250" y="3966586"/>
            <a:ext cx="8154276" cy="26501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14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365325" y="6303199"/>
            <a:ext cx="769475" cy="3585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409;p19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6427646" y="2423160"/>
            <a:ext cx="5383354" cy="3428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Picture 4">
            <a:extLst>
              <a:ext uri="{FF2B5EF4-FFF2-40B4-BE49-F238E27FC236}">
                <a16:creationId xmlns:a16="http://schemas.microsoft.com/office/drawing/2014/main" xmlns="" id="{270D83C3-D98F-456B-7963-90A37116DD8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32388" y="409749"/>
            <a:ext cx="992621" cy="99104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38"/>
        </a:solidFill>
        <a:effectLst/>
      </p:bgPr>
    </p:bg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oogle Shape;180;p13"/>
          <p:cNvGrpSpPr/>
          <p:nvPr/>
        </p:nvGrpSpPr>
        <p:grpSpPr>
          <a:xfrm>
            <a:off x="502957" y="1067812"/>
            <a:ext cx="1731395" cy="1912221"/>
            <a:chOff x="0" y="-47625"/>
            <a:chExt cx="456005" cy="503630"/>
          </a:xfrm>
        </p:grpSpPr>
        <p:sp>
          <p:nvSpPr>
            <p:cNvPr id="44" name="Google Shape;181;p13"/>
            <p:cNvSpPr/>
            <p:nvPr/>
          </p:nvSpPr>
          <p:spPr>
            <a:xfrm>
              <a:off x="0" y="0"/>
              <a:ext cx="456005" cy="456005"/>
            </a:xfrm>
            <a:custGeom>
              <a:avLst/>
              <a:gdLst/>
              <a:ahLst/>
              <a:cxnLst/>
              <a:rect l="l" t="t" r="r" b="b"/>
              <a:pathLst>
                <a:path w="456005" h="456005" extrusionOk="0">
                  <a:moveTo>
                    <a:pt x="0" y="0"/>
                  </a:moveTo>
                  <a:lnTo>
                    <a:pt x="456005" y="0"/>
                  </a:lnTo>
                  <a:lnTo>
                    <a:pt x="456005" y="456005"/>
                  </a:lnTo>
                  <a:lnTo>
                    <a:pt x="0" y="45600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 cmpd="sng">
              <a:solidFill>
                <a:srgbClr val="06D59F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45" name="Google Shape;182;p13"/>
            <p:cNvSpPr txBox="1"/>
            <p:nvPr/>
          </p:nvSpPr>
          <p:spPr>
            <a:xfrm>
              <a:off x="0" y="-47625"/>
              <a:ext cx="456005" cy="5036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7" name="Google Shape;178;p13"/>
          <p:cNvSpPr/>
          <p:nvPr/>
        </p:nvSpPr>
        <p:spPr>
          <a:xfrm>
            <a:off x="377181" y="1153176"/>
            <a:ext cx="1731395" cy="1731395"/>
          </a:xfrm>
          <a:custGeom>
            <a:avLst/>
            <a:gdLst/>
            <a:ahLst/>
            <a:cxnLst/>
            <a:rect l="l" t="t" r="r" b="b"/>
            <a:pathLst>
              <a:path w="456005" h="456005" extrusionOk="0">
                <a:moveTo>
                  <a:pt x="0" y="0"/>
                </a:moveTo>
                <a:lnTo>
                  <a:pt x="456005" y="0"/>
                </a:lnTo>
                <a:lnTo>
                  <a:pt x="456005" y="456005"/>
                </a:lnTo>
                <a:lnTo>
                  <a:pt x="0" y="45600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38100" cap="sq" cmpd="sng">
            <a:solidFill>
              <a:srgbClr val="5CE1E6"/>
            </a:solidFill>
            <a:prstDash val="solid"/>
            <a:miter lim="8000"/>
            <a:headEnd type="none" w="sm" len="sm"/>
            <a:tailEnd type="none" w="sm" len="sm"/>
          </a:ln>
        </p:spPr>
      </p:sp>
      <p:pic>
        <p:nvPicPr>
          <p:cNvPr id="234" name="Google Shape;23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52479" y="1182217"/>
            <a:ext cx="7727249" cy="773332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3" name="Google Shape;253;p15"/>
          <p:cNvGrpSpPr/>
          <p:nvPr/>
        </p:nvGrpSpPr>
        <p:grpSpPr>
          <a:xfrm>
            <a:off x="10548981" y="452860"/>
            <a:ext cx="7209257" cy="9299062"/>
            <a:chOff x="0" y="0"/>
            <a:chExt cx="9612342" cy="12398749"/>
          </a:xfrm>
        </p:grpSpPr>
        <p:cxnSp>
          <p:nvCxnSpPr>
            <p:cNvPr id="254" name="Google Shape;254;p15"/>
            <p:cNvCxnSpPr/>
            <p:nvPr/>
          </p:nvCxnSpPr>
          <p:spPr>
            <a:xfrm>
              <a:off x="127336" y="127336"/>
              <a:ext cx="9485006" cy="0"/>
            </a:xfrm>
            <a:prstGeom prst="straightConnector1">
              <a:avLst/>
            </a:prstGeom>
            <a:noFill/>
            <a:ln w="508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55" name="Google Shape;255;p15"/>
            <p:cNvCxnSpPr/>
            <p:nvPr/>
          </p:nvCxnSpPr>
          <p:spPr>
            <a:xfrm>
              <a:off x="127336" y="12271412"/>
              <a:ext cx="9485006" cy="0"/>
            </a:xfrm>
            <a:prstGeom prst="straightConnector1">
              <a:avLst/>
            </a:prstGeom>
            <a:noFill/>
            <a:ln w="508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56" name="Google Shape;256;p15"/>
            <p:cNvCxnSpPr/>
            <p:nvPr/>
          </p:nvCxnSpPr>
          <p:spPr>
            <a:xfrm>
              <a:off x="9612342" y="127336"/>
              <a:ext cx="0" cy="12144076"/>
            </a:xfrm>
            <a:prstGeom prst="straightConnector1">
              <a:avLst/>
            </a:prstGeom>
            <a:noFill/>
            <a:ln w="508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grpSp>
          <p:nvGrpSpPr>
            <p:cNvPr id="257" name="Google Shape;257;p15"/>
            <p:cNvGrpSpPr/>
            <p:nvPr/>
          </p:nvGrpSpPr>
          <p:grpSpPr>
            <a:xfrm>
              <a:off x="0" y="0"/>
              <a:ext cx="254673" cy="254673"/>
              <a:chOff x="0" y="0"/>
              <a:chExt cx="812800" cy="812800"/>
            </a:xfrm>
          </p:grpSpPr>
          <p:sp>
            <p:nvSpPr>
              <p:cNvPr id="258" name="Google Shape;258;p1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259;p15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60" name="Google Shape;260;p15"/>
            <p:cNvGrpSpPr/>
            <p:nvPr/>
          </p:nvGrpSpPr>
          <p:grpSpPr>
            <a:xfrm>
              <a:off x="0" y="12144076"/>
              <a:ext cx="254673" cy="254673"/>
              <a:chOff x="0" y="0"/>
              <a:chExt cx="812800" cy="812800"/>
            </a:xfrm>
          </p:grpSpPr>
          <p:sp>
            <p:nvSpPr>
              <p:cNvPr id="261" name="Google Shape;261;p1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62;p15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63" name="Google Shape;263;p15"/>
          <p:cNvSpPr txBox="1"/>
          <p:nvPr/>
        </p:nvSpPr>
        <p:spPr>
          <a:xfrm>
            <a:off x="2377011" y="1569659"/>
            <a:ext cx="8305177" cy="1329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b="0" i="0" u="none" strike="noStrike" cap="none" dirty="0" smtClean="0">
                <a:solidFill>
                  <a:srgbClr val="FFFFFF"/>
                </a:solidFill>
                <a:latin typeface="Teko"/>
                <a:ea typeface="Teko"/>
                <a:cs typeface="Teko"/>
                <a:sym typeface="Teko"/>
              </a:rPr>
              <a:t>WHY AI CHANGE EVERYTHING?</a:t>
            </a:r>
            <a:endParaRPr sz="900" dirty="0"/>
          </a:p>
        </p:txBody>
      </p:sp>
      <p:sp>
        <p:nvSpPr>
          <p:cNvPr id="266" name="Google Shape;266;p15"/>
          <p:cNvSpPr txBox="1"/>
          <p:nvPr/>
        </p:nvSpPr>
        <p:spPr>
          <a:xfrm>
            <a:off x="1242878" y="4116005"/>
            <a:ext cx="7093130" cy="2068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just">
              <a:lnSpc>
                <a:spcPct val="140000"/>
              </a:lnSpc>
            </a:pPr>
            <a:r>
              <a:rPr lang="en-US" sz="24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Explosion in data </a:t>
            </a:r>
            <a:r>
              <a:rPr lang="en-US" sz="2400" dirty="0" smtClean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volumes</a:t>
            </a:r>
          </a:p>
          <a:p>
            <a:pPr lvl="0" algn="just">
              <a:lnSpc>
                <a:spcPct val="140000"/>
              </a:lnSpc>
            </a:pPr>
            <a:r>
              <a:rPr lang="en-US" sz="2400" dirty="0" smtClean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Speed </a:t>
            </a:r>
            <a:r>
              <a:rPr lang="en-US" sz="24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and complexity of </a:t>
            </a:r>
            <a:r>
              <a:rPr lang="en-US" sz="2400" dirty="0" smtClean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threats</a:t>
            </a:r>
          </a:p>
          <a:p>
            <a:pPr lvl="0" algn="just">
              <a:lnSpc>
                <a:spcPct val="140000"/>
              </a:lnSpc>
            </a:pPr>
            <a:r>
              <a:rPr lang="en-US" sz="2400" dirty="0" smtClean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Humans </a:t>
            </a:r>
            <a:r>
              <a:rPr lang="en-US" sz="24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overwhelmed by the scale of </a:t>
            </a:r>
            <a:r>
              <a:rPr lang="en-US" sz="2400" dirty="0" smtClean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events</a:t>
            </a:r>
          </a:p>
          <a:p>
            <a:pPr lvl="0" algn="just">
              <a:lnSpc>
                <a:spcPct val="140000"/>
              </a:lnSpc>
            </a:pPr>
            <a:r>
              <a:rPr lang="en-US" sz="2400" dirty="0" smtClean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Need </a:t>
            </a:r>
            <a:r>
              <a:rPr lang="en-US" sz="24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for intelligent automation</a:t>
            </a:r>
            <a:endParaRPr lang="fr-FR" sz="240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68" name="Google Shape;268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360456" y="2197479"/>
            <a:ext cx="5702801" cy="5702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741525" y="-734298"/>
            <a:ext cx="7727250" cy="2517798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2011" y="6715819"/>
            <a:ext cx="7727250" cy="2517798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191;p13"/>
          <p:cNvSpPr txBox="1"/>
          <p:nvPr/>
        </p:nvSpPr>
        <p:spPr>
          <a:xfrm>
            <a:off x="667190" y="1213546"/>
            <a:ext cx="1410687" cy="1853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39" b="0" i="0" u="none" strike="noStrike" cap="none" dirty="0" smtClean="0">
                <a:solidFill>
                  <a:srgbClr val="FFFFFF"/>
                </a:solidFill>
                <a:latin typeface="Teko"/>
                <a:ea typeface="Teko"/>
                <a:cs typeface="Teko"/>
                <a:sym typeface="Teko"/>
              </a:rPr>
              <a:t>02.</a:t>
            </a:r>
            <a:endParaRPr dirty="0"/>
          </a:p>
        </p:txBody>
      </p:sp>
      <p:pic>
        <p:nvPicPr>
          <p:cNvPr id="50" name="Google Shape;409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520129" y="3987962"/>
            <a:ext cx="3205650" cy="2228855"/>
          </a:xfrm>
          <a:prstGeom prst="rect">
            <a:avLst/>
          </a:prstGeom>
          <a:noFill/>
          <a:ln>
            <a:noFill/>
          </a:ln>
        </p:spPr>
      </p:pic>
      <p:pic>
        <p:nvPicPr>
          <p:cNvPr id="51" name="Picture 4">
            <a:extLst>
              <a:ext uri="{FF2B5EF4-FFF2-40B4-BE49-F238E27FC236}">
                <a16:creationId xmlns:a16="http://schemas.microsoft.com/office/drawing/2014/main" xmlns="" id="{270D83C3-D98F-456B-7963-90A37116DD8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4396" y="104606"/>
            <a:ext cx="992621" cy="99104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38"/>
        </a:solidFill>
        <a:effectLst/>
      </p:bgPr>
    </p:bg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8" name="Google Shape;27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13475" y="-59125"/>
            <a:ext cx="19109043" cy="10636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548971" y="396725"/>
            <a:ext cx="7209250" cy="926814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80" name="Google Shape;280;p16"/>
          <p:cNvGrpSpPr/>
          <p:nvPr/>
        </p:nvGrpSpPr>
        <p:grpSpPr>
          <a:xfrm>
            <a:off x="4253078" y="1694920"/>
            <a:ext cx="4460033" cy="6924399"/>
            <a:chOff x="0" y="-47625"/>
            <a:chExt cx="1174659" cy="1823710"/>
          </a:xfrm>
        </p:grpSpPr>
        <p:sp>
          <p:nvSpPr>
            <p:cNvPr id="281" name="Google Shape;281;p16"/>
            <p:cNvSpPr/>
            <p:nvPr/>
          </p:nvSpPr>
          <p:spPr>
            <a:xfrm>
              <a:off x="0" y="0"/>
              <a:ext cx="1174659" cy="1776085"/>
            </a:xfrm>
            <a:custGeom>
              <a:avLst/>
              <a:gdLst/>
              <a:ahLst/>
              <a:cxnLst/>
              <a:rect l="l" t="t" r="r" b="b"/>
              <a:pathLst>
                <a:path w="1174659" h="1776085" extrusionOk="0">
                  <a:moveTo>
                    <a:pt x="0" y="0"/>
                  </a:moveTo>
                  <a:lnTo>
                    <a:pt x="1174659" y="0"/>
                  </a:lnTo>
                  <a:lnTo>
                    <a:pt x="1174659" y="1776085"/>
                  </a:lnTo>
                  <a:lnTo>
                    <a:pt x="0" y="177608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 cmpd="sng">
              <a:solidFill>
                <a:srgbClr val="5CE1E6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282" name="Google Shape;282;p16"/>
            <p:cNvSpPr txBox="1"/>
            <p:nvPr/>
          </p:nvSpPr>
          <p:spPr>
            <a:xfrm>
              <a:off x="0" y="-47625"/>
              <a:ext cx="1174659" cy="18237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3" name="Google Shape;283;p16"/>
          <p:cNvGrpSpPr/>
          <p:nvPr/>
        </p:nvGrpSpPr>
        <p:grpSpPr>
          <a:xfrm>
            <a:off x="9400721" y="1694920"/>
            <a:ext cx="5205513" cy="6924399"/>
            <a:chOff x="0" y="-47625"/>
            <a:chExt cx="1174659" cy="1823710"/>
          </a:xfrm>
        </p:grpSpPr>
        <p:sp>
          <p:nvSpPr>
            <p:cNvPr id="284" name="Google Shape;284;p16"/>
            <p:cNvSpPr/>
            <p:nvPr/>
          </p:nvSpPr>
          <p:spPr>
            <a:xfrm>
              <a:off x="0" y="0"/>
              <a:ext cx="1174659" cy="1776085"/>
            </a:xfrm>
            <a:custGeom>
              <a:avLst/>
              <a:gdLst/>
              <a:ahLst/>
              <a:cxnLst/>
              <a:rect l="l" t="t" r="r" b="b"/>
              <a:pathLst>
                <a:path w="1174659" h="1776085" extrusionOk="0">
                  <a:moveTo>
                    <a:pt x="0" y="0"/>
                  </a:moveTo>
                  <a:lnTo>
                    <a:pt x="1174659" y="0"/>
                  </a:lnTo>
                  <a:lnTo>
                    <a:pt x="1174659" y="1776085"/>
                  </a:lnTo>
                  <a:lnTo>
                    <a:pt x="0" y="177608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 cmpd="sng">
              <a:solidFill>
                <a:srgbClr val="5CE1E6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285" name="Google Shape;285;p16"/>
            <p:cNvSpPr txBox="1"/>
            <p:nvPr/>
          </p:nvSpPr>
          <p:spPr>
            <a:xfrm>
              <a:off x="0" y="-47625"/>
              <a:ext cx="1174659" cy="18237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6" name="Google Shape;286;p16"/>
          <p:cNvGrpSpPr/>
          <p:nvPr/>
        </p:nvGrpSpPr>
        <p:grpSpPr>
          <a:xfrm>
            <a:off x="4427247" y="1869088"/>
            <a:ext cx="4460033" cy="6924399"/>
            <a:chOff x="0" y="-47625"/>
            <a:chExt cx="1174659" cy="1823710"/>
          </a:xfrm>
        </p:grpSpPr>
        <p:sp>
          <p:nvSpPr>
            <p:cNvPr id="287" name="Google Shape;287;p16"/>
            <p:cNvSpPr/>
            <p:nvPr/>
          </p:nvSpPr>
          <p:spPr>
            <a:xfrm>
              <a:off x="0" y="0"/>
              <a:ext cx="1174659" cy="1776085"/>
            </a:xfrm>
            <a:custGeom>
              <a:avLst/>
              <a:gdLst/>
              <a:ahLst/>
              <a:cxnLst/>
              <a:rect l="l" t="t" r="r" b="b"/>
              <a:pathLst>
                <a:path w="1174659" h="1776085" extrusionOk="0">
                  <a:moveTo>
                    <a:pt x="0" y="0"/>
                  </a:moveTo>
                  <a:lnTo>
                    <a:pt x="1174659" y="0"/>
                  </a:lnTo>
                  <a:lnTo>
                    <a:pt x="1174659" y="1776085"/>
                  </a:lnTo>
                  <a:lnTo>
                    <a:pt x="0" y="177608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 cmpd="sng">
              <a:solidFill>
                <a:srgbClr val="06D59F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288" name="Google Shape;288;p16"/>
            <p:cNvSpPr txBox="1"/>
            <p:nvPr/>
          </p:nvSpPr>
          <p:spPr>
            <a:xfrm>
              <a:off x="0" y="-47625"/>
              <a:ext cx="1174659" cy="18237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9" name="Google Shape;289;p16"/>
          <p:cNvGrpSpPr/>
          <p:nvPr/>
        </p:nvGrpSpPr>
        <p:grpSpPr>
          <a:xfrm>
            <a:off x="9574889" y="1869088"/>
            <a:ext cx="5109560" cy="6924399"/>
            <a:chOff x="0" y="-47625"/>
            <a:chExt cx="1174659" cy="1823710"/>
          </a:xfrm>
        </p:grpSpPr>
        <p:sp>
          <p:nvSpPr>
            <p:cNvPr id="290" name="Google Shape;290;p16"/>
            <p:cNvSpPr/>
            <p:nvPr/>
          </p:nvSpPr>
          <p:spPr>
            <a:xfrm>
              <a:off x="0" y="0"/>
              <a:ext cx="1174659" cy="1776085"/>
            </a:xfrm>
            <a:custGeom>
              <a:avLst/>
              <a:gdLst/>
              <a:ahLst/>
              <a:cxnLst/>
              <a:rect l="l" t="t" r="r" b="b"/>
              <a:pathLst>
                <a:path w="1174659" h="1776085" extrusionOk="0">
                  <a:moveTo>
                    <a:pt x="0" y="0"/>
                  </a:moveTo>
                  <a:lnTo>
                    <a:pt x="1174659" y="0"/>
                  </a:lnTo>
                  <a:lnTo>
                    <a:pt x="1174659" y="1776085"/>
                  </a:lnTo>
                  <a:lnTo>
                    <a:pt x="0" y="177608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 cmpd="sng">
              <a:solidFill>
                <a:srgbClr val="06D59F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291" name="Google Shape;291;p16"/>
            <p:cNvSpPr txBox="1"/>
            <p:nvPr/>
          </p:nvSpPr>
          <p:spPr>
            <a:xfrm>
              <a:off x="0" y="-47625"/>
              <a:ext cx="1174659" cy="18237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8" name="Google Shape;298;p16"/>
          <p:cNvSpPr txBox="1"/>
          <p:nvPr/>
        </p:nvSpPr>
        <p:spPr>
          <a:xfrm>
            <a:off x="5997427" y="2373790"/>
            <a:ext cx="2165120" cy="933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128" b="0" i="0" u="none" strike="noStrike" cap="none">
                <a:solidFill>
                  <a:srgbClr val="FFFFFF"/>
                </a:solidFill>
                <a:latin typeface="Teko"/>
                <a:ea typeface="Teko"/>
                <a:cs typeface="Teko"/>
                <a:sym typeface="Teko"/>
              </a:rPr>
              <a:t>MISSION</a:t>
            </a:r>
            <a:endParaRPr/>
          </a:p>
        </p:txBody>
      </p:sp>
      <p:sp>
        <p:nvSpPr>
          <p:cNvPr id="299" name="Google Shape;299;p16"/>
          <p:cNvSpPr txBox="1"/>
          <p:nvPr/>
        </p:nvSpPr>
        <p:spPr>
          <a:xfrm>
            <a:off x="11112208" y="2373790"/>
            <a:ext cx="3261987" cy="1131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128" b="0" i="0" u="none" strike="noStrike" cap="none" dirty="0" smtClean="0">
                <a:solidFill>
                  <a:srgbClr val="FFFFFF"/>
                </a:solidFill>
                <a:latin typeface="Teko"/>
                <a:ea typeface="Teko"/>
                <a:cs typeface="Teko"/>
                <a:sym typeface="Teko"/>
              </a:rPr>
              <a:t>APPLICATIONS</a:t>
            </a:r>
            <a:endParaRPr dirty="0"/>
          </a:p>
        </p:txBody>
      </p:sp>
      <p:sp>
        <p:nvSpPr>
          <p:cNvPr id="300" name="Google Shape;300;p16"/>
          <p:cNvSpPr txBox="1"/>
          <p:nvPr/>
        </p:nvSpPr>
        <p:spPr>
          <a:xfrm>
            <a:off x="4675838" y="3706502"/>
            <a:ext cx="3963000" cy="21236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just">
              <a:lnSpc>
                <a:spcPct val="115000"/>
              </a:lnSpc>
            </a:pPr>
            <a:r>
              <a:rPr lang="en-US" sz="20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Anomaly detection through machine </a:t>
            </a:r>
            <a:r>
              <a:rPr lang="en-US" sz="2000" dirty="0" smtClean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learning</a:t>
            </a:r>
          </a:p>
          <a:p>
            <a:pPr lvl="0" algn="just">
              <a:lnSpc>
                <a:spcPct val="115000"/>
              </a:lnSpc>
            </a:pPr>
            <a:r>
              <a:rPr lang="en-US" sz="2000" dirty="0" smtClean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User </a:t>
            </a:r>
            <a:r>
              <a:rPr lang="en-US" sz="20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behavior </a:t>
            </a:r>
            <a:r>
              <a:rPr lang="en-US" sz="2000" dirty="0" smtClean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analytics</a:t>
            </a:r>
          </a:p>
          <a:p>
            <a:pPr lvl="0" algn="just">
              <a:lnSpc>
                <a:spcPct val="115000"/>
              </a:lnSpc>
            </a:pPr>
            <a:r>
              <a:rPr lang="en-US" sz="2000" dirty="0" smtClean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Automated </a:t>
            </a:r>
            <a:r>
              <a:rPr lang="en-US" sz="20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incident </a:t>
            </a:r>
            <a:r>
              <a:rPr lang="en-US" sz="2000" dirty="0" smtClean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response</a:t>
            </a:r>
          </a:p>
          <a:p>
            <a:pPr lvl="0" algn="just">
              <a:lnSpc>
                <a:spcPct val="115000"/>
              </a:lnSpc>
            </a:pPr>
            <a:r>
              <a:rPr lang="en-US" sz="2000" dirty="0" smtClean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Continuous </a:t>
            </a:r>
            <a:r>
              <a:rPr lang="en-US" sz="20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improvement of defenses through learning</a:t>
            </a:r>
            <a:endParaRPr lang="fr-FR" sz="200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1" name="Google Shape;301;p16"/>
          <p:cNvSpPr txBox="1"/>
          <p:nvPr/>
        </p:nvSpPr>
        <p:spPr>
          <a:xfrm>
            <a:off x="9823480" y="3706502"/>
            <a:ext cx="3963000" cy="2477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just">
              <a:lnSpc>
                <a:spcPct val="115000"/>
              </a:lnSpc>
            </a:pPr>
            <a:r>
              <a:rPr lang="en-US" sz="20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AI-enhanced SIEM and EDR </a:t>
            </a:r>
            <a:r>
              <a:rPr lang="en-US" sz="2000" dirty="0" smtClean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systems</a:t>
            </a:r>
          </a:p>
          <a:p>
            <a:pPr lvl="0" algn="just">
              <a:lnSpc>
                <a:spcPct val="115000"/>
              </a:lnSpc>
            </a:pPr>
            <a:r>
              <a:rPr lang="en-US" sz="2000" dirty="0" smtClean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Predictive </a:t>
            </a:r>
            <a:r>
              <a:rPr lang="en-US" sz="20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threat </a:t>
            </a:r>
            <a:r>
              <a:rPr lang="en-US" sz="2000" dirty="0" smtClean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analysis</a:t>
            </a:r>
          </a:p>
          <a:p>
            <a:pPr lvl="0" algn="just">
              <a:lnSpc>
                <a:spcPct val="115000"/>
              </a:lnSpc>
            </a:pPr>
            <a:r>
              <a:rPr lang="en-US" sz="2000" dirty="0" smtClean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Intelligent </a:t>
            </a:r>
            <a:r>
              <a:rPr lang="en-US" sz="20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phishing and spam </a:t>
            </a:r>
            <a:r>
              <a:rPr lang="en-US" sz="2000" dirty="0" smtClean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filtering</a:t>
            </a:r>
          </a:p>
          <a:p>
            <a:pPr lvl="0" algn="just">
              <a:lnSpc>
                <a:spcPct val="115000"/>
              </a:lnSpc>
            </a:pPr>
            <a:r>
              <a:rPr lang="en-US" sz="2000" dirty="0" smtClean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Automatic </a:t>
            </a:r>
            <a:r>
              <a:rPr lang="en-US" sz="20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correlation of security events</a:t>
            </a:r>
            <a:endParaRPr lang="fr-FR" sz="200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2" name="Google Shape;302;p16"/>
          <p:cNvSpPr/>
          <p:nvPr/>
        </p:nvSpPr>
        <p:spPr>
          <a:xfrm>
            <a:off x="1767427" y="3470890"/>
            <a:ext cx="1469549" cy="1472226"/>
          </a:xfrm>
          <a:custGeom>
            <a:avLst/>
            <a:gdLst/>
            <a:ahLst/>
            <a:cxnLst/>
            <a:rect l="l" t="t" r="r" b="b"/>
            <a:pathLst>
              <a:path w="1469549" h="1472226" extrusionOk="0">
                <a:moveTo>
                  <a:pt x="0" y="0"/>
                </a:moveTo>
                <a:lnTo>
                  <a:pt x="1469549" y="0"/>
                </a:lnTo>
                <a:lnTo>
                  <a:pt x="1469549" y="1472226"/>
                </a:lnTo>
                <a:lnTo>
                  <a:pt x="0" y="147222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pic>
        <p:nvPicPr>
          <p:cNvPr id="303" name="Google Shape;303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51050" y="1909370"/>
            <a:ext cx="804175" cy="3746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1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-4443700" y="6413648"/>
            <a:ext cx="7209276" cy="2349022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p1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5447305" y="875401"/>
            <a:ext cx="7209246" cy="2349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" name="Google Shape;306;p1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6078475" y="4419001"/>
            <a:ext cx="838675" cy="3907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p16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807863" y="2316356"/>
            <a:ext cx="838675" cy="1048344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p16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9998163" y="2381393"/>
            <a:ext cx="838675" cy="918257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263;p15"/>
          <p:cNvSpPr txBox="1"/>
          <p:nvPr/>
        </p:nvSpPr>
        <p:spPr>
          <a:xfrm>
            <a:off x="5865028" y="442942"/>
            <a:ext cx="10594268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20005"/>
              </a:lnSpc>
            </a:pPr>
            <a:r>
              <a:rPr lang="en-US" sz="8000" dirty="0" smtClean="0">
                <a:solidFill>
                  <a:srgbClr val="FFFFFF"/>
                </a:solidFill>
                <a:latin typeface="Teko"/>
                <a:ea typeface="Teko"/>
                <a:cs typeface="Teko"/>
                <a:sym typeface="Teko"/>
              </a:rPr>
              <a:t>CYBERSECURITY </a:t>
            </a:r>
            <a:r>
              <a:rPr lang="en-US" sz="8000" dirty="0">
                <a:solidFill>
                  <a:srgbClr val="FFFFFF"/>
                </a:solidFill>
                <a:latin typeface="Teko"/>
                <a:ea typeface="Teko"/>
                <a:cs typeface="Teko"/>
                <a:sym typeface="Teko"/>
              </a:rPr>
              <a:t>AND</a:t>
            </a:r>
            <a:r>
              <a:rPr lang="en-US" sz="8000" dirty="0" smtClean="0">
                <a:solidFill>
                  <a:srgbClr val="FFFFFF"/>
                </a:solidFill>
                <a:latin typeface="Teko"/>
                <a:ea typeface="Teko"/>
                <a:cs typeface="Teko"/>
                <a:sym typeface="Teko"/>
              </a:rPr>
              <a:t> AI</a:t>
            </a:r>
            <a:endParaRPr lang="en-US" sz="8000" dirty="0">
              <a:solidFill>
                <a:srgbClr val="FFFFFF"/>
              </a:solidFill>
              <a:latin typeface="Teko"/>
              <a:ea typeface="Teko"/>
              <a:cs typeface="Teko"/>
              <a:sym typeface="Teko"/>
            </a:endParaRPr>
          </a:p>
        </p:txBody>
      </p:sp>
      <p:grpSp>
        <p:nvGrpSpPr>
          <p:cNvPr id="34" name="Google Shape;160;p12"/>
          <p:cNvGrpSpPr/>
          <p:nvPr/>
        </p:nvGrpSpPr>
        <p:grpSpPr>
          <a:xfrm>
            <a:off x="2746561" y="111696"/>
            <a:ext cx="1574351" cy="1654596"/>
            <a:chOff x="0" y="-47625"/>
            <a:chExt cx="456005" cy="503630"/>
          </a:xfrm>
        </p:grpSpPr>
        <p:sp>
          <p:nvSpPr>
            <p:cNvPr id="35" name="Google Shape;161;p12"/>
            <p:cNvSpPr/>
            <p:nvPr/>
          </p:nvSpPr>
          <p:spPr>
            <a:xfrm>
              <a:off x="0" y="0"/>
              <a:ext cx="456005" cy="456005"/>
            </a:xfrm>
            <a:custGeom>
              <a:avLst/>
              <a:gdLst/>
              <a:ahLst/>
              <a:cxnLst/>
              <a:rect l="l" t="t" r="r" b="b"/>
              <a:pathLst>
                <a:path w="456005" h="456005" extrusionOk="0">
                  <a:moveTo>
                    <a:pt x="0" y="0"/>
                  </a:moveTo>
                  <a:lnTo>
                    <a:pt x="456005" y="0"/>
                  </a:lnTo>
                  <a:lnTo>
                    <a:pt x="456005" y="456005"/>
                  </a:lnTo>
                  <a:lnTo>
                    <a:pt x="0" y="45600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 cmpd="sng">
              <a:solidFill>
                <a:srgbClr val="5CE1E6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36" name="Google Shape;162;p12"/>
            <p:cNvSpPr txBox="1"/>
            <p:nvPr/>
          </p:nvSpPr>
          <p:spPr>
            <a:xfrm>
              <a:off x="0" y="-47625"/>
              <a:ext cx="456005" cy="5036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7" name="Google Shape;164;p12"/>
          <p:cNvSpPr txBox="1"/>
          <p:nvPr/>
        </p:nvSpPr>
        <p:spPr>
          <a:xfrm>
            <a:off x="2910225" y="233864"/>
            <a:ext cx="1410687" cy="1529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39" b="0" i="0" u="none" strike="noStrike" cap="none" dirty="0">
                <a:solidFill>
                  <a:srgbClr val="FFFFFF"/>
                </a:solidFill>
                <a:latin typeface="Teko"/>
                <a:ea typeface="Teko"/>
                <a:cs typeface="Teko"/>
                <a:sym typeface="Teko"/>
              </a:rPr>
              <a:t>03.</a:t>
            </a:r>
            <a:endParaRPr dirty="0"/>
          </a:p>
        </p:txBody>
      </p:sp>
      <p:grpSp>
        <p:nvGrpSpPr>
          <p:cNvPr id="38" name="Google Shape;149;p12"/>
          <p:cNvGrpSpPr/>
          <p:nvPr/>
        </p:nvGrpSpPr>
        <p:grpSpPr>
          <a:xfrm>
            <a:off x="2872350" y="195717"/>
            <a:ext cx="1554897" cy="1673371"/>
            <a:chOff x="0" y="-47625"/>
            <a:chExt cx="456005" cy="503630"/>
          </a:xfrm>
        </p:grpSpPr>
        <p:sp>
          <p:nvSpPr>
            <p:cNvPr id="39" name="Google Shape;150;p12"/>
            <p:cNvSpPr/>
            <p:nvPr/>
          </p:nvSpPr>
          <p:spPr>
            <a:xfrm>
              <a:off x="0" y="0"/>
              <a:ext cx="456005" cy="456005"/>
            </a:xfrm>
            <a:custGeom>
              <a:avLst/>
              <a:gdLst/>
              <a:ahLst/>
              <a:cxnLst/>
              <a:rect l="l" t="t" r="r" b="b"/>
              <a:pathLst>
                <a:path w="456005" h="456005" extrusionOk="0">
                  <a:moveTo>
                    <a:pt x="0" y="0"/>
                  </a:moveTo>
                  <a:lnTo>
                    <a:pt x="456005" y="0"/>
                  </a:lnTo>
                  <a:lnTo>
                    <a:pt x="456005" y="456005"/>
                  </a:lnTo>
                  <a:lnTo>
                    <a:pt x="0" y="45600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 cmpd="sng">
              <a:solidFill>
                <a:srgbClr val="06D59F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40" name="Google Shape;151;p12"/>
            <p:cNvSpPr txBox="1"/>
            <p:nvPr/>
          </p:nvSpPr>
          <p:spPr>
            <a:xfrm>
              <a:off x="0" y="-47625"/>
              <a:ext cx="456005" cy="5036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41" name="Picture 4">
            <a:extLst>
              <a:ext uri="{FF2B5EF4-FFF2-40B4-BE49-F238E27FC236}">
                <a16:creationId xmlns:a16="http://schemas.microsoft.com/office/drawing/2014/main" xmlns="" id="{270D83C3-D98F-456B-7963-90A37116DD8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60927" y="268160"/>
            <a:ext cx="992621" cy="99104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3" name="Google Shape;31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98475" y="545850"/>
            <a:ext cx="7088601" cy="9113051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17"/>
          <p:cNvSpPr txBox="1"/>
          <p:nvPr/>
        </p:nvSpPr>
        <p:spPr>
          <a:xfrm>
            <a:off x="2456620" y="2046268"/>
            <a:ext cx="7378075" cy="1625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20005"/>
              </a:lnSpc>
            </a:pPr>
            <a:r>
              <a:rPr lang="en-US" sz="8800" dirty="0">
                <a:solidFill>
                  <a:srgbClr val="FFFFFF"/>
                </a:solidFill>
                <a:latin typeface="Teko"/>
                <a:ea typeface="Teko"/>
                <a:cs typeface="Teko"/>
                <a:sym typeface="Teko"/>
              </a:rPr>
              <a:t>CYBERATTACKS AND AI</a:t>
            </a:r>
          </a:p>
        </p:txBody>
      </p:sp>
      <p:sp>
        <p:nvSpPr>
          <p:cNvPr id="321" name="Google Shape;321;p17"/>
          <p:cNvSpPr txBox="1"/>
          <p:nvPr/>
        </p:nvSpPr>
        <p:spPr>
          <a:xfrm>
            <a:off x="1308527" y="4067426"/>
            <a:ext cx="10354089" cy="16989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just">
              <a:lnSpc>
                <a:spcPct val="115000"/>
              </a:lnSpc>
            </a:pPr>
            <a:r>
              <a:rPr lang="fr-FR" sz="24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AI-</a:t>
            </a:r>
            <a:r>
              <a:rPr lang="fr-FR" sz="240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driven</a:t>
            </a:r>
            <a:r>
              <a:rPr lang="fr-FR" sz="24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fr-FR" sz="240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phishing</a:t>
            </a:r>
            <a:r>
              <a:rPr lang="fr-FR" sz="24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email </a:t>
            </a:r>
            <a:r>
              <a:rPr lang="fr-FR" sz="240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generation</a:t>
            </a:r>
            <a:r>
              <a:rPr lang="fr-FR" sz="24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(</a:t>
            </a:r>
            <a:r>
              <a:rPr lang="fr-FR" sz="240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e.g</a:t>
            </a:r>
            <a:r>
              <a:rPr lang="fr-FR" sz="24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., </a:t>
            </a:r>
            <a:r>
              <a:rPr lang="fr-FR" sz="240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WormGPT</a:t>
            </a:r>
            <a:r>
              <a:rPr lang="fr-FR" sz="24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lang="fr-FR" sz="2400" dirty="0" err="1" smtClean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FraudGPT</a:t>
            </a:r>
            <a:r>
              <a:rPr lang="fr-FR" sz="2400" dirty="0" smtClean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)</a:t>
            </a:r>
          </a:p>
          <a:p>
            <a:pPr lvl="0" algn="just">
              <a:lnSpc>
                <a:spcPct val="115000"/>
              </a:lnSpc>
            </a:pPr>
            <a:r>
              <a:rPr lang="fr-FR" sz="2400" dirty="0" err="1" smtClean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Deepfakes</a:t>
            </a:r>
            <a:r>
              <a:rPr lang="fr-FR" sz="2400" dirty="0" smtClean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fr-FR" sz="24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for </a:t>
            </a:r>
            <a:r>
              <a:rPr lang="fr-FR" sz="240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fraud</a:t>
            </a:r>
            <a:r>
              <a:rPr lang="fr-FR" sz="24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or </a:t>
            </a:r>
            <a:r>
              <a:rPr lang="fr-FR" sz="2400" dirty="0" err="1" smtClean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disinformation</a:t>
            </a:r>
            <a:endParaRPr lang="fr-FR" sz="2400" dirty="0" smtClean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lvl="0" algn="just">
              <a:lnSpc>
                <a:spcPct val="115000"/>
              </a:lnSpc>
            </a:pPr>
            <a:r>
              <a:rPr lang="fr-FR" sz="2400" dirty="0" err="1" smtClean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Creation</a:t>
            </a:r>
            <a:r>
              <a:rPr lang="fr-FR" sz="2400" dirty="0" smtClean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fr-FR" sz="24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of </a:t>
            </a:r>
            <a:r>
              <a:rPr lang="fr-FR" sz="240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polymorphic</a:t>
            </a:r>
            <a:r>
              <a:rPr lang="fr-FR" sz="24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fr-FR" sz="2400" dirty="0" smtClean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malware</a:t>
            </a:r>
          </a:p>
          <a:p>
            <a:pPr lvl="0" algn="just">
              <a:lnSpc>
                <a:spcPct val="115000"/>
              </a:lnSpc>
            </a:pPr>
            <a:r>
              <a:rPr lang="fr-FR" sz="2400" dirty="0" err="1" smtClean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Automated</a:t>
            </a:r>
            <a:r>
              <a:rPr lang="fr-FR" sz="2400" dirty="0" smtClean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fr-FR" sz="24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scanning and intrusion </a:t>
            </a:r>
            <a:r>
              <a:rPr lang="fr-FR" sz="240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campaigns</a:t>
            </a:r>
            <a:endParaRPr lang="fr-FR" sz="240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328" name="Google Shape;328;p17"/>
          <p:cNvGrpSpPr/>
          <p:nvPr/>
        </p:nvGrpSpPr>
        <p:grpSpPr>
          <a:xfrm rot="5400000">
            <a:off x="10847561" y="4961683"/>
            <a:ext cx="2809881" cy="409797"/>
            <a:chOff x="0" y="-47625"/>
            <a:chExt cx="812800" cy="118539"/>
          </a:xfrm>
        </p:grpSpPr>
        <p:sp>
          <p:nvSpPr>
            <p:cNvPr id="329" name="Google Shape;329;p17"/>
            <p:cNvSpPr/>
            <p:nvPr/>
          </p:nvSpPr>
          <p:spPr>
            <a:xfrm>
              <a:off x="0" y="0"/>
              <a:ext cx="812800" cy="70914"/>
            </a:xfrm>
            <a:custGeom>
              <a:avLst/>
              <a:gdLst/>
              <a:ahLst/>
              <a:cxnLst/>
              <a:rect l="l" t="t" r="r" b="b"/>
              <a:pathLst>
                <a:path w="812800" h="70914" extrusionOk="0">
                  <a:moveTo>
                    <a:pt x="0" y="0"/>
                  </a:moveTo>
                  <a:lnTo>
                    <a:pt x="812800" y="0"/>
                  </a:lnTo>
                  <a:lnTo>
                    <a:pt x="812800" y="70914"/>
                  </a:lnTo>
                  <a:lnTo>
                    <a:pt x="0" y="70914"/>
                  </a:lnTo>
                  <a:close/>
                </a:path>
              </a:pathLst>
            </a:custGeom>
            <a:solidFill>
              <a:srgbClr val="5CE1E6"/>
            </a:solidFill>
            <a:ln>
              <a:noFill/>
            </a:ln>
          </p:spPr>
        </p:sp>
        <p:sp>
          <p:nvSpPr>
            <p:cNvPr id="330" name="Google Shape;330;p17"/>
            <p:cNvSpPr txBox="1"/>
            <p:nvPr/>
          </p:nvSpPr>
          <p:spPr>
            <a:xfrm>
              <a:off x="0" y="-47625"/>
              <a:ext cx="812800" cy="1185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31" name="Google Shape;331;p17"/>
          <p:cNvGrpSpPr/>
          <p:nvPr/>
        </p:nvGrpSpPr>
        <p:grpSpPr>
          <a:xfrm rot="5400000">
            <a:off x="16059257" y="4961683"/>
            <a:ext cx="2809881" cy="409797"/>
            <a:chOff x="0" y="-47625"/>
            <a:chExt cx="812800" cy="118539"/>
          </a:xfrm>
        </p:grpSpPr>
        <p:sp>
          <p:nvSpPr>
            <p:cNvPr id="332" name="Google Shape;332;p17"/>
            <p:cNvSpPr/>
            <p:nvPr/>
          </p:nvSpPr>
          <p:spPr>
            <a:xfrm>
              <a:off x="0" y="0"/>
              <a:ext cx="812800" cy="70914"/>
            </a:xfrm>
            <a:custGeom>
              <a:avLst/>
              <a:gdLst/>
              <a:ahLst/>
              <a:cxnLst/>
              <a:rect l="l" t="t" r="r" b="b"/>
              <a:pathLst>
                <a:path w="812800" h="70914" extrusionOk="0">
                  <a:moveTo>
                    <a:pt x="0" y="0"/>
                  </a:moveTo>
                  <a:lnTo>
                    <a:pt x="812800" y="0"/>
                  </a:lnTo>
                  <a:lnTo>
                    <a:pt x="812800" y="70914"/>
                  </a:lnTo>
                  <a:lnTo>
                    <a:pt x="0" y="70914"/>
                  </a:lnTo>
                  <a:close/>
                </a:path>
              </a:pathLst>
            </a:custGeom>
            <a:solidFill>
              <a:srgbClr val="5CE1E6"/>
            </a:solidFill>
            <a:ln>
              <a:noFill/>
            </a:ln>
          </p:spPr>
        </p:sp>
        <p:sp>
          <p:nvSpPr>
            <p:cNvPr id="333" name="Google Shape;333;p17"/>
            <p:cNvSpPr txBox="1"/>
            <p:nvPr/>
          </p:nvSpPr>
          <p:spPr>
            <a:xfrm>
              <a:off x="0" y="-47625"/>
              <a:ext cx="812800" cy="1185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4" name="Google Shape;334;p17"/>
          <p:cNvSpPr/>
          <p:nvPr/>
        </p:nvSpPr>
        <p:spPr>
          <a:xfrm>
            <a:off x="9959198" y="1374914"/>
            <a:ext cx="1469549" cy="1472226"/>
          </a:xfrm>
          <a:custGeom>
            <a:avLst/>
            <a:gdLst/>
            <a:ahLst/>
            <a:cxnLst/>
            <a:rect l="l" t="t" r="r" b="b"/>
            <a:pathLst>
              <a:path w="1469549" h="1472226" extrusionOk="0">
                <a:moveTo>
                  <a:pt x="0" y="0"/>
                </a:moveTo>
                <a:lnTo>
                  <a:pt x="1469549" y="0"/>
                </a:lnTo>
                <a:lnTo>
                  <a:pt x="1469549" y="1472226"/>
                </a:lnTo>
                <a:lnTo>
                  <a:pt x="0" y="147222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pic>
        <p:nvPicPr>
          <p:cNvPr id="335" name="Google Shape;335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-2885622" y="6343550"/>
            <a:ext cx="7317873" cy="1542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6" name="Google Shape;336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805266" y="-391025"/>
            <a:ext cx="7317873" cy="1542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" name="Google Shape;337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2244149" y="1374923"/>
            <a:ext cx="5006251" cy="7482166"/>
          </a:xfrm>
          <a:prstGeom prst="rect">
            <a:avLst/>
          </a:prstGeom>
          <a:noFill/>
          <a:ln>
            <a:noFill/>
          </a:ln>
        </p:spPr>
      </p:pic>
      <p:pic>
        <p:nvPicPr>
          <p:cNvPr id="338" name="Google Shape;338;p1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382874" y="8947575"/>
            <a:ext cx="7286124" cy="237405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8" name="Google Shape;180;p13"/>
          <p:cNvGrpSpPr/>
          <p:nvPr/>
        </p:nvGrpSpPr>
        <p:grpSpPr>
          <a:xfrm>
            <a:off x="528679" y="1768239"/>
            <a:ext cx="1731395" cy="1912221"/>
            <a:chOff x="0" y="-47625"/>
            <a:chExt cx="456005" cy="503630"/>
          </a:xfrm>
        </p:grpSpPr>
        <p:sp>
          <p:nvSpPr>
            <p:cNvPr id="29" name="Google Shape;181;p13"/>
            <p:cNvSpPr/>
            <p:nvPr/>
          </p:nvSpPr>
          <p:spPr>
            <a:xfrm>
              <a:off x="0" y="0"/>
              <a:ext cx="456005" cy="456005"/>
            </a:xfrm>
            <a:custGeom>
              <a:avLst/>
              <a:gdLst/>
              <a:ahLst/>
              <a:cxnLst/>
              <a:rect l="l" t="t" r="r" b="b"/>
              <a:pathLst>
                <a:path w="456005" h="456005" extrusionOk="0">
                  <a:moveTo>
                    <a:pt x="0" y="0"/>
                  </a:moveTo>
                  <a:lnTo>
                    <a:pt x="456005" y="0"/>
                  </a:lnTo>
                  <a:lnTo>
                    <a:pt x="456005" y="456005"/>
                  </a:lnTo>
                  <a:lnTo>
                    <a:pt x="0" y="45600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 cmpd="sng">
              <a:solidFill>
                <a:srgbClr val="06D59F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30" name="Google Shape;182;p13"/>
            <p:cNvSpPr txBox="1"/>
            <p:nvPr/>
          </p:nvSpPr>
          <p:spPr>
            <a:xfrm>
              <a:off x="0" y="-47625"/>
              <a:ext cx="456005" cy="5036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1" name="Google Shape;178;p13"/>
          <p:cNvSpPr/>
          <p:nvPr/>
        </p:nvSpPr>
        <p:spPr>
          <a:xfrm>
            <a:off x="442027" y="1866643"/>
            <a:ext cx="1731395" cy="1731395"/>
          </a:xfrm>
          <a:custGeom>
            <a:avLst/>
            <a:gdLst/>
            <a:ahLst/>
            <a:cxnLst/>
            <a:rect l="l" t="t" r="r" b="b"/>
            <a:pathLst>
              <a:path w="456005" h="456005" extrusionOk="0">
                <a:moveTo>
                  <a:pt x="0" y="0"/>
                </a:moveTo>
                <a:lnTo>
                  <a:pt x="456005" y="0"/>
                </a:lnTo>
                <a:lnTo>
                  <a:pt x="456005" y="456005"/>
                </a:lnTo>
                <a:lnTo>
                  <a:pt x="0" y="45600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38100" cap="sq" cmpd="sng">
            <a:solidFill>
              <a:srgbClr val="5CE1E6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32" name="Google Shape;191;p13"/>
          <p:cNvSpPr txBox="1"/>
          <p:nvPr/>
        </p:nvSpPr>
        <p:spPr>
          <a:xfrm>
            <a:off x="689032" y="1895485"/>
            <a:ext cx="1410687" cy="1853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39" b="0" i="0" u="none" strike="noStrike" cap="none" dirty="0" smtClean="0">
                <a:solidFill>
                  <a:srgbClr val="FFFFFF"/>
                </a:solidFill>
                <a:latin typeface="Teko"/>
                <a:ea typeface="Teko"/>
                <a:cs typeface="Teko"/>
                <a:sym typeface="Teko"/>
              </a:rPr>
              <a:t>04.</a:t>
            </a:r>
            <a:endParaRPr dirty="0"/>
          </a:p>
        </p:txBody>
      </p:sp>
      <p:sp>
        <p:nvSpPr>
          <p:cNvPr id="33" name="Google Shape;266;p15"/>
          <p:cNvSpPr txBox="1"/>
          <p:nvPr/>
        </p:nvSpPr>
        <p:spPr>
          <a:xfrm>
            <a:off x="1326761" y="6467515"/>
            <a:ext cx="10502862" cy="29731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algn="just">
              <a:lnSpc>
                <a:spcPct val="115000"/>
              </a:lnSpc>
              <a:defRPr sz="240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pPr algn="l"/>
            <a:r>
              <a:rPr lang="fr-FR" b="1" dirty="0"/>
              <a:t>Case </a:t>
            </a:r>
            <a:r>
              <a:rPr lang="fr-FR" b="1" dirty="0" err="1"/>
              <a:t>studies</a:t>
            </a:r>
            <a:r>
              <a:rPr lang="fr-FR" b="1" dirty="0"/>
              <a:t>:</a:t>
            </a:r>
            <a:r>
              <a:rPr lang="fr-FR" dirty="0"/>
              <a:t/>
            </a:r>
            <a:br>
              <a:rPr lang="fr-FR" dirty="0"/>
            </a:br>
            <a:r>
              <a:rPr lang="fr-FR" dirty="0"/>
              <a:t>• </a:t>
            </a:r>
            <a:r>
              <a:rPr lang="fr-FR" b="1" dirty="0"/>
              <a:t>CEO </a:t>
            </a:r>
            <a:r>
              <a:rPr lang="fr-FR" b="1" dirty="0" err="1"/>
              <a:t>voice</a:t>
            </a:r>
            <a:r>
              <a:rPr lang="fr-FR" b="1" dirty="0"/>
              <a:t> </a:t>
            </a:r>
            <a:r>
              <a:rPr lang="fr-FR" b="1" dirty="0" err="1"/>
              <a:t>spoofing</a:t>
            </a:r>
            <a:r>
              <a:rPr lang="fr-FR" b="1" dirty="0"/>
              <a:t>:</a:t>
            </a:r>
            <a:r>
              <a:rPr lang="fr-FR" dirty="0"/>
              <a:t> AI-</a:t>
            </a:r>
            <a:r>
              <a:rPr lang="fr-FR" dirty="0" err="1"/>
              <a:t>assisted</a:t>
            </a:r>
            <a:r>
              <a:rPr lang="fr-FR" dirty="0"/>
              <a:t> </a:t>
            </a:r>
            <a:r>
              <a:rPr lang="fr-FR" dirty="0" err="1"/>
              <a:t>voicemail</a:t>
            </a:r>
            <a:r>
              <a:rPr lang="fr-FR" dirty="0"/>
              <a:t> </a:t>
            </a:r>
            <a:r>
              <a:rPr lang="fr-FR" dirty="0" err="1"/>
              <a:t>fraud</a:t>
            </a:r>
            <a:r>
              <a:rPr lang="fr-FR" dirty="0"/>
              <a:t> </a:t>
            </a:r>
            <a:r>
              <a:rPr lang="fr-FR" dirty="0" err="1"/>
              <a:t>leading</a:t>
            </a:r>
            <a:r>
              <a:rPr lang="fr-FR" dirty="0"/>
              <a:t> to large </a:t>
            </a:r>
            <a:r>
              <a:rPr lang="fr-FR" dirty="0" err="1"/>
              <a:t>financial</a:t>
            </a:r>
            <a:r>
              <a:rPr lang="fr-FR" dirty="0"/>
              <a:t> </a:t>
            </a:r>
            <a:r>
              <a:rPr lang="fr-FR" dirty="0" err="1"/>
              <a:t>transfers</a:t>
            </a:r>
            <a:r>
              <a:rPr lang="fr-FR" dirty="0"/>
              <a:t>.</a:t>
            </a:r>
            <a:br>
              <a:rPr lang="fr-FR" dirty="0"/>
            </a:br>
            <a:r>
              <a:rPr lang="fr-FR" dirty="0"/>
              <a:t>• </a:t>
            </a:r>
            <a:r>
              <a:rPr lang="fr-FR" b="1" dirty="0" err="1"/>
              <a:t>Political</a:t>
            </a:r>
            <a:r>
              <a:rPr lang="fr-FR" b="1" dirty="0"/>
              <a:t> </a:t>
            </a:r>
            <a:r>
              <a:rPr lang="fr-FR" b="1" dirty="0" err="1"/>
              <a:t>disinformation</a:t>
            </a:r>
            <a:r>
              <a:rPr lang="fr-FR" b="1" dirty="0"/>
              <a:t>:</a:t>
            </a:r>
            <a:r>
              <a:rPr lang="fr-FR" dirty="0"/>
              <a:t> Large-</a:t>
            </a:r>
            <a:r>
              <a:rPr lang="fr-FR" dirty="0" err="1"/>
              <a:t>scale</a:t>
            </a:r>
            <a:r>
              <a:rPr lang="fr-FR" dirty="0"/>
              <a:t> </a:t>
            </a:r>
            <a:r>
              <a:rPr lang="fr-FR" dirty="0" err="1"/>
              <a:t>propaganda</a:t>
            </a:r>
            <a:r>
              <a:rPr lang="fr-FR" dirty="0"/>
              <a:t> </a:t>
            </a:r>
            <a:r>
              <a:rPr lang="fr-FR" dirty="0" err="1"/>
              <a:t>campaigns</a:t>
            </a:r>
            <a:r>
              <a:rPr lang="fr-FR" dirty="0"/>
              <a:t> </a:t>
            </a:r>
            <a:r>
              <a:rPr lang="fr-FR" dirty="0" err="1"/>
              <a:t>generated</a:t>
            </a:r>
            <a:r>
              <a:rPr lang="fr-FR" dirty="0"/>
              <a:t> </a:t>
            </a:r>
            <a:r>
              <a:rPr lang="fr-FR" dirty="0" err="1"/>
              <a:t>with</a:t>
            </a:r>
            <a:r>
              <a:rPr lang="fr-FR" dirty="0"/>
              <a:t> </a:t>
            </a:r>
            <a:r>
              <a:rPr lang="fr-FR" dirty="0" err="1"/>
              <a:t>generative</a:t>
            </a:r>
            <a:r>
              <a:rPr lang="fr-FR" dirty="0"/>
              <a:t> AI.</a:t>
            </a:r>
            <a:br>
              <a:rPr lang="fr-FR" dirty="0"/>
            </a:br>
            <a:r>
              <a:rPr lang="fr-FR" dirty="0"/>
              <a:t>• </a:t>
            </a:r>
            <a:r>
              <a:rPr lang="fr-FR" b="1" dirty="0" err="1"/>
              <a:t>Automated</a:t>
            </a:r>
            <a:r>
              <a:rPr lang="fr-FR" b="1" dirty="0"/>
              <a:t> </a:t>
            </a:r>
            <a:r>
              <a:rPr lang="fr-FR" b="1" dirty="0" err="1"/>
              <a:t>targeted</a:t>
            </a:r>
            <a:r>
              <a:rPr lang="fr-FR" b="1" dirty="0"/>
              <a:t> </a:t>
            </a:r>
            <a:r>
              <a:rPr lang="fr-FR" b="1" dirty="0" err="1"/>
              <a:t>attacks</a:t>
            </a:r>
            <a:r>
              <a:rPr lang="fr-FR" b="1" dirty="0"/>
              <a:t>:</a:t>
            </a:r>
            <a:r>
              <a:rPr lang="fr-FR" dirty="0"/>
              <a:t> Mass, AI-</a:t>
            </a:r>
            <a:r>
              <a:rPr lang="fr-FR" dirty="0" err="1"/>
              <a:t>driven</a:t>
            </a:r>
            <a:r>
              <a:rPr lang="fr-FR" dirty="0"/>
              <a:t> </a:t>
            </a:r>
            <a:r>
              <a:rPr lang="fr-FR" dirty="0" err="1"/>
              <a:t>campaigns</a:t>
            </a:r>
            <a:r>
              <a:rPr lang="fr-FR" dirty="0"/>
              <a:t> </a:t>
            </a:r>
            <a:r>
              <a:rPr lang="fr-FR" dirty="0" err="1"/>
              <a:t>that</a:t>
            </a:r>
            <a:r>
              <a:rPr lang="fr-FR" dirty="0"/>
              <a:t> </a:t>
            </a:r>
            <a:r>
              <a:rPr lang="fr-FR" dirty="0" err="1"/>
              <a:t>adapt</a:t>
            </a:r>
            <a:r>
              <a:rPr lang="fr-FR" dirty="0"/>
              <a:t> to </a:t>
            </a:r>
            <a:r>
              <a:rPr lang="fr-FR" dirty="0" err="1"/>
              <a:t>defenses</a:t>
            </a:r>
            <a:r>
              <a:rPr lang="fr-FR" dirty="0"/>
              <a:t> and </a:t>
            </a:r>
            <a:r>
              <a:rPr lang="fr-FR" dirty="0" err="1"/>
              <a:t>scale</a:t>
            </a:r>
            <a:r>
              <a:rPr lang="fr-FR" dirty="0"/>
              <a:t> </a:t>
            </a:r>
            <a:r>
              <a:rPr lang="fr-FR" dirty="0" err="1"/>
              <a:t>quickly</a:t>
            </a:r>
            <a:r>
              <a:rPr lang="fr-FR" dirty="0"/>
              <a:t>.</a:t>
            </a:r>
            <a:endParaRPr lang="fr-FR" sz="1800" dirty="0">
              <a:sym typeface="Montserrat"/>
            </a:endParaRPr>
          </a:p>
        </p:txBody>
      </p:sp>
      <p:pic>
        <p:nvPicPr>
          <p:cNvPr id="34" name="Picture 4">
            <a:extLst>
              <a:ext uri="{FF2B5EF4-FFF2-40B4-BE49-F238E27FC236}">
                <a16:creationId xmlns:a16="http://schemas.microsoft.com/office/drawing/2014/main" xmlns="" id="{270D83C3-D98F-456B-7963-90A37116DD8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7003" y="267249"/>
            <a:ext cx="992621" cy="991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15564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3" name="Google Shape;31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98475" y="545850"/>
            <a:ext cx="7088601" cy="9113051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17"/>
          <p:cNvSpPr txBox="1"/>
          <p:nvPr/>
        </p:nvSpPr>
        <p:spPr>
          <a:xfrm>
            <a:off x="2456620" y="2046268"/>
            <a:ext cx="7378075" cy="1625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20005"/>
              </a:lnSpc>
            </a:pPr>
            <a:r>
              <a:rPr lang="en-US" sz="8800" dirty="0" smtClean="0">
                <a:solidFill>
                  <a:srgbClr val="FFFFFF"/>
                </a:solidFill>
                <a:latin typeface="Teko"/>
                <a:ea typeface="Teko"/>
                <a:cs typeface="Teko"/>
                <a:sym typeface="Teko"/>
              </a:rPr>
              <a:t>CYBERWAR AND AI</a:t>
            </a:r>
            <a:endParaRPr lang="en-US" sz="8800" dirty="0">
              <a:solidFill>
                <a:srgbClr val="FFFFFF"/>
              </a:solidFill>
              <a:latin typeface="Teko"/>
              <a:ea typeface="Teko"/>
              <a:cs typeface="Teko"/>
              <a:sym typeface="Teko"/>
            </a:endParaRPr>
          </a:p>
        </p:txBody>
      </p:sp>
      <p:sp>
        <p:nvSpPr>
          <p:cNvPr id="321" name="Google Shape;321;p17"/>
          <p:cNvSpPr txBox="1"/>
          <p:nvPr/>
        </p:nvSpPr>
        <p:spPr>
          <a:xfrm>
            <a:off x="1253383" y="4022949"/>
            <a:ext cx="10354089" cy="127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just">
              <a:lnSpc>
                <a:spcPct val="115000"/>
              </a:lnSpc>
            </a:pPr>
            <a:r>
              <a:rPr lang="en-US" sz="2400" dirty="0" smtClean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Military </a:t>
            </a:r>
            <a:r>
              <a:rPr lang="en-US" sz="24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and strategic use of </a:t>
            </a:r>
            <a:r>
              <a:rPr lang="en-US" sz="2400" dirty="0" smtClean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AI</a:t>
            </a:r>
          </a:p>
          <a:p>
            <a:pPr lvl="0" algn="just">
              <a:lnSpc>
                <a:spcPct val="115000"/>
              </a:lnSpc>
            </a:pPr>
            <a:r>
              <a:rPr lang="en-US" sz="2400" dirty="0" smtClean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Cognitive </a:t>
            </a:r>
            <a:r>
              <a:rPr lang="en-US" sz="24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warfare and information </a:t>
            </a:r>
            <a:r>
              <a:rPr lang="en-US" sz="2400" dirty="0" smtClean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manipulation</a:t>
            </a:r>
          </a:p>
          <a:p>
            <a:pPr lvl="0" algn="just">
              <a:lnSpc>
                <a:spcPct val="115000"/>
              </a:lnSpc>
            </a:pPr>
            <a:r>
              <a:rPr lang="en-US" sz="2400" dirty="0" smtClean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Digital </a:t>
            </a:r>
            <a:r>
              <a:rPr lang="en-US" sz="24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sovereignty and technological dependence</a:t>
            </a:r>
            <a:endParaRPr lang="fr-FR" sz="240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328" name="Google Shape;328;p17"/>
          <p:cNvGrpSpPr/>
          <p:nvPr/>
        </p:nvGrpSpPr>
        <p:grpSpPr>
          <a:xfrm rot="5400000">
            <a:off x="10847561" y="4961683"/>
            <a:ext cx="2809881" cy="409797"/>
            <a:chOff x="0" y="-47625"/>
            <a:chExt cx="812800" cy="118539"/>
          </a:xfrm>
        </p:grpSpPr>
        <p:sp>
          <p:nvSpPr>
            <p:cNvPr id="329" name="Google Shape;329;p17"/>
            <p:cNvSpPr/>
            <p:nvPr/>
          </p:nvSpPr>
          <p:spPr>
            <a:xfrm>
              <a:off x="0" y="0"/>
              <a:ext cx="812800" cy="70914"/>
            </a:xfrm>
            <a:custGeom>
              <a:avLst/>
              <a:gdLst/>
              <a:ahLst/>
              <a:cxnLst/>
              <a:rect l="l" t="t" r="r" b="b"/>
              <a:pathLst>
                <a:path w="812800" h="70914" extrusionOk="0">
                  <a:moveTo>
                    <a:pt x="0" y="0"/>
                  </a:moveTo>
                  <a:lnTo>
                    <a:pt x="812800" y="0"/>
                  </a:lnTo>
                  <a:lnTo>
                    <a:pt x="812800" y="70914"/>
                  </a:lnTo>
                  <a:lnTo>
                    <a:pt x="0" y="70914"/>
                  </a:lnTo>
                  <a:close/>
                </a:path>
              </a:pathLst>
            </a:custGeom>
            <a:solidFill>
              <a:srgbClr val="5CE1E6"/>
            </a:solidFill>
            <a:ln>
              <a:noFill/>
            </a:ln>
          </p:spPr>
        </p:sp>
        <p:sp>
          <p:nvSpPr>
            <p:cNvPr id="330" name="Google Shape;330;p17"/>
            <p:cNvSpPr txBox="1"/>
            <p:nvPr/>
          </p:nvSpPr>
          <p:spPr>
            <a:xfrm>
              <a:off x="0" y="-47625"/>
              <a:ext cx="812800" cy="1185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31" name="Google Shape;331;p17"/>
          <p:cNvGrpSpPr/>
          <p:nvPr/>
        </p:nvGrpSpPr>
        <p:grpSpPr>
          <a:xfrm rot="5400000">
            <a:off x="16059257" y="4961683"/>
            <a:ext cx="2809881" cy="409797"/>
            <a:chOff x="0" y="-47625"/>
            <a:chExt cx="812800" cy="118539"/>
          </a:xfrm>
        </p:grpSpPr>
        <p:sp>
          <p:nvSpPr>
            <p:cNvPr id="332" name="Google Shape;332;p17"/>
            <p:cNvSpPr/>
            <p:nvPr/>
          </p:nvSpPr>
          <p:spPr>
            <a:xfrm>
              <a:off x="0" y="0"/>
              <a:ext cx="812800" cy="70914"/>
            </a:xfrm>
            <a:custGeom>
              <a:avLst/>
              <a:gdLst/>
              <a:ahLst/>
              <a:cxnLst/>
              <a:rect l="l" t="t" r="r" b="b"/>
              <a:pathLst>
                <a:path w="812800" h="70914" extrusionOk="0">
                  <a:moveTo>
                    <a:pt x="0" y="0"/>
                  </a:moveTo>
                  <a:lnTo>
                    <a:pt x="812800" y="0"/>
                  </a:lnTo>
                  <a:lnTo>
                    <a:pt x="812800" y="70914"/>
                  </a:lnTo>
                  <a:lnTo>
                    <a:pt x="0" y="70914"/>
                  </a:lnTo>
                  <a:close/>
                </a:path>
              </a:pathLst>
            </a:custGeom>
            <a:solidFill>
              <a:srgbClr val="5CE1E6"/>
            </a:solidFill>
            <a:ln>
              <a:noFill/>
            </a:ln>
          </p:spPr>
        </p:sp>
        <p:sp>
          <p:nvSpPr>
            <p:cNvPr id="333" name="Google Shape;333;p17"/>
            <p:cNvSpPr txBox="1"/>
            <p:nvPr/>
          </p:nvSpPr>
          <p:spPr>
            <a:xfrm>
              <a:off x="0" y="-47625"/>
              <a:ext cx="812800" cy="1185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4" name="Google Shape;334;p17"/>
          <p:cNvSpPr/>
          <p:nvPr/>
        </p:nvSpPr>
        <p:spPr>
          <a:xfrm>
            <a:off x="9959198" y="1374914"/>
            <a:ext cx="1469549" cy="1472226"/>
          </a:xfrm>
          <a:custGeom>
            <a:avLst/>
            <a:gdLst/>
            <a:ahLst/>
            <a:cxnLst/>
            <a:rect l="l" t="t" r="r" b="b"/>
            <a:pathLst>
              <a:path w="1469549" h="1472226" extrusionOk="0">
                <a:moveTo>
                  <a:pt x="0" y="0"/>
                </a:moveTo>
                <a:lnTo>
                  <a:pt x="1469549" y="0"/>
                </a:lnTo>
                <a:lnTo>
                  <a:pt x="1469549" y="1472226"/>
                </a:lnTo>
                <a:lnTo>
                  <a:pt x="0" y="147222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pic>
        <p:nvPicPr>
          <p:cNvPr id="335" name="Google Shape;335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-2885622" y="6343550"/>
            <a:ext cx="7317873" cy="1542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6" name="Google Shape;336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805266" y="-391025"/>
            <a:ext cx="7317873" cy="1542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" name="Google Shape;337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2244149" y="1374923"/>
            <a:ext cx="5006251" cy="7482166"/>
          </a:xfrm>
          <a:prstGeom prst="rect">
            <a:avLst/>
          </a:prstGeom>
          <a:noFill/>
          <a:ln>
            <a:noFill/>
          </a:ln>
        </p:spPr>
      </p:pic>
      <p:pic>
        <p:nvPicPr>
          <p:cNvPr id="338" name="Google Shape;338;p1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382874" y="8947575"/>
            <a:ext cx="7286124" cy="237405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8" name="Google Shape;180;p13"/>
          <p:cNvGrpSpPr/>
          <p:nvPr/>
        </p:nvGrpSpPr>
        <p:grpSpPr>
          <a:xfrm>
            <a:off x="528679" y="1768239"/>
            <a:ext cx="1731395" cy="1912221"/>
            <a:chOff x="0" y="-47625"/>
            <a:chExt cx="456005" cy="503630"/>
          </a:xfrm>
        </p:grpSpPr>
        <p:sp>
          <p:nvSpPr>
            <p:cNvPr id="29" name="Google Shape;181;p13"/>
            <p:cNvSpPr/>
            <p:nvPr/>
          </p:nvSpPr>
          <p:spPr>
            <a:xfrm>
              <a:off x="0" y="0"/>
              <a:ext cx="456005" cy="456005"/>
            </a:xfrm>
            <a:custGeom>
              <a:avLst/>
              <a:gdLst/>
              <a:ahLst/>
              <a:cxnLst/>
              <a:rect l="l" t="t" r="r" b="b"/>
              <a:pathLst>
                <a:path w="456005" h="456005" extrusionOk="0">
                  <a:moveTo>
                    <a:pt x="0" y="0"/>
                  </a:moveTo>
                  <a:lnTo>
                    <a:pt x="456005" y="0"/>
                  </a:lnTo>
                  <a:lnTo>
                    <a:pt x="456005" y="456005"/>
                  </a:lnTo>
                  <a:lnTo>
                    <a:pt x="0" y="45600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 cmpd="sng">
              <a:solidFill>
                <a:srgbClr val="06D59F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30" name="Google Shape;182;p13"/>
            <p:cNvSpPr txBox="1"/>
            <p:nvPr/>
          </p:nvSpPr>
          <p:spPr>
            <a:xfrm>
              <a:off x="0" y="-47625"/>
              <a:ext cx="456005" cy="5036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1" name="Google Shape;178;p13"/>
          <p:cNvSpPr/>
          <p:nvPr/>
        </p:nvSpPr>
        <p:spPr>
          <a:xfrm>
            <a:off x="442027" y="1866643"/>
            <a:ext cx="1731395" cy="1731395"/>
          </a:xfrm>
          <a:custGeom>
            <a:avLst/>
            <a:gdLst/>
            <a:ahLst/>
            <a:cxnLst/>
            <a:rect l="l" t="t" r="r" b="b"/>
            <a:pathLst>
              <a:path w="456005" h="456005" extrusionOk="0">
                <a:moveTo>
                  <a:pt x="0" y="0"/>
                </a:moveTo>
                <a:lnTo>
                  <a:pt x="456005" y="0"/>
                </a:lnTo>
                <a:lnTo>
                  <a:pt x="456005" y="456005"/>
                </a:lnTo>
                <a:lnTo>
                  <a:pt x="0" y="45600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38100" cap="sq" cmpd="sng">
            <a:solidFill>
              <a:srgbClr val="5CE1E6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32" name="Google Shape;191;p13"/>
          <p:cNvSpPr txBox="1"/>
          <p:nvPr/>
        </p:nvSpPr>
        <p:spPr>
          <a:xfrm>
            <a:off x="689032" y="1895485"/>
            <a:ext cx="1410687" cy="1853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39" b="0" i="0" u="none" strike="noStrike" cap="none" dirty="0" smtClean="0">
                <a:solidFill>
                  <a:srgbClr val="FFFFFF"/>
                </a:solidFill>
                <a:latin typeface="Teko"/>
                <a:ea typeface="Teko"/>
                <a:cs typeface="Teko"/>
                <a:sym typeface="Teko"/>
              </a:rPr>
              <a:t>05.</a:t>
            </a:r>
            <a:endParaRPr dirty="0"/>
          </a:p>
        </p:txBody>
      </p:sp>
      <p:sp>
        <p:nvSpPr>
          <p:cNvPr id="34" name="Google Shape;266;p15"/>
          <p:cNvSpPr txBox="1"/>
          <p:nvPr/>
        </p:nvSpPr>
        <p:spPr>
          <a:xfrm>
            <a:off x="1309503" y="6668890"/>
            <a:ext cx="10502862" cy="22652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algn="just">
              <a:lnSpc>
                <a:spcPct val="115000"/>
              </a:lnSpc>
              <a:defRPr sz="240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1pPr>
          </a:lstStyle>
          <a:p>
            <a:r>
              <a:rPr lang="en-US" sz="3200" b="1" i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Future of the </a:t>
            </a:r>
            <a:r>
              <a:rPr lang="en-US" sz="3200" b="1" i="1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SOC:</a:t>
            </a:r>
          </a:p>
          <a:p>
            <a:r>
              <a:rPr lang="en-US" dirty="0" smtClean="0"/>
              <a:t>Intelligent </a:t>
            </a:r>
            <a:r>
              <a:rPr lang="en-US" dirty="0"/>
              <a:t>and proactive </a:t>
            </a:r>
            <a:r>
              <a:rPr lang="en-US" dirty="0" smtClean="0"/>
              <a:t>SOC</a:t>
            </a:r>
          </a:p>
          <a:p>
            <a:r>
              <a:rPr lang="en-US" dirty="0" smtClean="0"/>
              <a:t>Reduction </a:t>
            </a:r>
            <a:r>
              <a:rPr lang="en-US" dirty="0"/>
              <a:t>of false </a:t>
            </a:r>
            <a:r>
              <a:rPr lang="en-US" dirty="0" smtClean="0"/>
              <a:t>positives</a:t>
            </a:r>
          </a:p>
          <a:p>
            <a:r>
              <a:rPr lang="en-US" dirty="0" smtClean="0"/>
              <a:t>Human–machine collaboration</a:t>
            </a:r>
          </a:p>
          <a:p>
            <a:r>
              <a:rPr lang="en-US" dirty="0" smtClean="0"/>
              <a:t>Continuous </a:t>
            </a:r>
            <a:r>
              <a:rPr lang="en-US" dirty="0"/>
              <a:t>monitoring through behavioral analytics</a:t>
            </a:r>
            <a:endParaRPr lang="fr-FR" sz="1800" dirty="0"/>
          </a:p>
        </p:txBody>
      </p:sp>
      <p:pic>
        <p:nvPicPr>
          <p:cNvPr id="35" name="Google Shape;409;p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3251075" y="3987947"/>
            <a:ext cx="3205650" cy="222885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" name="Picture 4">
            <a:extLst>
              <a:ext uri="{FF2B5EF4-FFF2-40B4-BE49-F238E27FC236}">
                <a16:creationId xmlns:a16="http://schemas.microsoft.com/office/drawing/2014/main" xmlns="" id="{270D83C3-D98F-456B-7963-90A37116DD8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3905" y="301903"/>
            <a:ext cx="992621" cy="991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26212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38"/>
        </a:solidFill>
        <a:effectLst/>
      </p:bgPr>
    </p:bg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3" name="Google Shape;34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856557" y="546977"/>
            <a:ext cx="23501435" cy="10706476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p18"/>
          <p:cNvSpPr txBox="1"/>
          <p:nvPr/>
        </p:nvSpPr>
        <p:spPr>
          <a:xfrm>
            <a:off x="2421202" y="2240281"/>
            <a:ext cx="8262038" cy="1329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20005"/>
              </a:lnSpc>
            </a:pPr>
            <a:r>
              <a:rPr lang="fr-FR" sz="7200" b="1" dirty="0" smtClean="0">
                <a:solidFill>
                  <a:schemeClr val="bg1"/>
                </a:solidFill>
              </a:rPr>
              <a:t>ETHICS AND BIAS</a:t>
            </a:r>
            <a:endParaRPr lang="fr-FR" sz="7200" b="1" dirty="0">
              <a:solidFill>
                <a:schemeClr val="bg1"/>
              </a:solidFill>
            </a:endParaRPr>
          </a:p>
        </p:txBody>
      </p:sp>
      <p:sp>
        <p:nvSpPr>
          <p:cNvPr id="369" name="Google Shape;369;p18"/>
          <p:cNvSpPr txBox="1"/>
          <p:nvPr/>
        </p:nvSpPr>
        <p:spPr>
          <a:xfrm>
            <a:off x="2099719" y="5019225"/>
            <a:ext cx="11662750" cy="1292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just"/>
            <a:r>
              <a:rPr lang="en-US" sz="2800" dirty="0" smtClean="0">
                <a:solidFill>
                  <a:schemeClr val="bg1"/>
                </a:solidFill>
              </a:rPr>
              <a:t>Risks </a:t>
            </a:r>
            <a:r>
              <a:rPr lang="en-US" sz="2800" dirty="0">
                <a:solidFill>
                  <a:schemeClr val="bg1"/>
                </a:solidFill>
              </a:rPr>
              <a:t>linked to the “black box” nature of </a:t>
            </a:r>
            <a:r>
              <a:rPr lang="en-US" sz="2800" dirty="0" smtClean="0">
                <a:solidFill>
                  <a:schemeClr val="bg1"/>
                </a:solidFill>
              </a:rPr>
              <a:t>algorithms</a:t>
            </a:r>
          </a:p>
          <a:p>
            <a:pPr algn="just"/>
            <a:r>
              <a:rPr lang="en-US" sz="2800" dirty="0" smtClean="0">
                <a:solidFill>
                  <a:schemeClr val="bg1"/>
                </a:solidFill>
              </a:rPr>
              <a:t>Biases </a:t>
            </a:r>
            <a:r>
              <a:rPr lang="en-US" sz="2800" dirty="0">
                <a:solidFill>
                  <a:schemeClr val="bg1"/>
                </a:solidFill>
              </a:rPr>
              <a:t>in training </a:t>
            </a:r>
            <a:r>
              <a:rPr lang="en-US" sz="2800" dirty="0" smtClean="0">
                <a:solidFill>
                  <a:schemeClr val="bg1"/>
                </a:solidFill>
              </a:rPr>
              <a:t>data</a:t>
            </a:r>
          </a:p>
          <a:p>
            <a:pPr algn="just"/>
            <a:r>
              <a:rPr lang="en-US" sz="2800" dirty="0" smtClean="0">
                <a:solidFill>
                  <a:schemeClr val="bg1"/>
                </a:solidFill>
              </a:rPr>
              <a:t>Accountability </a:t>
            </a:r>
            <a:r>
              <a:rPr lang="en-US" sz="2800" dirty="0">
                <a:solidFill>
                  <a:schemeClr val="bg1"/>
                </a:solidFill>
              </a:rPr>
              <a:t>and transparency in AI decision-making</a:t>
            </a:r>
            <a:endParaRPr lang="fr-FR" sz="2800" dirty="0">
              <a:solidFill>
                <a:schemeClr val="bg1"/>
              </a:solidFill>
            </a:endParaRPr>
          </a:p>
        </p:txBody>
      </p:sp>
      <p:sp>
        <p:nvSpPr>
          <p:cNvPr id="383" name="Google Shape;383;p18"/>
          <p:cNvSpPr/>
          <p:nvPr/>
        </p:nvSpPr>
        <p:spPr>
          <a:xfrm>
            <a:off x="15093751" y="5381216"/>
            <a:ext cx="1469549" cy="1472226"/>
          </a:xfrm>
          <a:custGeom>
            <a:avLst/>
            <a:gdLst/>
            <a:ahLst/>
            <a:cxnLst/>
            <a:rect l="l" t="t" r="r" b="b"/>
            <a:pathLst>
              <a:path w="1469549" h="1472226" extrusionOk="0">
                <a:moveTo>
                  <a:pt x="0" y="0"/>
                </a:moveTo>
                <a:lnTo>
                  <a:pt x="1469549" y="0"/>
                </a:lnTo>
                <a:lnTo>
                  <a:pt x="1469549" y="1472226"/>
                </a:lnTo>
                <a:lnTo>
                  <a:pt x="0" y="147222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pic>
        <p:nvPicPr>
          <p:cNvPr id="384" name="Google Shape;384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176375" y="1976375"/>
            <a:ext cx="4684310" cy="2422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8" name="Google Shape;409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768840" y="6853442"/>
            <a:ext cx="3205650" cy="222885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9" name="Google Shape;180;p13"/>
          <p:cNvGrpSpPr/>
          <p:nvPr/>
        </p:nvGrpSpPr>
        <p:grpSpPr>
          <a:xfrm>
            <a:off x="528679" y="1768239"/>
            <a:ext cx="1731395" cy="1912221"/>
            <a:chOff x="0" y="-47625"/>
            <a:chExt cx="456005" cy="503630"/>
          </a:xfrm>
        </p:grpSpPr>
        <p:sp>
          <p:nvSpPr>
            <p:cNvPr id="50" name="Google Shape;181;p13"/>
            <p:cNvSpPr/>
            <p:nvPr/>
          </p:nvSpPr>
          <p:spPr>
            <a:xfrm>
              <a:off x="0" y="0"/>
              <a:ext cx="456005" cy="456005"/>
            </a:xfrm>
            <a:custGeom>
              <a:avLst/>
              <a:gdLst/>
              <a:ahLst/>
              <a:cxnLst/>
              <a:rect l="l" t="t" r="r" b="b"/>
              <a:pathLst>
                <a:path w="456005" h="456005" extrusionOk="0">
                  <a:moveTo>
                    <a:pt x="0" y="0"/>
                  </a:moveTo>
                  <a:lnTo>
                    <a:pt x="456005" y="0"/>
                  </a:lnTo>
                  <a:lnTo>
                    <a:pt x="456005" y="456005"/>
                  </a:lnTo>
                  <a:lnTo>
                    <a:pt x="0" y="45600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 cmpd="sng">
              <a:solidFill>
                <a:srgbClr val="06D59F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51" name="Google Shape;182;p13"/>
            <p:cNvSpPr txBox="1"/>
            <p:nvPr/>
          </p:nvSpPr>
          <p:spPr>
            <a:xfrm>
              <a:off x="0" y="-47625"/>
              <a:ext cx="456005" cy="5036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2" name="Google Shape;178;p13"/>
          <p:cNvSpPr/>
          <p:nvPr/>
        </p:nvSpPr>
        <p:spPr>
          <a:xfrm>
            <a:off x="442027" y="1866643"/>
            <a:ext cx="1731395" cy="1731395"/>
          </a:xfrm>
          <a:custGeom>
            <a:avLst/>
            <a:gdLst/>
            <a:ahLst/>
            <a:cxnLst/>
            <a:rect l="l" t="t" r="r" b="b"/>
            <a:pathLst>
              <a:path w="456005" h="456005" extrusionOk="0">
                <a:moveTo>
                  <a:pt x="0" y="0"/>
                </a:moveTo>
                <a:lnTo>
                  <a:pt x="456005" y="0"/>
                </a:lnTo>
                <a:lnTo>
                  <a:pt x="456005" y="456005"/>
                </a:lnTo>
                <a:lnTo>
                  <a:pt x="0" y="456005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38100" cap="sq" cmpd="sng">
            <a:solidFill>
              <a:srgbClr val="5CE1E6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53" name="Google Shape;191;p13"/>
          <p:cNvSpPr txBox="1"/>
          <p:nvPr/>
        </p:nvSpPr>
        <p:spPr>
          <a:xfrm>
            <a:off x="689032" y="1895485"/>
            <a:ext cx="1410687" cy="1853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39" b="0" i="0" u="none" strike="noStrike" cap="none" dirty="0" smtClean="0">
                <a:solidFill>
                  <a:srgbClr val="FFFFFF"/>
                </a:solidFill>
                <a:latin typeface="Teko"/>
                <a:ea typeface="Teko"/>
                <a:cs typeface="Teko"/>
                <a:sym typeface="Teko"/>
              </a:rPr>
              <a:t>06.</a:t>
            </a:r>
            <a:endParaRPr dirty="0"/>
          </a:p>
        </p:txBody>
      </p:sp>
      <p:pic>
        <p:nvPicPr>
          <p:cNvPr id="54" name="Picture 4">
            <a:extLst>
              <a:ext uri="{FF2B5EF4-FFF2-40B4-BE49-F238E27FC236}">
                <a16:creationId xmlns:a16="http://schemas.microsoft.com/office/drawing/2014/main" xmlns="" id="{270D83C3-D98F-456B-7963-90A37116DD8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2721" y="254880"/>
            <a:ext cx="992621" cy="99104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38"/>
        </a:solidFill>
        <a:effectLst/>
      </p:bgPr>
    </p:bg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19"/>
          <p:cNvSpPr txBox="1"/>
          <p:nvPr/>
        </p:nvSpPr>
        <p:spPr>
          <a:xfrm>
            <a:off x="645398" y="1104461"/>
            <a:ext cx="10327401" cy="2216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20005"/>
              </a:lnSpc>
            </a:pPr>
            <a:r>
              <a:rPr lang="en-US" sz="12002" dirty="0" smtClean="0">
                <a:solidFill>
                  <a:srgbClr val="FFFFFF"/>
                </a:solidFill>
                <a:latin typeface="Teko"/>
                <a:ea typeface="Teko"/>
                <a:cs typeface="Teko"/>
                <a:sym typeface="Teko"/>
              </a:rPr>
              <a:t>DIGITAL SOVEREIGNTY</a:t>
            </a:r>
            <a:endParaRPr lang="en-US" dirty="0"/>
          </a:p>
        </p:txBody>
      </p:sp>
      <p:grpSp>
        <p:nvGrpSpPr>
          <p:cNvPr id="403" name="Google Shape;403;p19"/>
          <p:cNvGrpSpPr/>
          <p:nvPr/>
        </p:nvGrpSpPr>
        <p:grpSpPr>
          <a:xfrm rot="5400000">
            <a:off x="-391623" y="6154589"/>
            <a:ext cx="2809881" cy="409797"/>
            <a:chOff x="0" y="-47625"/>
            <a:chExt cx="812800" cy="118539"/>
          </a:xfrm>
        </p:grpSpPr>
        <p:sp>
          <p:nvSpPr>
            <p:cNvPr id="404" name="Google Shape;404;p19"/>
            <p:cNvSpPr/>
            <p:nvPr/>
          </p:nvSpPr>
          <p:spPr>
            <a:xfrm>
              <a:off x="0" y="0"/>
              <a:ext cx="812800" cy="70914"/>
            </a:xfrm>
            <a:custGeom>
              <a:avLst/>
              <a:gdLst/>
              <a:ahLst/>
              <a:cxnLst/>
              <a:rect l="l" t="t" r="r" b="b"/>
              <a:pathLst>
                <a:path w="812800" h="70914" extrusionOk="0">
                  <a:moveTo>
                    <a:pt x="0" y="0"/>
                  </a:moveTo>
                  <a:lnTo>
                    <a:pt x="812800" y="0"/>
                  </a:lnTo>
                  <a:lnTo>
                    <a:pt x="812800" y="70914"/>
                  </a:lnTo>
                  <a:lnTo>
                    <a:pt x="0" y="70914"/>
                  </a:lnTo>
                  <a:close/>
                </a:path>
              </a:pathLst>
            </a:custGeom>
            <a:solidFill>
              <a:srgbClr val="06D59F"/>
            </a:solidFill>
            <a:ln>
              <a:noFill/>
            </a:ln>
          </p:spPr>
        </p:sp>
        <p:sp>
          <p:nvSpPr>
            <p:cNvPr id="405" name="Google Shape;405;p19"/>
            <p:cNvSpPr txBox="1"/>
            <p:nvPr/>
          </p:nvSpPr>
          <p:spPr>
            <a:xfrm>
              <a:off x="0" y="-47625"/>
              <a:ext cx="812800" cy="1185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06" name="Google Shape;406;p19"/>
          <p:cNvGrpSpPr/>
          <p:nvPr/>
        </p:nvGrpSpPr>
        <p:grpSpPr>
          <a:xfrm rot="5400000">
            <a:off x="16059257" y="6154589"/>
            <a:ext cx="2809881" cy="409797"/>
            <a:chOff x="0" y="-47625"/>
            <a:chExt cx="812800" cy="118539"/>
          </a:xfrm>
        </p:grpSpPr>
        <p:sp>
          <p:nvSpPr>
            <p:cNvPr id="407" name="Google Shape;407;p19"/>
            <p:cNvSpPr/>
            <p:nvPr/>
          </p:nvSpPr>
          <p:spPr>
            <a:xfrm>
              <a:off x="0" y="0"/>
              <a:ext cx="812800" cy="70914"/>
            </a:xfrm>
            <a:custGeom>
              <a:avLst/>
              <a:gdLst/>
              <a:ahLst/>
              <a:cxnLst/>
              <a:rect l="l" t="t" r="r" b="b"/>
              <a:pathLst>
                <a:path w="812800" h="70914" extrusionOk="0">
                  <a:moveTo>
                    <a:pt x="0" y="0"/>
                  </a:moveTo>
                  <a:lnTo>
                    <a:pt x="812800" y="0"/>
                  </a:lnTo>
                  <a:lnTo>
                    <a:pt x="812800" y="70914"/>
                  </a:lnTo>
                  <a:lnTo>
                    <a:pt x="0" y="70914"/>
                  </a:lnTo>
                  <a:close/>
                </a:path>
              </a:pathLst>
            </a:custGeom>
            <a:solidFill>
              <a:srgbClr val="06D59F"/>
            </a:solidFill>
            <a:ln>
              <a:noFill/>
            </a:ln>
          </p:spPr>
        </p:sp>
        <p:sp>
          <p:nvSpPr>
            <p:cNvPr id="408" name="Google Shape;408;p19"/>
            <p:cNvSpPr txBox="1"/>
            <p:nvPr/>
          </p:nvSpPr>
          <p:spPr>
            <a:xfrm>
              <a:off x="0" y="-47625"/>
              <a:ext cx="812800" cy="1185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" name="Google Shape;396;p19"/>
          <p:cNvSpPr txBox="1"/>
          <p:nvPr/>
        </p:nvSpPr>
        <p:spPr>
          <a:xfrm>
            <a:off x="1096591" y="8586875"/>
            <a:ext cx="5141481" cy="947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40000"/>
              </a:lnSpc>
            </a:pPr>
            <a:r>
              <a:rPr lang="en-US" sz="22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Dependence on Foreign Technologies</a:t>
            </a:r>
            <a:endParaRPr dirty="0"/>
          </a:p>
        </p:txBody>
      </p:sp>
      <p:sp>
        <p:nvSpPr>
          <p:cNvPr id="21" name="Google Shape;396;p19"/>
          <p:cNvSpPr txBox="1"/>
          <p:nvPr/>
        </p:nvSpPr>
        <p:spPr>
          <a:xfrm>
            <a:off x="6483930" y="8590189"/>
            <a:ext cx="5292099" cy="947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40000"/>
              </a:lnSpc>
            </a:pPr>
            <a:r>
              <a:rPr lang="en-US" sz="22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The Need for Local and Open-Source Solutions</a:t>
            </a:r>
            <a:endParaRPr lang="fr-FR" sz="220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" name="Google Shape;396;p19"/>
          <p:cNvSpPr txBox="1"/>
          <p:nvPr/>
        </p:nvSpPr>
        <p:spPr>
          <a:xfrm>
            <a:off x="12089777" y="8583561"/>
            <a:ext cx="5292099" cy="473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40000"/>
              </a:lnSpc>
            </a:pPr>
            <a:r>
              <a:rPr lang="en-US" sz="22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National and Strategic Security Issues</a:t>
            </a:r>
            <a:endParaRPr lang="fr-FR" sz="220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591" y="3185653"/>
            <a:ext cx="5387339" cy="5397908"/>
          </a:xfrm>
          <a:prstGeom prst="rect">
            <a:avLst/>
          </a:prstGeom>
        </p:spPr>
      </p:pic>
      <p:pic>
        <p:nvPicPr>
          <p:cNvPr id="3" name="Imag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3930" y="3185654"/>
            <a:ext cx="5359989" cy="5397908"/>
          </a:xfrm>
          <a:prstGeom prst="rect">
            <a:avLst/>
          </a:prstGeom>
        </p:spPr>
      </p:pic>
      <p:pic>
        <p:nvPicPr>
          <p:cNvPr id="4" name="Image 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3918" y="3185653"/>
            <a:ext cx="5350379" cy="5397908"/>
          </a:xfrm>
          <a:prstGeom prst="rect">
            <a:avLst/>
          </a:prstGeom>
        </p:spPr>
      </p:pic>
      <p:pic>
        <p:nvPicPr>
          <p:cNvPr id="26" name="Picture 4">
            <a:extLst>
              <a:ext uri="{FF2B5EF4-FFF2-40B4-BE49-F238E27FC236}">
                <a16:creationId xmlns:a16="http://schemas.microsoft.com/office/drawing/2014/main" xmlns="" id="{270D83C3-D98F-456B-7963-90A37116DD8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5595" y="282014"/>
            <a:ext cx="992621" cy="99104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38"/>
        </a:solidFill>
        <a:effectLst/>
      </p:bgPr>
    </p:bg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4" name="Google Shape;41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248709" y="53575"/>
            <a:ext cx="18999859" cy="10576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15" name="Google Shape;415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2076267" y="391055"/>
            <a:ext cx="19875297" cy="1016087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16" name="Google Shape;416;p20"/>
          <p:cNvGrpSpPr/>
          <p:nvPr/>
        </p:nvGrpSpPr>
        <p:grpSpPr>
          <a:xfrm>
            <a:off x="1028700" y="3930746"/>
            <a:ext cx="2790098" cy="3081495"/>
            <a:chOff x="0" y="-47625"/>
            <a:chExt cx="456005" cy="503630"/>
          </a:xfrm>
        </p:grpSpPr>
        <p:sp>
          <p:nvSpPr>
            <p:cNvPr id="417" name="Google Shape;417;p20"/>
            <p:cNvSpPr/>
            <p:nvPr/>
          </p:nvSpPr>
          <p:spPr>
            <a:xfrm>
              <a:off x="0" y="0"/>
              <a:ext cx="456005" cy="456005"/>
            </a:xfrm>
            <a:custGeom>
              <a:avLst/>
              <a:gdLst/>
              <a:ahLst/>
              <a:cxnLst/>
              <a:rect l="l" t="t" r="r" b="b"/>
              <a:pathLst>
                <a:path w="456005" h="456005" extrusionOk="0">
                  <a:moveTo>
                    <a:pt x="0" y="0"/>
                  </a:moveTo>
                  <a:lnTo>
                    <a:pt x="456005" y="0"/>
                  </a:lnTo>
                  <a:lnTo>
                    <a:pt x="456005" y="456005"/>
                  </a:lnTo>
                  <a:lnTo>
                    <a:pt x="0" y="45600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 cmpd="sng">
              <a:solidFill>
                <a:srgbClr val="06D59F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418" name="Google Shape;418;p20"/>
            <p:cNvSpPr txBox="1"/>
            <p:nvPr/>
          </p:nvSpPr>
          <p:spPr>
            <a:xfrm>
              <a:off x="0" y="-47625"/>
              <a:ext cx="456005" cy="5036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19" name="Google Shape;419;p20"/>
          <p:cNvGrpSpPr/>
          <p:nvPr/>
        </p:nvGrpSpPr>
        <p:grpSpPr>
          <a:xfrm>
            <a:off x="5979771" y="3930746"/>
            <a:ext cx="2790098" cy="3081495"/>
            <a:chOff x="0" y="-47625"/>
            <a:chExt cx="456005" cy="503630"/>
          </a:xfrm>
        </p:grpSpPr>
        <p:sp>
          <p:nvSpPr>
            <p:cNvPr id="420" name="Google Shape;420;p20"/>
            <p:cNvSpPr/>
            <p:nvPr/>
          </p:nvSpPr>
          <p:spPr>
            <a:xfrm>
              <a:off x="0" y="0"/>
              <a:ext cx="456005" cy="456005"/>
            </a:xfrm>
            <a:custGeom>
              <a:avLst/>
              <a:gdLst/>
              <a:ahLst/>
              <a:cxnLst/>
              <a:rect l="l" t="t" r="r" b="b"/>
              <a:pathLst>
                <a:path w="456005" h="456005" extrusionOk="0">
                  <a:moveTo>
                    <a:pt x="0" y="0"/>
                  </a:moveTo>
                  <a:lnTo>
                    <a:pt x="456005" y="0"/>
                  </a:lnTo>
                  <a:lnTo>
                    <a:pt x="456005" y="456005"/>
                  </a:lnTo>
                  <a:lnTo>
                    <a:pt x="0" y="45600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 cmpd="sng">
              <a:solidFill>
                <a:srgbClr val="06D59F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421" name="Google Shape;421;p20"/>
            <p:cNvSpPr txBox="1"/>
            <p:nvPr/>
          </p:nvSpPr>
          <p:spPr>
            <a:xfrm>
              <a:off x="0" y="-47625"/>
              <a:ext cx="456005" cy="5036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22" name="Google Shape;422;p20"/>
          <p:cNvGrpSpPr/>
          <p:nvPr/>
        </p:nvGrpSpPr>
        <p:grpSpPr>
          <a:xfrm>
            <a:off x="1271264" y="4110134"/>
            <a:ext cx="2790098" cy="3081495"/>
            <a:chOff x="0" y="-47625"/>
            <a:chExt cx="456005" cy="503630"/>
          </a:xfrm>
        </p:grpSpPr>
        <p:sp>
          <p:nvSpPr>
            <p:cNvPr id="423" name="Google Shape;423;p20"/>
            <p:cNvSpPr/>
            <p:nvPr/>
          </p:nvSpPr>
          <p:spPr>
            <a:xfrm>
              <a:off x="0" y="0"/>
              <a:ext cx="456005" cy="456005"/>
            </a:xfrm>
            <a:custGeom>
              <a:avLst/>
              <a:gdLst/>
              <a:ahLst/>
              <a:cxnLst/>
              <a:rect l="l" t="t" r="r" b="b"/>
              <a:pathLst>
                <a:path w="456005" h="456005" extrusionOk="0">
                  <a:moveTo>
                    <a:pt x="0" y="0"/>
                  </a:moveTo>
                  <a:lnTo>
                    <a:pt x="456005" y="0"/>
                  </a:lnTo>
                  <a:lnTo>
                    <a:pt x="456005" y="456005"/>
                  </a:lnTo>
                  <a:lnTo>
                    <a:pt x="0" y="45600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 cmpd="sng">
              <a:solidFill>
                <a:srgbClr val="5CE1E6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424" name="Google Shape;424;p20"/>
            <p:cNvSpPr txBox="1"/>
            <p:nvPr/>
          </p:nvSpPr>
          <p:spPr>
            <a:xfrm>
              <a:off x="0" y="-47625"/>
              <a:ext cx="456005" cy="5036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25" name="Google Shape;425;p20"/>
          <p:cNvGrpSpPr/>
          <p:nvPr/>
        </p:nvGrpSpPr>
        <p:grpSpPr>
          <a:xfrm>
            <a:off x="6222336" y="4110134"/>
            <a:ext cx="2790098" cy="3081495"/>
            <a:chOff x="0" y="-47625"/>
            <a:chExt cx="456005" cy="503630"/>
          </a:xfrm>
        </p:grpSpPr>
        <p:sp>
          <p:nvSpPr>
            <p:cNvPr id="426" name="Google Shape;426;p20"/>
            <p:cNvSpPr/>
            <p:nvPr/>
          </p:nvSpPr>
          <p:spPr>
            <a:xfrm>
              <a:off x="0" y="0"/>
              <a:ext cx="456005" cy="456005"/>
            </a:xfrm>
            <a:custGeom>
              <a:avLst/>
              <a:gdLst/>
              <a:ahLst/>
              <a:cxnLst/>
              <a:rect l="l" t="t" r="r" b="b"/>
              <a:pathLst>
                <a:path w="456005" h="456005" extrusionOk="0">
                  <a:moveTo>
                    <a:pt x="0" y="0"/>
                  </a:moveTo>
                  <a:lnTo>
                    <a:pt x="456005" y="0"/>
                  </a:lnTo>
                  <a:lnTo>
                    <a:pt x="456005" y="456005"/>
                  </a:lnTo>
                  <a:lnTo>
                    <a:pt x="0" y="45600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 cmpd="sng">
              <a:solidFill>
                <a:srgbClr val="5CE1E6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427" name="Google Shape;427;p20"/>
            <p:cNvSpPr txBox="1"/>
            <p:nvPr/>
          </p:nvSpPr>
          <p:spPr>
            <a:xfrm>
              <a:off x="0" y="-47625"/>
              <a:ext cx="456005" cy="5036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30" name="Google Shape;430;p20"/>
          <p:cNvSpPr txBox="1"/>
          <p:nvPr/>
        </p:nvSpPr>
        <p:spPr>
          <a:xfrm>
            <a:off x="1271264" y="7868006"/>
            <a:ext cx="3538878" cy="947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40000"/>
              </a:lnSpc>
            </a:pPr>
            <a:r>
              <a:rPr lang="fr-FR" sz="22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Persistent false positives and false </a:t>
            </a:r>
            <a:r>
              <a:rPr lang="fr-FR" sz="220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negatives</a:t>
            </a:r>
            <a:r>
              <a:rPr lang="en-US" sz="2200" b="0" i="0" u="none" strike="noStrike" cap="none" dirty="0" smtClean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dirty="0"/>
          </a:p>
        </p:txBody>
      </p:sp>
      <p:sp>
        <p:nvSpPr>
          <p:cNvPr id="431" name="Google Shape;431;p20"/>
          <p:cNvSpPr txBox="1"/>
          <p:nvPr/>
        </p:nvSpPr>
        <p:spPr>
          <a:xfrm>
            <a:off x="6222336" y="7868006"/>
            <a:ext cx="3538878" cy="947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40000"/>
              </a:lnSpc>
            </a:pPr>
            <a:r>
              <a:rPr lang="en-US" sz="22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High energy cost of AI computation</a:t>
            </a:r>
            <a:endParaRPr dirty="0"/>
          </a:p>
        </p:txBody>
      </p:sp>
      <p:sp>
        <p:nvSpPr>
          <p:cNvPr id="432" name="Google Shape;432;p20"/>
          <p:cNvSpPr txBox="1"/>
          <p:nvPr/>
        </p:nvSpPr>
        <p:spPr>
          <a:xfrm>
            <a:off x="1028700" y="1511645"/>
            <a:ext cx="9902143" cy="2216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20005"/>
              </a:lnSpc>
            </a:pPr>
            <a:r>
              <a:rPr lang="en-US" sz="12002" dirty="0" smtClean="0">
                <a:solidFill>
                  <a:srgbClr val="FFFFFF"/>
                </a:solidFill>
                <a:latin typeface="Teko"/>
                <a:ea typeface="Teko"/>
                <a:cs typeface="Teko"/>
                <a:sym typeface="Teko"/>
              </a:rPr>
              <a:t>CURRENT LIMITATIONS</a:t>
            </a:r>
            <a:endParaRPr lang="en-US" dirty="0"/>
          </a:p>
        </p:txBody>
      </p:sp>
      <p:grpSp>
        <p:nvGrpSpPr>
          <p:cNvPr id="434" name="Google Shape;434;p20"/>
          <p:cNvGrpSpPr/>
          <p:nvPr/>
        </p:nvGrpSpPr>
        <p:grpSpPr>
          <a:xfrm>
            <a:off x="10930843" y="3930746"/>
            <a:ext cx="2790098" cy="3081495"/>
            <a:chOff x="0" y="-47625"/>
            <a:chExt cx="456005" cy="503630"/>
          </a:xfrm>
        </p:grpSpPr>
        <p:sp>
          <p:nvSpPr>
            <p:cNvPr id="435" name="Google Shape;435;p20"/>
            <p:cNvSpPr/>
            <p:nvPr/>
          </p:nvSpPr>
          <p:spPr>
            <a:xfrm>
              <a:off x="0" y="0"/>
              <a:ext cx="456005" cy="456005"/>
            </a:xfrm>
            <a:custGeom>
              <a:avLst/>
              <a:gdLst/>
              <a:ahLst/>
              <a:cxnLst/>
              <a:rect l="l" t="t" r="r" b="b"/>
              <a:pathLst>
                <a:path w="456005" h="456005" extrusionOk="0">
                  <a:moveTo>
                    <a:pt x="0" y="0"/>
                  </a:moveTo>
                  <a:lnTo>
                    <a:pt x="456005" y="0"/>
                  </a:lnTo>
                  <a:lnTo>
                    <a:pt x="456005" y="456005"/>
                  </a:lnTo>
                  <a:lnTo>
                    <a:pt x="0" y="45600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 cmpd="sng">
              <a:solidFill>
                <a:srgbClr val="06D59F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436" name="Google Shape;436;p20"/>
            <p:cNvSpPr txBox="1"/>
            <p:nvPr/>
          </p:nvSpPr>
          <p:spPr>
            <a:xfrm>
              <a:off x="0" y="-47625"/>
              <a:ext cx="456005" cy="5036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37" name="Google Shape;437;p20"/>
          <p:cNvGrpSpPr/>
          <p:nvPr/>
        </p:nvGrpSpPr>
        <p:grpSpPr>
          <a:xfrm>
            <a:off x="11173407" y="4110134"/>
            <a:ext cx="2790098" cy="3081495"/>
            <a:chOff x="0" y="-47625"/>
            <a:chExt cx="456005" cy="503630"/>
          </a:xfrm>
        </p:grpSpPr>
        <p:sp>
          <p:nvSpPr>
            <p:cNvPr id="438" name="Google Shape;438;p20"/>
            <p:cNvSpPr/>
            <p:nvPr/>
          </p:nvSpPr>
          <p:spPr>
            <a:xfrm>
              <a:off x="0" y="0"/>
              <a:ext cx="456005" cy="456005"/>
            </a:xfrm>
            <a:custGeom>
              <a:avLst/>
              <a:gdLst/>
              <a:ahLst/>
              <a:cxnLst/>
              <a:rect l="l" t="t" r="r" b="b"/>
              <a:pathLst>
                <a:path w="456005" h="456005" extrusionOk="0">
                  <a:moveTo>
                    <a:pt x="0" y="0"/>
                  </a:moveTo>
                  <a:lnTo>
                    <a:pt x="456005" y="0"/>
                  </a:lnTo>
                  <a:lnTo>
                    <a:pt x="456005" y="456005"/>
                  </a:lnTo>
                  <a:lnTo>
                    <a:pt x="0" y="45600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 cmpd="sng">
              <a:solidFill>
                <a:srgbClr val="5CE1E6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439" name="Google Shape;439;p20"/>
            <p:cNvSpPr txBox="1"/>
            <p:nvPr/>
          </p:nvSpPr>
          <p:spPr>
            <a:xfrm>
              <a:off x="0" y="-47625"/>
              <a:ext cx="456005" cy="5036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41" name="Google Shape;441;p20"/>
          <p:cNvSpPr txBox="1"/>
          <p:nvPr/>
        </p:nvSpPr>
        <p:spPr>
          <a:xfrm>
            <a:off x="10930843" y="7868006"/>
            <a:ext cx="3781442" cy="947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40000"/>
              </a:lnSpc>
            </a:pPr>
            <a:r>
              <a:rPr lang="en-US" sz="22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Shortage of specialized skills</a:t>
            </a:r>
            <a:endParaRPr dirty="0"/>
          </a:p>
        </p:txBody>
      </p:sp>
      <p:sp>
        <p:nvSpPr>
          <p:cNvPr id="448" name="Google Shape;448;p20"/>
          <p:cNvSpPr/>
          <p:nvPr/>
        </p:nvSpPr>
        <p:spPr>
          <a:xfrm>
            <a:off x="4061362" y="8279695"/>
            <a:ext cx="1469549" cy="1472226"/>
          </a:xfrm>
          <a:custGeom>
            <a:avLst/>
            <a:gdLst/>
            <a:ahLst/>
            <a:cxnLst/>
            <a:rect l="l" t="t" r="r" b="b"/>
            <a:pathLst>
              <a:path w="1469549" h="1472226" extrusionOk="0">
                <a:moveTo>
                  <a:pt x="0" y="0"/>
                </a:moveTo>
                <a:lnTo>
                  <a:pt x="1469549" y="0"/>
                </a:lnTo>
                <a:lnTo>
                  <a:pt x="1469549" y="1472226"/>
                </a:lnTo>
                <a:lnTo>
                  <a:pt x="0" y="147222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pic>
        <p:nvPicPr>
          <p:cNvPr id="449" name="Google Shape;449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3963521" y="865684"/>
            <a:ext cx="4947076" cy="2568087"/>
          </a:xfrm>
          <a:prstGeom prst="rect">
            <a:avLst/>
          </a:prstGeom>
          <a:noFill/>
          <a:ln>
            <a:noFill/>
          </a:ln>
        </p:spPr>
      </p:pic>
      <p:pic>
        <p:nvPicPr>
          <p:cNvPr id="38" name="Google Shape;652;p2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681020" y="4848604"/>
            <a:ext cx="1622322" cy="1670183"/>
          </a:xfrm>
          <a:prstGeom prst="rect">
            <a:avLst/>
          </a:prstGeom>
          <a:noFill/>
          <a:ln>
            <a:noFill/>
          </a:ln>
        </p:spPr>
      </p:pic>
      <p:pic>
        <p:nvPicPr>
          <p:cNvPr id="39" name="Google Shape;653;p2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1518491" y="4848604"/>
            <a:ext cx="1784554" cy="1670183"/>
          </a:xfrm>
          <a:prstGeom prst="rect">
            <a:avLst/>
          </a:prstGeom>
          <a:noFill/>
          <a:ln>
            <a:noFill/>
          </a:ln>
        </p:spPr>
      </p:pic>
      <p:pic>
        <p:nvPicPr>
          <p:cNvPr id="40" name="Google Shape;272;p15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681316" y="4848603"/>
            <a:ext cx="1720933" cy="1670183"/>
          </a:xfrm>
          <a:prstGeom prst="rect">
            <a:avLst/>
          </a:prstGeom>
          <a:noFill/>
          <a:ln>
            <a:noFill/>
          </a:ln>
        </p:spPr>
      </p:pic>
      <p:pic>
        <p:nvPicPr>
          <p:cNvPr id="41" name="Picture 4">
            <a:extLst>
              <a:ext uri="{FF2B5EF4-FFF2-40B4-BE49-F238E27FC236}">
                <a16:creationId xmlns:a16="http://schemas.microsoft.com/office/drawing/2014/main" xmlns="" id="{270D83C3-D98F-456B-7963-90A37116DD8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78643" y="241116"/>
            <a:ext cx="992621" cy="99104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38"/>
        </a:solidFill>
        <a:effectLst/>
      </p:bgPr>
    </p:bg>
    <p:spTree>
      <p:nvGrpSpPr>
        <p:cNvPr id="1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5" name="Google Shape;575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699275" y="192825"/>
            <a:ext cx="18593976" cy="11085551"/>
          </a:xfrm>
          <a:prstGeom prst="rect">
            <a:avLst/>
          </a:prstGeom>
          <a:noFill/>
          <a:ln>
            <a:noFill/>
          </a:ln>
        </p:spPr>
      </p:pic>
      <p:pic>
        <p:nvPicPr>
          <p:cNvPr id="576" name="Google Shape;576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1847326" y="2095449"/>
            <a:ext cx="5702800" cy="5702800"/>
          </a:xfrm>
          <a:prstGeom prst="rect">
            <a:avLst/>
          </a:prstGeom>
          <a:noFill/>
          <a:ln>
            <a:noFill/>
          </a:ln>
        </p:spPr>
      </p:pic>
      <p:sp>
        <p:nvSpPr>
          <p:cNvPr id="583" name="Google Shape;583;p23"/>
          <p:cNvSpPr txBox="1"/>
          <p:nvPr/>
        </p:nvSpPr>
        <p:spPr>
          <a:xfrm>
            <a:off x="9026013" y="1659200"/>
            <a:ext cx="8731045" cy="29546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20005"/>
              </a:lnSpc>
            </a:pPr>
            <a:r>
              <a:rPr lang="en-US" sz="8000" dirty="0" smtClean="0">
                <a:solidFill>
                  <a:srgbClr val="FFFFFF"/>
                </a:solidFill>
                <a:latin typeface="Teko"/>
                <a:ea typeface="Teko"/>
                <a:cs typeface="Teko"/>
                <a:sym typeface="Teko"/>
              </a:rPr>
              <a:t>TOWARDS AN AUGMENTED CYBERDEFENSE</a:t>
            </a:r>
            <a:endParaRPr lang="en-US" sz="1000" dirty="0"/>
          </a:p>
        </p:txBody>
      </p:sp>
      <p:sp>
        <p:nvSpPr>
          <p:cNvPr id="584" name="Google Shape;584;p23"/>
          <p:cNvSpPr/>
          <p:nvPr/>
        </p:nvSpPr>
        <p:spPr>
          <a:xfrm>
            <a:off x="6063433" y="415715"/>
            <a:ext cx="1469549" cy="1472226"/>
          </a:xfrm>
          <a:custGeom>
            <a:avLst/>
            <a:gdLst/>
            <a:ahLst/>
            <a:cxnLst/>
            <a:rect l="l" t="t" r="r" b="b"/>
            <a:pathLst>
              <a:path w="1469549" h="1472226" extrusionOk="0">
                <a:moveTo>
                  <a:pt x="0" y="0"/>
                </a:moveTo>
                <a:lnTo>
                  <a:pt x="1469549" y="0"/>
                </a:lnTo>
                <a:lnTo>
                  <a:pt x="1469549" y="1472226"/>
                </a:lnTo>
                <a:lnTo>
                  <a:pt x="0" y="147222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585" name="Google Shape;585;p23"/>
          <p:cNvSpPr txBox="1"/>
          <p:nvPr/>
        </p:nvSpPr>
        <p:spPr>
          <a:xfrm>
            <a:off x="8571448" y="5106886"/>
            <a:ext cx="9023377" cy="2477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just">
              <a:lnSpc>
                <a:spcPct val="115000"/>
              </a:lnSpc>
            </a:pPr>
            <a:r>
              <a:rPr lang="en-US" sz="2800" dirty="0" smtClean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AI </a:t>
            </a:r>
            <a:r>
              <a:rPr lang="en-US" sz="28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does not replace humans </a:t>
            </a:r>
            <a:r>
              <a:rPr lang="en-US" sz="2800" dirty="0" smtClean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— it </a:t>
            </a:r>
            <a:r>
              <a:rPr lang="en-US" sz="28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empowers </a:t>
            </a:r>
            <a:r>
              <a:rPr lang="en-US" sz="2800" dirty="0" smtClean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them</a:t>
            </a:r>
          </a:p>
          <a:p>
            <a:pPr lvl="0" algn="just">
              <a:lnSpc>
                <a:spcPct val="115000"/>
              </a:lnSpc>
            </a:pPr>
            <a:r>
              <a:rPr lang="en-US" sz="2800" dirty="0" smtClean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Critical </a:t>
            </a:r>
            <a:r>
              <a:rPr lang="en-US" sz="28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thinking and human oversight remain </a:t>
            </a:r>
            <a:r>
              <a:rPr lang="en-US" sz="2800" dirty="0" smtClean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essential</a:t>
            </a:r>
          </a:p>
          <a:p>
            <a:pPr lvl="0" algn="just">
              <a:lnSpc>
                <a:spcPct val="115000"/>
              </a:lnSpc>
            </a:pPr>
            <a:r>
              <a:rPr lang="en-US" sz="2800" dirty="0" smtClean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The </a:t>
            </a:r>
            <a:r>
              <a:rPr lang="en-US" sz="2800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cybersecurity</a:t>
            </a:r>
            <a:r>
              <a:rPr lang="en-US" sz="28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of the future will be collaborative and cognitive</a:t>
            </a:r>
            <a:endParaRPr lang="fr-FR" sz="280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86" name="Google Shape;586;p2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720596" y="2098486"/>
            <a:ext cx="5702801" cy="56967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Picture 4">
            <a:extLst>
              <a:ext uri="{FF2B5EF4-FFF2-40B4-BE49-F238E27FC236}">
                <a16:creationId xmlns:a16="http://schemas.microsoft.com/office/drawing/2014/main" xmlns="" id="{270D83C3-D98F-456B-7963-90A37116DD8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7923" y="192825"/>
            <a:ext cx="992621" cy="99104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38"/>
        </a:solidFill>
        <a:effectLst/>
      </p:bgPr>
    </p:bg>
    <p:spTree>
      <p:nvGrpSpPr>
        <p:cNvPr id="1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1" name="Google Shape;591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07566" y="-28650"/>
            <a:ext cx="19109043" cy="10636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92" name="Google Shape;592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4200" y="493975"/>
            <a:ext cx="23658552" cy="1009647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3" name="Google Shape;593;p24"/>
          <p:cNvGrpSpPr/>
          <p:nvPr/>
        </p:nvGrpSpPr>
        <p:grpSpPr>
          <a:xfrm rot="5400000">
            <a:off x="-352055" y="4856383"/>
            <a:ext cx="2809881" cy="409797"/>
            <a:chOff x="0" y="-47625"/>
            <a:chExt cx="812800" cy="118539"/>
          </a:xfrm>
        </p:grpSpPr>
        <p:sp>
          <p:nvSpPr>
            <p:cNvPr id="594" name="Google Shape;594;p24"/>
            <p:cNvSpPr/>
            <p:nvPr/>
          </p:nvSpPr>
          <p:spPr>
            <a:xfrm>
              <a:off x="0" y="0"/>
              <a:ext cx="812800" cy="70914"/>
            </a:xfrm>
            <a:custGeom>
              <a:avLst/>
              <a:gdLst/>
              <a:ahLst/>
              <a:cxnLst/>
              <a:rect l="l" t="t" r="r" b="b"/>
              <a:pathLst>
                <a:path w="812800" h="70914" extrusionOk="0">
                  <a:moveTo>
                    <a:pt x="0" y="0"/>
                  </a:moveTo>
                  <a:lnTo>
                    <a:pt x="812800" y="0"/>
                  </a:lnTo>
                  <a:lnTo>
                    <a:pt x="812800" y="70914"/>
                  </a:lnTo>
                  <a:lnTo>
                    <a:pt x="0" y="70914"/>
                  </a:lnTo>
                  <a:close/>
                </a:path>
              </a:pathLst>
            </a:custGeom>
            <a:solidFill>
              <a:srgbClr val="5CE1E6"/>
            </a:solidFill>
            <a:ln>
              <a:noFill/>
            </a:ln>
          </p:spPr>
        </p:sp>
        <p:sp>
          <p:nvSpPr>
            <p:cNvPr id="595" name="Google Shape;595;p24"/>
            <p:cNvSpPr txBox="1"/>
            <p:nvPr/>
          </p:nvSpPr>
          <p:spPr>
            <a:xfrm>
              <a:off x="0" y="-47625"/>
              <a:ext cx="812800" cy="1185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96" name="Google Shape;596;p24"/>
          <p:cNvGrpSpPr/>
          <p:nvPr/>
        </p:nvGrpSpPr>
        <p:grpSpPr>
          <a:xfrm rot="5400000">
            <a:off x="5597879" y="4856383"/>
            <a:ext cx="2809881" cy="409797"/>
            <a:chOff x="0" y="-47625"/>
            <a:chExt cx="812800" cy="118539"/>
          </a:xfrm>
        </p:grpSpPr>
        <p:sp>
          <p:nvSpPr>
            <p:cNvPr id="597" name="Google Shape;597;p24"/>
            <p:cNvSpPr/>
            <p:nvPr/>
          </p:nvSpPr>
          <p:spPr>
            <a:xfrm>
              <a:off x="0" y="0"/>
              <a:ext cx="812800" cy="70914"/>
            </a:xfrm>
            <a:custGeom>
              <a:avLst/>
              <a:gdLst/>
              <a:ahLst/>
              <a:cxnLst/>
              <a:rect l="l" t="t" r="r" b="b"/>
              <a:pathLst>
                <a:path w="812800" h="70914" extrusionOk="0">
                  <a:moveTo>
                    <a:pt x="0" y="0"/>
                  </a:moveTo>
                  <a:lnTo>
                    <a:pt x="812800" y="0"/>
                  </a:lnTo>
                  <a:lnTo>
                    <a:pt x="812800" y="70914"/>
                  </a:lnTo>
                  <a:lnTo>
                    <a:pt x="0" y="70914"/>
                  </a:lnTo>
                  <a:close/>
                </a:path>
              </a:pathLst>
            </a:custGeom>
            <a:solidFill>
              <a:srgbClr val="5CE1E6"/>
            </a:solidFill>
            <a:ln>
              <a:noFill/>
            </a:ln>
          </p:spPr>
        </p:sp>
        <p:sp>
          <p:nvSpPr>
            <p:cNvPr id="598" name="Google Shape;598;p24"/>
            <p:cNvSpPr txBox="1"/>
            <p:nvPr/>
          </p:nvSpPr>
          <p:spPr>
            <a:xfrm>
              <a:off x="0" y="-47625"/>
              <a:ext cx="812800" cy="1185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99" name="Google Shape;599;p24"/>
          <p:cNvSpPr txBox="1"/>
          <p:nvPr/>
        </p:nvSpPr>
        <p:spPr>
          <a:xfrm>
            <a:off x="9712146" y="1759889"/>
            <a:ext cx="6202863" cy="2216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20005"/>
              </a:lnSpc>
            </a:pPr>
            <a:r>
              <a:rPr lang="en-US" sz="12002" dirty="0" smtClean="0">
                <a:solidFill>
                  <a:srgbClr val="FFFFFF"/>
                </a:solidFill>
                <a:latin typeface="Teko"/>
                <a:ea typeface="Teko"/>
                <a:cs typeface="Teko"/>
                <a:sym typeface="Teko"/>
              </a:rPr>
              <a:t>CONCLUSION</a:t>
            </a:r>
            <a:endParaRPr lang="en-US" dirty="0"/>
          </a:p>
        </p:txBody>
      </p:sp>
      <p:sp>
        <p:nvSpPr>
          <p:cNvPr id="600" name="Google Shape;600;p24"/>
          <p:cNvSpPr txBox="1"/>
          <p:nvPr/>
        </p:nvSpPr>
        <p:spPr>
          <a:xfrm>
            <a:off x="9712200" y="4312589"/>
            <a:ext cx="7547100" cy="2477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1" algn="just">
              <a:lnSpc>
                <a:spcPct val="115000"/>
              </a:lnSpc>
            </a:pPr>
            <a:r>
              <a:rPr lang="en-US" sz="28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AI is both a tool and a </a:t>
            </a:r>
            <a:r>
              <a:rPr lang="en-US" sz="2800" dirty="0" smtClean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threat</a:t>
            </a:r>
          </a:p>
          <a:p>
            <a:pPr lvl="1" algn="just">
              <a:lnSpc>
                <a:spcPct val="115000"/>
              </a:lnSpc>
            </a:pPr>
            <a:r>
              <a:rPr lang="en-US" sz="2800" dirty="0" smtClean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The </a:t>
            </a:r>
            <a:r>
              <a:rPr lang="en-US" sz="28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real challenge is not technological, but ethical and </a:t>
            </a:r>
            <a:r>
              <a:rPr lang="en-US" sz="2800" dirty="0" smtClean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human</a:t>
            </a:r>
          </a:p>
          <a:p>
            <a:pPr lvl="1" algn="just">
              <a:lnSpc>
                <a:spcPct val="115000"/>
              </a:lnSpc>
            </a:pPr>
            <a:r>
              <a:rPr lang="en-US" sz="2800" dirty="0" smtClean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The </a:t>
            </a:r>
            <a:r>
              <a:rPr lang="en-US" sz="2800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future of security lies in human intelligence enhanced by machines</a:t>
            </a:r>
            <a:endParaRPr lang="fr-FR" sz="2800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607" name="Google Shape;607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93150" y="1862151"/>
            <a:ext cx="5704776" cy="6352754"/>
          </a:xfrm>
          <a:prstGeom prst="rect">
            <a:avLst/>
          </a:prstGeom>
          <a:noFill/>
          <a:ln>
            <a:noFill/>
          </a:ln>
        </p:spPr>
      </p:pic>
      <p:sp>
        <p:nvSpPr>
          <p:cNvPr id="608" name="Google Shape;608;p24"/>
          <p:cNvSpPr/>
          <p:nvPr/>
        </p:nvSpPr>
        <p:spPr>
          <a:xfrm>
            <a:off x="7803460" y="1357393"/>
            <a:ext cx="1469549" cy="1472226"/>
          </a:xfrm>
          <a:custGeom>
            <a:avLst/>
            <a:gdLst/>
            <a:ahLst/>
            <a:cxnLst/>
            <a:rect l="l" t="t" r="r" b="b"/>
            <a:pathLst>
              <a:path w="1469549" h="1472226" extrusionOk="0">
                <a:moveTo>
                  <a:pt x="0" y="0"/>
                </a:moveTo>
                <a:lnTo>
                  <a:pt x="1469549" y="0"/>
                </a:lnTo>
                <a:lnTo>
                  <a:pt x="1469549" y="1472226"/>
                </a:lnTo>
                <a:lnTo>
                  <a:pt x="0" y="147222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</p:sp>
      <p:pic>
        <p:nvPicPr>
          <p:cNvPr id="20" name="Picture 4">
            <a:extLst>
              <a:ext uri="{FF2B5EF4-FFF2-40B4-BE49-F238E27FC236}">
                <a16:creationId xmlns:a16="http://schemas.microsoft.com/office/drawing/2014/main" xmlns="" id="{270D83C3-D98F-456B-7963-90A37116DD8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1473" y="768843"/>
            <a:ext cx="992621" cy="99104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9" name="Google Shape;659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660" name="Google Shape;660;p26"/>
          <p:cNvSpPr txBox="1"/>
          <p:nvPr/>
        </p:nvSpPr>
        <p:spPr>
          <a:xfrm>
            <a:off x="1876732" y="2874962"/>
            <a:ext cx="15382568" cy="47643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20005"/>
              </a:lnSpc>
            </a:pPr>
            <a:r>
              <a:rPr lang="fr-FR" sz="9600" i="1" dirty="0" smtClean="0">
                <a:solidFill>
                  <a:schemeClr val="bg1"/>
                </a:solidFill>
              </a:rPr>
              <a:t>«</a:t>
            </a:r>
            <a:r>
              <a:rPr lang="en-US" sz="5400" i="1" dirty="0">
                <a:solidFill>
                  <a:schemeClr val="bg1"/>
                </a:solidFill>
              </a:rPr>
              <a:t>Artificial intelligence will never replace human intelligence, but it will expose the weakness of those who stop thinking</a:t>
            </a:r>
            <a:r>
              <a:rPr lang="fr-FR" sz="5400" i="1" dirty="0" smtClean="0">
                <a:solidFill>
                  <a:schemeClr val="bg1"/>
                </a:solidFill>
              </a:rPr>
              <a:t>. </a:t>
            </a:r>
            <a:r>
              <a:rPr lang="fr-FR" sz="5400" i="1" dirty="0">
                <a:solidFill>
                  <a:schemeClr val="bg1"/>
                </a:solidFill>
              </a:rPr>
              <a:t>»</a:t>
            </a:r>
            <a:r>
              <a:rPr lang="fr-FR" sz="5400" dirty="0">
                <a:solidFill>
                  <a:schemeClr val="bg1"/>
                </a:solidFill>
              </a:rPr>
              <a:t/>
            </a:r>
            <a:br>
              <a:rPr lang="fr-FR" sz="5400" dirty="0">
                <a:solidFill>
                  <a:schemeClr val="bg1"/>
                </a:solidFill>
              </a:rPr>
            </a:br>
            <a:r>
              <a:rPr lang="fr-FR" sz="5400" b="1" dirty="0" smtClean="0">
                <a:solidFill>
                  <a:schemeClr val="bg1"/>
                </a:solidFill>
              </a:rPr>
              <a:t>Nathan </a:t>
            </a:r>
            <a:r>
              <a:rPr lang="fr-FR" sz="5400" b="1" dirty="0">
                <a:solidFill>
                  <a:schemeClr val="bg1"/>
                </a:solidFill>
              </a:rPr>
              <a:t>Gaius Ondoua Ekanga</a:t>
            </a:r>
            <a:endParaRPr dirty="0">
              <a:solidFill>
                <a:schemeClr val="bg1"/>
              </a:solidFill>
            </a:endParaRPr>
          </a:p>
        </p:txBody>
      </p:sp>
      <p:pic>
        <p:nvPicPr>
          <p:cNvPr id="667" name="Google Shape;667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4200" y="493975"/>
            <a:ext cx="7209250" cy="92620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Picture 4">
            <a:extLst>
              <a:ext uri="{FF2B5EF4-FFF2-40B4-BE49-F238E27FC236}">
                <a16:creationId xmlns:a16="http://schemas.microsoft.com/office/drawing/2014/main" xmlns="" id="{270D83C3-D98F-456B-7963-90A37116DD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1776" y="594140"/>
            <a:ext cx="2284447" cy="228082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38"/>
        </a:solidFill>
        <a:effectLst/>
      </p:bgPr>
    </p:bg>
    <p:spTree>
      <p:nvGrpSpPr>
        <p:cNvPr id="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2" name="Google Shape;672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13475" y="27300"/>
            <a:ext cx="19114952" cy="10640164"/>
          </a:xfrm>
          <a:prstGeom prst="rect">
            <a:avLst/>
          </a:prstGeom>
          <a:noFill/>
          <a:ln>
            <a:noFill/>
          </a:ln>
        </p:spPr>
      </p:pic>
      <p:pic>
        <p:nvPicPr>
          <p:cNvPr id="673" name="Google Shape;673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4200" y="452850"/>
            <a:ext cx="17196457" cy="9328750"/>
          </a:xfrm>
          <a:prstGeom prst="rect">
            <a:avLst/>
          </a:prstGeom>
          <a:noFill/>
          <a:ln>
            <a:noFill/>
          </a:ln>
        </p:spPr>
      </p:pic>
      <p:sp>
        <p:nvSpPr>
          <p:cNvPr id="674" name="Google Shape;674;p27"/>
          <p:cNvSpPr txBox="1"/>
          <p:nvPr/>
        </p:nvSpPr>
        <p:spPr>
          <a:xfrm>
            <a:off x="2741618" y="1699255"/>
            <a:ext cx="12804900" cy="4248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2" b="0" i="0" u="none" strike="noStrike" cap="none" dirty="0" smtClean="0">
                <a:solidFill>
                  <a:srgbClr val="FFFFFF"/>
                </a:solidFill>
                <a:latin typeface="Teko"/>
                <a:ea typeface="Teko"/>
                <a:cs typeface="Teko"/>
                <a:sym typeface="Teko"/>
              </a:rPr>
              <a:t>THANK YOU FOR YOUR KIND ATTENTION</a:t>
            </a:r>
            <a:endParaRPr dirty="0"/>
          </a:p>
        </p:txBody>
      </p:sp>
      <p:sp>
        <p:nvSpPr>
          <p:cNvPr id="675" name="Google Shape;675;p27"/>
          <p:cNvSpPr txBox="1"/>
          <p:nvPr/>
        </p:nvSpPr>
        <p:spPr>
          <a:xfrm>
            <a:off x="2741618" y="8002910"/>
            <a:ext cx="12804900" cy="473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1" algn="ctr">
              <a:lnSpc>
                <a:spcPct val="140000"/>
              </a:lnSpc>
            </a:pPr>
            <a:r>
              <a:rPr lang="en-US" sz="2200" dirty="0">
                <a:solidFill>
                  <a:schemeClr val="tx2">
                    <a:lumMod val="75000"/>
                  </a:schemeClr>
                </a:solidFill>
                <a:latin typeface="Montserrat"/>
                <a:ea typeface="Montserrat"/>
                <a:cs typeface="Montserrat"/>
                <a:sym typeface="Montserrat"/>
              </a:rPr>
              <a:t>Think Secure. Connect Smart.</a:t>
            </a:r>
            <a:endParaRPr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676" name="Google Shape;676;p27"/>
          <p:cNvSpPr/>
          <p:nvPr/>
        </p:nvSpPr>
        <p:spPr>
          <a:xfrm>
            <a:off x="15546382" y="1457253"/>
            <a:ext cx="1469549" cy="1472226"/>
          </a:xfrm>
          <a:custGeom>
            <a:avLst/>
            <a:gdLst/>
            <a:ahLst/>
            <a:cxnLst/>
            <a:rect l="l" t="t" r="r" b="b"/>
            <a:pathLst>
              <a:path w="1469549" h="1472226" extrusionOk="0">
                <a:moveTo>
                  <a:pt x="0" y="0"/>
                </a:moveTo>
                <a:lnTo>
                  <a:pt x="1469549" y="0"/>
                </a:lnTo>
                <a:lnTo>
                  <a:pt x="1469549" y="1472226"/>
                </a:lnTo>
                <a:lnTo>
                  <a:pt x="0" y="147222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pic>
        <p:nvPicPr>
          <p:cNvPr id="677" name="Google Shape;677;p2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-145325" y="5377275"/>
            <a:ext cx="4717324" cy="2445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4">
            <a:extLst>
              <a:ext uri="{FF2B5EF4-FFF2-40B4-BE49-F238E27FC236}">
                <a16:creationId xmlns:a16="http://schemas.microsoft.com/office/drawing/2014/main" xmlns="" id="{270D83C3-D98F-456B-7963-90A37116DD8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39921" y="5699186"/>
            <a:ext cx="2094271" cy="209094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Introduction to Cyber Crime Slides   ">
  <a:themeElements>
    <a:clrScheme name="Office">
      <a:dk1>
        <a:srgbClr val="000000"/>
      </a:dk1>
      <a:lt1>
        <a:srgbClr val="FFFFFF"/>
      </a:lt1>
      <a:dk2>
        <a:srgbClr val="0F1A38"/>
      </a:dk2>
      <a:lt2>
        <a:srgbClr val="5CE1E6"/>
      </a:lt2>
      <a:accent1>
        <a:srgbClr val="06D59F"/>
      </a:accent1>
      <a:accent2>
        <a:srgbClr val="888888"/>
      </a:accent2>
      <a:accent3>
        <a:srgbClr val="FFFFFF"/>
      </a:accent3>
      <a:accent4>
        <a:srgbClr val="0F1A38"/>
      </a:accent4>
      <a:accent5>
        <a:srgbClr val="5CE1E6"/>
      </a:accent5>
      <a:accent6>
        <a:srgbClr val="06D59F"/>
      </a:accent6>
      <a:hlink>
        <a:srgbClr val="888888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457</TotalTime>
  <Words>651</Words>
  <Application>Microsoft Office PowerPoint</Application>
  <PresentationFormat>Personnalisé</PresentationFormat>
  <Paragraphs>107</Paragraphs>
  <Slides>16</Slides>
  <Notes>15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16</vt:i4>
      </vt:variant>
    </vt:vector>
  </HeadingPairs>
  <TitlesOfParts>
    <vt:vector size="22" baseType="lpstr">
      <vt:lpstr>Calibri</vt:lpstr>
      <vt:lpstr>Arial</vt:lpstr>
      <vt:lpstr>Algerian</vt:lpstr>
      <vt:lpstr>Teko</vt:lpstr>
      <vt:lpstr>Montserrat</vt:lpstr>
      <vt:lpstr>Introduction to Cyber Crime Slides   </vt:lpstr>
      <vt:lpstr>Présentation PowerPoint</vt:lpstr>
      <vt:lpstr>💡 Idée maîtresse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Ondoua Ekanga</dc:creator>
  <cp:lastModifiedBy>Ondoua Ekanga</cp:lastModifiedBy>
  <cp:revision>22</cp:revision>
  <dcterms:modified xsi:type="dcterms:W3CDTF">2025-11-05T08:39:12Z</dcterms:modified>
</cp:coreProperties>
</file>