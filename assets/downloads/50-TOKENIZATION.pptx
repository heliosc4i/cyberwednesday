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19" r:id="rId1"/>
  </p:sldMasterIdLst>
  <p:notesMasterIdLst>
    <p:notesMasterId r:id="rId25"/>
  </p:notesMasterIdLst>
  <p:sldIdLst>
    <p:sldId id="256" r:id="rId2"/>
    <p:sldId id="257" r:id="rId3"/>
    <p:sldId id="275" r:id="rId4"/>
    <p:sldId id="274" r:id="rId5"/>
    <p:sldId id="319" r:id="rId6"/>
    <p:sldId id="328" r:id="rId7"/>
    <p:sldId id="322" r:id="rId8"/>
    <p:sldId id="294" r:id="rId9"/>
    <p:sldId id="327" r:id="rId10"/>
    <p:sldId id="323" r:id="rId11"/>
    <p:sldId id="332" r:id="rId12"/>
    <p:sldId id="331" r:id="rId13"/>
    <p:sldId id="258" r:id="rId14"/>
    <p:sldId id="320" r:id="rId15"/>
    <p:sldId id="296" r:id="rId16"/>
    <p:sldId id="324" r:id="rId17"/>
    <p:sldId id="326" r:id="rId18"/>
    <p:sldId id="329" r:id="rId19"/>
    <p:sldId id="321" r:id="rId20"/>
    <p:sldId id="330" r:id="rId21"/>
    <p:sldId id="310" r:id="rId22"/>
    <p:sldId id="301" r:id="rId23"/>
    <p:sldId id="308" r:id="rId24"/>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01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1424"/>
  </p:normalViewPr>
  <p:slideViewPr>
    <p:cSldViewPr snapToGrid="0">
      <p:cViewPr varScale="1">
        <p:scale>
          <a:sx n="90" d="100"/>
          <a:sy n="90" d="100"/>
        </p:scale>
        <p:origin x="232" y="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98EDF1-0207-BE43-BF49-B98A87BBD0F2}" type="datetimeFigureOut">
              <a:rPr lang="fr-FR" smtClean="0"/>
              <a:t>03/06/2025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973C7B-C2A2-054D-8B36-2ACC72363A83}" type="slidenum">
              <a:rPr lang="fr-FR" smtClean="0"/>
              <a:t>‹#›</a:t>
            </a:fld>
            <a:endParaRPr lang="fr-FR"/>
          </a:p>
        </p:txBody>
      </p:sp>
    </p:spTree>
    <p:extLst>
      <p:ext uri="{BB962C8B-B14F-4D97-AF65-F5344CB8AC3E}">
        <p14:creationId xmlns:p14="http://schemas.microsoft.com/office/powerpoint/2010/main" val="2230063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CBBDA-6868-8688-B4E5-2F0B2F33D3E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fr-FR"/>
          </a:p>
        </p:txBody>
      </p:sp>
      <p:sp>
        <p:nvSpPr>
          <p:cNvPr id="3" name="Subtitle 2">
            <a:extLst>
              <a:ext uri="{FF2B5EF4-FFF2-40B4-BE49-F238E27FC236}">
                <a16:creationId xmlns:a16="http://schemas.microsoft.com/office/drawing/2014/main" id="{D21B3B5A-63D3-8E88-6AA6-C97B20CE60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r-FR"/>
          </a:p>
        </p:txBody>
      </p:sp>
      <p:sp>
        <p:nvSpPr>
          <p:cNvPr id="4" name="Date Placeholder 3">
            <a:extLst>
              <a:ext uri="{FF2B5EF4-FFF2-40B4-BE49-F238E27FC236}">
                <a16:creationId xmlns:a16="http://schemas.microsoft.com/office/drawing/2014/main" id="{38D499C1-04F6-7351-D28F-5FBD6E544C96}"/>
              </a:ext>
            </a:extLst>
          </p:cNvPr>
          <p:cNvSpPr>
            <a:spLocks noGrp="1"/>
          </p:cNvSpPr>
          <p:nvPr>
            <p:ph type="dt" sz="half" idx="10"/>
          </p:nvPr>
        </p:nvSpPr>
        <p:spPr/>
        <p:txBody>
          <a:bodyPr/>
          <a:lstStyle/>
          <a:p>
            <a:fld id="{3846215E-43C4-1D40-95F8-023AE389A37C}" type="datetimeFigureOut">
              <a:rPr lang="fr-FR" smtClean="0"/>
              <a:t>03/06/2025</a:t>
            </a:fld>
            <a:endParaRPr lang="fr-FR"/>
          </a:p>
        </p:txBody>
      </p:sp>
      <p:sp>
        <p:nvSpPr>
          <p:cNvPr id="5" name="Footer Placeholder 4">
            <a:extLst>
              <a:ext uri="{FF2B5EF4-FFF2-40B4-BE49-F238E27FC236}">
                <a16:creationId xmlns:a16="http://schemas.microsoft.com/office/drawing/2014/main" id="{3425F2FF-EAF5-219D-961F-1B52D8BF734B}"/>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9E2FBECF-8C71-FA22-DF73-D0F53A89748B}"/>
              </a:ext>
            </a:extLst>
          </p:cNvPr>
          <p:cNvSpPr>
            <a:spLocks noGrp="1"/>
          </p:cNvSpPr>
          <p:nvPr>
            <p:ph type="sldNum" sz="quarter" idx="12"/>
          </p:nvPr>
        </p:nvSpPr>
        <p:spPr/>
        <p:txBody>
          <a:bodyPr/>
          <a:lstStyle/>
          <a:p>
            <a:fld id="{E1FAD601-DAC5-E644-8F8F-A3E4DE8A0D15}" type="slidenum">
              <a:rPr lang="fr-FR" smtClean="0"/>
              <a:t>‹#›</a:t>
            </a:fld>
            <a:endParaRPr lang="fr-FR"/>
          </a:p>
        </p:txBody>
      </p:sp>
    </p:spTree>
    <p:extLst>
      <p:ext uri="{BB962C8B-B14F-4D97-AF65-F5344CB8AC3E}">
        <p14:creationId xmlns:p14="http://schemas.microsoft.com/office/powerpoint/2010/main" val="3551452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A38A8-058E-71D3-58FB-E03B5ED27B6A}"/>
              </a:ext>
            </a:extLst>
          </p:cNvPr>
          <p:cNvSpPr>
            <a:spLocks noGrp="1"/>
          </p:cNvSpPr>
          <p:nvPr>
            <p:ph type="title"/>
          </p:nvPr>
        </p:nvSpPr>
        <p:spPr/>
        <p:txBody>
          <a:bodyPr/>
          <a:lstStyle/>
          <a:p>
            <a:r>
              <a:rPr lang="en-GB"/>
              <a:t>Click to edit Master title style</a:t>
            </a:r>
            <a:endParaRPr lang="fr-FR"/>
          </a:p>
        </p:txBody>
      </p:sp>
      <p:sp>
        <p:nvSpPr>
          <p:cNvPr id="3" name="Content Placeholder 2">
            <a:extLst>
              <a:ext uri="{FF2B5EF4-FFF2-40B4-BE49-F238E27FC236}">
                <a16:creationId xmlns:a16="http://schemas.microsoft.com/office/drawing/2014/main" id="{EF2DED7D-1437-AE26-74A8-1010497F203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F97A3F04-9564-DC1C-5416-E247E3408511}"/>
              </a:ext>
            </a:extLst>
          </p:cNvPr>
          <p:cNvSpPr>
            <a:spLocks noGrp="1"/>
          </p:cNvSpPr>
          <p:nvPr>
            <p:ph type="dt" sz="half" idx="10"/>
          </p:nvPr>
        </p:nvSpPr>
        <p:spPr/>
        <p:txBody>
          <a:bodyPr/>
          <a:lstStyle/>
          <a:p>
            <a:fld id="{3846215E-43C4-1D40-95F8-023AE389A37C}" type="datetimeFigureOut">
              <a:rPr lang="fr-FR" smtClean="0"/>
              <a:t>03/06/2025</a:t>
            </a:fld>
            <a:endParaRPr lang="fr-FR"/>
          </a:p>
        </p:txBody>
      </p:sp>
      <p:sp>
        <p:nvSpPr>
          <p:cNvPr id="5" name="Footer Placeholder 4">
            <a:extLst>
              <a:ext uri="{FF2B5EF4-FFF2-40B4-BE49-F238E27FC236}">
                <a16:creationId xmlns:a16="http://schemas.microsoft.com/office/drawing/2014/main" id="{AF8A388B-352D-527E-0482-26E91F1AB4D2}"/>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C8135E1-7F87-94E7-FC05-AC5B751A0FC2}"/>
              </a:ext>
            </a:extLst>
          </p:cNvPr>
          <p:cNvSpPr>
            <a:spLocks noGrp="1"/>
          </p:cNvSpPr>
          <p:nvPr>
            <p:ph type="sldNum" sz="quarter" idx="12"/>
          </p:nvPr>
        </p:nvSpPr>
        <p:spPr/>
        <p:txBody>
          <a:bodyPr/>
          <a:lstStyle/>
          <a:p>
            <a:fld id="{E1FAD601-DAC5-E644-8F8F-A3E4DE8A0D15}" type="slidenum">
              <a:rPr lang="fr-FR" smtClean="0"/>
              <a:t>‹#›</a:t>
            </a:fld>
            <a:endParaRPr lang="fr-FR"/>
          </a:p>
        </p:txBody>
      </p:sp>
    </p:spTree>
    <p:extLst>
      <p:ext uri="{BB962C8B-B14F-4D97-AF65-F5344CB8AC3E}">
        <p14:creationId xmlns:p14="http://schemas.microsoft.com/office/powerpoint/2010/main" val="2178367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BE242-A1C0-0C31-B5C7-BF526DBB02D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fr-FR"/>
          </a:p>
        </p:txBody>
      </p:sp>
      <p:sp>
        <p:nvSpPr>
          <p:cNvPr id="3" name="Text Placeholder 2">
            <a:extLst>
              <a:ext uri="{FF2B5EF4-FFF2-40B4-BE49-F238E27FC236}">
                <a16:creationId xmlns:a16="http://schemas.microsoft.com/office/drawing/2014/main" id="{A6C2203C-7F85-90C7-A83F-5E1C630449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1DB1236-C4D0-FA36-6A27-33856F2B26BA}"/>
              </a:ext>
            </a:extLst>
          </p:cNvPr>
          <p:cNvSpPr>
            <a:spLocks noGrp="1"/>
          </p:cNvSpPr>
          <p:nvPr>
            <p:ph type="dt" sz="half" idx="10"/>
          </p:nvPr>
        </p:nvSpPr>
        <p:spPr/>
        <p:txBody>
          <a:bodyPr/>
          <a:lstStyle/>
          <a:p>
            <a:fld id="{3846215E-43C4-1D40-95F8-023AE389A37C}" type="datetimeFigureOut">
              <a:rPr lang="fr-FR" smtClean="0"/>
              <a:t>03/06/2025</a:t>
            </a:fld>
            <a:endParaRPr lang="fr-FR"/>
          </a:p>
        </p:txBody>
      </p:sp>
      <p:sp>
        <p:nvSpPr>
          <p:cNvPr id="5" name="Footer Placeholder 4">
            <a:extLst>
              <a:ext uri="{FF2B5EF4-FFF2-40B4-BE49-F238E27FC236}">
                <a16:creationId xmlns:a16="http://schemas.microsoft.com/office/drawing/2014/main" id="{0C671E1A-1B92-B79C-AD2D-1291D8BBD82F}"/>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112753FA-2215-2548-73E6-02DF8B6718E2}"/>
              </a:ext>
            </a:extLst>
          </p:cNvPr>
          <p:cNvSpPr>
            <a:spLocks noGrp="1"/>
          </p:cNvSpPr>
          <p:nvPr>
            <p:ph type="sldNum" sz="quarter" idx="12"/>
          </p:nvPr>
        </p:nvSpPr>
        <p:spPr/>
        <p:txBody>
          <a:bodyPr/>
          <a:lstStyle/>
          <a:p>
            <a:fld id="{E1FAD601-DAC5-E644-8F8F-A3E4DE8A0D15}" type="slidenum">
              <a:rPr lang="fr-FR" smtClean="0"/>
              <a:t>‹#›</a:t>
            </a:fld>
            <a:endParaRPr lang="fr-FR"/>
          </a:p>
        </p:txBody>
      </p:sp>
    </p:spTree>
    <p:extLst>
      <p:ext uri="{BB962C8B-B14F-4D97-AF65-F5344CB8AC3E}">
        <p14:creationId xmlns:p14="http://schemas.microsoft.com/office/powerpoint/2010/main" val="3448877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1745B-CC93-9233-6C23-13866447E836}"/>
              </a:ext>
            </a:extLst>
          </p:cNvPr>
          <p:cNvSpPr>
            <a:spLocks noGrp="1"/>
          </p:cNvSpPr>
          <p:nvPr>
            <p:ph type="title"/>
          </p:nvPr>
        </p:nvSpPr>
        <p:spPr/>
        <p:txBody>
          <a:bodyPr/>
          <a:lstStyle/>
          <a:p>
            <a:r>
              <a:rPr lang="en-GB"/>
              <a:t>Click to edit Master title style</a:t>
            </a:r>
            <a:endParaRPr lang="fr-FR"/>
          </a:p>
        </p:txBody>
      </p:sp>
      <p:sp>
        <p:nvSpPr>
          <p:cNvPr id="3" name="Content Placeholder 2">
            <a:extLst>
              <a:ext uri="{FF2B5EF4-FFF2-40B4-BE49-F238E27FC236}">
                <a16:creationId xmlns:a16="http://schemas.microsoft.com/office/drawing/2014/main" id="{7BC46C5B-9794-B80C-1354-9406779D1D0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Content Placeholder 3">
            <a:extLst>
              <a:ext uri="{FF2B5EF4-FFF2-40B4-BE49-F238E27FC236}">
                <a16:creationId xmlns:a16="http://schemas.microsoft.com/office/drawing/2014/main" id="{811B4A41-06F7-7A62-C6ED-C0E7357C97C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5" name="Date Placeholder 4">
            <a:extLst>
              <a:ext uri="{FF2B5EF4-FFF2-40B4-BE49-F238E27FC236}">
                <a16:creationId xmlns:a16="http://schemas.microsoft.com/office/drawing/2014/main" id="{43D20385-4A94-67CD-4B0D-5DD0BAF914A3}"/>
              </a:ext>
            </a:extLst>
          </p:cNvPr>
          <p:cNvSpPr>
            <a:spLocks noGrp="1"/>
          </p:cNvSpPr>
          <p:nvPr>
            <p:ph type="dt" sz="half" idx="10"/>
          </p:nvPr>
        </p:nvSpPr>
        <p:spPr/>
        <p:txBody>
          <a:bodyPr/>
          <a:lstStyle/>
          <a:p>
            <a:fld id="{3846215E-43C4-1D40-95F8-023AE389A37C}" type="datetimeFigureOut">
              <a:rPr lang="fr-FR" smtClean="0"/>
              <a:t>03/06/2025</a:t>
            </a:fld>
            <a:endParaRPr lang="fr-FR"/>
          </a:p>
        </p:txBody>
      </p:sp>
      <p:sp>
        <p:nvSpPr>
          <p:cNvPr id="6" name="Footer Placeholder 5">
            <a:extLst>
              <a:ext uri="{FF2B5EF4-FFF2-40B4-BE49-F238E27FC236}">
                <a16:creationId xmlns:a16="http://schemas.microsoft.com/office/drawing/2014/main" id="{48DD4F06-B416-7E1F-8EC1-C2C7470ECBFF}"/>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5079D60E-93A8-2299-D6E9-F19637E32324}"/>
              </a:ext>
            </a:extLst>
          </p:cNvPr>
          <p:cNvSpPr>
            <a:spLocks noGrp="1"/>
          </p:cNvSpPr>
          <p:nvPr>
            <p:ph type="sldNum" sz="quarter" idx="12"/>
          </p:nvPr>
        </p:nvSpPr>
        <p:spPr/>
        <p:txBody>
          <a:bodyPr/>
          <a:lstStyle/>
          <a:p>
            <a:fld id="{E1FAD601-DAC5-E644-8F8F-A3E4DE8A0D15}" type="slidenum">
              <a:rPr lang="fr-FR" smtClean="0"/>
              <a:t>‹#›</a:t>
            </a:fld>
            <a:endParaRPr lang="fr-FR"/>
          </a:p>
        </p:txBody>
      </p:sp>
    </p:spTree>
    <p:extLst>
      <p:ext uri="{BB962C8B-B14F-4D97-AF65-F5344CB8AC3E}">
        <p14:creationId xmlns:p14="http://schemas.microsoft.com/office/powerpoint/2010/main" val="2136021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2BCBD-5356-2F82-8C1B-6B41BFE2DEF9}"/>
              </a:ext>
            </a:extLst>
          </p:cNvPr>
          <p:cNvSpPr>
            <a:spLocks noGrp="1"/>
          </p:cNvSpPr>
          <p:nvPr>
            <p:ph type="title"/>
          </p:nvPr>
        </p:nvSpPr>
        <p:spPr>
          <a:xfrm>
            <a:off x="839788" y="365125"/>
            <a:ext cx="10515600" cy="1325563"/>
          </a:xfrm>
        </p:spPr>
        <p:txBody>
          <a:bodyPr/>
          <a:lstStyle/>
          <a:p>
            <a:r>
              <a:rPr lang="en-GB"/>
              <a:t>Click to edit Master title style</a:t>
            </a:r>
            <a:endParaRPr lang="fr-FR"/>
          </a:p>
        </p:txBody>
      </p:sp>
      <p:sp>
        <p:nvSpPr>
          <p:cNvPr id="3" name="Text Placeholder 2">
            <a:extLst>
              <a:ext uri="{FF2B5EF4-FFF2-40B4-BE49-F238E27FC236}">
                <a16:creationId xmlns:a16="http://schemas.microsoft.com/office/drawing/2014/main" id="{24B37298-B34F-E2D4-1939-49589E9767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B491F80-37EC-FE6D-16D8-2C33B907534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5" name="Text Placeholder 4">
            <a:extLst>
              <a:ext uri="{FF2B5EF4-FFF2-40B4-BE49-F238E27FC236}">
                <a16:creationId xmlns:a16="http://schemas.microsoft.com/office/drawing/2014/main" id="{A2FED394-F700-C94B-A696-D6F94A0F09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D935864-88D7-5110-28B1-6E8F1590745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7" name="Date Placeholder 6">
            <a:extLst>
              <a:ext uri="{FF2B5EF4-FFF2-40B4-BE49-F238E27FC236}">
                <a16:creationId xmlns:a16="http://schemas.microsoft.com/office/drawing/2014/main" id="{20001AA9-6477-8DA3-336D-E7B3A5F9AEA8}"/>
              </a:ext>
            </a:extLst>
          </p:cNvPr>
          <p:cNvSpPr>
            <a:spLocks noGrp="1"/>
          </p:cNvSpPr>
          <p:nvPr>
            <p:ph type="dt" sz="half" idx="10"/>
          </p:nvPr>
        </p:nvSpPr>
        <p:spPr/>
        <p:txBody>
          <a:bodyPr/>
          <a:lstStyle/>
          <a:p>
            <a:fld id="{3846215E-43C4-1D40-95F8-023AE389A37C}" type="datetimeFigureOut">
              <a:rPr lang="fr-FR" smtClean="0"/>
              <a:t>03/06/2025</a:t>
            </a:fld>
            <a:endParaRPr lang="fr-FR"/>
          </a:p>
        </p:txBody>
      </p:sp>
      <p:sp>
        <p:nvSpPr>
          <p:cNvPr id="8" name="Footer Placeholder 7">
            <a:extLst>
              <a:ext uri="{FF2B5EF4-FFF2-40B4-BE49-F238E27FC236}">
                <a16:creationId xmlns:a16="http://schemas.microsoft.com/office/drawing/2014/main" id="{3D9E68D1-42A2-E806-F993-6E6FE945F9CE}"/>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53A152B9-8756-E9AD-A65F-50C62E40970A}"/>
              </a:ext>
            </a:extLst>
          </p:cNvPr>
          <p:cNvSpPr>
            <a:spLocks noGrp="1"/>
          </p:cNvSpPr>
          <p:nvPr>
            <p:ph type="sldNum" sz="quarter" idx="12"/>
          </p:nvPr>
        </p:nvSpPr>
        <p:spPr/>
        <p:txBody>
          <a:bodyPr/>
          <a:lstStyle/>
          <a:p>
            <a:fld id="{E1FAD601-DAC5-E644-8F8F-A3E4DE8A0D15}" type="slidenum">
              <a:rPr lang="fr-FR" smtClean="0"/>
              <a:t>‹#›</a:t>
            </a:fld>
            <a:endParaRPr lang="fr-FR"/>
          </a:p>
        </p:txBody>
      </p:sp>
    </p:spTree>
    <p:extLst>
      <p:ext uri="{BB962C8B-B14F-4D97-AF65-F5344CB8AC3E}">
        <p14:creationId xmlns:p14="http://schemas.microsoft.com/office/powerpoint/2010/main" val="516282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20DB6-31F8-8758-D961-70C20C9941DE}"/>
              </a:ext>
            </a:extLst>
          </p:cNvPr>
          <p:cNvSpPr>
            <a:spLocks noGrp="1"/>
          </p:cNvSpPr>
          <p:nvPr>
            <p:ph type="title"/>
          </p:nvPr>
        </p:nvSpPr>
        <p:spPr/>
        <p:txBody>
          <a:bodyPr/>
          <a:lstStyle/>
          <a:p>
            <a:r>
              <a:rPr lang="en-GB"/>
              <a:t>Click to edit Master title style</a:t>
            </a:r>
            <a:endParaRPr lang="fr-FR"/>
          </a:p>
        </p:txBody>
      </p:sp>
      <p:sp>
        <p:nvSpPr>
          <p:cNvPr id="3" name="Date Placeholder 2">
            <a:extLst>
              <a:ext uri="{FF2B5EF4-FFF2-40B4-BE49-F238E27FC236}">
                <a16:creationId xmlns:a16="http://schemas.microsoft.com/office/drawing/2014/main" id="{CBA309B5-03A1-6090-C0B3-D4F251DAF9A2}"/>
              </a:ext>
            </a:extLst>
          </p:cNvPr>
          <p:cNvSpPr>
            <a:spLocks noGrp="1"/>
          </p:cNvSpPr>
          <p:nvPr>
            <p:ph type="dt" sz="half" idx="10"/>
          </p:nvPr>
        </p:nvSpPr>
        <p:spPr/>
        <p:txBody>
          <a:bodyPr/>
          <a:lstStyle/>
          <a:p>
            <a:fld id="{3846215E-43C4-1D40-95F8-023AE389A37C}" type="datetimeFigureOut">
              <a:rPr lang="fr-FR" smtClean="0"/>
              <a:t>03/06/2025</a:t>
            </a:fld>
            <a:endParaRPr lang="fr-FR"/>
          </a:p>
        </p:txBody>
      </p:sp>
      <p:sp>
        <p:nvSpPr>
          <p:cNvPr id="4" name="Footer Placeholder 3">
            <a:extLst>
              <a:ext uri="{FF2B5EF4-FFF2-40B4-BE49-F238E27FC236}">
                <a16:creationId xmlns:a16="http://schemas.microsoft.com/office/drawing/2014/main" id="{ABC0EFBB-FD79-6E4C-F62F-46FBFAE09472}"/>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1C6E5308-F086-1CD5-8ADA-44E9DC7DA658}"/>
              </a:ext>
            </a:extLst>
          </p:cNvPr>
          <p:cNvSpPr>
            <a:spLocks noGrp="1"/>
          </p:cNvSpPr>
          <p:nvPr>
            <p:ph type="sldNum" sz="quarter" idx="12"/>
          </p:nvPr>
        </p:nvSpPr>
        <p:spPr/>
        <p:txBody>
          <a:bodyPr/>
          <a:lstStyle/>
          <a:p>
            <a:fld id="{E1FAD601-DAC5-E644-8F8F-A3E4DE8A0D15}" type="slidenum">
              <a:rPr lang="fr-FR" smtClean="0"/>
              <a:t>‹#›</a:t>
            </a:fld>
            <a:endParaRPr lang="fr-FR"/>
          </a:p>
        </p:txBody>
      </p:sp>
    </p:spTree>
    <p:extLst>
      <p:ext uri="{BB962C8B-B14F-4D97-AF65-F5344CB8AC3E}">
        <p14:creationId xmlns:p14="http://schemas.microsoft.com/office/powerpoint/2010/main" val="754776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480981-9A7F-60A4-780B-19D1B01126F1}"/>
              </a:ext>
            </a:extLst>
          </p:cNvPr>
          <p:cNvSpPr>
            <a:spLocks noGrp="1"/>
          </p:cNvSpPr>
          <p:nvPr>
            <p:ph type="dt" sz="half" idx="10"/>
          </p:nvPr>
        </p:nvSpPr>
        <p:spPr/>
        <p:txBody>
          <a:bodyPr/>
          <a:lstStyle/>
          <a:p>
            <a:fld id="{3846215E-43C4-1D40-95F8-023AE389A37C}" type="datetimeFigureOut">
              <a:rPr lang="fr-FR" smtClean="0"/>
              <a:t>03/06/2025</a:t>
            </a:fld>
            <a:endParaRPr lang="fr-FR"/>
          </a:p>
        </p:txBody>
      </p:sp>
      <p:sp>
        <p:nvSpPr>
          <p:cNvPr id="3" name="Footer Placeholder 2">
            <a:extLst>
              <a:ext uri="{FF2B5EF4-FFF2-40B4-BE49-F238E27FC236}">
                <a16:creationId xmlns:a16="http://schemas.microsoft.com/office/drawing/2014/main" id="{97BA8D7B-F1AC-1237-145E-206489053553}"/>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30FA2ED6-420B-4807-8112-8914EA3E2B67}"/>
              </a:ext>
            </a:extLst>
          </p:cNvPr>
          <p:cNvSpPr>
            <a:spLocks noGrp="1"/>
          </p:cNvSpPr>
          <p:nvPr>
            <p:ph type="sldNum" sz="quarter" idx="12"/>
          </p:nvPr>
        </p:nvSpPr>
        <p:spPr/>
        <p:txBody>
          <a:bodyPr/>
          <a:lstStyle/>
          <a:p>
            <a:fld id="{E1FAD601-DAC5-E644-8F8F-A3E4DE8A0D15}" type="slidenum">
              <a:rPr lang="fr-FR" smtClean="0"/>
              <a:t>‹#›</a:t>
            </a:fld>
            <a:endParaRPr lang="fr-FR"/>
          </a:p>
        </p:txBody>
      </p:sp>
    </p:spTree>
    <p:extLst>
      <p:ext uri="{BB962C8B-B14F-4D97-AF65-F5344CB8AC3E}">
        <p14:creationId xmlns:p14="http://schemas.microsoft.com/office/powerpoint/2010/main" val="169413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E3F3-FD70-6EE7-EFE2-75602EA70CA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FR"/>
          </a:p>
        </p:txBody>
      </p:sp>
      <p:sp>
        <p:nvSpPr>
          <p:cNvPr id="3" name="Content Placeholder 2">
            <a:extLst>
              <a:ext uri="{FF2B5EF4-FFF2-40B4-BE49-F238E27FC236}">
                <a16:creationId xmlns:a16="http://schemas.microsoft.com/office/drawing/2014/main" id="{C22DB4C0-7894-652A-B02B-3572754DA4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Text Placeholder 3">
            <a:extLst>
              <a:ext uri="{FF2B5EF4-FFF2-40B4-BE49-F238E27FC236}">
                <a16:creationId xmlns:a16="http://schemas.microsoft.com/office/drawing/2014/main" id="{4CB1D747-C894-C760-D6B7-39A0545B1F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DDCF896-8F41-B012-A554-D52DB799A303}"/>
              </a:ext>
            </a:extLst>
          </p:cNvPr>
          <p:cNvSpPr>
            <a:spLocks noGrp="1"/>
          </p:cNvSpPr>
          <p:nvPr>
            <p:ph type="dt" sz="half" idx="10"/>
          </p:nvPr>
        </p:nvSpPr>
        <p:spPr/>
        <p:txBody>
          <a:bodyPr/>
          <a:lstStyle/>
          <a:p>
            <a:fld id="{3846215E-43C4-1D40-95F8-023AE389A37C}" type="datetimeFigureOut">
              <a:rPr lang="fr-FR" smtClean="0"/>
              <a:t>03/06/2025</a:t>
            </a:fld>
            <a:endParaRPr lang="fr-FR"/>
          </a:p>
        </p:txBody>
      </p:sp>
      <p:sp>
        <p:nvSpPr>
          <p:cNvPr id="6" name="Footer Placeholder 5">
            <a:extLst>
              <a:ext uri="{FF2B5EF4-FFF2-40B4-BE49-F238E27FC236}">
                <a16:creationId xmlns:a16="http://schemas.microsoft.com/office/drawing/2014/main" id="{018D172F-B138-FD22-3798-E9C74EE544A8}"/>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12B94764-CF1A-D9C5-0C68-4FA31FA2710D}"/>
              </a:ext>
            </a:extLst>
          </p:cNvPr>
          <p:cNvSpPr>
            <a:spLocks noGrp="1"/>
          </p:cNvSpPr>
          <p:nvPr>
            <p:ph type="sldNum" sz="quarter" idx="12"/>
          </p:nvPr>
        </p:nvSpPr>
        <p:spPr/>
        <p:txBody>
          <a:bodyPr/>
          <a:lstStyle/>
          <a:p>
            <a:fld id="{E1FAD601-DAC5-E644-8F8F-A3E4DE8A0D15}" type="slidenum">
              <a:rPr lang="fr-FR" smtClean="0"/>
              <a:t>‹#›</a:t>
            </a:fld>
            <a:endParaRPr lang="fr-FR"/>
          </a:p>
        </p:txBody>
      </p:sp>
    </p:spTree>
    <p:extLst>
      <p:ext uri="{BB962C8B-B14F-4D97-AF65-F5344CB8AC3E}">
        <p14:creationId xmlns:p14="http://schemas.microsoft.com/office/powerpoint/2010/main" val="445427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BCC38-1B19-0EE9-CB8D-BCDBEA49427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FR"/>
          </a:p>
        </p:txBody>
      </p:sp>
      <p:sp>
        <p:nvSpPr>
          <p:cNvPr id="3" name="Picture Placeholder 2">
            <a:extLst>
              <a:ext uri="{FF2B5EF4-FFF2-40B4-BE49-F238E27FC236}">
                <a16:creationId xmlns:a16="http://schemas.microsoft.com/office/drawing/2014/main" id="{59F007A4-8D2C-DDCB-65B8-8A49E5E16E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6E7BD369-6465-66F7-0C03-BD2F08C0E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2E70D57-CF34-EA60-7E78-E79F6C61D4FE}"/>
              </a:ext>
            </a:extLst>
          </p:cNvPr>
          <p:cNvSpPr>
            <a:spLocks noGrp="1"/>
          </p:cNvSpPr>
          <p:nvPr>
            <p:ph type="dt" sz="half" idx="10"/>
          </p:nvPr>
        </p:nvSpPr>
        <p:spPr/>
        <p:txBody>
          <a:bodyPr/>
          <a:lstStyle/>
          <a:p>
            <a:fld id="{3846215E-43C4-1D40-95F8-023AE389A37C}" type="datetimeFigureOut">
              <a:rPr lang="fr-FR" smtClean="0"/>
              <a:t>03/06/2025</a:t>
            </a:fld>
            <a:endParaRPr lang="fr-FR"/>
          </a:p>
        </p:txBody>
      </p:sp>
      <p:sp>
        <p:nvSpPr>
          <p:cNvPr id="6" name="Footer Placeholder 5">
            <a:extLst>
              <a:ext uri="{FF2B5EF4-FFF2-40B4-BE49-F238E27FC236}">
                <a16:creationId xmlns:a16="http://schemas.microsoft.com/office/drawing/2014/main" id="{3E1AB88C-50D0-2F30-2DAC-4B4925A69906}"/>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7EF65710-89F2-0DA1-8C31-3F233968987B}"/>
              </a:ext>
            </a:extLst>
          </p:cNvPr>
          <p:cNvSpPr>
            <a:spLocks noGrp="1"/>
          </p:cNvSpPr>
          <p:nvPr>
            <p:ph type="sldNum" sz="quarter" idx="12"/>
          </p:nvPr>
        </p:nvSpPr>
        <p:spPr/>
        <p:txBody>
          <a:bodyPr/>
          <a:lstStyle/>
          <a:p>
            <a:fld id="{E1FAD601-DAC5-E644-8F8F-A3E4DE8A0D15}" type="slidenum">
              <a:rPr lang="fr-FR" smtClean="0"/>
              <a:t>‹#›</a:t>
            </a:fld>
            <a:endParaRPr lang="fr-FR"/>
          </a:p>
        </p:txBody>
      </p:sp>
    </p:spTree>
    <p:extLst>
      <p:ext uri="{BB962C8B-B14F-4D97-AF65-F5344CB8AC3E}">
        <p14:creationId xmlns:p14="http://schemas.microsoft.com/office/powerpoint/2010/main" val="3467110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50A60-5D5D-290B-F91D-ABD78DC77DE9}"/>
              </a:ext>
            </a:extLst>
          </p:cNvPr>
          <p:cNvSpPr>
            <a:spLocks noGrp="1"/>
          </p:cNvSpPr>
          <p:nvPr>
            <p:ph type="title"/>
          </p:nvPr>
        </p:nvSpPr>
        <p:spPr/>
        <p:txBody>
          <a:bodyPr/>
          <a:lstStyle/>
          <a:p>
            <a:r>
              <a:rPr lang="en-GB"/>
              <a:t>Click to edit Master title style</a:t>
            </a:r>
            <a:endParaRPr lang="fr-FR"/>
          </a:p>
        </p:txBody>
      </p:sp>
      <p:sp>
        <p:nvSpPr>
          <p:cNvPr id="3" name="Vertical Text Placeholder 2">
            <a:extLst>
              <a:ext uri="{FF2B5EF4-FFF2-40B4-BE49-F238E27FC236}">
                <a16:creationId xmlns:a16="http://schemas.microsoft.com/office/drawing/2014/main" id="{FF650231-8F1E-D34D-4521-37596E51559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1CE1497F-9587-88FA-9D29-9DDB82DE4EF4}"/>
              </a:ext>
            </a:extLst>
          </p:cNvPr>
          <p:cNvSpPr>
            <a:spLocks noGrp="1"/>
          </p:cNvSpPr>
          <p:nvPr>
            <p:ph type="dt" sz="half" idx="10"/>
          </p:nvPr>
        </p:nvSpPr>
        <p:spPr/>
        <p:txBody>
          <a:bodyPr/>
          <a:lstStyle/>
          <a:p>
            <a:fld id="{3846215E-43C4-1D40-95F8-023AE389A37C}" type="datetimeFigureOut">
              <a:rPr lang="fr-FR" smtClean="0"/>
              <a:t>03/06/2025</a:t>
            </a:fld>
            <a:endParaRPr lang="fr-FR"/>
          </a:p>
        </p:txBody>
      </p:sp>
      <p:sp>
        <p:nvSpPr>
          <p:cNvPr id="5" name="Footer Placeholder 4">
            <a:extLst>
              <a:ext uri="{FF2B5EF4-FFF2-40B4-BE49-F238E27FC236}">
                <a16:creationId xmlns:a16="http://schemas.microsoft.com/office/drawing/2014/main" id="{3347C277-82A8-158B-12CB-51971CAEE5C9}"/>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AA34BFEF-A35B-72FF-8003-3240B477DAA5}"/>
              </a:ext>
            </a:extLst>
          </p:cNvPr>
          <p:cNvSpPr>
            <a:spLocks noGrp="1"/>
          </p:cNvSpPr>
          <p:nvPr>
            <p:ph type="sldNum" sz="quarter" idx="12"/>
          </p:nvPr>
        </p:nvSpPr>
        <p:spPr/>
        <p:txBody>
          <a:bodyPr/>
          <a:lstStyle/>
          <a:p>
            <a:fld id="{E1FAD601-DAC5-E644-8F8F-A3E4DE8A0D15}" type="slidenum">
              <a:rPr lang="fr-FR" smtClean="0"/>
              <a:t>‹#›</a:t>
            </a:fld>
            <a:endParaRPr lang="fr-FR"/>
          </a:p>
        </p:txBody>
      </p:sp>
    </p:spTree>
    <p:extLst>
      <p:ext uri="{BB962C8B-B14F-4D97-AF65-F5344CB8AC3E}">
        <p14:creationId xmlns:p14="http://schemas.microsoft.com/office/powerpoint/2010/main" val="2289641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C7804A-44DD-0DE3-4CA8-BBD71876908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fr-FR"/>
          </a:p>
        </p:txBody>
      </p:sp>
      <p:sp>
        <p:nvSpPr>
          <p:cNvPr id="3" name="Vertical Text Placeholder 2">
            <a:extLst>
              <a:ext uri="{FF2B5EF4-FFF2-40B4-BE49-F238E27FC236}">
                <a16:creationId xmlns:a16="http://schemas.microsoft.com/office/drawing/2014/main" id="{D474F712-6479-5713-C148-192B49F6F9F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A08E17AD-84B4-935E-009C-BA8A148580CF}"/>
              </a:ext>
            </a:extLst>
          </p:cNvPr>
          <p:cNvSpPr>
            <a:spLocks noGrp="1"/>
          </p:cNvSpPr>
          <p:nvPr>
            <p:ph type="dt" sz="half" idx="10"/>
          </p:nvPr>
        </p:nvSpPr>
        <p:spPr/>
        <p:txBody>
          <a:bodyPr/>
          <a:lstStyle/>
          <a:p>
            <a:fld id="{3846215E-43C4-1D40-95F8-023AE389A37C}" type="datetimeFigureOut">
              <a:rPr lang="fr-FR" smtClean="0"/>
              <a:t>03/06/2025</a:t>
            </a:fld>
            <a:endParaRPr lang="fr-FR"/>
          </a:p>
        </p:txBody>
      </p:sp>
      <p:sp>
        <p:nvSpPr>
          <p:cNvPr id="5" name="Footer Placeholder 4">
            <a:extLst>
              <a:ext uri="{FF2B5EF4-FFF2-40B4-BE49-F238E27FC236}">
                <a16:creationId xmlns:a16="http://schemas.microsoft.com/office/drawing/2014/main" id="{9082CB8E-16D1-4440-34CD-CD94236B92F1}"/>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F5A4B72-E02E-56EA-0726-21B90CBD75C4}"/>
              </a:ext>
            </a:extLst>
          </p:cNvPr>
          <p:cNvSpPr>
            <a:spLocks noGrp="1"/>
          </p:cNvSpPr>
          <p:nvPr>
            <p:ph type="sldNum" sz="quarter" idx="12"/>
          </p:nvPr>
        </p:nvSpPr>
        <p:spPr/>
        <p:txBody>
          <a:bodyPr/>
          <a:lstStyle/>
          <a:p>
            <a:fld id="{E1FAD601-DAC5-E644-8F8F-A3E4DE8A0D15}" type="slidenum">
              <a:rPr lang="fr-FR" smtClean="0"/>
              <a:t>‹#›</a:t>
            </a:fld>
            <a:endParaRPr lang="fr-FR"/>
          </a:p>
        </p:txBody>
      </p:sp>
    </p:spTree>
    <p:extLst>
      <p:ext uri="{BB962C8B-B14F-4D97-AF65-F5344CB8AC3E}">
        <p14:creationId xmlns:p14="http://schemas.microsoft.com/office/powerpoint/2010/main" val="2727196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FC1189-0783-6BF2-9389-469564AE7F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fr-FR"/>
          </a:p>
        </p:txBody>
      </p:sp>
      <p:sp>
        <p:nvSpPr>
          <p:cNvPr id="3" name="Text Placeholder 2">
            <a:extLst>
              <a:ext uri="{FF2B5EF4-FFF2-40B4-BE49-F238E27FC236}">
                <a16:creationId xmlns:a16="http://schemas.microsoft.com/office/drawing/2014/main" id="{1EAD25A8-61C2-E776-1562-3EE5A5EE9B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A7689E6F-BECE-80C1-A71C-C0B7BC0BFB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46215E-43C4-1D40-95F8-023AE389A37C}" type="datetimeFigureOut">
              <a:rPr lang="fr-FR" smtClean="0"/>
              <a:t>03/06/2025</a:t>
            </a:fld>
            <a:endParaRPr lang="fr-FR"/>
          </a:p>
        </p:txBody>
      </p:sp>
      <p:sp>
        <p:nvSpPr>
          <p:cNvPr id="5" name="Footer Placeholder 4">
            <a:extLst>
              <a:ext uri="{FF2B5EF4-FFF2-40B4-BE49-F238E27FC236}">
                <a16:creationId xmlns:a16="http://schemas.microsoft.com/office/drawing/2014/main" id="{0AE74F5E-1756-7FE0-E4C9-3A56ECED6F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5B0F3158-7DEF-A20B-504A-441E39D68C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FAD601-DAC5-E644-8F8F-A3E4DE8A0D15}" type="slidenum">
              <a:rPr lang="fr-FR" smtClean="0"/>
              <a:t>‹#›</a:t>
            </a:fld>
            <a:endParaRPr lang="fr-FR"/>
          </a:p>
        </p:txBody>
      </p:sp>
    </p:spTree>
    <p:extLst>
      <p:ext uri="{BB962C8B-B14F-4D97-AF65-F5344CB8AC3E}">
        <p14:creationId xmlns:p14="http://schemas.microsoft.com/office/powerpoint/2010/main" val="2225077037"/>
      </p:ext>
    </p:extLst>
  </p:cSld>
  <p:clrMap bg1="lt1" tx1="dk1" bg2="lt2" tx2="dk2" accent1="accent1" accent2="accent2" accent3="accent3" accent4="accent4" accent5="accent5" accent6="accent6" hlink="hlink" folHlink="folHlink"/>
  <p:sldLayoutIdLst>
    <p:sldLayoutId id="2147484120" r:id="rId1"/>
    <p:sldLayoutId id="2147484121" r:id="rId2"/>
    <p:sldLayoutId id="2147484122" r:id="rId3"/>
    <p:sldLayoutId id="2147484123" r:id="rId4"/>
    <p:sldLayoutId id="2147484124" r:id="rId5"/>
    <p:sldLayoutId id="2147484125" r:id="rId6"/>
    <p:sldLayoutId id="2147484126" r:id="rId7"/>
    <p:sldLayoutId id="2147484127" r:id="rId8"/>
    <p:sldLayoutId id="2147484128" r:id="rId9"/>
    <p:sldLayoutId id="2147484129" r:id="rId10"/>
    <p:sldLayoutId id="21474841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text.com/what-is/encrypti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mckinsey.com/industries/financial-services/our-insights/from-ripples-to-waves-the-transformational-power-of-tokenizing-asset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0F34-76AF-52DD-ABD6-18A52B4E5D27}"/>
              </a:ext>
            </a:extLst>
          </p:cNvPr>
          <p:cNvSpPr>
            <a:spLocks noGrp="1"/>
          </p:cNvSpPr>
          <p:nvPr>
            <p:ph type="ctrTitle"/>
          </p:nvPr>
        </p:nvSpPr>
        <p:spPr>
          <a:xfrm>
            <a:off x="2143124" y="3071812"/>
            <a:ext cx="9801451" cy="1331773"/>
          </a:xfrm>
        </p:spPr>
        <p:txBody>
          <a:bodyPr>
            <a:noAutofit/>
          </a:bodyPr>
          <a:lstStyle/>
          <a:p>
            <a:pPr algn="r"/>
            <a:br>
              <a:rPr lang="fr-FR" sz="8000" b="1" dirty="0">
                <a:solidFill>
                  <a:schemeClr val="tx2">
                    <a:lumMod val="50000"/>
                  </a:schemeClr>
                </a:solidFill>
                <a:latin typeface="+mn-lt"/>
              </a:rPr>
            </a:br>
            <a:br>
              <a:rPr lang="fr-FR" sz="8000" b="1" dirty="0">
                <a:solidFill>
                  <a:schemeClr val="tx2">
                    <a:lumMod val="50000"/>
                  </a:schemeClr>
                </a:solidFill>
                <a:latin typeface="+mn-lt"/>
              </a:rPr>
            </a:br>
            <a:br>
              <a:rPr lang="fr-FR" sz="6600" b="1" dirty="0">
                <a:solidFill>
                  <a:schemeClr val="tx2">
                    <a:lumMod val="50000"/>
                  </a:schemeClr>
                </a:solidFill>
                <a:latin typeface="+mn-lt"/>
              </a:rPr>
            </a:br>
            <a:endParaRPr lang="fr-FR" sz="4000" b="1" dirty="0">
              <a:solidFill>
                <a:schemeClr val="tx2">
                  <a:lumMod val="50000"/>
                </a:schemeClr>
              </a:solidFill>
              <a:latin typeface="+mn-lt"/>
            </a:endParaRPr>
          </a:p>
        </p:txBody>
      </p:sp>
      <p:sp>
        <p:nvSpPr>
          <p:cNvPr id="3" name="Subtitle 2">
            <a:extLst>
              <a:ext uri="{FF2B5EF4-FFF2-40B4-BE49-F238E27FC236}">
                <a16:creationId xmlns:a16="http://schemas.microsoft.com/office/drawing/2014/main" id="{6CC94DDA-8E41-9F81-B8C2-5B68245A3022}"/>
              </a:ext>
            </a:extLst>
          </p:cNvPr>
          <p:cNvSpPr>
            <a:spLocks noGrp="1"/>
          </p:cNvSpPr>
          <p:nvPr>
            <p:ph type="subTitle" idx="1"/>
          </p:nvPr>
        </p:nvSpPr>
        <p:spPr>
          <a:xfrm>
            <a:off x="4700588" y="4777273"/>
            <a:ext cx="7243988" cy="1750403"/>
          </a:xfrm>
        </p:spPr>
        <p:txBody>
          <a:bodyPr>
            <a:normAutofit fontScale="92500" lnSpcReduction="20000"/>
          </a:bodyPr>
          <a:lstStyle/>
          <a:p>
            <a:pPr algn="r"/>
            <a:r>
              <a:rPr lang="fr-FR" dirty="0">
                <a:solidFill>
                  <a:schemeClr val="tx1"/>
                </a:solidFill>
              </a:rPr>
              <a:t>By </a:t>
            </a:r>
            <a:r>
              <a:rPr lang="fr-FR" sz="3100" i="1" dirty="0">
                <a:solidFill>
                  <a:schemeClr val="tx1"/>
                </a:solidFill>
              </a:rPr>
              <a:t>Colonel</a:t>
            </a:r>
            <a:r>
              <a:rPr lang="fr-FR" sz="3100" dirty="0">
                <a:solidFill>
                  <a:schemeClr val="tx1"/>
                </a:solidFill>
              </a:rPr>
              <a:t> </a:t>
            </a:r>
            <a:r>
              <a:rPr lang="fr-FR" dirty="0">
                <a:solidFill>
                  <a:schemeClr val="tx1"/>
                </a:solidFill>
              </a:rPr>
              <a:t> </a:t>
            </a:r>
            <a:r>
              <a:rPr lang="fr-FR" sz="2800" b="1" i="1" u="sng" dirty="0">
                <a:solidFill>
                  <a:schemeClr val="tx1"/>
                </a:solidFill>
              </a:rPr>
              <a:t>MBECK MOMENDENG Jean Levrai</a:t>
            </a:r>
            <a:r>
              <a:rPr lang="fr-FR" dirty="0">
                <a:solidFill>
                  <a:schemeClr val="tx1"/>
                </a:solidFill>
              </a:rPr>
              <a:t>,</a:t>
            </a:r>
          </a:p>
          <a:p>
            <a:pPr algn="r"/>
            <a:r>
              <a:rPr lang="fr-FR" i="1" cap="all" dirty="0">
                <a:solidFill>
                  <a:schemeClr val="tx1"/>
                </a:solidFill>
              </a:rPr>
              <a:t>HELIOS Project </a:t>
            </a:r>
            <a:r>
              <a:rPr lang="fr-FR" i="1" cap="all" dirty="0" err="1">
                <a:solidFill>
                  <a:schemeClr val="tx1"/>
                </a:solidFill>
              </a:rPr>
              <a:t>Executive</a:t>
            </a:r>
            <a:r>
              <a:rPr lang="fr-FR" i="1" cap="all" dirty="0">
                <a:solidFill>
                  <a:schemeClr val="tx1"/>
                </a:solidFill>
              </a:rPr>
              <a:t> Manager</a:t>
            </a:r>
          </a:p>
          <a:p>
            <a:pPr algn="r"/>
            <a:r>
              <a:rPr lang="fr-FR" sz="1900" b="1" dirty="0">
                <a:solidFill>
                  <a:schemeClr val="tx1"/>
                </a:solidFill>
              </a:rPr>
              <a:t>ICCF-</a:t>
            </a:r>
            <a:r>
              <a:rPr lang="fr-FR" sz="1900" b="1" dirty="0" err="1">
                <a:solidFill>
                  <a:schemeClr val="tx1"/>
                </a:solidFill>
              </a:rPr>
              <a:t>eMBA</a:t>
            </a:r>
            <a:r>
              <a:rPr lang="fr-FR" sz="1900" b="1" dirty="0">
                <a:solidFill>
                  <a:schemeClr val="tx1"/>
                </a:solidFill>
              </a:rPr>
              <a:t> @HEC Paris </a:t>
            </a:r>
          </a:p>
          <a:p>
            <a:pPr algn="r"/>
            <a:r>
              <a:rPr lang="fr-FR" sz="1900" b="1" dirty="0">
                <a:solidFill>
                  <a:schemeClr val="tx1"/>
                </a:solidFill>
              </a:rPr>
              <a:t>CSEP-ASEP-CISM – CISSP-CISO</a:t>
            </a:r>
          </a:p>
          <a:p>
            <a:pPr algn="r"/>
            <a:r>
              <a:rPr lang="fr-FR" sz="1900" b="1" dirty="0">
                <a:solidFill>
                  <a:schemeClr val="tx1"/>
                </a:solidFill>
              </a:rPr>
              <a:t>ISO/IEC 27005-EBIOS 27005 </a:t>
            </a:r>
            <a:r>
              <a:rPr lang="fr-FR" sz="1900" b="1" dirty="0" err="1">
                <a:solidFill>
                  <a:schemeClr val="tx1"/>
                </a:solidFill>
              </a:rPr>
              <a:t>Certified</a:t>
            </a:r>
            <a:r>
              <a:rPr lang="fr-FR" sz="1900" b="1" dirty="0">
                <a:solidFill>
                  <a:schemeClr val="tx1"/>
                </a:solidFill>
              </a:rPr>
              <a:t> </a:t>
            </a:r>
          </a:p>
          <a:p>
            <a:endParaRPr lang="fr-FR" dirty="0"/>
          </a:p>
          <a:p>
            <a:endParaRPr lang="fr-FR" dirty="0"/>
          </a:p>
        </p:txBody>
      </p:sp>
      <p:pic>
        <p:nvPicPr>
          <p:cNvPr id="4" name="Picture 3">
            <a:extLst>
              <a:ext uri="{FF2B5EF4-FFF2-40B4-BE49-F238E27FC236}">
                <a16:creationId xmlns:a16="http://schemas.microsoft.com/office/drawing/2014/main" id="{58D0EFFE-6F9B-B403-13BE-213D8E60C75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70214" y="61909"/>
            <a:ext cx="1360170" cy="1095375"/>
          </a:xfrm>
          <a:prstGeom prst="rect">
            <a:avLst/>
          </a:prstGeom>
          <a:noFill/>
        </p:spPr>
      </p:pic>
      <p:sp>
        <p:nvSpPr>
          <p:cNvPr id="9" name="TextBox 8">
            <a:extLst>
              <a:ext uri="{FF2B5EF4-FFF2-40B4-BE49-F238E27FC236}">
                <a16:creationId xmlns:a16="http://schemas.microsoft.com/office/drawing/2014/main" id="{81DC52E8-7200-02A9-DEC9-FD46859AB048}"/>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
        <p:nvSpPr>
          <p:cNvPr id="5" name="Title 1">
            <a:extLst>
              <a:ext uri="{FF2B5EF4-FFF2-40B4-BE49-F238E27FC236}">
                <a16:creationId xmlns:a16="http://schemas.microsoft.com/office/drawing/2014/main" id="{FDB868B0-D9AC-0E49-BF39-31330A6FC889}"/>
              </a:ext>
            </a:extLst>
          </p:cNvPr>
          <p:cNvSpPr txBox="1">
            <a:spLocks/>
          </p:cNvSpPr>
          <p:nvPr/>
        </p:nvSpPr>
        <p:spPr>
          <a:xfrm>
            <a:off x="247426" y="1785938"/>
            <a:ext cx="11596912" cy="261764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br>
              <a:rPr lang="fr-FR" sz="8000" b="1" dirty="0">
                <a:solidFill>
                  <a:schemeClr val="tx2">
                    <a:lumMod val="50000"/>
                  </a:schemeClr>
                </a:solidFill>
                <a:latin typeface="+mn-lt"/>
              </a:rPr>
            </a:br>
            <a:endParaRPr lang="fr-FR" sz="8000" b="1" dirty="0">
              <a:solidFill>
                <a:schemeClr val="tx2">
                  <a:lumMod val="50000"/>
                </a:schemeClr>
              </a:solidFill>
              <a:latin typeface="+mn-lt"/>
            </a:endParaRPr>
          </a:p>
          <a:p>
            <a:pPr algn="l"/>
            <a:endParaRPr lang="fr-FR" sz="8000" b="1" dirty="0">
              <a:solidFill>
                <a:schemeClr val="tx2">
                  <a:lumMod val="50000"/>
                </a:schemeClr>
              </a:solidFill>
              <a:latin typeface="+mn-lt"/>
            </a:endParaRPr>
          </a:p>
          <a:p>
            <a:r>
              <a:rPr lang="fr-FR" sz="8000" b="1" dirty="0">
                <a:solidFill>
                  <a:schemeClr val="tx2">
                    <a:lumMod val="50000"/>
                  </a:schemeClr>
                </a:solidFill>
                <a:latin typeface="+mn-lt"/>
              </a:rPr>
              <a:t>TOKENIZATION</a:t>
            </a:r>
            <a:r>
              <a:rPr lang="fr-FR" sz="6600" b="1" dirty="0">
                <a:solidFill>
                  <a:schemeClr val="tx2">
                    <a:lumMod val="50000"/>
                  </a:schemeClr>
                </a:solidFill>
              </a:rPr>
              <a:t>:</a:t>
            </a:r>
            <a:r>
              <a:rPr lang="fr-FR" sz="6600" b="1" i="1" dirty="0">
                <a:solidFill>
                  <a:schemeClr val="tx2">
                    <a:lumMod val="50000"/>
                  </a:schemeClr>
                </a:solidFill>
              </a:rPr>
              <a:t> </a:t>
            </a:r>
          </a:p>
          <a:p>
            <a:pPr algn="r"/>
            <a:r>
              <a:rPr lang="fr-FR" sz="4000" b="1" i="1" dirty="0">
                <a:solidFill>
                  <a:schemeClr val="tx2">
                    <a:lumMod val="50000"/>
                  </a:schemeClr>
                </a:solidFill>
              </a:rPr>
              <a:t>Concept and applications in Banking </a:t>
            </a:r>
            <a:r>
              <a:rPr lang="fr-FR" sz="4000" b="1" i="1" dirty="0" err="1">
                <a:solidFill>
                  <a:schemeClr val="tx2">
                    <a:lumMod val="50000"/>
                  </a:schemeClr>
                </a:solidFill>
              </a:rPr>
              <a:t>Systems</a:t>
            </a:r>
            <a:r>
              <a:rPr lang="fr-FR" sz="4000" b="1" i="1" dirty="0">
                <a:solidFill>
                  <a:schemeClr val="tx2">
                    <a:lumMod val="50000"/>
                  </a:schemeClr>
                </a:solidFill>
              </a:rPr>
              <a:t>.</a:t>
            </a:r>
            <a:br>
              <a:rPr lang="fr-FR" sz="6600" b="1" dirty="0">
                <a:solidFill>
                  <a:schemeClr val="tx2">
                    <a:lumMod val="50000"/>
                  </a:schemeClr>
                </a:solidFill>
                <a:latin typeface="+mn-lt"/>
              </a:rPr>
            </a:br>
            <a:endParaRPr lang="fr-FR" sz="4000" b="1" dirty="0">
              <a:solidFill>
                <a:schemeClr val="tx2">
                  <a:lumMod val="50000"/>
                </a:schemeClr>
              </a:solidFill>
              <a:latin typeface="+mn-lt"/>
            </a:endParaRPr>
          </a:p>
        </p:txBody>
      </p:sp>
    </p:spTree>
    <p:extLst>
      <p:ext uri="{BB962C8B-B14F-4D97-AF65-F5344CB8AC3E}">
        <p14:creationId xmlns:p14="http://schemas.microsoft.com/office/powerpoint/2010/main" val="2094189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ABA45-D081-F762-AD98-B63AFF9153C8}"/>
              </a:ext>
            </a:extLst>
          </p:cNvPr>
          <p:cNvSpPr>
            <a:spLocks noGrp="1"/>
          </p:cNvSpPr>
          <p:nvPr>
            <p:ph type="title"/>
          </p:nvPr>
        </p:nvSpPr>
        <p:spPr>
          <a:xfrm>
            <a:off x="2943225" y="0"/>
            <a:ext cx="5129213" cy="748145"/>
          </a:xfrm>
        </p:spPr>
        <p:txBody>
          <a:bodyPr>
            <a:noAutofit/>
          </a:bodyPr>
          <a:lstStyle/>
          <a:p>
            <a:pPr algn="ctr"/>
            <a:r>
              <a:rPr lang="fr-FR" sz="6000" b="1" u="sng" dirty="0">
                <a:solidFill>
                  <a:schemeClr val="tx2">
                    <a:lumMod val="50000"/>
                  </a:schemeClr>
                </a:solidFill>
                <a:latin typeface="+mn-lt"/>
              </a:rPr>
              <a:t>AIM</a:t>
            </a:r>
          </a:p>
        </p:txBody>
      </p:sp>
      <p:sp>
        <p:nvSpPr>
          <p:cNvPr id="3" name="Content Placeholder 2">
            <a:extLst>
              <a:ext uri="{FF2B5EF4-FFF2-40B4-BE49-F238E27FC236}">
                <a16:creationId xmlns:a16="http://schemas.microsoft.com/office/drawing/2014/main" id="{80C9BF50-AF90-A556-8CC8-96264EA4F85A}"/>
              </a:ext>
            </a:extLst>
          </p:cNvPr>
          <p:cNvSpPr>
            <a:spLocks noGrp="1"/>
          </p:cNvSpPr>
          <p:nvPr>
            <p:ph idx="1"/>
          </p:nvPr>
        </p:nvSpPr>
        <p:spPr>
          <a:xfrm>
            <a:off x="42860" y="748145"/>
            <a:ext cx="12149140" cy="5846343"/>
          </a:xfrm>
        </p:spPr>
        <p:txBody>
          <a:bodyPr>
            <a:normAutofit fontScale="25000" lnSpcReduction="20000"/>
          </a:bodyPr>
          <a:lstStyle/>
          <a:p>
            <a:pPr marL="0" indent="0" algn="just">
              <a:lnSpc>
                <a:spcPct val="170000"/>
              </a:lnSpc>
              <a:spcAft>
                <a:spcPts val="800"/>
              </a:spcAft>
              <a:buNone/>
            </a:pPr>
            <a:r>
              <a:rPr lang="en-GB" sz="8000" cap="all" dirty="0">
                <a:latin typeface="+mj-lt"/>
              </a:rPr>
              <a:t>          </a:t>
            </a:r>
            <a:r>
              <a:rPr lang="en-GB" sz="7200" cap="all" dirty="0">
                <a:latin typeface="+mj-lt"/>
              </a:rPr>
              <a:t>Cyber criminals have proven adept at thwarting existing IT defences and exploiting weak links in the payments ecosystem. Merchants, service providers, and enterprises thus face severe and ongoing challenges securing card data from capture through the transaction lifecycle. Organizations are also under pressure to achieve scope and cost reduction goals in meeting compliance mandates such as the Payment Card Industry Data Security Standard (PCI DSS). SCIENCE IN GENERAL AND </a:t>
            </a:r>
            <a:r>
              <a:rPr lang="en-GB" sz="7200" cap="all">
                <a:latin typeface="+mj-lt"/>
              </a:rPr>
              <a:t>CRYPTOGRAPHY SYSTEMS </a:t>
            </a:r>
            <a:r>
              <a:rPr lang="en-GB" sz="7200" cap="all" dirty="0">
                <a:latin typeface="+mj-lt"/>
              </a:rPr>
              <a:t>IN PARTICULAR SUCH AS </a:t>
            </a:r>
            <a:r>
              <a:rPr lang="en-GB" sz="7200" cap="all" dirty="0" err="1">
                <a:latin typeface="+mj-lt"/>
              </a:rPr>
              <a:t>Tokenizationn</a:t>
            </a:r>
            <a:r>
              <a:rPr lang="en-GB" sz="7200" cap="all" dirty="0">
                <a:latin typeface="+mj-lt"/>
              </a:rPr>
              <a:t> HELP IN data protection and audit scope reduction, recommended by the PCI DSS Security Standards Council. THUS can both accelerate initial compliance efforts and reduce costs for future audits.</a:t>
            </a:r>
            <a:r>
              <a:rPr lang="en-US" sz="7200" cap="all" dirty="0">
                <a:latin typeface="+mj-lt"/>
              </a:rPr>
              <a:t> SOME CRITICAL PROBLEMS HAVE EMERGED SUCH AS </a:t>
            </a:r>
            <a:r>
              <a:rPr lang="en-US" sz="7200" b="1" cap="all" dirty="0">
                <a:solidFill>
                  <a:schemeClr val="accent1"/>
                </a:solidFill>
                <a:latin typeface="+mj-lt"/>
              </a:rPr>
              <a:t>COMPLEXITY AND COSTS, INTEGRITY, SECURITY AND RISK, PERFORMANCE AND SCALE, PCI USE CASE COMPLETENESS, …      </a:t>
            </a:r>
          </a:p>
          <a:p>
            <a:pPr marL="0" indent="0" algn="just">
              <a:lnSpc>
                <a:spcPct val="170000"/>
              </a:lnSpc>
              <a:spcAft>
                <a:spcPts val="800"/>
              </a:spcAft>
              <a:buNone/>
            </a:pPr>
            <a:r>
              <a:rPr lang="en-FR" sz="7200" cap="all" dirty="0">
                <a:latin typeface="+mj-lt"/>
              </a:rPr>
              <a:t>THE PURPOSE OF THIS WORK is to </a:t>
            </a:r>
            <a:r>
              <a:rPr lang="en-GB" sz="7200" cap="all" dirty="0">
                <a:latin typeface="+mj-lt"/>
              </a:rPr>
              <a:t>intended for merchants, payment processors, and enterprises that understand what tokenization is, and either want to replace existing first-generation implementations or implement a solution to cut costs, reduce scope, and reduce breach risks to a minimum.</a:t>
            </a:r>
            <a:endParaRPr lang="en-FR" sz="7200" cap="all" dirty="0">
              <a:latin typeface="+mj-lt"/>
            </a:endParaRPr>
          </a:p>
          <a:p>
            <a:pPr marL="0" indent="0" algn="just">
              <a:lnSpc>
                <a:spcPct val="115000"/>
              </a:lnSpc>
              <a:spcAft>
                <a:spcPts val="800"/>
              </a:spcAft>
              <a:buNone/>
            </a:pPr>
            <a:endParaRPr lang="en-FR" sz="8000" b="1" kern="100" cap="all"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526A8623-2EF9-EA44-929A-AF12B47B1DB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860" y="-50008"/>
            <a:ext cx="1257300" cy="1016934"/>
          </a:xfrm>
          <a:prstGeom prst="rect">
            <a:avLst/>
          </a:prstGeom>
          <a:noFill/>
        </p:spPr>
      </p:pic>
      <p:sp>
        <p:nvSpPr>
          <p:cNvPr id="8" name="TextBox 7">
            <a:extLst>
              <a:ext uri="{FF2B5EF4-FFF2-40B4-BE49-F238E27FC236}">
                <a16:creationId xmlns:a16="http://schemas.microsoft.com/office/drawing/2014/main" id="{894EEE8A-1748-A62E-7BDB-B8ECBE4C3B29}"/>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3053302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61FAE-0F6D-D74A-7797-6FA8DE2760DE}"/>
              </a:ext>
            </a:extLst>
          </p:cNvPr>
          <p:cNvSpPr>
            <a:spLocks noGrp="1"/>
          </p:cNvSpPr>
          <p:nvPr>
            <p:ph type="title"/>
          </p:nvPr>
        </p:nvSpPr>
        <p:spPr>
          <a:xfrm>
            <a:off x="2230582" y="122609"/>
            <a:ext cx="7800109" cy="1095375"/>
          </a:xfrm>
        </p:spPr>
        <p:txBody>
          <a:bodyPr>
            <a:normAutofit/>
          </a:bodyPr>
          <a:lstStyle/>
          <a:p>
            <a:pPr algn="ctr"/>
            <a:r>
              <a:rPr lang="fr-FR" sz="6000" b="1" u="sng" dirty="0">
                <a:solidFill>
                  <a:schemeClr val="tx2">
                    <a:lumMod val="50000"/>
                  </a:schemeClr>
                </a:solidFill>
                <a:latin typeface="+mn-lt"/>
              </a:rPr>
              <a:t>PLAN</a:t>
            </a:r>
          </a:p>
        </p:txBody>
      </p:sp>
      <p:sp>
        <p:nvSpPr>
          <p:cNvPr id="3" name="Content Placeholder 2">
            <a:extLst>
              <a:ext uri="{FF2B5EF4-FFF2-40B4-BE49-F238E27FC236}">
                <a16:creationId xmlns:a16="http://schemas.microsoft.com/office/drawing/2014/main" id="{1B3E0DCA-D1C4-2E84-7087-83AC28176D9E}"/>
              </a:ext>
            </a:extLst>
          </p:cNvPr>
          <p:cNvSpPr>
            <a:spLocks noGrp="1"/>
          </p:cNvSpPr>
          <p:nvPr>
            <p:ph idx="1"/>
          </p:nvPr>
        </p:nvSpPr>
        <p:spPr>
          <a:xfrm>
            <a:off x="138540" y="1595301"/>
            <a:ext cx="12053460" cy="963738"/>
          </a:xfrm>
        </p:spPr>
        <p:txBody>
          <a:bodyPr>
            <a:noAutofit/>
          </a:bodyPr>
          <a:lstStyle/>
          <a:p>
            <a:pPr marL="0" indent="0">
              <a:buNone/>
            </a:pPr>
            <a:r>
              <a:rPr lang="fr-FR" sz="4000" b="1" cap="all" dirty="0">
                <a:solidFill>
                  <a:schemeClr val="bg2">
                    <a:lumMod val="10000"/>
                  </a:schemeClr>
                </a:solidFill>
                <a:ea typeface="+mj-ea"/>
                <a:cs typeface="+mj-cs"/>
              </a:rPr>
              <a:t>I-</a:t>
            </a:r>
            <a:r>
              <a:rPr lang="fr-FR" sz="3000" b="1" cap="none" dirty="0">
                <a:solidFill>
                  <a:schemeClr val="tx1"/>
                </a:solidFill>
                <a:effectLst/>
                <a:latin typeface="+mj-lt"/>
              </a:rPr>
              <a:t> </a:t>
            </a:r>
            <a:r>
              <a:rPr lang="en-US" sz="4000" b="1" cap="all" dirty="0">
                <a:solidFill>
                  <a:schemeClr val="bg2">
                    <a:lumMod val="10000"/>
                  </a:schemeClr>
                </a:solidFill>
                <a:ea typeface="+mj-ea"/>
                <a:cs typeface="+mj-cs"/>
              </a:rPr>
              <a:t>WHAT IS TOKENIZATION?</a:t>
            </a:r>
            <a:endParaRPr lang="en-FR" sz="4000" b="1" cap="all" dirty="0">
              <a:solidFill>
                <a:schemeClr val="bg2">
                  <a:lumMod val="10000"/>
                </a:schemeClr>
              </a:solidFill>
              <a:ea typeface="+mj-ea"/>
              <a:cs typeface="+mj-cs"/>
            </a:endParaRPr>
          </a:p>
          <a:p>
            <a:pPr marL="0" indent="0">
              <a:buNone/>
            </a:pPr>
            <a:endParaRPr lang="fr-FR" sz="3000" b="1" cap="none" dirty="0">
              <a:solidFill>
                <a:schemeClr val="tx1"/>
              </a:solidFill>
              <a:effectLst/>
              <a:latin typeface="+mj-lt"/>
            </a:endParaRPr>
          </a:p>
        </p:txBody>
      </p:sp>
      <p:sp>
        <p:nvSpPr>
          <p:cNvPr id="6" name="Content Placeholder 2">
            <a:extLst>
              <a:ext uri="{FF2B5EF4-FFF2-40B4-BE49-F238E27FC236}">
                <a16:creationId xmlns:a16="http://schemas.microsoft.com/office/drawing/2014/main" id="{A61B755C-1D44-ADC6-7F27-5BD64DF92509}"/>
              </a:ext>
            </a:extLst>
          </p:cNvPr>
          <p:cNvSpPr txBox="1">
            <a:spLocks/>
          </p:cNvSpPr>
          <p:nvPr/>
        </p:nvSpPr>
        <p:spPr>
          <a:xfrm>
            <a:off x="952853" y="2786990"/>
            <a:ext cx="9964529" cy="760666"/>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fr-FR" sz="4000" b="1" cap="all" dirty="0">
                <a:solidFill>
                  <a:schemeClr val="bg2">
                    <a:lumMod val="10000"/>
                  </a:schemeClr>
                </a:solidFill>
                <a:ea typeface="+mj-ea"/>
                <a:cs typeface="+mj-cs"/>
              </a:rPr>
              <a:t>II-</a:t>
            </a:r>
            <a:r>
              <a:rPr lang="fr-FR" sz="3000" b="1" dirty="0">
                <a:latin typeface="+mj-lt"/>
              </a:rPr>
              <a:t> </a:t>
            </a:r>
            <a:r>
              <a:rPr lang="fr-FR" sz="4000" b="1" cap="all" dirty="0">
                <a:solidFill>
                  <a:schemeClr val="bg2">
                    <a:lumMod val="10000"/>
                  </a:schemeClr>
                </a:solidFill>
              </a:rPr>
              <a:t>HOW DOES TOKENIZATION WORK?</a:t>
            </a:r>
            <a:endParaRPr lang="fr-FR" sz="4000" b="1" cap="all" dirty="0">
              <a:solidFill>
                <a:schemeClr val="bg2">
                  <a:lumMod val="10000"/>
                </a:schemeClr>
              </a:solidFill>
              <a:ea typeface="+mj-ea"/>
              <a:cs typeface="+mj-cs"/>
            </a:endParaRPr>
          </a:p>
        </p:txBody>
      </p:sp>
      <p:sp>
        <p:nvSpPr>
          <p:cNvPr id="7" name="Content Placeholder 2">
            <a:extLst>
              <a:ext uri="{FF2B5EF4-FFF2-40B4-BE49-F238E27FC236}">
                <a16:creationId xmlns:a16="http://schemas.microsoft.com/office/drawing/2014/main" id="{7519323C-B544-B62C-49AC-F5E7A208C3EB}"/>
              </a:ext>
            </a:extLst>
          </p:cNvPr>
          <p:cNvSpPr txBox="1">
            <a:spLocks/>
          </p:cNvSpPr>
          <p:nvPr/>
        </p:nvSpPr>
        <p:spPr>
          <a:xfrm>
            <a:off x="-30822" y="3823808"/>
            <a:ext cx="11435938" cy="760666"/>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fr-FR" sz="4000" b="1" cap="all" dirty="0">
                <a:solidFill>
                  <a:schemeClr val="bg2">
                    <a:lumMod val="10000"/>
                  </a:schemeClr>
                </a:solidFill>
                <a:ea typeface="+mj-ea"/>
                <a:cs typeface="+mj-cs"/>
              </a:rPr>
              <a:t>III- TOKENIZATION IN BANKING PAYMENT</a:t>
            </a:r>
          </a:p>
        </p:txBody>
      </p:sp>
      <p:pic>
        <p:nvPicPr>
          <p:cNvPr id="9" name="Picture 8">
            <a:extLst>
              <a:ext uri="{FF2B5EF4-FFF2-40B4-BE49-F238E27FC236}">
                <a16:creationId xmlns:a16="http://schemas.microsoft.com/office/drawing/2014/main" id="{9B7D00B2-CC1B-270E-3EA0-D13A159FF38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13" name="TextBox 12">
            <a:extLst>
              <a:ext uri="{FF2B5EF4-FFF2-40B4-BE49-F238E27FC236}">
                <a16:creationId xmlns:a16="http://schemas.microsoft.com/office/drawing/2014/main" id="{CBC29998-A7C9-79E5-4970-CF2856365AE5}"/>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323630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28DD8-EA08-533C-A83B-1CAADE1397A9}"/>
              </a:ext>
            </a:extLst>
          </p:cNvPr>
          <p:cNvSpPr>
            <a:spLocks noGrp="1"/>
          </p:cNvSpPr>
          <p:nvPr>
            <p:ph type="title"/>
          </p:nvPr>
        </p:nvSpPr>
        <p:spPr>
          <a:xfrm>
            <a:off x="3829051" y="1005345"/>
            <a:ext cx="4398137" cy="1325563"/>
          </a:xfrm>
        </p:spPr>
        <p:txBody>
          <a:bodyPr>
            <a:normAutofit/>
          </a:bodyPr>
          <a:lstStyle/>
          <a:p>
            <a:pPr algn="ctr"/>
            <a:r>
              <a:rPr lang="fr-FR" sz="6000" b="1" dirty="0"/>
              <a:t>PART I</a:t>
            </a:r>
          </a:p>
        </p:txBody>
      </p:sp>
      <p:sp>
        <p:nvSpPr>
          <p:cNvPr id="3" name="Content Placeholder 2">
            <a:extLst>
              <a:ext uri="{FF2B5EF4-FFF2-40B4-BE49-F238E27FC236}">
                <a16:creationId xmlns:a16="http://schemas.microsoft.com/office/drawing/2014/main" id="{8F0525B6-B3A9-8793-4420-A88F734C442F}"/>
              </a:ext>
            </a:extLst>
          </p:cNvPr>
          <p:cNvSpPr>
            <a:spLocks noGrp="1"/>
          </p:cNvSpPr>
          <p:nvPr>
            <p:ph idx="1"/>
          </p:nvPr>
        </p:nvSpPr>
        <p:spPr>
          <a:xfrm>
            <a:off x="931506" y="2571750"/>
            <a:ext cx="10744200" cy="2562283"/>
          </a:xfrm>
        </p:spPr>
        <p:txBody>
          <a:bodyPr>
            <a:normAutofit/>
          </a:bodyPr>
          <a:lstStyle/>
          <a:p>
            <a:pPr marL="0" indent="0" algn="ctr">
              <a:buNone/>
            </a:pPr>
            <a:endParaRPr lang="en-US" sz="6000" b="1" dirty="0">
              <a:solidFill>
                <a:schemeClr val="tx1"/>
              </a:solidFill>
            </a:endParaRPr>
          </a:p>
          <a:p>
            <a:pPr marL="0" indent="0" algn="ctr">
              <a:buNone/>
            </a:pPr>
            <a:r>
              <a:rPr lang="en-US" sz="6000" b="1" dirty="0">
                <a:solidFill>
                  <a:schemeClr val="tx1"/>
                </a:solidFill>
              </a:rPr>
              <a:t>WHAT IS TOKENIZATION?</a:t>
            </a:r>
            <a:endParaRPr lang="en-FR" sz="6000" b="1" dirty="0">
              <a:solidFill>
                <a:schemeClr val="tx1"/>
              </a:solidFill>
            </a:endParaRPr>
          </a:p>
        </p:txBody>
      </p:sp>
      <p:pic>
        <p:nvPicPr>
          <p:cNvPr id="6" name="Picture 5">
            <a:extLst>
              <a:ext uri="{FF2B5EF4-FFF2-40B4-BE49-F238E27FC236}">
                <a16:creationId xmlns:a16="http://schemas.microsoft.com/office/drawing/2014/main" id="{73A39F28-749F-4435-0121-C800C7F365E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365895BE-2A4F-66E6-9208-961979B77EBF}"/>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272845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
                                        <p:tgtEl>
                                          <p:spTgt spid="3">
                                            <p:txEl>
                                              <p:pRg st="1" end="1"/>
                                            </p:txEl>
                                          </p:spTgt>
                                        </p:tgtEl>
                                      </p:cBhvr>
                                    </p:animEffect>
                                    <p:anim calcmode="lin" valueType="num">
                                      <p:cBhvr>
                                        <p:cTn id="8" dur="4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400" fill="hold"/>
                                        <p:tgtEl>
                                          <p:spTgt spid="3">
                                            <p:txEl>
                                              <p:pRg st="1" end="1"/>
                                            </p:txEl>
                                          </p:spTgt>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3">
                                            <p:txEl>
                                              <p:pRg st="1" end="1"/>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3">
                                            <p:txEl>
                                              <p:pRg st="1" end="1"/>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D29A1-D787-0135-3581-5F34CEF1B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F64BF1-AF11-7232-A898-3AC6BAD46DA3}"/>
              </a:ext>
            </a:extLst>
          </p:cNvPr>
          <p:cNvSpPr>
            <a:spLocks noGrp="1"/>
          </p:cNvSpPr>
          <p:nvPr>
            <p:ph type="title"/>
          </p:nvPr>
        </p:nvSpPr>
        <p:spPr>
          <a:xfrm>
            <a:off x="2614613" y="65734"/>
            <a:ext cx="8067242" cy="1016934"/>
          </a:xfrm>
        </p:spPr>
        <p:txBody>
          <a:bodyPr>
            <a:normAutofit/>
          </a:bodyPr>
          <a:lstStyle/>
          <a:p>
            <a:r>
              <a:rPr lang="fr-FR" sz="4000" b="1" cap="all" dirty="0">
                <a:solidFill>
                  <a:schemeClr val="bg2">
                    <a:lumMod val="10000"/>
                  </a:schemeClr>
                </a:solidFill>
                <a:latin typeface="+mn-lt"/>
              </a:rPr>
              <a:t>1.1- DEFINITION</a:t>
            </a:r>
          </a:p>
        </p:txBody>
      </p:sp>
      <p:sp>
        <p:nvSpPr>
          <p:cNvPr id="3" name="Content Placeholder 2">
            <a:extLst>
              <a:ext uri="{FF2B5EF4-FFF2-40B4-BE49-F238E27FC236}">
                <a16:creationId xmlns:a16="http://schemas.microsoft.com/office/drawing/2014/main" id="{84B4E7AF-FBE0-0E1E-3951-9C418BD67320}"/>
              </a:ext>
            </a:extLst>
          </p:cNvPr>
          <p:cNvSpPr>
            <a:spLocks noGrp="1"/>
          </p:cNvSpPr>
          <p:nvPr>
            <p:ph idx="1"/>
          </p:nvPr>
        </p:nvSpPr>
        <p:spPr>
          <a:xfrm>
            <a:off x="628650" y="1082668"/>
            <a:ext cx="11276186" cy="4903421"/>
          </a:xfrm>
        </p:spPr>
        <p:txBody>
          <a:bodyPr>
            <a:normAutofit fontScale="85000" lnSpcReduction="10000"/>
          </a:bodyPr>
          <a:lstStyle/>
          <a:p>
            <a:pPr marL="0" indent="0" algn="just">
              <a:lnSpc>
                <a:spcPct val="115000"/>
              </a:lnSpc>
              <a:spcAft>
                <a:spcPts val="800"/>
              </a:spcAft>
              <a:buNone/>
            </a:pPr>
            <a:r>
              <a:rPr lang="en-GB" sz="2500" b="1" i="1" cap="all" dirty="0">
                <a:solidFill>
                  <a:schemeClr val="accent1"/>
                </a:solidFill>
              </a:rPr>
              <a:t>Tokenization is a process by which ”PRIMARY ACCOUNT NUMBERS” (PANs), “PERSONAL HEALTH INFORMATION” (PHI), “PERSONAL IDENTIFIED INFORMATION” (PII), and other sensitive data elements are replaced by surrogate values, or tokens. </a:t>
            </a:r>
          </a:p>
          <a:p>
            <a:pPr marL="0" indent="0" algn="just">
              <a:lnSpc>
                <a:spcPct val="115000"/>
              </a:lnSpc>
              <a:spcAft>
                <a:spcPts val="800"/>
              </a:spcAft>
              <a:buNone/>
            </a:pPr>
            <a:r>
              <a:rPr lang="en-GB" sz="2500" cap="all" dirty="0">
                <a:latin typeface="+mj-lt"/>
              </a:rPr>
              <a:t>Tokenization is really a form of </a:t>
            </a:r>
            <a:r>
              <a:rPr lang="en-GB" sz="2500" b="1" cap="all" dirty="0">
                <a:latin typeface="+mj-lt"/>
                <a:hlinkClick r:id="rId2">
                  <a:extLst>
                    <a:ext uri="{A12FA001-AC4F-418D-AE19-62706E023703}">
                      <ahyp:hlinkClr xmlns:ahyp="http://schemas.microsoft.com/office/drawing/2018/hyperlinkcolor" val="tx"/>
                    </a:ext>
                  </a:extLst>
                </a:hlinkClick>
              </a:rPr>
              <a:t>encryption</a:t>
            </a:r>
            <a:r>
              <a:rPr lang="en-GB" sz="2500" cap="all" dirty="0">
                <a:latin typeface="+mj-lt"/>
              </a:rPr>
              <a:t>, but the two terms are typically used differently. </a:t>
            </a:r>
          </a:p>
          <a:p>
            <a:pPr marL="0" indent="0" algn="just">
              <a:lnSpc>
                <a:spcPct val="115000"/>
              </a:lnSpc>
              <a:spcAft>
                <a:spcPts val="800"/>
              </a:spcAft>
              <a:buNone/>
            </a:pPr>
            <a:r>
              <a:rPr lang="en-GB" sz="2500" b="1" i="1" cap="all" dirty="0">
                <a:solidFill>
                  <a:schemeClr val="accent1"/>
                </a:solidFill>
              </a:rPr>
              <a:t>PHI</a:t>
            </a:r>
            <a:r>
              <a:rPr lang="en-GB" sz="2500" cap="all" dirty="0">
                <a:latin typeface="+mj-lt"/>
              </a:rPr>
              <a:t> encompasses any information about a patient that is linked with identifiers such as medical record numbers, subscriber IDs, and dates of birth. It's crucial for healthcare data privacy and protection.</a:t>
            </a:r>
          </a:p>
          <a:p>
            <a:pPr marL="0" indent="0" algn="just">
              <a:lnSpc>
                <a:spcPct val="115000"/>
              </a:lnSpc>
              <a:spcAft>
                <a:spcPts val="800"/>
              </a:spcAft>
              <a:buNone/>
            </a:pPr>
            <a:r>
              <a:rPr lang="en-GB" sz="2500" b="1" i="1" cap="all" dirty="0">
                <a:solidFill>
                  <a:schemeClr val="accent1"/>
                </a:solidFill>
              </a:rPr>
              <a:t>PII</a:t>
            </a:r>
            <a:r>
              <a:rPr lang="en-GB" sz="2500" cap="all" dirty="0">
                <a:latin typeface="+mj-lt"/>
              </a:rPr>
              <a:t> STANDS FOR information like </a:t>
            </a:r>
            <a:r>
              <a:rPr lang="en-GB" sz="2500" i="1" cap="all" dirty="0">
                <a:latin typeface="+mj-lt"/>
              </a:rPr>
              <a:t>name, address, social security number, email address, and phone number</a:t>
            </a:r>
            <a:r>
              <a:rPr lang="en-GB" sz="2500" cap="all" dirty="0">
                <a:latin typeface="+mj-lt"/>
              </a:rPr>
              <a:t>, but also potentially less obvious data like IP addresses or device identifiers when linked to an individual: </a:t>
            </a:r>
            <a:r>
              <a:rPr lang="en-GB" sz="2500" b="1" i="1" cap="all" dirty="0">
                <a:solidFill>
                  <a:schemeClr val="accent1"/>
                </a:solidFill>
              </a:rPr>
              <a:t>SENSIBLE FOR PRIVACY AND DATA PROTECTION.</a:t>
            </a:r>
            <a:endParaRPr lang="en-US" sz="2500" b="1" i="1" cap="all" dirty="0">
              <a:solidFill>
                <a:schemeClr val="accent1"/>
              </a:solidFill>
            </a:endParaRPr>
          </a:p>
          <a:p>
            <a:pPr marL="0" indent="0" algn="just">
              <a:lnSpc>
                <a:spcPct val="150000"/>
              </a:lnSpc>
              <a:buNone/>
            </a:pPr>
            <a:endParaRPr lang="en-GB" sz="2400" b="1" i="1" dirty="0">
              <a:solidFill>
                <a:schemeClr val="accent1">
                  <a:lumMod val="50000"/>
                </a:schemeClr>
              </a:solidFill>
              <a:effectLst/>
              <a:latin typeface="+mj-lt"/>
            </a:endParaRPr>
          </a:p>
          <a:p>
            <a:pPr marL="0" indent="0">
              <a:buNone/>
            </a:pPr>
            <a:endParaRPr lang="fr-FR" dirty="0"/>
          </a:p>
        </p:txBody>
      </p:sp>
      <p:pic>
        <p:nvPicPr>
          <p:cNvPr id="6" name="Picture 5">
            <a:extLst>
              <a:ext uri="{FF2B5EF4-FFF2-40B4-BE49-F238E27FC236}">
                <a16:creationId xmlns:a16="http://schemas.microsoft.com/office/drawing/2014/main" id="{A1FD173A-4C6C-0733-FDCD-5B5ADBD0FCE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CEB8D687-17DD-5FC6-B503-C6B65A9FBF14}"/>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1530585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1FBB0-ACAC-AE83-7FAE-9F0CA160F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2CA574-83AE-EF34-D8B4-20AAA3B468CD}"/>
              </a:ext>
            </a:extLst>
          </p:cNvPr>
          <p:cNvSpPr>
            <a:spLocks noGrp="1"/>
          </p:cNvSpPr>
          <p:nvPr>
            <p:ph type="title"/>
          </p:nvPr>
        </p:nvSpPr>
        <p:spPr>
          <a:xfrm>
            <a:off x="2614613" y="65734"/>
            <a:ext cx="8067242" cy="1016934"/>
          </a:xfrm>
        </p:spPr>
        <p:txBody>
          <a:bodyPr>
            <a:normAutofit/>
          </a:bodyPr>
          <a:lstStyle/>
          <a:p>
            <a:r>
              <a:rPr lang="fr-FR" sz="4000" b="1" cap="all" dirty="0">
                <a:solidFill>
                  <a:schemeClr val="bg2">
                    <a:lumMod val="10000"/>
                  </a:schemeClr>
                </a:solidFill>
                <a:latin typeface="+mn-lt"/>
              </a:rPr>
              <a:t>1.2- ORIGINS OF TOKENIZATION</a:t>
            </a:r>
          </a:p>
        </p:txBody>
      </p:sp>
      <p:sp>
        <p:nvSpPr>
          <p:cNvPr id="3" name="Content Placeholder 2">
            <a:extLst>
              <a:ext uri="{FF2B5EF4-FFF2-40B4-BE49-F238E27FC236}">
                <a16:creationId xmlns:a16="http://schemas.microsoft.com/office/drawing/2014/main" id="{FD26070F-75B5-6CEC-E8E1-D1148E7B2FBB}"/>
              </a:ext>
            </a:extLst>
          </p:cNvPr>
          <p:cNvSpPr>
            <a:spLocks noGrp="1"/>
          </p:cNvSpPr>
          <p:nvPr>
            <p:ph idx="1"/>
          </p:nvPr>
        </p:nvSpPr>
        <p:spPr>
          <a:xfrm>
            <a:off x="292359" y="1151015"/>
            <a:ext cx="11608696" cy="5000403"/>
          </a:xfrm>
        </p:spPr>
        <p:txBody>
          <a:bodyPr>
            <a:normAutofit/>
          </a:bodyPr>
          <a:lstStyle/>
          <a:p>
            <a:pPr marL="0" indent="0" algn="just">
              <a:lnSpc>
                <a:spcPct val="150000"/>
              </a:lnSpc>
              <a:spcAft>
                <a:spcPts val="800"/>
              </a:spcAft>
              <a:buNone/>
            </a:pPr>
            <a:r>
              <a:rPr lang="en-GB" sz="2500" cap="all" dirty="0">
                <a:latin typeface="+mj-lt"/>
              </a:rPr>
              <a:t>Digital tokenization was first CREATED BY TRUSTCOMMERCE IN 2001 to help a client protect customer credit card information. Merchants were storing cardholder data on their own servers, which meant that anyone who had access to their servers could potentially view or take advantage of those customer credit card numbers.</a:t>
            </a:r>
          </a:p>
          <a:p>
            <a:pPr marL="0" indent="0" algn="just">
              <a:lnSpc>
                <a:spcPct val="150000"/>
              </a:lnSpc>
              <a:buNone/>
            </a:pPr>
            <a:r>
              <a:rPr lang="en-GB" sz="2500" cap="all" dirty="0">
                <a:latin typeface="+mj-lt"/>
              </a:rPr>
              <a:t>ITS PURPOSE WAS to reduce risk in handling high value financial instruments by replacing them with surrogate equivalents.</a:t>
            </a:r>
          </a:p>
          <a:p>
            <a:pPr marL="0" indent="0">
              <a:buNone/>
            </a:pPr>
            <a:endParaRPr lang="fr-FR" dirty="0"/>
          </a:p>
        </p:txBody>
      </p:sp>
      <p:pic>
        <p:nvPicPr>
          <p:cNvPr id="6" name="Picture 5">
            <a:extLst>
              <a:ext uri="{FF2B5EF4-FFF2-40B4-BE49-F238E27FC236}">
                <a16:creationId xmlns:a16="http://schemas.microsoft.com/office/drawing/2014/main" id="{74969B95-E734-BEB8-C530-6767338E03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D6C27DC7-0B2D-673B-F22E-BEE6F80C2372}"/>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269656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496ED-F761-9096-CF10-FE74C452F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13CB5-7C86-1AF5-5E25-620938D89C4D}"/>
              </a:ext>
            </a:extLst>
          </p:cNvPr>
          <p:cNvSpPr>
            <a:spLocks noGrp="1"/>
          </p:cNvSpPr>
          <p:nvPr>
            <p:ph type="title"/>
          </p:nvPr>
        </p:nvSpPr>
        <p:spPr>
          <a:xfrm>
            <a:off x="1842654" y="131054"/>
            <a:ext cx="8472921" cy="1192259"/>
          </a:xfrm>
        </p:spPr>
        <p:txBody>
          <a:bodyPr>
            <a:normAutofit/>
          </a:bodyPr>
          <a:lstStyle/>
          <a:p>
            <a:pPr algn="ctr"/>
            <a:r>
              <a:rPr lang="fr-FR" sz="4000" b="1" cap="all" dirty="0">
                <a:solidFill>
                  <a:schemeClr val="bg2">
                    <a:lumMod val="10000"/>
                  </a:schemeClr>
                </a:solidFill>
                <a:latin typeface="+mn-lt"/>
              </a:rPr>
              <a:t>1-3. </a:t>
            </a:r>
            <a:r>
              <a:rPr lang="en-US" sz="4000" b="1" cap="all" dirty="0">
                <a:solidFill>
                  <a:schemeClr val="bg2">
                    <a:lumMod val="10000"/>
                  </a:schemeClr>
                </a:solidFill>
                <a:latin typeface="+mn-lt"/>
              </a:rPr>
              <a:t>TYPES OF TOKENIZATION</a:t>
            </a:r>
            <a:br>
              <a:rPr lang="en-US" sz="4000" b="1" cap="all" dirty="0">
                <a:solidFill>
                  <a:schemeClr val="bg2">
                    <a:lumMod val="10000"/>
                  </a:schemeClr>
                </a:solidFill>
                <a:latin typeface="+mn-lt"/>
              </a:rPr>
            </a:br>
            <a:endParaRPr lang="fr-FR" sz="4000" b="1" cap="all" dirty="0">
              <a:solidFill>
                <a:schemeClr val="bg2">
                  <a:lumMod val="10000"/>
                </a:schemeClr>
              </a:solidFill>
              <a:latin typeface="+mn-lt"/>
            </a:endParaRPr>
          </a:p>
        </p:txBody>
      </p:sp>
      <p:sp>
        <p:nvSpPr>
          <p:cNvPr id="3" name="Content Placeholder 2">
            <a:extLst>
              <a:ext uri="{FF2B5EF4-FFF2-40B4-BE49-F238E27FC236}">
                <a16:creationId xmlns:a16="http://schemas.microsoft.com/office/drawing/2014/main" id="{5DCB7762-8CA6-7C97-4C65-14C25AA3A696}"/>
              </a:ext>
            </a:extLst>
          </p:cNvPr>
          <p:cNvSpPr>
            <a:spLocks noGrp="1"/>
          </p:cNvSpPr>
          <p:nvPr>
            <p:ph idx="1"/>
          </p:nvPr>
        </p:nvSpPr>
        <p:spPr>
          <a:xfrm>
            <a:off x="365902" y="1337601"/>
            <a:ext cx="11382753" cy="4952363"/>
          </a:xfrm>
        </p:spPr>
        <p:txBody>
          <a:bodyPr>
            <a:normAutofit/>
          </a:bodyPr>
          <a:lstStyle/>
          <a:p>
            <a:pPr marL="0" indent="0">
              <a:buNone/>
            </a:pPr>
            <a:r>
              <a:rPr lang="en-GB" sz="2500" cap="all" dirty="0">
                <a:latin typeface="+mj-lt"/>
              </a:rPr>
              <a:t>There are two types of tokenization: </a:t>
            </a:r>
            <a:r>
              <a:rPr lang="en-GB" sz="2500" b="1" cap="all" dirty="0">
                <a:solidFill>
                  <a:schemeClr val="accent1"/>
                </a:solidFill>
                <a:latin typeface="+mj-lt"/>
              </a:rPr>
              <a:t>reversible</a:t>
            </a:r>
            <a:r>
              <a:rPr lang="en-GB" sz="2500" cap="all" dirty="0">
                <a:latin typeface="+mj-lt"/>
              </a:rPr>
              <a:t> and </a:t>
            </a:r>
            <a:r>
              <a:rPr lang="en-GB" sz="2500" b="1" cap="all" dirty="0">
                <a:solidFill>
                  <a:schemeClr val="accent1"/>
                </a:solidFill>
                <a:latin typeface="+mj-lt"/>
              </a:rPr>
              <a:t>irreversible</a:t>
            </a:r>
            <a:r>
              <a:rPr lang="en-GB" sz="2500" cap="all" dirty="0">
                <a:latin typeface="+mj-lt"/>
              </a:rPr>
              <a:t>.</a:t>
            </a:r>
          </a:p>
          <a:p>
            <a:pPr marL="0" indent="0">
              <a:buNone/>
            </a:pPr>
            <a:r>
              <a:rPr lang="en-GB" sz="2500" b="1" i="1" cap="all" dirty="0">
                <a:solidFill>
                  <a:schemeClr val="accent1"/>
                </a:solidFill>
                <a:latin typeface="+mj-lt"/>
              </a:rPr>
              <a:t>Reversible tokens </a:t>
            </a:r>
            <a:r>
              <a:rPr lang="en-GB" sz="2500" cap="all" dirty="0">
                <a:latin typeface="+mj-lt"/>
              </a:rPr>
              <a:t>can be detokenized – converted back to their original values. In privacy terminology, this is called </a:t>
            </a:r>
            <a:r>
              <a:rPr lang="en-GB" sz="2500" b="1" cap="all" dirty="0">
                <a:solidFill>
                  <a:schemeClr val="accent1">
                    <a:lumMod val="50000"/>
                  </a:schemeClr>
                </a:solidFill>
                <a:latin typeface="+mj-lt"/>
              </a:rPr>
              <a:t>pseudonymization</a:t>
            </a:r>
            <a:r>
              <a:rPr lang="en-GB" sz="2500" cap="all" dirty="0">
                <a:latin typeface="+mj-lt"/>
              </a:rPr>
              <a:t>. Such tokens may be further subdivided into cryptographic and non-cryptographic, although this distinction is artificial, since any tokenization really is a form of encryption.</a:t>
            </a:r>
          </a:p>
          <a:p>
            <a:pPr marL="0" indent="0">
              <a:buNone/>
            </a:pPr>
            <a:endParaRPr lang="en-GB" sz="2500" cap="all" dirty="0">
              <a:latin typeface="+mj-lt"/>
            </a:endParaRPr>
          </a:p>
          <a:p>
            <a:pPr marL="0" indent="0" algn="just">
              <a:buNone/>
            </a:pPr>
            <a:r>
              <a:rPr lang="en-GB" sz="2500" b="1" i="1" cap="all" dirty="0">
                <a:solidFill>
                  <a:schemeClr val="accent1"/>
                </a:solidFill>
                <a:latin typeface="+mj-lt"/>
              </a:rPr>
              <a:t>Irreversible </a:t>
            </a:r>
            <a:r>
              <a:rPr lang="en-GB" sz="2500" b="1" i="1" cap="all" dirty="0" err="1">
                <a:solidFill>
                  <a:schemeClr val="accent1"/>
                </a:solidFill>
                <a:latin typeface="+mj-lt"/>
              </a:rPr>
              <a:t>tokenIZATION</a:t>
            </a:r>
            <a:r>
              <a:rPr lang="en-GB" sz="2500" b="1" i="1" cap="all" dirty="0">
                <a:solidFill>
                  <a:schemeClr val="accent1"/>
                </a:solidFill>
                <a:latin typeface="+mj-lt"/>
              </a:rPr>
              <a:t> </a:t>
            </a:r>
            <a:r>
              <a:rPr lang="en-GB" sz="2500" cap="all" dirty="0">
                <a:latin typeface="+mj-lt"/>
              </a:rPr>
              <a:t>consists in creating tokens that cannot be converted back to their original data. This is often used for data anonymization, where the tokenized data can be used in less secure environments or for third-party analytics. THEY do not store the original data's decryption key, making it impossible to retrieve the original values. </a:t>
            </a:r>
          </a:p>
          <a:p>
            <a:pPr marL="0" indent="0" algn="just">
              <a:buNone/>
            </a:pPr>
            <a:endParaRPr lang="en-US" sz="2500" cap="all" dirty="0">
              <a:latin typeface="+mj-lt"/>
            </a:endParaRPr>
          </a:p>
        </p:txBody>
      </p:sp>
      <p:sp>
        <p:nvSpPr>
          <p:cNvPr id="5" name="TextBox 4">
            <a:extLst>
              <a:ext uri="{FF2B5EF4-FFF2-40B4-BE49-F238E27FC236}">
                <a16:creationId xmlns:a16="http://schemas.microsoft.com/office/drawing/2014/main" id="{A8496C1A-FAC7-E8E3-A84E-DA85B64BC6A3}"/>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pic>
        <p:nvPicPr>
          <p:cNvPr id="6" name="Picture 5">
            <a:extLst>
              <a:ext uri="{FF2B5EF4-FFF2-40B4-BE49-F238E27FC236}">
                <a16:creationId xmlns:a16="http://schemas.microsoft.com/office/drawing/2014/main" id="{34330D4B-EE2A-182A-4466-786939737B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109663" cy="897522"/>
          </a:xfrm>
          <a:prstGeom prst="rect">
            <a:avLst/>
          </a:prstGeom>
          <a:noFill/>
        </p:spPr>
      </p:pic>
    </p:spTree>
    <p:extLst>
      <p:ext uri="{BB962C8B-B14F-4D97-AF65-F5344CB8AC3E}">
        <p14:creationId xmlns:p14="http://schemas.microsoft.com/office/powerpoint/2010/main" val="316418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CCF99-4429-86D7-CF97-7D240E4B3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8E12D-6B52-70B4-FD13-F389F2C9DC33}"/>
              </a:ext>
            </a:extLst>
          </p:cNvPr>
          <p:cNvSpPr>
            <a:spLocks noGrp="1"/>
          </p:cNvSpPr>
          <p:nvPr>
            <p:ph type="title"/>
          </p:nvPr>
        </p:nvSpPr>
        <p:spPr>
          <a:xfrm>
            <a:off x="3686175" y="649422"/>
            <a:ext cx="4398137" cy="1325563"/>
          </a:xfrm>
        </p:spPr>
        <p:txBody>
          <a:bodyPr>
            <a:normAutofit/>
          </a:bodyPr>
          <a:lstStyle/>
          <a:p>
            <a:pPr algn="ctr"/>
            <a:r>
              <a:rPr lang="fr-FR" sz="6000" b="1" dirty="0"/>
              <a:t>PART II:</a:t>
            </a:r>
          </a:p>
        </p:txBody>
      </p:sp>
      <p:sp>
        <p:nvSpPr>
          <p:cNvPr id="3" name="Content Placeholder 2">
            <a:extLst>
              <a:ext uri="{FF2B5EF4-FFF2-40B4-BE49-F238E27FC236}">
                <a16:creationId xmlns:a16="http://schemas.microsoft.com/office/drawing/2014/main" id="{90F71940-902D-7455-FC67-2D91D28CA5D5}"/>
              </a:ext>
            </a:extLst>
          </p:cNvPr>
          <p:cNvSpPr>
            <a:spLocks noGrp="1"/>
          </p:cNvSpPr>
          <p:nvPr>
            <p:ph idx="1"/>
          </p:nvPr>
        </p:nvSpPr>
        <p:spPr>
          <a:xfrm>
            <a:off x="342899" y="2833112"/>
            <a:ext cx="11401425" cy="3194463"/>
          </a:xfrm>
        </p:spPr>
        <p:txBody>
          <a:bodyPr>
            <a:normAutofit/>
          </a:bodyPr>
          <a:lstStyle/>
          <a:p>
            <a:pPr marL="0" indent="0" algn="ctr">
              <a:buNone/>
            </a:pPr>
            <a:r>
              <a:rPr lang="fr-FR" sz="6000" b="1" dirty="0">
                <a:solidFill>
                  <a:schemeClr val="accent2">
                    <a:lumMod val="50000"/>
                  </a:schemeClr>
                </a:solidFill>
              </a:rPr>
              <a:t>HOW DOES TOKENIZATION WORK?</a:t>
            </a:r>
          </a:p>
          <a:p>
            <a:pPr marL="0" indent="0" algn="ctr">
              <a:buNone/>
            </a:pPr>
            <a:endParaRPr lang="fr-FR" sz="6000" b="1" dirty="0">
              <a:solidFill>
                <a:schemeClr val="accent2">
                  <a:lumMod val="50000"/>
                </a:schemeClr>
              </a:solidFill>
            </a:endParaRPr>
          </a:p>
        </p:txBody>
      </p:sp>
      <p:pic>
        <p:nvPicPr>
          <p:cNvPr id="6" name="Picture 5">
            <a:extLst>
              <a:ext uri="{FF2B5EF4-FFF2-40B4-BE49-F238E27FC236}">
                <a16:creationId xmlns:a16="http://schemas.microsoft.com/office/drawing/2014/main" id="{049FF1CE-E6E3-5F03-AB97-FAC5EEC06BA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588CF4C5-0682-BDDE-E6A7-B98B4B977492}"/>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2463811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
                                        <p:tgtEl>
                                          <p:spTgt spid="3">
                                            <p:txEl>
                                              <p:pRg st="0" end="0"/>
                                            </p:txEl>
                                          </p:spTgt>
                                        </p:tgtEl>
                                      </p:cBhvr>
                                    </p:animEffect>
                                    <p:anim calcmode="lin" valueType="num">
                                      <p:cBhvr>
                                        <p:cTn id="8"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400" fill="hold"/>
                                        <p:tgtEl>
                                          <p:spTgt spid="3">
                                            <p:txEl>
                                              <p:pRg st="0" end="0"/>
                                            </p:txEl>
                                          </p:spTgt>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3">
                                            <p:txEl>
                                              <p:pRg st="0" end="0"/>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3">
                                            <p:txEl>
                                              <p:pRg st="0" end="0"/>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5BB38-576E-CB9F-69A3-013E8EF29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2B2529-86AA-71B8-3207-2B83836C0D23}"/>
              </a:ext>
            </a:extLst>
          </p:cNvPr>
          <p:cNvSpPr>
            <a:spLocks noGrp="1"/>
          </p:cNvSpPr>
          <p:nvPr>
            <p:ph type="title"/>
          </p:nvPr>
        </p:nvSpPr>
        <p:spPr>
          <a:xfrm>
            <a:off x="1842654" y="131054"/>
            <a:ext cx="8472921" cy="1192259"/>
          </a:xfrm>
        </p:spPr>
        <p:txBody>
          <a:bodyPr>
            <a:normAutofit/>
          </a:bodyPr>
          <a:lstStyle/>
          <a:p>
            <a:pPr algn="ctr"/>
            <a:r>
              <a:rPr lang="fr-FR" sz="4000" b="1" cap="all" dirty="0">
                <a:solidFill>
                  <a:schemeClr val="bg2">
                    <a:lumMod val="10000"/>
                  </a:schemeClr>
                </a:solidFill>
                <a:latin typeface="+mn-lt"/>
              </a:rPr>
              <a:t>2.1. </a:t>
            </a:r>
            <a:r>
              <a:rPr lang="en-US" sz="4000" b="1" cap="all" dirty="0">
                <a:solidFill>
                  <a:schemeClr val="bg2">
                    <a:lumMod val="10000"/>
                  </a:schemeClr>
                </a:solidFill>
                <a:latin typeface="+mn-lt"/>
              </a:rPr>
              <a:t>STRUCTURE OF TOKENIZATION </a:t>
            </a:r>
            <a:br>
              <a:rPr lang="en-US" sz="4000" b="1" cap="all" dirty="0">
                <a:solidFill>
                  <a:schemeClr val="bg2">
                    <a:lumMod val="10000"/>
                  </a:schemeClr>
                </a:solidFill>
                <a:latin typeface="+mn-lt"/>
              </a:rPr>
            </a:br>
            <a:endParaRPr lang="fr-FR" sz="4000" b="1" cap="all" dirty="0">
              <a:solidFill>
                <a:schemeClr val="bg2">
                  <a:lumMod val="10000"/>
                </a:schemeClr>
              </a:solidFill>
              <a:latin typeface="+mn-lt"/>
            </a:endParaRPr>
          </a:p>
        </p:txBody>
      </p:sp>
      <p:sp>
        <p:nvSpPr>
          <p:cNvPr id="3" name="Content Placeholder 2">
            <a:extLst>
              <a:ext uri="{FF2B5EF4-FFF2-40B4-BE49-F238E27FC236}">
                <a16:creationId xmlns:a16="http://schemas.microsoft.com/office/drawing/2014/main" id="{D77FAE8C-CDA7-9C57-3ED9-5708FCB133BF}"/>
              </a:ext>
            </a:extLst>
          </p:cNvPr>
          <p:cNvSpPr>
            <a:spLocks noGrp="1"/>
          </p:cNvSpPr>
          <p:nvPr>
            <p:ph idx="1"/>
          </p:nvPr>
        </p:nvSpPr>
        <p:spPr>
          <a:xfrm>
            <a:off x="365902" y="785813"/>
            <a:ext cx="11382753" cy="5504151"/>
          </a:xfrm>
        </p:spPr>
        <p:txBody>
          <a:bodyPr>
            <a:normAutofit fontScale="85000" lnSpcReduction="20000"/>
          </a:bodyPr>
          <a:lstStyle/>
          <a:p>
            <a:pPr marL="0" indent="0">
              <a:buNone/>
            </a:pPr>
            <a:endParaRPr lang="en-GB" sz="2500" cap="all" dirty="0">
              <a:latin typeface="+mj-lt"/>
            </a:endParaRPr>
          </a:p>
          <a:p>
            <a:pPr marL="0" indent="0">
              <a:lnSpc>
                <a:spcPct val="200000"/>
              </a:lnSpc>
              <a:buNone/>
            </a:pPr>
            <a:r>
              <a:rPr lang="en-GB" sz="3000" cap="all" dirty="0">
                <a:latin typeface="+mj-lt"/>
              </a:rPr>
              <a:t>Cryptographic tokenization generates tokens using strong cryptography; the cleartext data element(s) are not stored anywhere – just the cryptographic key.  </a:t>
            </a:r>
            <a:r>
              <a:rPr lang="en-GB" sz="3000" b="1" i="1" cap="all" dirty="0">
                <a:solidFill>
                  <a:schemeClr val="accent1">
                    <a:lumMod val="50000"/>
                  </a:schemeClr>
                </a:solidFill>
                <a:latin typeface="+mj-lt"/>
              </a:rPr>
              <a:t>EXAMPLE NIST STANDARD FF1 mode AE</a:t>
            </a:r>
            <a:r>
              <a:rPr lang="en-GB" sz="3000" b="1" cap="all" dirty="0">
                <a:solidFill>
                  <a:schemeClr val="accent1">
                    <a:lumMod val="50000"/>
                  </a:schemeClr>
                </a:solidFill>
                <a:latin typeface="+mj-lt"/>
              </a:rPr>
              <a:t>S</a:t>
            </a:r>
          </a:p>
          <a:p>
            <a:pPr marL="0" indent="0">
              <a:lnSpc>
                <a:spcPct val="200000"/>
              </a:lnSpc>
              <a:buNone/>
            </a:pPr>
            <a:r>
              <a:rPr lang="en-GB" sz="3000" cap="all" dirty="0">
                <a:latin typeface="+mj-lt"/>
              </a:rPr>
              <a:t>Non-cryptographic tokenization originally meant that tokens were created by randomly generating a value and storing the cleartext and corresponding token in a database, like the original </a:t>
            </a:r>
            <a:r>
              <a:rPr lang="en-GB" sz="3000" cap="all" dirty="0" err="1">
                <a:latin typeface="+mj-lt"/>
              </a:rPr>
              <a:t>TrustCommerce</a:t>
            </a:r>
            <a:r>
              <a:rPr lang="en-GB" sz="3000" cap="all" dirty="0">
                <a:latin typeface="+mj-lt"/>
              </a:rPr>
              <a:t> offering.</a:t>
            </a:r>
          </a:p>
        </p:txBody>
      </p:sp>
      <p:sp>
        <p:nvSpPr>
          <p:cNvPr id="5" name="TextBox 4">
            <a:extLst>
              <a:ext uri="{FF2B5EF4-FFF2-40B4-BE49-F238E27FC236}">
                <a16:creationId xmlns:a16="http://schemas.microsoft.com/office/drawing/2014/main" id="{6A948D5C-E86C-D7F2-1911-E81DC5987FDD}"/>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pic>
        <p:nvPicPr>
          <p:cNvPr id="6" name="Picture 5">
            <a:extLst>
              <a:ext uri="{FF2B5EF4-FFF2-40B4-BE49-F238E27FC236}">
                <a16:creationId xmlns:a16="http://schemas.microsoft.com/office/drawing/2014/main" id="{11562A8A-1DDE-A5B4-7765-E201BE9D21B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109663" cy="897522"/>
          </a:xfrm>
          <a:prstGeom prst="rect">
            <a:avLst/>
          </a:prstGeom>
          <a:noFill/>
        </p:spPr>
      </p:pic>
    </p:spTree>
    <p:extLst>
      <p:ext uri="{BB962C8B-B14F-4D97-AF65-F5344CB8AC3E}">
        <p14:creationId xmlns:p14="http://schemas.microsoft.com/office/powerpoint/2010/main" val="1139817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20AD7-C988-431B-9826-5EFCE9199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5D03D-9ADF-2E56-85F9-F0DFDC016EA7}"/>
              </a:ext>
            </a:extLst>
          </p:cNvPr>
          <p:cNvSpPr>
            <a:spLocks noGrp="1"/>
          </p:cNvSpPr>
          <p:nvPr>
            <p:ph type="title"/>
          </p:nvPr>
        </p:nvSpPr>
        <p:spPr/>
        <p:txBody>
          <a:bodyPr>
            <a:normAutofit/>
          </a:bodyPr>
          <a:lstStyle/>
          <a:p>
            <a:pPr algn="ctr"/>
            <a:r>
              <a:rPr lang="fr-FR" sz="4000" b="1" cap="all" dirty="0">
                <a:solidFill>
                  <a:schemeClr val="bg2">
                    <a:lumMod val="10000"/>
                  </a:schemeClr>
                </a:solidFill>
                <a:latin typeface="+mn-lt"/>
              </a:rPr>
              <a:t>2-2. </a:t>
            </a:r>
            <a:r>
              <a:rPr lang="en-US" sz="4000" b="1" cap="all" dirty="0">
                <a:solidFill>
                  <a:schemeClr val="bg2">
                    <a:lumMod val="10000"/>
                  </a:schemeClr>
                </a:solidFill>
                <a:latin typeface="+mn-lt"/>
              </a:rPr>
              <a:t>FF1 and FF3: ENCRYPTION - DECRYPTION</a:t>
            </a:r>
            <a:endParaRPr lang="fr-FR" sz="4000" b="1" cap="all" dirty="0">
              <a:solidFill>
                <a:schemeClr val="bg2">
                  <a:lumMod val="10000"/>
                </a:schemeClr>
              </a:solidFill>
              <a:latin typeface="+mn-lt"/>
            </a:endParaRPr>
          </a:p>
        </p:txBody>
      </p:sp>
      <p:sp>
        <p:nvSpPr>
          <p:cNvPr id="4" name="Content Placeholder 3">
            <a:extLst>
              <a:ext uri="{FF2B5EF4-FFF2-40B4-BE49-F238E27FC236}">
                <a16:creationId xmlns:a16="http://schemas.microsoft.com/office/drawing/2014/main" id="{63090747-C5F5-235D-B2E5-ABB11C61A91B}"/>
              </a:ext>
            </a:extLst>
          </p:cNvPr>
          <p:cNvSpPr>
            <a:spLocks noGrp="1"/>
          </p:cNvSpPr>
          <p:nvPr>
            <p:ph sz="half" idx="1"/>
          </p:nvPr>
        </p:nvSpPr>
        <p:spPr/>
        <p:txBody>
          <a:bodyPr>
            <a:normAutofit/>
          </a:bodyPr>
          <a:lstStyle/>
          <a:p>
            <a:pPr marL="0" indent="0">
              <a:buNone/>
            </a:pPr>
            <a:endParaRPr lang="fr-FR" dirty="0"/>
          </a:p>
        </p:txBody>
      </p:sp>
      <p:sp>
        <p:nvSpPr>
          <p:cNvPr id="7" name="Content Placeholder 6">
            <a:extLst>
              <a:ext uri="{FF2B5EF4-FFF2-40B4-BE49-F238E27FC236}">
                <a16:creationId xmlns:a16="http://schemas.microsoft.com/office/drawing/2014/main" id="{447F62B3-1595-EDCF-5C78-596B6BAA8061}"/>
              </a:ext>
            </a:extLst>
          </p:cNvPr>
          <p:cNvSpPr>
            <a:spLocks noGrp="1"/>
          </p:cNvSpPr>
          <p:nvPr>
            <p:ph sz="half" idx="2"/>
          </p:nvPr>
        </p:nvSpPr>
        <p:spPr>
          <a:xfrm>
            <a:off x="6858000" y="1825625"/>
            <a:ext cx="4829174" cy="4351338"/>
          </a:xfrm>
        </p:spPr>
        <p:txBody>
          <a:bodyPr>
            <a:normAutofit/>
          </a:bodyPr>
          <a:lstStyle/>
          <a:p>
            <a:pPr marL="0" indent="0">
              <a:buNone/>
            </a:pPr>
            <a:r>
              <a:rPr lang="fr-FR" sz="2500" cap="all" dirty="0">
                <a:latin typeface="+mj-lt"/>
              </a:rPr>
              <a:t>FF1:Is an FPE (FORMAT PRESERVED ENCRYPTION) </a:t>
            </a:r>
            <a:r>
              <a:rPr lang="fr-FR" sz="2500" cap="all" dirty="0" err="1">
                <a:latin typeface="+mj-lt"/>
              </a:rPr>
              <a:t>method</a:t>
            </a:r>
            <a:r>
              <a:rPr lang="fr-FR" sz="2500" cap="all" dirty="0">
                <a:latin typeface="+mj-lt"/>
              </a:rPr>
              <a:t> </a:t>
            </a:r>
            <a:r>
              <a:rPr lang="fr-FR" sz="2500" cap="all" dirty="0" err="1">
                <a:latin typeface="+mj-lt"/>
              </a:rPr>
              <a:t>based</a:t>
            </a:r>
            <a:r>
              <a:rPr lang="fr-FR" sz="2500" cap="all" dirty="0">
                <a:latin typeface="+mj-lt"/>
              </a:rPr>
              <a:t> on a 128-bit block </a:t>
            </a:r>
            <a:r>
              <a:rPr lang="fr-FR" sz="2500" cap="all" dirty="0" err="1">
                <a:latin typeface="+mj-lt"/>
              </a:rPr>
              <a:t>encryption</a:t>
            </a:r>
            <a:r>
              <a:rPr lang="fr-FR" sz="2500" cap="all" dirty="0">
                <a:latin typeface="+mj-lt"/>
              </a:rPr>
              <a:t> </a:t>
            </a:r>
            <a:r>
              <a:rPr lang="fr-FR" sz="2500" cap="all" dirty="0" err="1">
                <a:latin typeface="+mj-lt"/>
              </a:rPr>
              <a:t>algorithm</a:t>
            </a:r>
            <a:r>
              <a:rPr lang="fr-FR" sz="2500" cap="all" dirty="0">
                <a:latin typeface="+mj-lt"/>
              </a:rPr>
              <a:t> (like AES) and </a:t>
            </a:r>
            <a:r>
              <a:rPr lang="fr-FR" sz="2500" cap="all" dirty="0" err="1">
                <a:latin typeface="+mj-lt"/>
              </a:rPr>
              <a:t>that</a:t>
            </a:r>
            <a:r>
              <a:rPr lang="fr-FR" sz="2500" cap="all" dirty="0">
                <a:latin typeface="+mj-lt"/>
              </a:rPr>
              <a:t> uses 10 rounds of a </a:t>
            </a:r>
            <a:r>
              <a:rPr lang="fr-FR" sz="2500" b="1" cap="all" dirty="0" err="1">
                <a:latin typeface="+mj-lt"/>
              </a:rPr>
              <a:t>feistel</a:t>
            </a:r>
            <a:r>
              <a:rPr lang="fr-FR" sz="2500" b="1" cap="all" dirty="0">
                <a:latin typeface="+mj-lt"/>
              </a:rPr>
              <a:t> </a:t>
            </a:r>
            <a:r>
              <a:rPr lang="fr-FR" sz="2500" b="1" cap="all" dirty="0" err="1">
                <a:latin typeface="+mj-lt"/>
              </a:rPr>
              <a:t>function</a:t>
            </a:r>
            <a:endParaRPr lang="fr-FR" sz="2500" b="1" cap="all" dirty="0">
              <a:latin typeface="+mj-lt"/>
            </a:endParaRPr>
          </a:p>
          <a:p>
            <a:pPr marL="0" indent="0">
              <a:buNone/>
            </a:pPr>
            <a:endParaRPr lang="fr-FR" sz="2500" b="1" cap="all" dirty="0">
              <a:latin typeface="+mj-lt"/>
            </a:endParaRPr>
          </a:p>
          <a:p>
            <a:pPr marL="0" indent="0">
              <a:buNone/>
            </a:pPr>
            <a:r>
              <a:rPr lang="fr-FR" sz="2500" cap="all" dirty="0">
                <a:latin typeface="+mj-lt"/>
              </a:rPr>
              <a:t>FF3:Is </a:t>
            </a:r>
            <a:r>
              <a:rPr lang="fr-FR" sz="2500" cap="all" dirty="0" err="1">
                <a:latin typeface="+mj-lt"/>
              </a:rPr>
              <a:t>also</a:t>
            </a:r>
            <a:r>
              <a:rPr lang="fr-FR" sz="2500" cap="all" dirty="0">
                <a:latin typeface="+mj-lt"/>
              </a:rPr>
              <a:t> an FPE </a:t>
            </a:r>
            <a:r>
              <a:rPr lang="fr-FR" sz="2500" cap="all" dirty="0" err="1">
                <a:latin typeface="+mj-lt"/>
              </a:rPr>
              <a:t>method</a:t>
            </a:r>
            <a:r>
              <a:rPr lang="fr-FR" sz="2500" cap="all" dirty="0">
                <a:latin typeface="+mj-lt"/>
              </a:rPr>
              <a:t> </a:t>
            </a:r>
            <a:r>
              <a:rPr lang="fr-FR" sz="2500" cap="all" dirty="0" err="1">
                <a:latin typeface="+mj-lt"/>
              </a:rPr>
              <a:t>based</a:t>
            </a:r>
            <a:r>
              <a:rPr lang="fr-FR" sz="2500" cap="all" dirty="0">
                <a:latin typeface="+mj-lt"/>
              </a:rPr>
              <a:t> on a 128-bit block </a:t>
            </a:r>
            <a:r>
              <a:rPr lang="fr-FR" sz="2500" cap="all" dirty="0" err="1">
                <a:latin typeface="+mj-lt"/>
              </a:rPr>
              <a:t>encryption</a:t>
            </a:r>
            <a:r>
              <a:rPr lang="fr-FR" sz="2500" cap="all" dirty="0">
                <a:latin typeface="+mj-lt"/>
              </a:rPr>
              <a:t> </a:t>
            </a:r>
            <a:r>
              <a:rPr lang="fr-FR" sz="2500" cap="all" dirty="0" err="1">
                <a:latin typeface="+mj-lt"/>
              </a:rPr>
              <a:t>algorithm</a:t>
            </a:r>
            <a:r>
              <a:rPr lang="fr-FR" sz="2500" cap="all" dirty="0">
                <a:latin typeface="+mj-lt"/>
              </a:rPr>
              <a:t>, but </a:t>
            </a:r>
            <a:r>
              <a:rPr lang="fr-FR" sz="2500" cap="all" dirty="0" err="1">
                <a:latin typeface="+mj-lt"/>
              </a:rPr>
              <a:t>it</a:t>
            </a:r>
            <a:r>
              <a:rPr lang="fr-FR" sz="2500" cap="all" dirty="0">
                <a:latin typeface="+mj-lt"/>
              </a:rPr>
              <a:t> uses 8 rounds of a </a:t>
            </a:r>
            <a:r>
              <a:rPr lang="fr-FR" sz="2500" b="1" cap="all" dirty="0" err="1">
                <a:latin typeface="+mj-lt"/>
              </a:rPr>
              <a:t>Feistel</a:t>
            </a:r>
            <a:r>
              <a:rPr lang="fr-FR" sz="2500" b="1" cap="all" dirty="0">
                <a:latin typeface="+mj-lt"/>
              </a:rPr>
              <a:t> </a:t>
            </a:r>
            <a:r>
              <a:rPr lang="fr-FR" sz="2500" b="1" cap="all" dirty="0" err="1">
                <a:latin typeface="+mj-lt"/>
              </a:rPr>
              <a:t>function</a:t>
            </a:r>
            <a:endParaRPr lang="fr-FR" sz="2500" b="1" cap="all" dirty="0">
              <a:latin typeface="+mj-lt"/>
            </a:endParaRPr>
          </a:p>
        </p:txBody>
      </p:sp>
      <p:sp>
        <p:nvSpPr>
          <p:cNvPr id="5" name="TextBox 4">
            <a:extLst>
              <a:ext uri="{FF2B5EF4-FFF2-40B4-BE49-F238E27FC236}">
                <a16:creationId xmlns:a16="http://schemas.microsoft.com/office/drawing/2014/main" id="{F25B3572-BFF8-4C95-5516-AA32EBF8BAA8}"/>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pic>
        <p:nvPicPr>
          <p:cNvPr id="6" name="Picture 5">
            <a:extLst>
              <a:ext uri="{FF2B5EF4-FFF2-40B4-BE49-F238E27FC236}">
                <a16:creationId xmlns:a16="http://schemas.microsoft.com/office/drawing/2014/main" id="{0F286E82-CBB7-DBC4-31E9-8DCECA0EBCE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109663" cy="897522"/>
          </a:xfrm>
          <a:prstGeom prst="rect">
            <a:avLst/>
          </a:prstGeom>
          <a:noFill/>
        </p:spPr>
      </p:pic>
      <p:pic>
        <p:nvPicPr>
          <p:cNvPr id="1026" name="Picture 2">
            <a:extLst>
              <a:ext uri="{FF2B5EF4-FFF2-40B4-BE49-F238E27FC236}">
                <a16:creationId xmlns:a16="http://schemas.microsoft.com/office/drawing/2014/main" id="{F1E81E2C-A22A-6C18-EA8B-F91B8D02CB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1" y="1825625"/>
            <a:ext cx="5491162" cy="435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66768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68A5C-763D-1685-6829-58B918A5F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EFF86D-2971-B22D-9B82-B0AB11AB7E21}"/>
              </a:ext>
            </a:extLst>
          </p:cNvPr>
          <p:cNvSpPr>
            <a:spLocks noGrp="1"/>
          </p:cNvSpPr>
          <p:nvPr>
            <p:ph type="title"/>
          </p:nvPr>
        </p:nvSpPr>
        <p:spPr>
          <a:xfrm>
            <a:off x="1842654" y="131054"/>
            <a:ext cx="8472921" cy="1192259"/>
          </a:xfrm>
        </p:spPr>
        <p:txBody>
          <a:bodyPr>
            <a:normAutofit/>
          </a:bodyPr>
          <a:lstStyle/>
          <a:p>
            <a:pPr algn="ctr"/>
            <a:r>
              <a:rPr lang="en-US" sz="4000" b="1" cap="all" dirty="0">
                <a:solidFill>
                  <a:schemeClr val="bg2">
                    <a:lumMod val="10000"/>
                  </a:schemeClr>
                </a:solidFill>
                <a:latin typeface="+mn-lt"/>
              </a:rPr>
              <a:t>2-2 FF1 &amp; FF3: FEISTEL FUNCTION or FEISTEL ENCRYPTION</a:t>
            </a:r>
            <a:endParaRPr lang="fr-FR" sz="4000" b="1" cap="all" dirty="0">
              <a:solidFill>
                <a:schemeClr val="bg2">
                  <a:lumMod val="10000"/>
                </a:schemeClr>
              </a:solidFill>
              <a:latin typeface="+mn-lt"/>
            </a:endParaRPr>
          </a:p>
        </p:txBody>
      </p:sp>
      <p:sp>
        <p:nvSpPr>
          <p:cNvPr id="5" name="TextBox 4">
            <a:extLst>
              <a:ext uri="{FF2B5EF4-FFF2-40B4-BE49-F238E27FC236}">
                <a16:creationId xmlns:a16="http://schemas.microsoft.com/office/drawing/2014/main" id="{58DE6D75-00F1-2AFC-053B-FF95E3586E20}"/>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pic>
        <p:nvPicPr>
          <p:cNvPr id="6" name="Picture 5">
            <a:extLst>
              <a:ext uri="{FF2B5EF4-FFF2-40B4-BE49-F238E27FC236}">
                <a16:creationId xmlns:a16="http://schemas.microsoft.com/office/drawing/2014/main" id="{7EAAD6C3-F8EF-D942-ABCA-F59EB8C3EC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109663" cy="897522"/>
          </a:xfrm>
          <a:prstGeom prst="rect">
            <a:avLst/>
          </a:prstGeom>
          <a:noFill/>
        </p:spPr>
      </p:pic>
      <p:pic>
        <p:nvPicPr>
          <p:cNvPr id="2050" name="Picture 2" descr="Feistel Cipher">
            <a:extLst>
              <a:ext uri="{FF2B5EF4-FFF2-40B4-BE49-F238E27FC236}">
                <a16:creationId xmlns:a16="http://schemas.microsoft.com/office/drawing/2014/main" id="{393A47E9-65FD-BF37-B79C-43387DB6352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54632" y="1338263"/>
            <a:ext cx="8804949" cy="4951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108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B3D2D-953B-C7EF-4A6B-C08995BFF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A212B-9969-258F-3660-2B32DADB5FCB}"/>
              </a:ext>
            </a:extLst>
          </p:cNvPr>
          <p:cNvSpPr>
            <a:spLocks noGrp="1"/>
          </p:cNvSpPr>
          <p:nvPr>
            <p:ph type="title"/>
          </p:nvPr>
        </p:nvSpPr>
        <p:spPr>
          <a:xfrm>
            <a:off x="2614613" y="65734"/>
            <a:ext cx="8958262" cy="1016934"/>
          </a:xfrm>
        </p:spPr>
        <p:txBody>
          <a:bodyPr>
            <a:normAutofit fontScale="90000"/>
          </a:bodyPr>
          <a:lstStyle/>
          <a:p>
            <a:r>
              <a:rPr lang="fr-FR" sz="4000" b="1" cap="all" dirty="0">
                <a:solidFill>
                  <a:schemeClr val="bg2">
                    <a:lumMod val="10000"/>
                  </a:schemeClr>
                </a:solidFill>
                <a:latin typeface="+mn-lt"/>
              </a:rPr>
              <a:t>2.3 – TOKENIZATION OPERATION PROCESS </a:t>
            </a:r>
          </a:p>
        </p:txBody>
      </p:sp>
      <p:sp>
        <p:nvSpPr>
          <p:cNvPr id="3" name="Content Placeholder 2">
            <a:extLst>
              <a:ext uri="{FF2B5EF4-FFF2-40B4-BE49-F238E27FC236}">
                <a16:creationId xmlns:a16="http://schemas.microsoft.com/office/drawing/2014/main" id="{C216F49E-6353-246F-6067-5D471DB80C44}"/>
              </a:ext>
            </a:extLst>
          </p:cNvPr>
          <p:cNvSpPr>
            <a:spLocks noGrp="1"/>
          </p:cNvSpPr>
          <p:nvPr>
            <p:ph idx="1"/>
          </p:nvPr>
        </p:nvSpPr>
        <p:spPr>
          <a:xfrm>
            <a:off x="442913" y="1343025"/>
            <a:ext cx="11458142" cy="4686301"/>
          </a:xfrm>
        </p:spPr>
        <p:txBody>
          <a:bodyPr>
            <a:normAutofit/>
          </a:bodyPr>
          <a:lstStyle/>
          <a:p>
            <a:pPr marL="0" indent="0">
              <a:buNone/>
            </a:pPr>
            <a:endParaRPr lang="fr-FR" dirty="0"/>
          </a:p>
        </p:txBody>
      </p:sp>
      <p:pic>
        <p:nvPicPr>
          <p:cNvPr id="6" name="Picture 5">
            <a:extLst>
              <a:ext uri="{FF2B5EF4-FFF2-40B4-BE49-F238E27FC236}">
                <a16:creationId xmlns:a16="http://schemas.microsoft.com/office/drawing/2014/main" id="{10F0C5DB-C997-8CD9-0810-35E7881A70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00733AE5-02FE-6ECC-59A3-92A60AA03828}"/>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pic>
        <p:nvPicPr>
          <p:cNvPr id="1026" name="Picture 2">
            <a:extLst>
              <a:ext uri="{FF2B5EF4-FFF2-40B4-BE49-F238E27FC236}">
                <a16:creationId xmlns:a16="http://schemas.microsoft.com/office/drawing/2014/main" id="{B85A19C7-6B26-90E1-599F-DC1B391A55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13" y="1343025"/>
            <a:ext cx="11458142" cy="4686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45678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8F173-35E8-410E-28B4-3316E5DD948D}"/>
              </a:ext>
            </a:extLst>
          </p:cNvPr>
          <p:cNvSpPr>
            <a:spLocks noGrp="1"/>
          </p:cNvSpPr>
          <p:nvPr>
            <p:ph type="title"/>
          </p:nvPr>
        </p:nvSpPr>
        <p:spPr>
          <a:xfrm>
            <a:off x="1914525" y="65734"/>
            <a:ext cx="9544050" cy="1016934"/>
          </a:xfrm>
        </p:spPr>
        <p:txBody>
          <a:bodyPr>
            <a:normAutofit fontScale="90000"/>
          </a:bodyPr>
          <a:lstStyle/>
          <a:p>
            <a:r>
              <a:rPr lang="fr-FR" sz="4000" b="1" cap="all" dirty="0">
                <a:solidFill>
                  <a:schemeClr val="bg2">
                    <a:lumMod val="10000"/>
                  </a:schemeClr>
                </a:solidFill>
                <a:latin typeface="+mn-lt"/>
              </a:rPr>
              <a:t>2.4 –  TOKENIZATION  MOBILE OPERATION PROCESS </a:t>
            </a:r>
          </a:p>
        </p:txBody>
      </p:sp>
      <p:sp>
        <p:nvSpPr>
          <p:cNvPr id="3" name="Content Placeholder 2">
            <a:extLst>
              <a:ext uri="{FF2B5EF4-FFF2-40B4-BE49-F238E27FC236}">
                <a16:creationId xmlns:a16="http://schemas.microsoft.com/office/drawing/2014/main" id="{B7A1E78E-D2C3-28EE-2DE8-76859C47B0FB}"/>
              </a:ext>
            </a:extLst>
          </p:cNvPr>
          <p:cNvSpPr>
            <a:spLocks noGrp="1"/>
          </p:cNvSpPr>
          <p:nvPr>
            <p:ph idx="1"/>
          </p:nvPr>
        </p:nvSpPr>
        <p:spPr>
          <a:xfrm>
            <a:off x="442913" y="1343025"/>
            <a:ext cx="11458142" cy="4686301"/>
          </a:xfrm>
        </p:spPr>
        <p:txBody>
          <a:bodyPr>
            <a:normAutofit/>
          </a:bodyPr>
          <a:lstStyle/>
          <a:p>
            <a:pPr marL="0" indent="0" algn="just">
              <a:lnSpc>
                <a:spcPct val="150000"/>
              </a:lnSpc>
              <a:spcAft>
                <a:spcPts val="800"/>
              </a:spcAft>
              <a:buNone/>
            </a:pPr>
            <a:r>
              <a:rPr lang="en-GB" sz="2500" cap="all" dirty="0">
                <a:latin typeface="+mj-lt"/>
              </a:rPr>
              <a:t>Digital tokenization was first CREATED BY TRUSTCOMMERCE IN 2001 to help a client protect customer credit card information. Merchants were storing cardholder data on their own servers, which meant that anyone who had access to their servers could potentially view or take advantage of those customer credit card numbers.</a:t>
            </a:r>
          </a:p>
          <a:p>
            <a:pPr marL="0" indent="0" algn="just">
              <a:lnSpc>
                <a:spcPct val="150000"/>
              </a:lnSpc>
              <a:spcAft>
                <a:spcPts val="800"/>
              </a:spcAft>
              <a:buNone/>
            </a:pPr>
            <a:r>
              <a:rPr lang="en-US" sz="2500" cap="all" dirty="0">
                <a:latin typeface="+mj-lt"/>
              </a:rPr>
              <a:t>It is an isolated actor, autonomous group, team belonging to a bigger entity who put at the disposal of anyone </a:t>
            </a:r>
            <a:r>
              <a:rPr lang="en-US" sz="2500" cap="all" dirty="0" err="1">
                <a:latin typeface="+mj-lt"/>
              </a:rPr>
              <a:t>fraudulous</a:t>
            </a:r>
            <a:r>
              <a:rPr lang="en-US" sz="2500" cap="all" dirty="0">
                <a:latin typeface="+mj-lt"/>
              </a:rPr>
              <a:t> access to systems.</a:t>
            </a:r>
            <a:endParaRPr lang="en-FR" sz="2500" cap="all" dirty="0">
              <a:latin typeface="+mj-lt"/>
            </a:endParaRPr>
          </a:p>
          <a:p>
            <a:pPr marL="0" indent="0" algn="just">
              <a:lnSpc>
                <a:spcPct val="150000"/>
              </a:lnSpc>
              <a:buNone/>
            </a:pPr>
            <a:endParaRPr lang="en-GB" sz="2500" cap="all" dirty="0">
              <a:latin typeface="+mj-lt"/>
            </a:endParaRPr>
          </a:p>
          <a:p>
            <a:pPr marL="0" indent="0">
              <a:buNone/>
            </a:pPr>
            <a:endParaRPr lang="fr-FR" dirty="0"/>
          </a:p>
        </p:txBody>
      </p:sp>
      <p:pic>
        <p:nvPicPr>
          <p:cNvPr id="6" name="Picture 5">
            <a:extLst>
              <a:ext uri="{FF2B5EF4-FFF2-40B4-BE49-F238E27FC236}">
                <a16:creationId xmlns:a16="http://schemas.microsoft.com/office/drawing/2014/main" id="{389C5D6D-B40A-E4C0-0F4B-AC240FDD6C5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CFFEF9A9-4521-DDDA-4C4F-4838B58A63AD}"/>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pic>
        <p:nvPicPr>
          <p:cNvPr id="2050" name="Picture 2">
            <a:extLst>
              <a:ext uri="{FF2B5EF4-FFF2-40B4-BE49-F238E27FC236}">
                <a16:creationId xmlns:a16="http://schemas.microsoft.com/office/drawing/2014/main" id="{2F94494D-89D2-B68D-A479-170FDD29D8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400" y="1071844"/>
            <a:ext cx="12046601" cy="5033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57349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4BB0E-E178-A11D-B37F-716FB2E61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EE126-19D5-6B2F-2B04-33792ED92518}"/>
              </a:ext>
            </a:extLst>
          </p:cNvPr>
          <p:cNvSpPr>
            <a:spLocks noGrp="1"/>
          </p:cNvSpPr>
          <p:nvPr>
            <p:ph type="title"/>
          </p:nvPr>
        </p:nvSpPr>
        <p:spPr>
          <a:xfrm>
            <a:off x="1454727" y="65734"/>
            <a:ext cx="7878468" cy="1016934"/>
          </a:xfrm>
        </p:spPr>
        <p:txBody>
          <a:bodyPr>
            <a:normAutofit/>
          </a:bodyPr>
          <a:lstStyle/>
          <a:p>
            <a:r>
              <a:rPr lang="fr-FR" b="1" cap="all" dirty="0">
                <a:solidFill>
                  <a:schemeClr val="bg2">
                    <a:lumMod val="10000"/>
                  </a:schemeClr>
                </a:solidFill>
                <a:latin typeface="+mn-lt"/>
              </a:rPr>
              <a:t>2.5- BENEFITS OF TOKENIZATION </a:t>
            </a:r>
            <a:endParaRPr lang="fr-FR" b="1" dirty="0">
              <a:solidFill>
                <a:schemeClr val="tx2">
                  <a:lumMod val="50000"/>
                </a:schemeClr>
              </a:solidFill>
            </a:endParaRPr>
          </a:p>
        </p:txBody>
      </p:sp>
      <p:sp>
        <p:nvSpPr>
          <p:cNvPr id="3" name="Content Placeholder 2">
            <a:extLst>
              <a:ext uri="{FF2B5EF4-FFF2-40B4-BE49-F238E27FC236}">
                <a16:creationId xmlns:a16="http://schemas.microsoft.com/office/drawing/2014/main" id="{4011FF35-6AF9-D9CF-C4E1-C76AC4E9D688}"/>
              </a:ext>
            </a:extLst>
          </p:cNvPr>
          <p:cNvSpPr>
            <a:spLocks noGrp="1"/>
          </p:cNvSpPr>
          <p:nvPr>
            <p:ph idx="1"/>
          </p:nvPr>
        </p:nvSpPr>
        <p:spPr>
          <a:xfrm>
            <a:off x="292359" y="1151015"/>
            <a:ext cx="11774950" cy="5180512"/>
          </a:xfrm>
        </p:spPr>
        <p:txBody>
          <a:bodyPr>
            <a:normAutofit fontScale="70000" lnSpcReduction="20000"/>
          </a:bodyPr>
          <a:lstStyle/>
          <a:p>
            <a:pPr marL="0" indent="0">
              <a:lnSpc>
                <a:spcPct val="115000"/>
              </a:lnSpc>
              <a:spcAft>
                <a:spcPts val="800"/>
              </a:spcAft>
              <a:buNone/>
            </a:pPr>
            <a:r>
              <a:rPr lang="en-GB" sz="2500" cap="all" dirty="0">
                <a:latin typeface="+mj-lt"/>
              </a:rPr>
              <a:t>Tokenization requires minimal changes to add strong data protection to existing applications. Tokens use the same data formats, require no additional storage, and can pass validation checks.</a:t>
            </a:r>
          </a:p>
          <a:p>
            <a:pPr>
              <a:lnSpc>
                <a:spcPct val="115000"/>
              </a:lnSpc>
              <a:spcAft>
                <a:spcPts val="800"/>
              </a:spcAft>
              <a:buFont typeface="Wingdings" pitchFamily="2" charset="2"/>
              <a:buChar char="q"/>
            </a:pPr>
            <a:r>
              <a:rPr lang="en-GB" sz="2500" cap="all" dirty="0">
                <a:latin typeface="+mj-lt"/>
              </a:rPr>
              <a:t> reduces the risk of data breach and theft</a:t>
            </a:r>
          </a:p>
          <a:p>
            <a:pPr>
              <a:lnSpc>
                <a:spcPct val="115000"/>
              </a:lnSpc>
              <a:spcAft>
                <a:spcPts val="800"/>
              </a:spcAft>
              <a:buFont typeface="Wingdings" pitchFamily="2" charset="2"/>
              <a:buChar char="q"/>
            </a:pPr>
            <a:r>
              <a:rPr lang="en-GB" sz="2500" cap="all" dirty="0">
                <a:latin typeface="+mj-lt"/>
              </a:rPr>
              <a:t>KEEP CREDIT CARD DATA SAFE</a:t>
            </a:r>
          </a:p>
          <a:p>
            <a:pPr>
              <a:lnSpc>
                <a:spcPct val="115000"/>
              </a:lnSpc>
              <a:spcAft>
                <a:spcPts val="800"/>
              </a:spcAft>
              <a:buFont typeface="Wingdings" pitchFamily="2" charset="2"/>
              <a:buChar char="q"/>
            </a:pPr>
            <a:r>
              <a:rPr lang="en-GB" sz="2500" cap="all" dirty="0">
                <a:latin typeface="+mj-lt"/>
              </a:rPr>
              <a:t>better experience and greater safety and security.</a:t>
            </a:r>
          </a:p>
          <a:p>
            <a:pPr>
              <a:lnSpc>
                <a:spcPct val="115000"/>
              </a:lnSpc>
              <a:spcAft>
                <a:spcPts val="800"/>
              </a:spcAft>
              <a:buFont typeface="Wingdings" pitchFamily="2" charset="2"/>
              <a:buChar char="q"/>
            </a:pPr>
            <a:r>
              <a:rPr lang="en-GB" sz="2600" cap="all" dirty="0">
                <a:latin typeface="+mj-lt"/>
              </a:rPr>
              <a:t>can be used for any type of personally identifiable information. </a:t>
            </a:r>
            <a:r>
              <a:rPr lang="en-GB" b="1" cap="all" dirty="0">
                <a:solidFill>
                  <a:schemeClr val="accent1">
                    <a:lumMod val="50000"/>
                  </a:schemeClr>
                </a:solidFill>
              </a:rPr>
              <a:t>U.S. retailers primarily use the technology to protect financial data</a:t>
            </a:r>
            <a:endParaRPr lang="en-GB" sz="2500" b="1" cap="all" dirty="0">
              <a:solidFill>
                <a:schemeClr val="accent1">
                  <a:lumMod val="50000"/>
                </a:schemeClr>
              </a:solidFill>
              <a:latin typeface="+mj-lt"/>
            </a:endParaRPr>
          </a:p>
          <a:p>
            <a:pPr>
              <a:lnSpc>
                <a:spcPct val="115000"/>
              </a:lnSpc>
              <a:spcAft>
                <a:spcPts val="800"/>
              </a:spcAft>
              <a:buFont typeface="Wingdings" pitchFamily="2" charset="2"/>
              <a:buChar char="q"/>
            </a:pPr>
            <a:r>
              <a:rPr lang="en-GB" sz="2500" cap="all" dirty="0">
                <a:latin typeface="+mj-lt"/>
              </a:rPr>
              <a:t>the merchant. You don't have to invest as many resources making your payment infrastructure secure</a:t>
            </a:r>
          </a:p>
          <a:p>
            <a:pPr>
              <a:lnSpc>
                <a:spcPct val="115000"/>
              </a:lnSpc>
              <a:spcAft>
                <a:spcPts val="800"/>
              </a:spcAft>
              <a:buFont typeface="Wingdings" pitchFamily="2" charset="2"/>
              <a:buChar char="q"/>
            </a:pPr>
            <a:r>
              <a:rPr lang="en-GB" sz="2500" cap="all" dirty="0">
                <a:latin typeface="+mj-lt"/>
              </a:rPr>
              <a:t>fraud risk is lower, approval rates are higher,  a lesser chance of your bank declining a transaction</a:t>
            </a:r>
          </a:p>
          <a:p>
            <a:pPr marL="0" indent="0">
              <a:lnSpc>
                <a:spcPct val="115000"/>
              </a:lnSpc>
              <a:spcAft>
                <a:spcPts val="800"/>
              </a:spcAft>
              <a:buNone/>
            </a:pPr>
            <a:endParaRPr lang="en-GB" sz="2500" cap="all" dirty="0">
              <a:latin typeface="+mj-lt"/>
            </a:endParaRPr>
          </a:p>
          <a:p>
            <a:pPr marL="0" indent="0">
              <a:lnSpc>
                <a:spcPct val="115000"/>
              </a:lnSpc>
              <a:spcAft>
                <a:spcPts val="800"/>
              </a:spcAft>
              <a:buNone/>
            </a:pPr>
            <a:r>
              <a:rPr lang="en-GB" sz="2500" cap="all" dirty="0">
                <a:latin typeface="+mj-lt"/>
              </a:rPr>
              <a:t> </a:t>
            </a:r>
            <a:endParaRPr lang="en-US" sz="2500" cap="all" dirty="0">
              <a:latin typeface="+mj-lt"/>
            </a:endParaRPr>
          </a:p>
          <a:p>
            <a:pPr marL="0" indent="0" algn="just">
              <a:lnSpc>
                <a:spcPct val="150000"/>
              </a:lnSpc>
              <a:buNone/>
            </a:pPr>
            <a:endParaRPr lang="en-GB" sz="2400" i="1" dirty="0">
              <a:solidFill>
                <a:schemeClr val="accent1">
                  <a:lumMod val="75000"/>
                </a:schemeClr>
              </a:solidFill>
              <a:effectLst/>
              <a:latin typeface="+mj-lt"/>
            </a:endParaRPr>
          </a:p>
          <a:p>
            <a:pPr marL="0" indent="0">
              <a:buNone/>
            </a:pPr>
            <a:endParaRPr lang="fr-FR" dirty="0"/>
          </a:p>
        </p:txBody>
      </p:sp>
      <p:pic>
        <p:nvPicPr>
          <p:cNvPr id="6" name="Picture 5">
            <a:extLst>
              <a:ext uri="{FF2B5EF4-FFF2-40B4-BE49-F238E27FC236}">
                <a16:creationId xmlns:a16="http://schemas.microsoft.com/office/drawing/2014/main" id="{726A2ED9-F91A-2405-CF62-C4D7B41F61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A9F51188-2D1A-8F5C-CCD5-0C88BBF5308D}"/>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3384270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2D463-4D27-7158-96E2-DA4C1837E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21B6B-3950-6C4B-352A-2ED2AD69AF98}"/>
              </a:ext>
            </a:extLst>
          </p:cNvPr>
          <p:cNvSpPr>
            <a:spLocks noGrp="1"/>
          </p:cNvSpPr>
          <p:nvPr>
            <p:ph type="title"/>
          </p:nvPr>
        </p:nvSpPr>
        <p:spPr>
          <a:xfrm>
            <a:off x="3686175" y="1246580"/>
            <a:ext cx="4398137" cy="1325563"/>
          </a:xfrm>
        </p:spPr>
        <p:txBody>
          <a:bodyPr>
            <a:normAutofit/>
          </a:bodyPr>
          <a:lstStyle/>
          <a:p>
            <a:pPr algn="ctr"/>
            <a:r>
              <a:rPr lang="fr-FR" sz="6000" b="1" dirty="0"/>
              <a:t>PART III:</a:t>
            </a:r>
          </a:p>
        </p:txBody>
      </p:sp>
      <p:sp>
        <p:nvSpPr>
          <p:cNvPr id="3" name="Content Placeholder 2">
            <a:extLst>
              <a:ext uri="{FF2B5EF4-FFF2-40B4-BE49-F238E27FC236}">
                <a16:creationId xmlns:a16="http://schemas.microsoft.com/office/drawing/2014/main" id="{6BCF6BB8-4976-6D0B-5CF4-864A2DF99D08}"/>
              </a:ext>
            </a:extLst>
          </p:cNvPr>
          <p:cNvSpPr>
            <a:spLocks noGrp="1"/>
          </p:cNvSpPr>
          <p:nvPr>
            <p:ph idx="1"/>
          </p:nvPr>
        </p:nvSpPr>
        <p:spPr>
          <a:xfrm>
            <a:off x="408992" y="3038388"/>
            <a:ext cx="10744200" cy="1514952"/>
          </a:xfrm>
        </p:spPr>
        <p:txBody>
          <a:bodyPr>
            <a:normAutofit fontScale="92500" lnSpcReduction="10000"/>
          </a:bodyPr>
          <a:lstStyle/>
          <a:p>
            <a:pPr marL="0" indent="0" algn="ctr">
              <a:buNone/>
            </a:pPr>
            <a:r>
              <a:rPr lang="en-US" sz="6000" b="1" dirty="0">
                <a:solidFill>
                  <a:schemeClr val="accent2">
                    <a:lumMod val="50000"/>
                  </a:schemeClr>
                </a:solidFill>
              </a:rPr>
              <a:t>APPLICATIONS OF TOKENIZATION IN BANKING SYSTEMS</a:t>
            </a:r>
            <a:endParaRPr lang="en-FR" sz="6100" b="1" dirty="0">
              <a:solidFill>
                <a:schemeClr val="accent2">
                  <a:lumMod val="50000"/>
                </a:schemeClr>
              </a:solidFill>
            </a:endParaRPr>
          </a:p>
        </p:txBody>
      </p:sp>
      <p:pic>
        <p:nvPicPr>
          <p:cNvPr id="6" name="Picture 5">
            <a:extLst>
              <a:ext uri="{FF2B5EF4-FFF2-40B4-BE49-F238E27FC236}">
                <a16:creationId xmlns:a16="http://schemas.microsoft.com/office/drawing/2014/main" id="{1E87E1A1-F315-7249-FEE4-CAB70A5AAE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4D58988E-7CE3-A01A-802F-B928AD537B2A}"/>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2800606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
                                        <p:tgtEl>
                                          <p:spTgt spid="3">
                                            <p:txEl>
                                              <p:pRg st="0" end="0"/>
                                            </p:txEl>
                                          </p:spTgt>
                                        </p:tgtEl>
                                      </p:cBhvr>
                                    </p:animEffect>
                                    <p:anim calcmode="lin" valueType="num">
                                      <p:cBhvr>
                                        <p:cTn id="8"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400" fill="hold"/>
                                        <p:tgtEl>
                                          <p:spTgt spid="3">
                                            <p:txEl>
                                              <p:pRg st="0" end="0"/>
                                            </p:txEl>
                                          </p:spTgt>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3">
                                            <p:txEl>
                                              <p:pRg st="0" end="0"/>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3">
                                            <p:txEl>
                                              <p:pRg st="0" end="0"/>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C5FAA-46F7-E55C-FF28-F3A7ACABD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AA520-F558-082A-9E13-465F74221392}"/>
              </a:ext>
            </a:extLst>
          </p:cNvPr>
          <p:cNvSpPr>
            <a:spLocks noGrp="1"/>
          </p:cNvSpPr>
          <p:nvPr>
            <p:ph type="title"/>
          </p:nvPr>
        </p:nvSpPr>
        <p:spPr>
          <a:xfrm>
            <a:off x="1454726" y="65734"/>
            <a:ext cx="9060873" cy="1016934"/>
          </a:xfrm>
        </p:spPr>
        <p:txBody>
          <a:bodyPr>
            <a:normAutofit/>
          </a:bodyPr>
          <a:lstStyle/>
          <a:p>
            <a:r>
              <a:rPr lang="fr-FR" b="1" cap="all" dirty="0">
                <a:solidFill>
                  <a:schemeClr val="bg2">
                    <a:lumMod val="10000"/>
                  </a:schemeClr>
                </a:solidFill>
                <a:latin typeface="+mn-lt"/>
              </a:rPr>
              <a:t>3.1- PCI DSS COMPLIANCE</a:t>
            </a:r>
            <a:endParaRPr lang="fr-FR" b="1" dirty="0">
              <a:solidFill>
                <a:schemeClr val="tx2">
                  <a:lumMod val="50000"/>
                </a:schemeClr>
              </a:solidFill>
            </a:endParaRPr>
          </a:p>
        </p:txBody>
      </p:sp>
      <p:sp>
        <p:nvSpPr>
          <p:cNvPr id="3" name="Content Placeholder 2">
            <a:extLst>
              <a:ext uri="{FF2B5EF4-FFF2-40B4-BE49-F238E27FC236}">
                <a16:creationId xmlns:a16="http://schemas.microsoft.com/office/drawing/2014/main" id="{9C69D86B-194A-A1DE-E675-561998B10CFA}"/>
              </a:ext>
            </a:extLst>
          </p:cNvPr>
          <p:cNvSpPr>
            <a:spLocks noGrp="1"/>
          </p:cNvSpPr>
          <p:nvPr>
            <p:ph idx="1"/>
          </p:nvPr>
        </p:nvSpPr>
        <p:spPr>
          <a:xfrm>
            <a:off x="292359" y="1151015"/>
            <a:ext cx="11774950" cy="5180512"/>
          </a:xfrm>
        </p:spPr>
        <p:txBody>
          <a:bodyPr>
            <a:normAutofit/>
          </a:bodyPr>
          <a:lstStyle/>
          <a:p>
            <a:pPr marL="0" indent="0">
              <a:buNone/>
            </a:pPr>
            <a:r>
              <a:rPr lang="en-GB" sz="2500" cap="all" dirty="0">
                <a:latin typeface="+mj-lt"/>
              </a:rPr>
              <a:t>PCI DSS STANDS FOR </a:t>
            </a:r>
            <a:r>
              <a:rPr lang="en-GB" sz="2500" b="1" cap="all" dirty="0">
                <a:solidFill>
                  <a:schemeClr val="accent1"/>
                </a:solidFill>
                <a:latin typeface="+mj-lt"/>
              </a:rPr>
              <a:t>PAYMENT CARD INDUSCTRY DATA SECUIRTY STANDARD</a:t>
            </a:r>
            <a:r>
              <a:rPr lang="en-GB" sz="2500" cap="all" dirty="0">
                <a:latin typeface="+mj-lt"/>
              </a:rPr>
              <a:t>.</a:t>
            </a:r>
          </a:p>
          <a:p>
            <a:pPr marL="0" indent="0">
              <a:buNone/>
            </a:pPr>
            <a:r>
              <a:rPr lang="en-GB" sz="2500" cap="all" dirty="0">
                <a:latin typeface="+mj-lt"/>
              </a:rPr>
              <a:t>Tokenization for card data got an early boost due to requirements set by the Payment Card Industry Security Standards Council (PCI SSC). The Payment Card Industry Data Security Standard (PCI DSS) requires businesses that deal with payment card data to ensure compliance with strict CYBERSECURITY  requirements. While securing payment card data with encryption is allowed per PCI DSS, merchants may also use tokenization to meet compliance standards. Since payments data flows are complex, high performance, and well defined, tokenization is much easier to add than encryption: </a:t>
            </a:r>
            <a:r>
              <a:rPr lang="en-GB" sz="2500" b="1" i="1" cap="all" dirty="0">
                <a:solidFill>
                  <a:schemeClr val="accent1">
                    <a:lumMod val="75000"/>
                  </a:schemeClr>
                </a:solidFill>
                <a:latin typeface="+mj-lt"/>
              </a:rPr>
              <a:t>Payment card data</a:t>
            </a:r>
          </a:p>
          <a:p>
            <a:endParaRPr lang="en-GB" sz="2500" b="1" i="1" cap="all" dirty="0">
              <a:solidFill>
                <a:schemeClr val="accent1">
                  <a:lumMod val="75000"/>
                </a:schemeClr>
              </a:solidFill>
              <a:latin typeface="+mj-lt"/>
            </a:endParaRPr>
          </a:p>
          <a:p>
            <a:pPr marL="0" indent="0" algn="just">
              <a:lnSpc>
                <a:spcPct val="150000"/>
              </a:lnSpc>
              <a:buNone/>
            </a:pPr>
            <a:endParaRPr lang="en-GB" sz="2400" i="1" dirty="0">
              <a:solidFill>
                <a:schemeClr val="accent1">
                  <a:lumMod val="75000"/>
                </a:schemeClr>
              </a:solidFill>
              <a:effectLst/>
              <a:latin typeface="+mj-lt"/>
            </a:endParaRPr>
          </a:p>
          <a:p>
            <a:pPr marL="0" indent="0">
              <a:buNone/>
            </a:pPr>
            <a:endParaRPr lang="fr-FR" dirty="0"/>
          </a:p>
        </p:txBody>
      </p:sp>
      <p:pic>
        <p:nvPicPr>
          <p:cNvPr id="6" name="Picture 5">
            <a:extLst>
              <a:ext uri="{FF2B5EF4-FFF2-40B4-BE49-F238E27FC236}">
                <a16:creationId xmlns:a16="http://schemas.microsoft.com/office/drawing/2014/main" id="{844E3A80-D01B-16F9-33D8-B916630C829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7810D2F9-E072-7501-A9EA-EF84D8C89233}"/>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1750000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69671-A077-6B2A-2C4E-66709FDDEB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07C50-4F0E-17FC-E2B6-6FB96265007A}"/>
              </a:ext>
            </a:extLst>
          </p:cNvPr>
          <p:cNvSpPr>
            <a:spLocks noGrp="1"/>
          </p:cNvSpPr>
          <p:nvPr>
            <p:ph type="title"/>
          </p:nvPr>
        </p:nvSpPr>
        <p:spPr>
          <a:xfrm>
            <a:off x="1454727" y="65734"/>
            <a:ext cx="10612582" cy="1016934"/>
          </a:xfrm>
        </p:spPr>
        <p:txBody>
          <a:bodyPr>
            <a:normAutofit/>
          </a:bodyPr>
          <a:lstStyle/>
          <a:p>
            <a:r>
              <a:rPr lang="fr-FR" b="1" cap="all" dirty="0">
                <a:solidFill>
                  <a:schemeClr val="bg2">
                    <a:lumMod val="10000"/>
                  </a:schemeClr>
                </a:solidFill>
                <a:latin typeface="+mn-lt"/>
              </a:rPr>
              <a:t>3.2- TOKENIZATION-MFA-PCI DSS FACILITIES</a:t>
            </a:r>
            <a:endParaRPr lang="fr-FR" b="1" dirty="0">
              <a:solidFill>
                <a:schemeClr val="tx2">
                  <a:lumMod val="50000"/>
                </a:schemeClr>
              </a:solidFill>
            </a:endParaRPr>
          </a:p>
        </p:txBody>
      </p:sp>
      <p:sp>
        <p:nvSpPr>
          <p:cNvPr id="3" name="Content Placeholder 2">
            <a:extLst>
              <a:ext uri="{FF2B5EF4-FFF2-40B4-BE49-F238E27FC236}">
                <a16:creationId xmlns:a16="http://schemas.microsoft.com/office/drawing/2014/main" id="{C362C1BB-B5AC-2CB9-1946-43C2620C9B62}"/>
              </a:ext>
            </a:extLst>
          </p:cNvPr>
          <p:cNvSpPr>
            <a:spLocks noGrp="1"/>
          </p:cNvSpPr>
          <p:nvPr>
            <p:ph idx="1"/>
          </p:nvPr>
        </p:nvSpPr>
        <p:spPr>
          <a:xfrm>
            <a:off x="292359" y="1151015"/>
            <a:ext cx="11774950" cy="5180512"/>
          </a:xfrm>
        </p:spPr>
        <p:txBody>
          <a:bodyPr>
            <a:normAutofit/>
          </a:bodyPr>
          <a:lstStyle/>
          <a:p>
            <a:pPr marL="0" indent="0">
              <a:lnSpc>
                <a:spcPct val="115000"/>
              </a:lnSpc>
              <a:spcAft>
                <a:spcPts val="800"/>
              </a:spcAft>
              <a:buNone/>
            </a:pPr>
            <a:r>
              <a:rPr lang="en-GB" sz="2500" cap="all" dirty="0">
                <a:latin typeface="+mj-lt"/>
              </a:rPr>
              <a:t>Tokenization requires minimal changes to add strong data protection to existing applications. Tokens use the same data formats, require no additional storage, and can pass validation checks.</a:t>
            </a:r>
          </a:p>
          <a:p>
            <a:pPr>
              <a:lnSpc>
                <a:spcPct val="115000"/>
              </a:lnSpc>
              <a:spcAft>
                <a:spcPts val="800"/>
              </a:spcAft>
              <a:buFont typeface="Wingdings" pitchFamily="2" charset="2"/>
              <a:buChar char="q"/>
            </a:pPr>
            <a:r>
              <a:rPr lang="en-GB" sz="2500" cap="all" dirty="0">
                <a:latin typeface="+mj-lt"/>
              </a:rPr>
              <a:t> In-store using a phone or watch </a:t>
            </a:r>
          </a:p>
          <a:p>
            <a:pPr>
              <a:lnSpc>
                <a:spcPct val="115000"/>
              </a:lnSpc>
              <a:spcAft>
                <a:spcPts val="800"/>
              </a:spcAft>
              <a:buFont typeface="Wingdings" pitchFamily="2" charset="2"/>
              <a:buChar char="q"/>
            </a:pPr>
            <a:r>
              <a:rPr lang="en-GB" sz="2500" cap="all" dirty="0">
                <a:latin typeface="+mj-lt"/>
              </a:rPr>
              <a:t>Online and in-app using a phone, tablet or laptop</a:t>
            </a:r>
          </a:p>
          <a:p>
            <a:pPr>
              <a:lnSpc>
                <a:spcPct val="115000"/>
              </a:lnSpc>
              <a:spcAft>
                <a:spcPts val="800"/>
              </a:spcAft>
              <a:buFont typeface="Wingdings" pitchFamily="2" charset="2"/>
              <a:buChar char="q"/>
            </a:pPr>
            <a:r>
              <a:rPr lang="en-GB" sz="2500" cap="all" dirty="0">
                <a:latin typeface="+mj-lt"/>
              </a:rPr>
              <a:t>Online – using a card on file</a:t>
            </a:r>
          </a:p>
          <a:p>
            <a:pPr>
              <a:lnSpc>
                <a:spcPct val="115000"/>
              </a:lnSpc>
              <a:spcAft>
                <a:spcPts val="800"/>
              </a:spcAft>
              <a:buFont typeface="Wingdings" pitchFamily="2" charset="2"/>
              <a:buChar char="q"/>
            </a:pPr>
            <a:r>
              <a:rPr lang="en-GB" sz="2500" cap="all" dirty="0">
                <a:latin typeface="+mj-lt"/>
              </a:rPr>
              <a:t>Online – guest checkout</a:t>
            </a:r>
          </a:p>
          <a:p>
            <a:pPr marL="0" indent="0">
              <a:lnSpc>
                <a:spcPct val="115000"/>
              </a:lnSpc>
              <a:spcAft>
                <a:spcPts val="800"/>
              </a:spcAft>
              <a:buNone/>
            </a:pPr>
            <a:r>
              <a:rPr lang="en-GB" sz="2500" cap="all" dirty="0">
                <a:latin typeface="+mj-lt"/>
              </a:rPr>
              <a:t> </a:t>
            </a:r>
            <a:endParaRPr lang="en-US" sz="2500" cap="all" dirty="0">
              <a:latin typeface="+mj-lt"/>
            </a:endParaRPr>
          </a:p>
          <a:p>
            <a:pPr marL="0" indent="0" algn="just">
              <a:lnSpc>
                <a:spcPct val="150000"/>
              </a:lnSpc>
              <a:buNone/>
            </a:pPr>
            <a:endParaRPr lang="en-GB" sz="2400" i="1" dirty="0">
              <a:solidFill>
                <a:schemeClr val="accent1">
                  <a:lumMod val="75000"/>
                </a:schemeClr>
              </a:solidFill>
              <a:effectLst/>
              <a:latin typeface="+mj-lt"/>
            </a:endParaRPr>
          </a:p>
          <a:p>
            <a:pPr marL="0" indent="0">
              <a:buNone/>
            </a:pPr>
            <a:endParaRPr lang="fr-FR" dirty="0"/>
          </a:p>
        </p:txBody>
      </p:sp>
      <p:pic>
        <p:nvPicPr>
          <p:cNvPr id="6" name="Picture 5">
            <a:extLst>
              <a:ext uri="{FF2B5EF4-FFF2-40B4-BE49-F238E27FC236}">
                <a16:creationId xmlns:a16="http://schemas.microsoft.com/office/drawing/2014/main" id="{BC31A026-A8A6-766E-F665-82B6E2A1708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561B6FFD-F680-EDAB-D43C-AB9E8346E070}"/>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1826269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08215-9796-5CE3-AC64-8F8DC7D44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B41E8-F481-E205-BCE1-F564058F946F}"/>
              </a:ext>
            </a:extLst>
          </p:cNvPr>
          <p:cNvSpPr>
            <a:spLocks noGrp="1"/>
          </p:cNvSpPr>
          <p:nvPr>
            <p:ph type="title"/>
          </p:nvPr>
        </p:nvSpPr>
        <p:spPr>
          <a:xfrm>
            <a:off x="1454727" y="65734"/>
            <a:ext cx="10612582" cy="1016934"/>
          </a:xfrm>
        </p:spPr>
        <p:txBody>
          <a:bodyPr>
            <a:normAutofit/>
          </a:bodyPr>
          <a:lstStyle/>
          <a:p>
            <a:r>
              <a:rPr lang="fr-FR" b="1" cap="all" dirty="0">
                <a:solidFill>
                  <a:schemeClr val="bg2">
                    <a:lumMod val="10000"/>
                  </a:schemeClr>
                </a:solidFill>
                <a:latin typeface="+mn-lt"/>
              </a:rPr>
              <a:t>3.3- IN ANSI X9 (X9.17 PRG)  COMPLIANCE</a:t>
            </a:r>
            <a:endParaRPr lang="fr-FR" b="1" dirty="0">
              <a:solidFill>
                <a:schemeClr val="tx2">
                  <a:lumMod val="50000"/>
                </a:schemeClr>
              </a:solidFill>
            </a:endParaRPr>
          </a:p>
        </p:txBody>
      </p:sp>
      <p:sp>
        <p:nvSpPr>
          <p:cNvPr id="3" name="Content Placeholder 2">
            <a:extLst>
              <a:ext uri="{FF2B5EF4-FFF2-40B4-BE49-F238E27FC236}">
                <a16:creationId xmlns:a16="http://schemas.microsoft.com/office/drawing/2014/main" id="{C20244EF-B8DF-C21C-CB9E-00DF23DCC44F}"/>
              </a:ext>
            </a:extLst>
          </p:cNvPr>
          <p:cNvSpPr>
            <a:spLocks noGrp="1"/>
          </p:cNvSpPr>
          <p:nvPr>
            <p:ph idx="1"/>
          </p:nvPr>
        </p:nvSpPr>
        <p:spPr>
          <a:xfrm>
            <a:off x="292359" y="1151015"/>
            <a:ext cx="11774950" cy="5180512"/>
          </a:xfrm>
        </p:spPr>
        <p:txBody>
          <a:bodyPr>
            <a:normAutofit fontScale="92500" lnSpcReduction="10000"/>
          </a:bodyPr>
          <a:lstStyle/>
          <a:p>
            <a:pPr marL="0" indent="0">
              <a:lnSpc>
                <a:spcPct val="115000"/>
              </a:lnSpc>
              <a:spcAft>
                <a:spcPts val="800"/>
              </a:spcAft>
              <a:buNone/>
            </a:pPr>
            <a:r>
              <a:rPr lang="en-GB" sz="2500" cap="all" dirty="0">
                <a:latin typeface="+mj-lt"/>
              </a:rPr>
              <a:t>TOKENIZATION IS Currently USED  in standards definition in </a:t>
            </a:r>
            <a:r>
              <a:rPr lang="en-GB" sz="2500" b="1" i="1" cap="all" dirty="0">
                <a:solidFill>
                  <a:schemeClr val="accent1">
                    <a:lumMod val="50000"/>
                  </a:schemeClr>
                </a:solidFill>
                <a:latin typeface="+mj-lt"/>
              </a:rPr>
              <a:t>ANSI X9 as X9.119 part 2 </a:t>
            </a:r>
            <a:r>
              <a:rPr lang="en-GB" sz="2500" cap="all" dirty="0">
                <a:latin typeface="+mj-lt"/>
              </a:rPr>
              <a:t>who  is responsible for the industry standards for financial cryptography and data protection including payment card PIN management, credit and debit card encryption and related technologies and processes.</a:t>
            </a:r>
          </a:p>
          <a:p>
            <a:pPr marL="0" indent="0">
              <a:lnSpc>
                <a:spcPct val="115000"/>
              </a:lnSpc>
              <a:spcAft>
                <a:spcPts val="800"/>
              </a:spcAft>
              <a:buNone/>
            </a:pPr>
            <a:r>
              <a:rPr lang="en-GB" sz="2500" cap="all" dirty="0">
                <a:latin typeface="+mj-lt"/>
              </a:rPr>
              <a:t> The PCI Council has also stated support for tokenization in reducing risk in data breaches, when combined with other technologies such as Point-to-Point Encryption (P2PE) and assessments of compliance to PCI DSS guidelines Visa Inc. released Visa Tokenization Best Practices for tokenization uses in credit and debit card handling applications and services.</a:t>
            </a:r>
          </a:p>
          <a:p>
            <a:pPr marL="0" indent="0">
              <a:lnSpc>
                <a:spcPct val="115000"/>
              </a:lnSpc>
              <a:spcAft>
                <a:spcPts val="800"/>
              </a:spcAft>
              <a:buNone/>
            </a:pPr>
            <a:r>
              <a:rPr lang="en-GB" sz="2500" cap="all" dirty="0" err="1">
                <a:latin typeface="+mj-lt"/>
              </a:rPr>
              <a:t>DON’t</a:t>
            </a:r>
            <a:r>
              <a:rPr lang="en-GB" sz="2500" cap="all" dirty="0">
                <a:latin typeface="+mj-lt"/>
              </a:rPr>
              <a:t> FORGET THAT IT USED BLOCK CIPHER TECHNIQUES TO ENCRYPT DATA: AES and TRIPLE DES</a:t>
            </a:r>
          </a:p>
          <a:p>
            <a:pPr marL="0" indent="0">
              <a:lnSpc>
                <a:spcPct val="115000"/>
              </a:lnSpc>
              <a:spcAft>
                <a:spcPts val="800"/>
              </a:spcAft>
              <a:buNone/>
            </a:pPr>
            <a:r>
              <a:rPr lang="en-GB" sz="2500" cap="all" dirty="0">
                <a:latin typeface="+mj-lt"/>
              </a:rPr>
              <a:t>  </a:t>
            </a:r>
            <a:endParaRPr lang="en-US" sz="2500" cap="all" dirty="0">
              <a:latin typeface="+mj-lt"/>
            </a:endParaRPr>
          </a:p>
          <a:p>
            <a:pPr marL="0" indent="0" algn="just">
              <a:lnSpc>
                <a:spcPct val="150000"/>
              </a:lnSpc>
              <a:buNone/>
            </a:pPr>
            <a:endParaRPr lang="en-GB" sz="2400" i="1" dirty="0">
              <a:solidFill>
                <a:schemeClr val="accent1">
                  <a:lumMod val="75000"/>
                </a:schemeClr>
              </a:solidFill>
              <a:effectLst/>
              <a:latin typeface="+mj-lt"/>
            </a:endParaRPr>
          </a:p>
          <a:p>
            <a:pPr marL="0" indent="0">
              <a:buNone/>
            </a:pPr>
            <a:endParaRPr lang="fr-FR" dirty="0"/>
          </a:p>
        </p:txBody>
      </p:sp>
      <p:pic>
        <p:nvPicPr>
          <p:cNvPr id="6" name="Picture 5">
            <a:extLst>
              <a:ext uri="{FF2B5EF4-FFF2-40B4-BE49-F238E27FC236}">
                <a16:creationId xmlns:a16="http://schemas.microsoft.com/office/drawing/2014/main" id="{065617A3-B8DB-FFA5-7B7C-DB0AE006A1D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AD8ADBEF-6065-96D5-77CE-40F45BA5E7C5}"/>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349653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15CB5-3208-1B70-B544-C31956408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EA2A2-2EC0-B50D-072B-B44EDC315691}"/>
              </a:ext>
            </a:extLst>
          </p:cNvPr>
          <p:cNvSpPr>
            <a:spLocks noGrp="1"/>
          </p:cNvSpPr>
          <p:nvPr>
            <p:ph type="title"/>
          </p:nvPr>
        </p:nvSpPr>
        <p:spPr>
          <a:xfrm>
            <a:off x="1454726" y="65734"/>
            <a:ext cx="9060873" cy="1016934"/>
          </a:xfrm>
        </p:spPr>
        <p:txBody>
          <a:bodyPr>
            <a:normAutofit/>
          </a:bodyPr>
          <a:lstStyle/>
          <a:p>
            <a:r>
              <a:rPr lang="fr-FR" b="1" cap="all" dirty="0">
                <a:solidFill>
                  <a:schemeClr val="bg2">
                    <a:lumMod val="10000"/>
                  </a:schemeClr>
                </a:solidFill>
                <a:latin typeface="+mn-lt"/>
              </a:rPr>
              <a:t>3.4- APPLICATIONS OF TOKENIZATION</a:t>
            </a:r>
            <a:endParaRPr lang="fr-FR" b="1" dirty="0">
              <a:solidFill>
                <a:schemeClr val="tx2">
                  <a:lumMod val="50000"/>
                </a:schemeClr>
              </a:solidFill>
            </a:endParaRPr>
          </a:p>
        </p:txBody>
      </p:sp>
      <p:sp>
        <p:nvSpPr>
          <p:cNvPr id="3" name="Content Placeholder 2">
            <a:extLst>
              <a:ext uri="{FF2B5EF4-FFF2-40B4-BE49-F238E27FC236}">
                <a16:creationId xmlns:a16="http://schemas.microsoft.com/office/drawing/2014/main" id="{68F54B63-FF9B-120B-6218-C4A61E57FB21}"/>
              </a:ext>
            </a:extLst>
          </p:cNvPr>
          <p:cNvSpPr>
            <a:spLocks noGrp="1"/>
          </p:cNvSpPr>
          <p:nvPr>
            <p:ph idx="1"/>
          </p:nvPr>
        </p:nvSpPr>
        <p:spPr>
          <a:xfrm>
            <a:off x="292359" y="1151015"/>
            <a:ext cx="11774950" cy="5180512"/>
          </a:xfrm>
        </p:spPr>
        <p:txBody>
          <a:bodyPr>
            <a:normAutofit/>
          </a:bodyPr>
          <a:lstStyle/>
          <a:p>
            <a:pPr marL="0" indent="0">
              <a:buNone/>
            </a:pPr>
            <a:r>
              <a:rPr lang="en-GB" sz="2500" cap="all" dirty="0">
                <a:latin typeface="+mj-lt"/>
              </a:rPr>
              <a:t>Tokenization is used to secure many different types of sensitive data, including:</a:t>
            </a:r>
          </a:p>
          <a:p>
            <a:r>
              <a:rPr lang="en-GB" sz="2500" b="1" i="1" cap="all" dirty="0">
                <a:solidFill>
                  <a:schemeClr val="accent1">
                    <a:lumMod val="75000"/>
                  </a:schemeClr>
                </a:solidFill>
                <a:latin typeface="+mj-lt"/>
              </a:rPr>
              <a:t>Payment card data</a:t>
            </a:r>
          </a:p>
          <a:p>
            <a:r>
              <a:rPr lang="en-GB" sz="2500" b="1" i="1" cap="all" dirty="0">
                <a:solidFill>
                  <a:schemeClr val="accent1">
                    <a:lumMod val="75000"/>
                  </a:schemeClr>
                </a:solidFill>
                <a:latin typeface="+mj-lt"/>
              </a:rPr>
              <a:t>U.S. Social Security numbers and other national identification numbers</a:t>
            </a:r>
          </a:p>
          <a:p>
            <a:r>
              <a:rPr lang="en-GB" sz="2500" b="1" i="1" cap="all" dirty="0">
                <a:solidFill>
                  <a:schemeClr val="accent1">
                    <a:lumMod val="75000"/>
                  </a:schemeClr>
                </a:solidFill>
                <a:latin typeface="+mj-lt"/>
              </a:rPr>
              <a:t>Telephone numbers</a:t>
            </a:r>
          </a:p>
          <a:p>
            <a:r>
              <a:rPr lang="en-GB" sz="2500" b="1" i="1" cap="all" dirty="0">
                <a:solidFill>
                  <a:schemeClr val="accent1">
                    <a:lumMod val="75000"/>
                  </a:schemeClr>
                </a:solidFill>
                <a:latin typeface="+mj-lt"/>
              </a:rPr>
              <a:t>Passport numbers</a:t>
            </a:r>
          </a:p>
          <a:p>
            <a:r>
              <a:rPr lang="en-GB" sz="2500" b="1" i="1" cap="all" dirty="0">
                <a:solidFill>
                  <a:schemeClr val="accent1">
                    <a:lumMod val="75000"/>
                  </a:schemeClr>
                </a:solidFill>
                <a:latin typeface="+mj-lt"/>
              </a:rPr>
              <a:t>Driver’s license numbers</a:t>
            </a:r>
          </a:p>
          <a:p>
            <a:r>
              <a:rPr lang="en-GB" sz="2500" b="1" i="1" cap="all" dirty="0">
                <a:solidFill>
                  <a:schemeClr val="accent1">
                    <a:lumMod val="75000"/>
                  </a:schemeClr>
                </a:solidFill>
                <a:latin typeface="+mj-lt"/>
              </a:rPr>
              <a:t>Email addresses</a:t>
            </a:r>
          </a:p>
          <a:p>
            <a:r>
              <a:rPr lang="en-GB" sz="2500" b="1" i="1" cap="all" dirty="0">
                <a:solidFill>
                  <a:schemeClr val="accent1">
                    <a:lumMod val="75000"/>
                  </a:schemeClr>
                </a:solidFill>
                <a:latin typeface="+mj-lt"/>
              </a:rPr>
              <a:t>Bank account numbers</a:t>
            </a:r>
          </a:p>
          <a:p>
            <a:r>
              <a:rPr lang="en-GB" sz="2500" b="1" i="1" cap="all" dirty="0">
                <a:solidFill>
                  <a:schemeClr val="accent1">
                    <a:lumMod val="75000"/>
                  </a:schemeClr>
                </a:solidFill>
                <a:latin typeface="+mj-lt"/>
              </a:rPr>
              <a:t>Names, addresses, birth dates</a:t>
            </a:r>
          </a:p>
          <a:p>
            <a:pPr marL="0" indent="0" algn="just">
              <a:lnSpc>
                <a:spcPct val="150000"/>
              </a:lnSpc>
              <a:buNone/>
            </a:pPr>
            <a:endParaRPr lang="en-GB" sz="2400" i="1" dirty="0">
              <a:solidFill>
                <a:schemeClr val="accent1">
                  <a:lumMod val="75000"/>
                </a:schemeClr>
              </a:solidFill>
              <a:effectLst/>
              <a:latin typeface="+mj-lt"/>
            </a:endParaRPr>
          </a:p>
          <a:p>
            <a:pPr marL="0" indent="0">
              <a:buNone/>
            </a:pPr>
            <a:endParaRPr lang="fr-FR" dirty="0"/>
          </a:p>
        </p:txBody>
      </p:sp>
      <p:pic>
        <p:nvPicPr>
          <p:cNvPr id="6" name="Picture 5">
            <a:extLst>
              <a:ext uri="{FF2B5EF4-FFF2-40B4-BE49-F238E27FC236}">
                <a16:creationId xmlns:a16="http://schemas.microsoft.com/office/drawing/2014/main" id="{51302598-029E-F1D7-D2CD-A11417AD492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29F55FE7-5EBB-4AA4-B8F9-50A7E283DDAD}"/>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1117612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58807-036C-FC9F-1196-6CE36483F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32017-506F-A122-3310-7FEBBAFE9E49}"/>
              </a:ext>
            </a:extLst>
          </p:cNvPr>
          <p:cNvSpPr>
            <a:spLocks noGrp="1"/>
          </p:cNvSpPr>
          <p:nvPr>
            <p:ph type="title"/>
          </p:nvPr>
        </p:nvSpPr>
        <p:spPr>
          <a:xfrm>
            <a:off x="1454727" y="194326"/>
            <a:ext cx="10612582" cy="1016934"/>
          </a:xfrm>
        </p:spPr>
        <p:txBody>
          <a:bodyPr>
            <a:normAutofit/>
          </a:bodyPr>
          <a:lstStyle/>
          <a:p>
            <a:r>
              <a:rPr lang="fr-FR" b="1" cap="all" dirty="0">
                <a:solidFill>
                  <a:schemeClr val="bg2">
                    <a:lumMod val="10000"/>
                  </a:schemeClr>
                </a:solidFill>
                <a:latin typeface="+mn-lt"/>
              </a:rPr>
              <a:t>3.5 – APPLICATIONS OF TOKENIZATION (2)</a:t>
            </a:r>
            <a:endParaRPr lang="fr-FR" b="1" dirty="0">
              <a:solidFill>
                <a:schemeClr val="tx2">
                  <a:lumMod val="50000"/>
                </a:schemeClr>
              </a:solidFill>
            </a:endParaRPr>
          </a:p>
        </p:txBody>
      </p:sp>
      <p:sp>
        <p:nvSpPr>
          <p:cNvPr id="3" name="Content Placeholder 2">
            <a:extLst>
              <a:ext uri="{FF2B5EF4-FFF2-40B4-BE49-F238E27FC236}">
                <a16:creationId xmlns:a16="http://schemas.microsoft.com/office/drawing/2014/main" id="{E26C0CF0-B598-7AF7-8126-B2D8DD4C2FCB}"/>
              </a:ext>
            </a:extLst>
          </p:cNvPr>
          <p:cNvSpPr>
            <a:spLocks noGrp="1"/>
          </p:cNvSpPr>
          <p:nvPr>
            <p:ph idx="1"/>
          </p:nvPr>
        </p:nvSpPr>
        <p:spPr>
          <a:xfrm>
            <a:off x="292359" y="1643063"/>
            <a:ext cx="11774950" cy="4688464"/>
          </a:xfrm>
        </p:spPr>
        <p:txBody>
          <a:bodyPr>
            <a:normAutofit/>
          </a:bodyPr>
          <a:lstStyle/>
          <a:p>
            <a:pPr marL="0" indent="0" fontAlgn="base">
              <a:buNone/>
            </a:pPr>
            <a:endParaRPr lang="en-GB" sz="2500" cap="all" dirty="0">
              <a:latin typeface="+mj-lt"/>
            </a:endParaRPr>
          </a:p>
          <a:p>
            <a:pPr marL="0" indent="0" fontAlgn="base">
              <a:buNone/>
            </a:pPr>
            <a:r>
              <a:rPr lang="en-GB" sz="2500" cap="all" dirty="0">
                <a:latin typeface="+mj-lt"/>
              </a:rPr>
              <a:t>In Europe, for example, many businesses rely on tokenization for:</a:t>
            </a:r>
          </a:p>
          <a:p>
            <a:pPr fontAlgn="base">
              <a:buFont typeface="Wingdings" pitchFamily="2" charset="2"/>
              <a:buChar char="Ø"/>
            </a:pPr>
            <a:r>
              <a:rPr lang="en-GB" sz="2500" b="1" i="1" cap="all" dirty="0">
                <a:solidFill>
                  <a:schemeClr val="accent1">
                    <a:lumMod val="50000"/>
                  </a:schemeClr>
                </a:solidFill>
                <a:latin typeface="+mj-lt"/>
              </a:rPr>
              <a:t>Patient records;</a:t>
            </a:r>
          </a:p>
          <a:p>
            <a:pPr fontAlgn="base">
              <a:buFont typeface="Wingdings" pitchFamily="2" charset="2"/>
              <a:buChar char="Ø"/>
            </a:pPr>
            <a:r>
              <a:rPr lang="en-GB" sz="2500" b="1" i="1" cap="all" dirty="0">
                <a:solidFill>
                  <a:schemeClr val="accent1">
                    <a:lumMod val="50000"/>
                  </a:schemeClr>
                </a:solidFill>
                <a:latin typeface="+mj-lt"/>
              </a:rPr>
              <a:t>Employee files;</a:t>
            </a:r>
          </a:p>
          <a:p>
            <a:pPr fontAlgn="base">
              <a:buFont typeface="Wingdings" pitchFamily="2" charset="2"/>
              <a:buChar char="Ø"/>
            </a:pPr>
            <a:r>
              <a:rPr lang="en-GB" sz="2500" b="1" i="1" cap="all" dirty="0">
                <a:solidFill>
                  <a:schemeClr val="accent1">
                    <a:lumMod val="50000"/>
                  </a:schemeClr>
                </a:solidFill>
                <a:latin typeface="+mj-lt"/>
              </a:rPr>
              <a:t>Usernames;</a:t>
            </a:r>
          </a:p>
          <a:p>
            <a:pPr fontAlgn="base">
              <a:buFont typeface="Wingdings" pitchFamily="2" charset="2"/>
              <a:buChar char="Ø"/>
            </a:pPr>
            <a:r>
              <a:rPr lang="en-GB" sz="2500" b="1" i="1" cap="all" dirty="0">
                <a:solidFill>
                  <a:schemeClr val="accent1">
                    <a:lumMod val="50000"/>
                  </a:schemeClr>
                </a:solidFill>
                <a:latin typeface="+mj-lt"/>
              </a:rPr>
              <a:t>Passwords;</a:t>
            </a:r>
          </a:p>
          <a:p>
            <a:pPr fontAlgn="base">
              <a:buFont typeface="Wingdings" pitchFamily="2" charset="2"/>
              <a:buChar char="Ø"/>
            </a:pPr>
            <a:r>
              <a:rPr lang="en-GB" sz="2500" b="1" i="1" cap="all" dirty="0">
                <a:solidFill>
                  <a:schemeClr val="accent1">
                    <a:lumMod val="50000"/>
                  </a:schemeClr>
                </a:solidFill>
                <a:latin typeface="+mj-lt"/>
              </a:rPr>
              <a:t>Email addresses;</a:t>
            </a:r>
          </a:p>
          <a:p>
            <a:pPr fontAlgn="base">
              <a:buFont typeface="Wingdings" pitchFamily="2" charset="2"/>
              <a:buChar char="Ø"/>
            </a:pPr>
            <a:r>
              <a:rPr lang="en-GB" sz="2500" b="1" i="1" cap="all" dirty="0">
                <a:solidFill>
                  <a:schemeClr val="accent1">
                    <a:lumMod val="50000"/>
                  </a:schemeClr>
                </a:solidFill>
                <a:latin typeface="+mj-lt"/>
              </a:rPr>
              <a:t>Customer accounts, </a:t>
            </a:r>
          </a:p>
          <a:p>
            <a:pPr fontAlgn="base">
              <a:buFont typeface="Wingdings" pitchFamily="2" charset="2"/>
              <a:buChar char="Ø"/>
            </a:pPr>
            <a:r>
              <a:rPr lang="en-GB" sz="2500" b="1" i="1" cap="all" dirty="0">
                <a:solidFill>
                  <a:schemeClr val="accent1">
                    <a:lumMod val="50000"/>
                  </a:schemeClr>
                </a:solidFill>
                <a:latin typeface="+mj-lt"/>
              </a:rPr>
              <a:t>…</a:t>
            </a:r>
            <a:endParaRPr lang="en-GB" sz="2400" i="1" dirty="0">
              <a:solidFill>
                <a:schemeClr val="accent1">
                  <a:lumMod val="75000"/>
                </a:schemeClr>
              </a:solidFill>
              <a:effectLst/>
              <a:latin typeface="+mj-lt"/>
            </a:endParaRPr>
          </a:p>
          <a:p>
            <a:pPr marL="0" indent="0">
              <a:buNone/>
            </a:pPr>
            <a:endParaRPr lang="fr-FR" dirty="0"/>
          </a:p>
        </p:txBody>
      </p:sp>
      <p:pic>
        <p:nvPicPr>
          <p:cNvPr id="6" name="Picture 5">
            <a:extLst>
              <a:ext uri="{FF2B5EF4-FFF2-40B4-BE49-F238E27FC236}">
                <a16:creationId xmlns:a16="http://schemas.microsoft.com/office/drawing/2014/main" id="{39B115C0-0862-99A7-8A49-4E91A227D1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4" name="TextBox 3">
            <a:extLst>
              <a:ext uri="{FF2B5EF4-FFF2-40B4-BE49-F238E27FC236}">
                <a16:creationId xmlns:a16="http://schemas.microsoft.com/office/drawing/2014/main" id="{7B0B5B76-45D6-65BD-0901-E7FE493FF4C5}"/>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3882565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3CEC6-C20E-3948-3F22-5D018BF6D21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FBF298C-D0F2-CE9E-B352-1EC5FE2151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5051"/>
            <a:ext cx="1109663" cy="897522"/>
          </a:xfrm>
          <a:prstGeom prst="rect">
            <a:avLst/>
          </a:prstGeom>
          <a:noFill/>
        </p:spPr>
      </p:pic>
      <p:sp>
        <p:nvSpPr>
          <p:cNvPr id="4" name="TextBox 3">
            <a:extLst>
              <a:ext uri="{FF2B5EF4-FFF2-40B4-BE49-F238E27FC236}">
                <a16:creationId xmlns:a16="http://schemas.microsoft.com/office/drawing/2014/main" id="{B6B7CD34-BA91-1693-66A9-09D55223626D}"/>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
        <p:nvSpPr>
          <p:cNvPr id="23" name="Title 1">
            <a:extLst>
              <a:ext uri="{FF2B5EF4-FFF2-40B4-BE49-F238E27FC236}">
                <a16:creationId xmlns:a16="http://schemas.microsoft.com/office/drawing/2014/main" id="{BE634061-45BE-D1EA-49D8-8572E8A7C69E}"/>
              </a:ext>
            </a:extLst>
          </p:cNvPr>
          <p:cNvSpPr>
            <a:spLocks noGrp="1"/>
          </p:cNvSpPr>
          <p:nvPr>
            <p:ph type="title"/>
          </p:nvPr>
        </p:nvSpPr>
        <p:spPr>
          <a:xfrm>
            <a:off x="720508" y="22547"/>
            <a:ext cx="11471492" cy="1175521"/>
          </a:xfrm>
        </p:spPr>
        <p:txBody>
          <a:bodyPr>
            <a:normAutofit/>
          </a:bodyPr>
          <a:lstStyle/>
          <a:p>
            <a:pPr algn="ctr"/>
            <a:r>
              <a:rPr lang="en-US" sz="4000" b="1" cap="all" dirty="0">
                <a:solidFill>
                  <a:schemeClr val="bg2">
                    <a:lumMod val="10000"/>
                  </a:schemeClr>
                </a:solidFill>
                <a:latin typeface="+mn-lt"/>
              </a:rPr>
              <a:t>3.5- FUTURE OF TOKENIZATION</a:t>
            </a:r>
            <a:endParaRPr lang="fr-FR" sz="4000" b="1" cap="all" dirty="0">
              <a:solidFill>
                <a:schemeClr val="bg2">
                  <a:lumMod val="10000"/>
                </a:schemeClr>
              </a:solidFill>
              <a:latin typeface="+mn-lt"/>
            </a:endParaRPr>
          </a:p>
        </p:txBody>
      </p:sp>
      <p:sp>
        <p:nvSpPr>
          <p:cNvPr id="24" name="Content Placeholder 2">
            <a:extLst>
              <a:ext uri="{FF2B5EF4-FFF2-40B4-BE49-F238E27FC236}">
                <a16:creationId xmlns:a16="http://schemas.microsoft.com/office/drawing/2014/main" id="{1CFA31C1-B326-4073-1402-0D130CC8D89B}"/>
              </a:ext>
            </a:extLst>
          </p:cNvPr>
          <p:cNvSpPr>
            <a:spLocks noGrp="1"/>
          </p:cNvSpPr>
          <p:nvPr>
            <p:ph idx="1"/>
          </p:nvPr>
        </p:nvSpPr>
        <p:spPr>
          <a:xfrm>
            <a:off x="484981" y="1085850"/>
            <a:ext cx="11471492" cy="5091016"/>
          </a:xfrm>
        </p:spPr>
        <p:txBody>
          <a:bodyPr>
            <a:normAutofit/>
          </a:bodyPr>
          <a:lstStyle/>
          <a:p>
            <a:pPr marL="0" indent="0">
              <a:lnSpc>
                <a:spcPct val="115000"/>
              </a:lnSpc>
              <a:spcAft>
                <a:spcPts val="800"/>
              </a:spcAft>
              <a:buNone/>
            </a:pPr>
            <a:r>
              <a:rPr lang="en-GB" sz="2500" cap="all" dirty="0"/>
              <a:t>After a couple false starts, tokenized financial assets are moving from pilot to at-scale development. McKinsey analysis indicates that tokenized market capitalization could reach </a:t>
            </a:r>
            <a:r>
              <a:rPr lang="en-GB" sz="2500" cap="all" dirty="0">
                <a:hlinkClick r:id="rId3">
                  <a:extLst>
                    <a:ext uri="{A12FA001-AC4F-418D-AE19-62706E023703}">
                      <ahyp:hlinkClr xmlns:ahyp="http://schemas.microsoft.com/office/drawing/2018/hyperlinkcolor" val="tx"/>
                    </a:ext>
                  </a:extLst>
                </a:hlinkClick>
              </a:rPr>
              <a:t>around $2 trillion</a:t>
            </a:r>
            <a:r>
              <a:rPr lang="en-GB" sz="2500" cap="all" dirty="0"/>
              <a:t> by 2030 (excluding cryptocurrencies like Bitcoin and stablecoins like Tether). Specifically, we expect that organizations working with certain asset classes will be the quickest adopters; these include cash and deposits, bonds and exchange-traded notes, mutual funds and exchange-traded funds, as well as loans and securitization. Larry Fink, the chairman and CEO of BlackRock, said in January 2024: “We believe the next step going forward will be the tokenization of financial assets, and that means every stock, every bond … will be on one general ledger.”</a:t>
            </a:r>
            <a:endParaRPr lang="en-FR" sz="2500" cap="all" dirty="0"/>
          </a:p>
          <a:p>
            <a:pPr>
              <a:lnSpc>
                <a:spcPct val="115000"/>
              </a:lnSpc>
              <a:spcAft>
                <a:spcPts val="800"/>
              </a:spcAft>
            </a:pPr>
            <a:endParaRPr lang="en-FR" sz="2500" cap="all" dirty="0"/>
          </a:p>
        </p:txBody>
      </p:sp>
    </p:spTree>
    <p:extLst>
      <p:ext uri="{BB962C8B-B14F-4D97-AF65-F5344CB8AC3E}">
        <p14:creationId xmlns:p14="http://schemas.microsoft.com/office/powerpoint/2010/main" val="4161959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4BF2B-943E-DCD0-2CCC-318D440704D4}"/>
              </a:ext>
            </a:extLst>
          </p:cNvPr>
          <p:cNvSpPr>
            <a:spLocks noGrp="1"/>
          </p:cNvSpPr>
          <p:nvPr>
            <p:ph type="title"/>
          </p:nvPr>
        </p:nvSpPr>
        <p:spPr>
          <a:xfrm>
            <a:off x="1141413" y="215900"/>
            <a:ext cx="9905998" cy="914400"/>
          </a:xfrm>
        </p:spPr>
        <p:txBody>
          <a:bodyPr/>
          <a:lstStyle/>
          <a:p>
            <a:pPr algn="ctr"/>
            <a:r>
              <a:rPr lang="fr-FR" b="1" u="sng" dirty="0">
                <a:solidFill>
                  <a:schemeClr val="accent2">
                    <a:lumMod val="50000"/>
                  </a:schemeClr>
                </a:solidFill>
              </a:rPr>
              <a:t>CONCLUSION</a:t>
            </a:r>
          </a:p>
        </p:txBody>
      </p:sp>
      <p:sp>
        <p:nvSpPr>
          <p:cNvPr id="3" name="Content Placeholder 2">
            <a:extLst>
              <a:ext uri="{FF2B5EF4-FFF2-40B4-BE49-F238E27FC236}">
                <a16:creationId xmlns:a16="http://schemas.microsoft.com/office/drawing/2014/main" id="{CD7CFF32-4966-E5EA-2BFD-E73BAA570A13}"/>
              </a:ext>
            </a:extLst>
          </p:cNvPr>
          <p:cNvSpPr>
            <a:spLocks noGrp="1"/>
          </p:cNvSpPr>
          <p:nvPr>
            <p:ph idx="1"/>
          </p:nvPr>
        </p:nvSpPr>
        <p:spPr>
          <a:xfrm>
            <a:off x="205272" y="839755"/>
            <a:ext cx="11875892" cy="5581699"/>
          </a:xfrm>
        </p:spPr>
        <p:txBody>
          <a:bodyPr>
            <a:normAutofit/>
          </a:bodyPr>
          <a:lstStyle/>
          <a:p>
            <a:pPr algn="l" fontAlgn="base">
              <a:buNone/>
            </a:pPr>
            <a:endParaRPr lang="fr-FR" sz="2200" cap="all" dirty="0">
              <a:latin typeface="+mj-lt"/>
            </a:endParaRPr>
          </a:p>
          <a:p>
            <a:pPr marL="12700" indent="-12700" algn="just" fontAlgn="base">
              <a:lnSpc>
                <a:spcPct val="160000"/>
              </a:lnSpc>
              <a:buNone/>
            </a:pPr>
            <a:r>
              <a:rPr lang="en-GB" sz="2200" cap="all" dirty="0">
                <a:latin typeface="+mj-lt"/>
              </a:rPr>
              <a:t> In order for tokenization to take hold and secondary markets to thrive, </a:t>
            </a:r>
            <a:r>
              <a:rPr lang="en-GB" sz="2200" b="1" cap="all" dirty="0">
                <a:solidFill>
                  <a:schemeClr val="accent1">
                    <a:lumMod val="50000"/>
                  </a:schemeClr>
                </a:solidFill>
                <a:latin typeface="+mj-lt"/>
              </a:rPr>
              <a:t>industry participants may have to forgo any ambition of being the dominant platform provider</a:t>
            </a:r>
            <a:r>
              <a:rPr lang="en-GB" sz="2200" cap="all" dirty="0">
                <a:latin typeface="+mj-lt"/>
              </a:rPr>
              <a:t>. While some institutions have invested heavily in their own permissioned distributed ledger platforms, the wider industry will likely not move forward with tokenization if the benefits accrue to just a few dominant platforms. To build successful markets and gain positive network effects tends to require connecting these different platforms to facilitate better experiences for more users. Absent such cooperation, the ultimate success of tokenization networks could be in jeopardy.</a:t>
            </a:r>
            <a:endParaRPr lang="en-GB" sz="1600" b="0" i="0" dirty="0">
              <a:effectLst/>
              <a:latin typeface="Inter"/>
            </a:endParaRPr>
          </a:p>
          <a:p>
            <a:pPr marL="0" indent="0" algn="just">
              <a:buNone/>
            </a:pPr>
            <a:br>
              <a:rPr lang="fr-FR" sz="2200" b="1" i="1" cap="all" dirty="0">
                <a:solidFill>
                  <a:srgbClr val="002060"/>
                </a:solidFill>
                <a:latin typeface="+mj-lt"/>
              </a:rPr>
            </a:br>
            <a:endParaRPr lang="fr-FR" sz="2200" b="1" i="1" cap="all" dirty="0">
              <a:solidFill>
                <a:srgbClr val="002060"/>
              </a:solidFill>
              <a:latin typeface="+mj-lt"/>
            </a:endParaRPr>
          </a:p>
        </p:txBody>
      </p:sp>
      <p:pic>
        <p:nvPicPr>
          <p:cNvPr id="4" name="Picture 3">
            <a:extLst>
              <a:ext uri="{FF2B5EF4-FFF2-40B4-BE49-F238E27FC236}">
                <a16:creationId xmlns:a16="http://schemas.microsoft.com/office/drawing/2014/main" id="{859E6A74-4F2C-C4FC-DF7A-E8A16B0E4E5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5" name="TextBox 4">
            <a:extLst>
              <a:ext uri="{FF2B5EF4-FFF2-40B4-BE49-F238E27FC236}">
                <a16:creationId xmlns:a16="http://schemas.microsoft.com/office/drawing/2014/main" id="{8A20F0DE-B0A1-355F-8E2E-64807E71E197}"/>
              </a:ext>
            </a:extLst>
          </p:cNvPr>
          <p:cNvSpPr txBox="1"/>
          <p:nvPr/>
        </p:nvSpPr>
        <p:spPr>
          <a:xfrm>
            <a:off x="3829051" y="6527676"/>
            <a:ext cx="3761222" cy="307777"/>
          </a:xfrm>
          <a:prstGeom prst="rect">
            <a:avLst/>
          </a:prstGeom>
          <a:noFill/>
        </p:spPr>
        <p:txBody>
          <a:bodyPr wrap="none" rtlCol="0">
            <a:spAutoFit/>
          </a:bodyPr>
          <a:lstStyle/>
          <a:p>
            <a:r>
              <a:rPr lang="fr-FR" sz="1400" b="1" i="1" dirty="0">
                <a:solidFill>
                  <a:schemeClr val="accent1">
                    <a:lumMod val="50000"/>
                  </a:schemeClr>
                </a:solidFill>
              </a:rPr>
              <a:t>« I  AM HELIOS ELITE, SOLDIER OF THE DIGITAL »</a:t>
            </a:r>
          </a:p>
        </p:txBody>
      </p:sp>
    </p:spTree>
    <p:extLst>
      <p:ext uri="{BB962C8B-B14F-4D97-AF65-F5344CB8AC3E}">
        <p14:creationId xmlns:p14="http://schemas.microsoft.com/office/powerpoint/2010/main" val="633563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9A484-BF31-ED09-6122-1FAA29FD45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8181CC-8720-F2BD-4D56-EFC28C3A0DFE}"/>
              </a:ext>
            </a:extLst>
          </p:cNvPr>
          <p:cNvSpPr>
            <a:spLocks noGrp="1"/>
          </p:cNvSpPr>
          <p:nvPr>
            <p:ph idx="1"/>
          </p:nvPr>
        </p:nvSpPr>
        <p:spPr>
          <a:xfrm>
            <a:off x="205273" y="1024077"/>
            <a:ext cx="5581165" cy="5227433"/>
          </a:xfrm>
        </p:spPr>
        <p:txBody>
          <a:bodyPr>
            <a:normAutofit fontScale="77500" lnSpcReduction="20000"/>
          </a:bodyPr>
          <a:lstStyle/>
          <a:p>
            <a:pPr marL="0" indent="0">
              <a:buNone/>
            </a:pPr>
            <a:endParaRPr lang="fr-FR" sz="2200" cap="all" dirty="0">
              <a:latin typeface="+mj-lt"/>
            </a:endParaRPr>
          </a:p>
          <a:p>
            <a:pPr marL="0" indent="0">
              <a:buNone/>
            </a:pPr>
            <a:endParaRPr lang="fr-FR" sz="2200" cap="all" dirty="0">
              <a:latin typeface="+mj-lt"/>
            </a:endParaRPr>
          </a:p>
          <a:p>
            <a:pPr marL="0" indent="0" algn="ctr">
              <a:buNone/>
            </a:pPr>
            <a:r>
              <a:rPr lang="fr-FR" sz="5400" cap="all" dirty="0">
                <a:latin typeface="Bauhaus 93" pitchFamily="82" charset="77"/>
              </a:rPr>
              <a:t>THANK YOU FOR YOUR KIND ATTENTION, ....</a:t>
            </a:r>
          </a:p>
          <a:p>
            <a:pPr marL="0" indent="0" algn="ctr">
              <a:buNone/>
            </a:pPr>
            <a:r>
              <a:rPr lang="fr-FR" sz="7000" cap="all" dirty="0">
                <a:latin typeface="Bauhaus 93" pitchFamily="82" charset="77"/>
              </a:rPr>
              <a:t>{</a:t>
            </a:r>
          </a:p>
          <a:p>
            <a:pPr marL="0" indent="0" algn="ctr">
              <a:buNone/>
            </a:pPr>
            <a:r>
              <a:rPr lang="fr-FR" sz="5400" cap="all" dirty="0">
                <a:latin typeface="Bauhaus 93" pitchFamily="82" charset="77"/>
              </a:rPr>
              <a:t>....</a:t>
            </a:r>
          </a:p>
          <a:p>
            <a:pPr marL="0" indent="0">
              <a:buNone/>
            </a:pPr>
            <a:endParaRPr lang="fr-FR" sz="2200" b="1" i="1" cap="all" dirty="0">
              <a:solidFill>
                <a:srgbClr val="002060"/>
              </a:solidFill>
              <a:latin typeface="+mj-lt"/>
            </a:endParaRPr>
          </a:p>
          <a:p>
            <a:pPr marL="0" indent="0">
              <a:buNone/>
            </a:pPr>
            <a:endParaRPr lang="fr-FR" sz="2200" b="1" i="1" cap="all" dirty="0">
              <a:solidFill>
                <a:srgbClr val="002060"/>
              </a:solidFill>
              <a:latin typeface="+mj-lt"/>
            </a:endParaRPr>
          </a:p>
          <a:p>
            <a:pPr marL="0" indent="0" algn="ctr">
              <a:buNone/>
            </a:pPr>
            <a:r>
              <a:rPr lang="fr-FR" sz="6000" b="1" i="1" cap="all" dirty="0">
                <a:solidFill>
                  <a:srgbClr val="002060"/>
                </a:solidFill>
                <a:latin typeface="APPLE CHANCERY" panose="03020702040506060504" pitchFamily="66" charset="-79"/>
                <a:cs typeface="APPLE CHANCERY" panose="03020702040506060504" pitchFamily="66" charset="-79"/>
              </a:rPr>
              <a:t>QUESTIONS?</a:t>
            </a:r>
            <a:br>
              <a:rPr lang="fr-FR" sz="6000" b="1" i="1" cap="all" dirty="0">
                <a:solidFill>
                  <a:srgbClr val="002060"/>
                </a:solidFill>
                <a:latin typeface="APPLE CHANCERY" panose="03020702040506060504" pitchFamily="66" charset="-79"/>
                <a:cs typeface="APPLE CHANCERY" panose="03020702040506060504" pitchFamily="66" charset="-79"/>
              </a:rPr>
            </a:br>
            <a:r>
              <a:rPr lang="fr-FR" sz="6000" b="1" i="1" cap="all" dirty="0">
                <a:solidFill>
                  <a:srgbClr val="002060"/>
                </a:solidFill>
                <a:latin typeface="Bauhaus 93" pitchFamily="82" charset="77"/>
                <a:cs typeface="APPLE CHANCERY" panose="03020702040506060504" pitchFamily="66" charset="-79"/>
              </a:rPr>
              <a:t>}</a:t>
            </a:r>
            <a:endParaRPr lang="fr-FR" sz="6000" cap="all" dirty="0">
              <a:latin typeface="Bauhaus 93" pitchFamily="82" charset="77"/>
            </a:endParaRPr>
          </a:p>
          <a:p>
            <a:pPr marL="0" indent="0" algn="ctr">
              <a:buNone/>
            </a:pPr>
            <a:endParaRPr lang="fr-FR" sz="6000" b="1" i="1" cap="all" dirty="0">
              <a:solidFill>
                <a:srgbClr val="002060"/>
              </a:solidFill>
              <a:latin typeface="APPLE CHANCERY" panose="03020702040506060504" pitchFamily="66" charset="-79"/>
              <a:cs typeface="APPLE CHANCERY" panose="03020702040506060504" pitchFamily="66" charset="-79"/>
            </a:endParaRPr>
          </a:p>
        </p:txBody>
      </p:sp>
      <p:pic>
        <p:nvPicPr>
          <p:cNvPr id="4" name="Picture 3">
            <a:extLst>
              <a:ext uri="{FF2B5EF4-FFF2-40B4-BE49-F238E27FC236}">
                <a16:creationId xmlns:a16="http://schemas.microsoft.com/office/drawing/2014/main" id="{25700C61-27A8-F0E5-86CA-26B406DB52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144"/>
            <a:ext cx="1257300" cy="1016934"/>
          </a:xfrm>
          <a:prstGeom prst="rect">
            <a:avLst/>
          </a:prstGeom>
          <a:noFill/>
        </p:spPr>
      </p:pic>
      <p:sp>
        <p:nvSpPr>
          <p:cNvPr id="5" name="TextBox 4">
            <a:extLst>
              <a:ext uri="{FF2B5EF4-FFF2-40B4-BE49-F238E27FC236}">
                <a16:creationId xmlns:a16="http://schemas.microsoft.com/office/drawing/2014/main" id="{13709A74-6D69-6DAE-41A9-39F0B8B9BB39}"/>
              </a:ext>
            </a:extLst>
          </p:cNvPr>
          <p:cNvSpPr txBox="1"/>
          <p:nvPr/>
        </p:nvSpPr>
        <p:spPr>
          <a:xfrm>
            <a:off x="3829051" y="6527676"/>
            <a:ext cx="4072269" cy="307777"/>
          </a:xfrm>
          <a:prstGeom prst="rect">
            <a:avLst/>
          </a:prstGeom>
          <a:noFill/>
        </p:spPr>
        <p:txBody>
          <a:bodyPr wrap="none" rtlCol="0">
            <a:spAutoFit/>
          </a:bodyPr>
          <a:lstStyle/>
          <a:p>
            <a:r>
              <a:rPr lang="fr-FR" sz="1400" i="1" dirty="0">
                <a:solidFill>
                  <a:srgbClr val="FFC000"/>
                </a:solidFill>
              </a:rPr>
              <a:t>« I  AM HELIOS ELITE, SOLDIER OF THE DIGITAL »</a:t>
            </a:r>
          </a:p>
        </p:txBody>
      </p:sp>
      <p:sp>
        <p:nvSpPr>
          <p:cNvPr id="2" name="Content Placeholder 2">
            <a:extLst>
              <a:ext uri="{FF2B5EF4-FFF2-40B4-BE49-F238E27FC236}">
                <a16:creationId xmlns:a16="http://schemas.microsoft.com/office/drawing/2014/main" id="{FF329F7A-F23A-0929-6C26-53C9F628840A}"/>
              </a:ext>
            </a:extLst>
          </p:cNvPr>
          <p:cNvSpPr txBox="1">
            <a:spLocks/>
          </p:cNvSpPr>
          <p:nvPr/>
        </p:nvSpPr>
        <p:spPr>
          <a:xfrm>
            <a:off x="11088404" y="3055033"/>
            <a:ext cx="622112" cy="36265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fr-FR" sz="2200" cap="all" dirty="0">
              <a:latin typeface="+mj-lt"/>
            </a:endParaRPr>
          </a:p>
          <a:p>
            <a:pPr marL="0" indent="0">
              <a:buFont typeface="Arial" panose="020B0604020202020204" pitchFamily="34" charset="0"/>
              <a:buNone/>
            </a:pPr>
            <a:endParaRPr lang="fr-FR" sz="2200" cap="all" dirty="0">
              <a:latin typeface="+mj-lt"/>
            </a:endParaRPr>
          </a:p>
        </p:txBody>
      </p:sp>
      <p:pic>
        <p:nvPicPr>
          <p:cNvPr id="3076" name="Picture 4" descr="Effective Questioning Techniques - IEEE-USA InSight">
            <a:extLst>
              <a:ext uri="{FF2B5EF4-FFF2-40B4-BE49-F238E27FC236}">
                <a16:creationId xmlns:a16="http://schemas.microsoft.com/office/drawing/2014/main" id="{2D8A9B5E-D782-D243-BF80-55A920F8C7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6882" y="1258924"/>
            <a:ext cx="5023634" cy="4757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214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78896</TotalTime>
  <Words>1863</Words>
  <Application>Microsoft Macintosh PowerPoint</Application>
  <PresentationFormat>Widescreen</PresentationFormat>
  <Paragraphs>133</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APPLE CHANCERY</vt:lpstr>
      <vt:lpstr>Arial</vt:lpstr>
      <vt:lpstr>Bauhaus 93</vt:lpstr>
      <vt:lpstr>Calibri</vt:lpstr>
      <vt:lpstr>Calibri Light</vt:lpstr>
      <vt:lpstr>Inter</vt:lpstr>
      <vt:lpstr>Wingdings</vt:lpstr>
      <vt:lpstr>Office Theme</vt:lpstr>
      <vt:lpstr>   </vt:lpstr>
      <vt:lpstr>AIM</vt:lpstr>
      <vt:lpstr>PLAN</vt:lpstr>
      <vt:lpstr>PART I</vt:lpstr>
      <vt:lpstr>1.1- DEFINITION</vt:lpstr>
      <vt:lpstr>1.2- ORIGINS OF TOKENIZATION</vt:lpstr>
      <vt:lpstr>1-3. TYPES OF TOKENIZATION </vt:lpstr>
      <vt:lpstr>PART II:</vt:lpstr>
      <vt:lpstr>2.1. STRUCTURE OF TOKENIZATION  </vt:lpstr>
      <vt:lpstr>2-2. FF1 and FF3: ENCRYPTION - DECRYPTION</vt:lpstr>
      <vt:lpstr>2-2 FF1 &amp; FF3: FEISTEL FUNCTION or FEISTEL ENCRYPTION</vt:lpstr>
      <vt:lpstr>2.3 – TOKENIZATION OPERATION PROCESS </vt:lpstr>
      <vt:lpstr>2.4 –  TOKENIZATION  MOBILE OPERATION PROCESS </vt:lpstr>
      <vt:lpstr>2.5- BENEFITS OF TOKENIZATION </vt:lpstr>
      <vt:lpstr>PART III:</vt:lpstr>
      <vt:lpstr>3.1- PCI DSS COMPLIANCE</vt:lpstr>
      <vt:lpstr>3.2- TOKENIZATION-MFA-PCI DSS FACILITIES</vt:lpstr>
      <vt:lpstr>3.3- IN ANSI X9 (X9.17 PRG)  COMPLIANCE</vt:lpstr>
      <vt:lpstr>3.4- APPLICATIONS OF TOKENIZATION</vt:lpstr>
      <vt:lpstr>3.5 – APPLICATIONS OF TOKENIZATION (2)</vt:lpstr>
      <vt:lpstr>3.5- FUTURE OF TOKENIZATION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PASSI LEVRAI</dc:creator>
  <cp:lastModifiedBy>PASSI LEVRAI</cp:lastModifiedBy>
  <cp:revision>49</cp:revision>
  <dcterms:created xsi:type="dcterms:W3CDTF">2025-02-22T17:16:04Z</dcterms:created>
  <dcterms:modified xsi:type="dcterms:W3CDTF">2025-06-04T09:56:22Z</dcterms:modified>
</cp:coreProperties>
</file>