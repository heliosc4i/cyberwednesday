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9"/>
  </p:notesMasterIdLst>
  <p:sldIdLst>
    <p:sldId id="256" r:id="rId2"/>
    <p:sldId id="258" r:id="rId3"/>
    <p:sldId id="308" r:id="rId4"/>
    <p:sldId id="272" r:id="rId5"/>
    <p:sldId id="543" r:id="rId6"/>
    <p:sldId id="273" r:id="rId7"/>
    <p:sldId id="544" r:id="rId8"/>
    <p:sldId id="545" r:id="rId9"/>
    <p:sldId id="546" r:id="rId10"/>
    <p:sldId id="548" r:id="rId11"/>
    <p:sldId id="547" r:id="rId12"/>
    <p:sldId id="549" r:id="rId13"/>
    <p:sldId id="550" r:id="rId14"/>
    <p:sldId id="551" r:id="rId15"/>
    <p:sldId id="552" r:id="rId16"/>
    <p:sldId id="553" r:id="rId17"/>
    <p:sldId id="554" r:id="rId18"/>
    <p:sldId id="555" r:id="rId19"/>
    <p:sldId id="540" r:id="rId20"/>
    <p:sldId id="556" r:id="rId21"/>
    <p:sldId id="557" r:id="rId22"/>
    <p:sldId id="558" r:id="rId23"/>
    <p:sldId id="559" r:id="rId24"/>
    <p:sldId id="560" r:id="rId25"/>
    <p:sldId id="563" r:id="rId26"/>
    <p:sldId id="564" r:id="rId27"/>
    <p:sldId id="565" r:id="rId28"/>
    <p:sldId id="566" r:id="rId29"/>
    <p:sldId id="567" r:id="rId30"/>
    <p:sldId id="568" r:id="rId31"/>
    <p:sldId id="569" r:id="rId32"/>
    <p:sldId id="573" r:id="rId33"/>
    <p:sldId id="574" r:id="rId34"/>
    <p:sldId id="575" r:id="rId35"/>
    <p:sldId id="577" r:id="rId36"/>
    <p:sldId id="578" r:id="rId37"/>
    <p:sldId id="570" r:id="rId38"/>
    <p:sldId id="571" r:id="rId39"/>
    <p:sldId id="572" r:id="rId40"/>
    <p:sldId id="579" r:id="rId41"/>
    <p:sldId id="580" r:id="rId42"/>
    <p:sldId id="581" r:id="rId43"/>
    <p:sldId id="582" r:id="rId44"/>
    <p:sldId id="583" r:id="rId45"/>
    <p:sldId id="536" r:id="rId46"/>
    <p:sldId id="269" r:id="rId47"/>
    <p:sldId id="271" r:id="rId48"/>
  </p:sldIdLst>
  <p:sldSz cx="10693400" cy="756285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35" autoAdjust="0"/>
    <p:restoredTop sz="72026" autoAdjust="0"/>
  </p:normalViewPr>
  <p:slideViewPr>
    <p:cSldViewPr snapToGrid="0">
      <p:cViewPr varScale="1">
        <p:scale>
          <a:sx n="59" d="100"/>
          <a:sy n="59" d="100"/>
        </p:scale>
        <p:origin x="189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DD734F-A400-457D-92CE-542F9D03E774}" type="doc">
      <dgm:prSet loTypeId="urn:microsoft.com/office/officeart/2005/8/layout/cycle8" loCatId="cycle" qsTypeId="urn:microsoft.com/office/officeart/2005/8/quickstyle/simple1" qsCatId="simple" csTypeId="urn:microsoft.com/office/officeart/2005/8/colors/accent1_2" csCatId="accent1" phldr="1"/>
      <dgm:spPr/>
      <dgm:t>
        <a:bodyPr/>
        <a:lstStyle/>
        <a:p>
          <a:endParaRPr lang="en-US"/>
        </a:p>
      </dgm:t>
    </dgm:pt>
    <dgm:pt modelId="{0E5C4EA0-A4F1-4661-ACCE-50BDD7BEF539}">
      <dgm:prSet phldrT="[Texte]" phldr="0"/>
      <dgm:spPr/>
      <dgm:t>
        <a:bodyPr/>
        <a:lstStyle/>
        <a:p>
          <a:r>
            <a:rPr lang="fr-FR" dirty="0"/>
            <a:t>Logiciels</a:t>
          </a:r>
          <a:endParaRPr lang="en-US" dirty="0"/>
        </a:p>
      </dgm:t>
    </dgm:pt>
    <dgm:pt modelId="{C79CFECB-112C-4ECE-B6FB-AB7EA1ABFC6D}" type="parTrans" cxnId="{3FEE3DDB-1D7B-409E-8298-FAE08E275A43}">
      <dgm:prSet/>
      <dgm:spPr/>
      <dgm:t>
        <a:bodyPr/>
        <a:lstStyle/>
        <a:p>
          <a:endParaRPr lang="en-US"/>
        </a:p>
      </dgm:t>
    </dgm:pt>
    <dgm:pt modelId="{2A990DAA-7EB0-401D-950A-C1BA2CF67A66}" type="sibTrans" cxnId="{3FEE3DDB-1D7B-409E-8298-FAE08E275A43}">
      <dgm:prSet/>
      <dgm:spPr/>
      <dgm:t>
        <a:bodyPr/>
        <a:lstStyle/>
        <a:p>
          <a:endParaRPr lang="en-US"/>
        </a:p>
      </dgm:t>
    </dgm:pt>
    <dgm:pt modelId="{6C7E5775-29F6-4584-BB78-675EC67D42A8}">
      <dgm:prSet phldrT="[Texte]" phldr="0"/>
      <dgm:spPr/>
      <dgm:t>
        <a:bodyPr/>
        <a:lstStyle/>
        <a:p>
          <a:r>
            <a:rPr lang="fr-FR" dirty="0"/>
            <a:t>Formation</a:t>
          </a:r>
          <a:endParaRPr lang="en-US" dirty="0"/>
        </a:p>
      </dgm:t>
    </dgm:pt>
    <dgm:pt modelId="{CBCCA2A1-A8CB-41C9-AD9B-C780663C792F}" type="parTrans" cxnId="{AB3BCCC4-A72B-4BF2-AE4A-F821335F5826}">
      <dgm:prSet/>
      <dgm:spPr/>
      <dgm:t>
        <a:bodyPr/>
        <a:lstStyle/>
        <a:p>
          <a:endParaRPr lang="en-US"/>
        </a:p>
      </dgm:t>
    </dgm:pt>
    <dgm:pt modelId="{C401DFA2-99CE-4F7F-AE3D-89A9F2702E25}" type="sibTrans" cxnId="{AB3BCCC4-A72B-4BF2-AE4A-F821335F5826}">
      <dgm:prSet/>
      <dgm:spPr/>
      <dgm:t>
        <a:bodyPr/>
        <a:lstStyle/>
        <a:p>
          <a:endParaRPr lang="en-US"/>
        </a:p>
      </dgm:t>
    </dgm:pt>
    <dgm:pt modelId="{2C608847-2FF4-4E1F-8FEF-0246C9A46C16}">
      <dgm:prSet phldrT="[Texte]" phldr="0"/>
      <dgm:spPr/>
      <dgm:t>
        <a:bodyPr/>
        <a:lstStyle/>
        <a:p>
          <a:pPr algn="r"/>
          <a:r>
            <a:rPr lang="fr-FR" dirty="0"/>
            <a:t>Certification</a:t>
          </a:r>
          <a:endParaRPr lang="en-US" dirty="0"/>
        </a:p>
      </dgm:t>
    </dgm:pt>
    <dgm:pt modelId="{56A9C17A-891F-48E9-B4EC-D0C4BF301A2F}" type="parTrans" cxnId="{EB42E295-6159-4FB9-BFF4-0CEAE460ABFA}">
      <dgm:prSet/>
      <dgm:spPr/>
      <dgm:t>
        <a:bodyPr/>
        <a:lstStyle/>
        <a:p>
          <a:endParaRPr lang="en-US"/>
        </a:p>
      </dgm:t>
    </dgm:pt>
    <dgm:pt modelId="{84F89E0E-C447-4FD8-A1EB-30759C541C5A}" type="sibTrans" cxnId="{EB42E295-6159-4FB9-BFF4-0CEAE460ABFA}">
      <dgm:prSet/>
      <dgm:spPr/>
      <dgm:t>
        <a:bodyPr/>
        <a:lstStyle/>
        <a:p>
          <a:endParaRPr lang="en-US"/>
        </a:p>
      </dgm:t>
    </dgm:pt>
    <dgm:pt modelId="{5FFD8589-7F78-4026-B467-A5DD52620ABB}">
      <dgm:prSet phldrT="[Texte]" phldr="0"/>
      <dgm:spPr/>
      <dgm:t>
        <a:bodyPr/>
        <a:lstStyle/>
        <a:p>
          <a:pPr algn="r"/>
          <a:r>
            <a:rPr lang="fr-FR" dirty="0"/>
            <a:t>Méthode</a:t>
          </a:r>
          <a:endParaRPr lang="en-US" dirty="0"/>
        </a:p>
      </dgm:t>
    </dgm:pt>
    <dgm:pt modelId="{B78A3CA8-11AB-47E9-BA7F-59DC8EA94DE2}" type="parTrans" cxnId="{AB122C9C-5FD4-44B9-A27B-3A29091F0139}">
      <dgm:prSet/>
      <dgm:spPr/>
      <dgm:t>
        <a:bodyPr/>
        <a:lstStyle/>
        <a:p>
          <a:endParaRPr lang="en-US"/>
        </a:p>
      </dgm:t>
    </dgm:pt>
    <dgm:pt modelId="{9FD8A8A7-F1D8-4E1C-912D-2C157D016921}" type="sibTrans" cxnId="{AB122C9C-5FD4-44B9-A27B-3A29091F0139}">
      <dgm:prSet/>
      <dgm:spPr/>
      <dgm:t>
        <a:bodyPr/>
        <a:lstStyle/>
        <a:p>
          <a:endParaRPr lang="en-US"/>
        </a:p>
      </dgm:t>
    </dgm:pt>
    <dgm:pt modelId="{0E51F2B7-6ED1-4B8B-A69B-BE769C726918}">
      <dgm:prSet phldrT="[Texte]" phldr="0"/>
      <dgm:spPr/>
      <dgm:t>
        <a:bodyPr/>
        <a:lstStyle/>
        <a:p>
          <a:r>
            <a:rPr lang="fr-FR" dirty="0"/>
            <a:t>Labellisation par l’ANSSI</a:t>
          </a:r>
          <a:endParaRPr lang="en-US" dirty="0"/>
        </a:p>
      </dgm:t>
    </dgm:pt>
    <dgm:pt modelId="{D9BE6C00-C0BF-4C67-8A8B-661F99ADF2C1}" type="parTrans" cxnId="{997FA520-39BD-4A1D-8656-5004564019A5}">
      <dgm:prSet/>
      <dgm:spPr/>
      <dgm:t>
        <a:bodyPr/>
        <a:lstStyle/>
        <a:p>
          <a:endParaRPr lang="en-US"/>
        </a:p>
      </dgm:t>
    </dgm:pt>
    <dgm:pt modelId="{F7A6BEE9-381D-4697-9F0A-53577EB82A2D}" type="sibTrans" cxnId="{997FA520-39BD-4A1D-8656-5004564019A5}">
      <dgm:prSet/>
      <dgm:spPr/>
      <dgm:t>
        <a:bodyPr/>
        <a:lstStyle/>
        <a:p>
          <a:endParaRPr lang="en-US"/>
        </a:p>
      </dgm:t>
    </dgm:pt>
    <dgm:pt modelId="{B7BE559F-D4D4-45E4-B591-2716B83EE6B0}">
      <dgm:prSet phldrT="[Texte]" phldr="0"/>
      <dgm:spPr/>
      <dgm:t>
        <a:bodyPr/>
        <a:lstStyle/>
        <a:p>
          <a:r>
            <a:rPr lang="fr-FR"/>
            <a:t>Plusieurs labellisés</a:t>
          </a:r>
          <a:endParaRPr lang="en-US" dirty="0"/>
        </a:p>
      </dgm:t>
    </dgm:pt>
    <dgm:pt modelId="{28F8A95B-9DA8-4419-9969-09797933B591}" type="parTrans" cxnId="{2C6DDA94-19EC-42EF-8645-E811A75375A3}">
      <dgm:prSet/>
      <dgm:spPr/>
      <dgm:t>
        <a:bodyPr/>
        <a:lstStyle/>
        <a:p>
          <a:endParaRPr lang="en-US"/>
        </a:p>
      </dgm:t>
    </dgm:pt>
    <dgm:pt modelId="{501E09E3-0C92-40CE-87C6-306E5789316B}" type="sibTrans" cxnId="{2C6DDA94-19EC-42EF-8645-E811A75375A3}">
      <dgm:prSet/>
      <dgm:spPr/>
      <dgm:t>
        <a:bodyPr/>
        <a:lstStyle/>
        <a:p>
          <a:endParaRPr lang="en-US"/>
        </a:p>
      </dgm:t>
    </dgm:pt>
    <dgm:pt modelId="{5DF0D2ED-9445-4AAF-8953-5ADE722C9436}">
      <dgm:prSet phldrT="[Texte]" phldr="0"/>
      <dgm:spPr/>
      <dgm:t>
        <a:bodyPr/>
        <a:lstStyle/>
        <a:p>
          <a:r>
            <a:rPr lang="fr-FR" dirty="0"/>
            <a:t>D’autres en cours de labellisation</a:t>
          </a:r>
          <a:endParaRPr lang="en-US" dirty="0"/>
        </a:p>
      </dgm:t>
    </dgm:pt>
    <dgm:pt modelId="{6AE7C62D-038B-47F2-AEA0-76075FC4151B}" type="parTrans" cxnId="{26B35C6C-BB72-4039-9257-EBFC4AB89E11}">
      <dgm:prSet/>
      <dgm:spPr/>
      <dgm:t>
        <a:bodyPr/>
        <a:lstStyle/>
        <a:p>
          <a:endParaRPr lang="en-US"/>
        </a:p>
      </dgm:t>
    </dgm:pt>
    <dgm:pt modelId="{6D79A3F0-47B9-406A-855F-2AE4DCF1091C}" type="sibTrans" cxnId="{26B35C6C-BB72-4039-9257-EBFC4AB89E11}">
      <dgm:prSet/>
      <dgm:spPr/>
      <dgm:t>
        <a:bodyPr/>
        <a:lstStyle/>
        <a:p>
          <a:endParaRPr lang="en-US"/>
        </a:p>
      </dgm:t>
    </dgm:pt>
    <dgm:pt modelId="{B9CD4D8C-45BF-477E-B235-C6AD0BA82BA3}">
      <dgm:prSet phldrT="[Texte]" phldr="0"/>
      <dgm:spPr/>
      <dgm:t>
        <a:bodyPr/>
        <a:lstStyle/>
        <a:p>
          <a:r>
            <a:rPr lang="fr-FR"/>
            <a:t>Cercle des formateurs du Club EBIOS</a:t>
          </a:r>
          <a:endParaRPr lang="en-US" dirty="0"/>
        </a:p>
      </dgm:t>
    </dgm:pt>
    <dgm:pt modelId="{5C1BF0FF-48FE-4C4E-BE0A-3CD560E83CE8}" type="parTrans" cxnId="{BDC80733-2E00-40DF-917D-A6C7E2283710}">
      <dgm:prSet/>
      <dgm:spPr/>
      <dgm:t>
        <a:bodyPr/>
        <a:lstStyle/>
        <a:p>
          <a:endParaRPr lang="en-US"/>
        </a:p>
      </dgm:t>
    </dgm:pt>
    <dgm:pt modelId="{C0748DA9-0C76-4D93-9DB3-609B79BBD2EB}" type="sibTrans" cxnId="{BDC80733-2E00-40DF-917D-A6C7E2283710}">
      <dgm:prSet/>
      <dgm:spPr/>
      <dgm:t>
        <a:bodyPr/>
        <a:lstStyle/>
        <a:p>
          <a:endParaRPr lang="en-US"/>
        </a:p>
      </dgm:t>
    </dgm:pt>
    <dgm:pt modelId="{B0F74FD7-7F4F-4B94-85E9-969B6683A6C8}">
      <dgm:prSet phldrT="[Texte]" phldr="0"/>
      <dgm:spPr/>
      <dgm:t>
        <a:bodyPr/>
        <a:lstStyle/>
        <a:p>
          <a:r>
            <a:rPr lang="fr-FR"/>
            <a:t>Kit de formation partagé</a:t>
          </a:r>
          <a:endParaRPr lang="en-US" dirty="0"/>
        </a:p>
      </dgm:t>
    </dgm:pt>
    <dgm:pt modelId="{D8177535-3850-4F94-9095-DCFD5B87E504}" type="parTrans" cxnId="{B5438520-3DC9-4A61-9775-016A05C12C17}">
      <dgm:prSet/>
      <dgm:spPr/>
      <dgm:t>
        <a:bodyPr/>
        <a:lstStyle/>
        <a:p>
          <a:endParaRPr lang="en-US"/>
        </a:p>
      </dgm:t>
    </dgm:pt>
    <dgm:pt modelId="{8C1019C0-5D6E-4284-8AC3-08E0783E2FE8}" type="sibTrans" cxnId="{B5438520-3DC9-4A61-9775-016A05C12C17}">
      <dgm:prSet/>
      <dgm:spPr/>
      <dgm:t>
        <a:bodyPr/>
        <a:lstStyle/>
        <a:p>
          <a:endParaRPr lang="en-US"/>
        </a:p>
      </dgm:t>
    </dgm:pt>
    <dgm:pt modelId="{D065C9F0-1439-418B-A25A-A43A248E70F7}">
      <dgm:prSet phldrT="[Texte]" phldr="0"/>
      <dgm:spPr/>
      <dgm:t>
        <a:bodyPr/>
        <a:lstStyle/>
        <a:p>
          <a:r>
            <a:rPr lang="fr-FR"/>
            <a:t>Charte du formateur</a:t>
          </a:r>
          <a:endParaRPr lang="en-US" dirty="0"/>
        </a:p>
      </dgm:t>
    </dgm:pt>
    <dgm:pt modelId="{4BF86D5D-C29D-43A9-9003-8F11CDCBFE97}" type="parTrans" cxnId="{FF436588-02A4-450A-864B-E731F1D4D1C0}">
      <dgm:prSet/>
      <dgm:spPr/>
      <dgm:t>
        <a:bodyPr/>
        <a:lstStyle/>
        <a:p>
          <a:endParaRPr lang="en-US"/>
        </a:p>
      </dgm:t>
    </dgm:pt>
    <dgm:pt modelId="{1BC762A6-4086-4ECF-BBAE-79D42FC3A37E}" type="sibTrans" cxnId="{FF436588-02A4-450A-864B-E731F1D4D1C0}">
      <dgm:prSet/>
      <dgm:spPr/>
      <dgm:t>
        <a:bodyPr/>
        <a:lstStyle/>
        <a:p>
          <a:endParaRPr lang="en-US"/>
        </a:p>
      </dgm:t>
    </dgm:pt>
    <dgm:pt modelId="{2FB54B58-3D19-463B-9207-193DF74FB879}">
      <dgm:prSet phldrT="[Texte]" phldr="0"/>
      <dgm:spPr/>
      <dgm:t>
        <a:bodyPr/>
        <a:lstStyle/>
        <a:p>
          <a:r>
            <a:rPr lang="fr-FR"/>
            <a:t>Label SecNUmedu-FC</a:t>
          </a:r>
          <a:endParaRPr lang="en-US" dirty="0"/>
        </a:p>
      </dgm:t>
    </dgm:pt>
    <dgm:pt modelId="{7C183898-FCA4-49E1-A21B-043A700954DC}" type="parTrans" cxnId="{49CC5626-6701-42DF-98AA-72BA0171C360}">
      <dgm:prSet/>
      <dgm:spPr/>
      <dgm:t>
        <a:bodyPr/>
        <a:lstStyle/>
        <a:p>
          <a:endParaRPr lang="en-US"/>
        </a:p>
      </dgm:t>
    </dgm:pt>
    <dgm:pt modelId="{807323C4-6859-4EA6-A752-30483891465A}" type="sibTrans" cxnId="{49CC5626-6701-42DF-98AA-72BA0171C360}">
      <dgm:prSet/>
      <dgm:spPr/>
      <dgm:t>
        <a:bodyPr/>
        <a:lstStyle/>
        <a:p>
          <a:endParaRPr lang="en-US"/>
        </a:p>
      </dgm:t>
    </dgm:pt>
    <dgm:pt modelId="{F1171DEB-975C-4062-BC61-45185FE10F42}">
      <dgm:prSet phldrT="[Texte]" phldr="0"/>
      <dgm:spPr/>
      <dgm:t>
        <a:bodyPr/>
        <a:lstStyle/>
        <a:p>
          <a:pPr algn="r"/>
          <a:r>
            <a:rPr lang="fr-FR" dirty="0"/>
            <a:t>Agrément des certificateurs par le Club EBIOS</a:t>
          </a:r>
          <a:endParaRPr lang="en-US" dirty="0"/>
        </a:p>
      </dgm:t>
    </dgm:pt>
    <dgm:pt modelId="{57964EDF-D3CD-43C4-8534-EF9033C1BFEA}" type="parTrans" cxnId="{287C7428-4A2C-4FE9-A8E5-8ED61B4901A2}">
      <dgm:prSet/>
      <dgm:spPr/>
      <dgm:t>
        <a:bodyPr/>
        <a:lstStyle/>
        <a:p>
          <a:endParaRPr lang="en-US"/>
        </a:p>
      </dgm:t>
    </dgm:pt>
    <dgm:pt modelId="{1D581A7B-DA4C-4764-8434-D8C76029A841}" type="sibTrans" cxnId="{287C7428-4A2C-4FE9-A8E5-8ED61B4901A2}">
      <dgm:prSet/>
      <dgm:spPr/>
      <dgm:t>
        <a:bodyPr/>
        <a:lstStyle/>
        <a:p>
          <a:endParaRPr lang="en-US"/>
        </a:p>
      </dgm:t>
    </dgm:pt>
    <dgm:pt modelId="{DAA9D0FD-5EB8-45B4-9B28-CD7E9FF57902}">
      <dgm:prSet phldrT="[Texte]" phldr="0"/>
      <dgm:spPr/>
      <dgm:t>
        <a:bodyPr/>
        <a:lstStyle/>
        <a:p>
          <a:pPr algn="r"/>
          <a:r>
            <a:rPr lang="fr-FR" dirty="0"/>
            <a:t>Certification de compétences EBIOS</a:t>
          </a:r>
          <a:endParaRPr lang="en-US" dirty="0"/>
        </a:p>
      </dgm:t>
    </dgm:pt>
    <dgm:pt modelId="{0F724CDD-C081-4166-81CE-17DA802BB16B}" type="parTrans" cxnId="{F34102C9-A091-441F-99B5-2DC270616F51}">
      <dgm:prSet/>
      <dgm:spPr/>
      <dgm:t>
        <a:bodyPr/>
        <a:lstStyle/>
        <a:p>
          <a:endParaRPr lang="en-US"/>
        </a:p>
      </dgm:t>
    </dgm:pt>
    <dgm:pt modelId="{7F996E5B-EC1B-41E3-84BE-3CC88E2F7DBD}" type="sibTrans" cxnId="{F34102C9-A091-441F-99B5-2DC270616F51}">
      <dgm:prSet/>
      <dgm:spPr/>
      <dgm:t>
        <a:bodyPr/>
        <a:lstStyle/>
        <a:p>
          <a:endParaRPr lang="en-US"/>
        </a:p>
      </dgm:t>
    </dgm:pt>
    <dgm:pt modelId="{402AEB76-A5D5-4BB0-AE29-4DAD74715BB9}">
      <dgm:prSet phldrT="[Texte]" phldr="0"/>
      <dgm:spPr/>
      <dgm:t>
        <a:bodyPr/>
        <a:lstStyle/>
        <a:p>
          <a:pPr algn="r"/>
          <a:r>
            <a:rPr lang="fr-FR" dirty="0"/>
            <a:t>Publiée par l’ANSSI</a:t>
          </a:r>
          <a:endParaRPr lang="en-US" dirty="0"/>
        </a:p>
      </dgm:t>
    </dgm:pt>
    <dgm:pt modelId="{0AEEF926-317A-4B7C-8314-54D9FB27F3A1}" type="parTrans" cxnId="{8876E3D8-9544-476A-936B-D73EB5EDDBCB}">
      <dgm:prSet/>
      <dgm:spPr/>
      <dgm:t>
        <a:bodyPr/>
        <a:lstStyle/>
        <a:p>
          <a:endParaRPr lang="en-US"/>
        </a:p>
      </dgm:t>
    </dgm:pt>
    <dgm:pt modelId="{AF2E24DE-F5A9-4C1C-99D2-E7BDC91CC5EF}" type="sibTrans" cxnId="{8876E3D8-9544-476A-936B-D73EB5EDDBCB}">
      <dgm:prSet/>
      <dgm:spPr/>
      <dgm:t>
        <a:bodyPr/>
        <a:lstStyle/>
        <a:p>
          <a:endParaRPr lang="en-US"/>
        </a:p>
      </dgm:t>
    </dgm:pt>
    <dgm:pt modelId="{C73C2956-7057-481E-9806-DC981EFF5A3F}">
      <dgm:prSet phldrT="[Texte]" phldr="0"/>
      <dgm:spPr/>
      <dgm:t>
        <a:bodyPr/>
        <a:lstStyle/>
        <a:p>
          <a:pPr algn="r"/>
          <a:r>
            <a:rPr lang="fr-FR" dirty="0"/>
            <a:t>Traduite en Anglais</a:t>
          </a:r>
          <a:endParaRPr lang="en-US" dirty="0"/>
        </a:p>
      </dgm:t>
    </dgm:pt>
    <dgm:pt modelId="{C0DD77AC-225D-4207-A043-7C27CF26045E}" type="parTrans" cxnId="{D9FF0F72-FB6B-43BA-ADFB-F559EC7D1F9F}">
      <dgm:prSet/>
      <dgm:spPr/>
      <dgm:t>
        <a:bodyPr/>
        <a:lstStyle/>
        <a:p>
          <a:endParaRPr lang="en-US"/>
        </a:p>
      </dgm:t>
    </dgm:pt>
    <dgm:pt modelId="{A346918B-F979-4F5E-BB5D-25B360E6F872}" type="sibTrans" cxnId="{D9FF0F72-FB6B-43BA-ADFB-F559EC7D1F9F}">
      <dgm:prSet/>
      <dgm:spPr/>
      <dgm:t>
        <a:bodyPr/>
        <a:lstStyle/>
        <a:p>
          <a:endParaRPr lang="en-US"/>
        </a:p>
      </dgm:t>
    </dgm:pt>
    <dgm:pt modelId="{17D730A3-0839-4A32-992B-C46462121987}">
      <dgm:prSet phldrT="[Texte]" phldr="0"/>
      <dgm:spPr/>
      <dgm:t>
        <a:bodyPr/>
        <a:lstStyle/>
        <a:p>
          <a:pPr algn="r"/>
          <a:r>
            <a:rPr lang="fr-FR" dirty="0"/>
            <a:t>Outils (Cyber et autres) au Club EBIOS</a:t>
          </a:r>
          <a:endParaRPr lang="en-US" dirty="0"/>
        </a:p>
      </dgm:t>
    </dgm:pt>
    <dgm:pt modelId="{8E43258C-063D-48D1-A6F5-CBD737361927}" type="parTrans" cxnId="{4E9B9885-AF03-4EE7-8998-20A15EA5BB94}">
      <dgm:prSet/>
      <dgm:spPr/>
      <dgm:t>
        <a:bodyPr/>
        <a:lstStyle/>
        <a:p>
          <a:endParaRPr lang="en-US"/>
        </a:p>
      </dgm:t>
    </dgm:pt>
    <dgm:pt modelId="{BC3EB99E-FA17-47D0-B6AE-8CFD158103FF}" type="sibTrans" cxnId="{4E9B9885-AF03-4EE7-8998-20A15EA5BB94}">
      <dgm:prSet/>
      <dgm:spPr/>
      <dgm:t>
        <a:bodyPr/>
        <a:lstStyle/>
        <a:p>
          <a:endParaRPr lang="en-US"/>
        </a:p>
      </dgm:t>
    </dgm:pt>
    <dgm:pt modelId="{EAD871EF-FBAD-40D3-8A49-2A616013269D}" type="pres">
      <dgm:prSet presAssocID="{1ADD734F-A400-457D-92CE-542F9D03E774}" presName="compositeShape" presStyleCnt="0">
        <dgm:presLayoutVars>
          <dgm:chMax val="7"/>
          <dgm:dir/>
          <dgm:resizeHandles val="exact"/>
        </dgm:presLayoutVars>
      </dgm:prSet>
      <dgm:spPr/>
    </dgm:pt>
    <dgm:pt modelId="{00A695D8-B9E6-4DEC-AC3F-323AEE46D5AF}" type="pres">
      <dgm:prSet presAssocID="{1ADD734F-A400-457D-92CE-542F9D03E774}" presName="wedge1" presStyleLbl="node1" presStyleIdx="0" presStyleCnt="4" custLinFactNeighborX="485" custLinFactNeighborY="2350"/>
      <dgm:spPr/>
    </dgm:pt>
    <dgm:pt modelId="{56BA6954-B8E3-49CB-A05F-6A2EB07EE34D}" type="pres">
      <dgm:prSet presAssocID="{1ADD734F-A400-457D-92CE-542F9D03E774}" presName="dummy1a" presStyleCnt="0"/>
      <dgm:spPr/>
    </dgm:pt>
    <dgm:pt modelId="{21053D2F-0045-4BA2-A858-50278F979D2F}" type="pres">
      <dgm:prSet presAssocID="{1ADD734F-A400-457D-92CE-542F9D03E774}" presName="dummy1b" presStyleCnt="0"/>
      <dgm:spPr/>
    </dgm:pt>
    <dgm:pt modelId="{8B325E2C-8054-4CF2-ABC4-9BDD072FC896}" type="pres">
      <dgm:prSet presAssocID="{1ADD734F-A400-457D-92CE-542F9D03E774}" presName="wedge1Tx" presStyleLbl="node1" presStyleIdx="0" presStyleCnt="4">
        <dgm:presLayoutVars>
          <dgm:chMax val="0"/>
          <dgm:chPref val="0"/>
          <dgm:bulletEnabled val="1"/>
        </dgm:presLayoutVars>
      </dgm:prSet>
      <dgm:spPr/>
    </dgm:pt>
    <dgm:pt modelId="{E298D009-7998-4F78-9B6E-069FD7D7FC5B}" type="pres">
      <dgm:prSet presAssocID="{1ADD734F-A400-457D-92CE-542F9D03E774}" presName="wedge2" presStyleLbl="node1" presStyleIdx="1" presStyleCnt="4"/>
      <dgm:spPr/>
    </dgm:pt>
    <dgm:pt modelId="{7C57EDF7-98D7-4776-A6D2-3B69520A4891}" type="pres">
      <dgm:prSet presAssocID="{1ADD734F-A400-457D-92CE-542F9D03E774}" presName="dummy2a" presStyleCnt="0"/>
      <dgm:spPr/>
    </dgm:pt>
    <dgm:pt modelId="{8065CE1A-4390-4AE7-B0AA-9B119E7687CB}" type="pres">
      <dgm:prSet presAssocID="{1ADD734F-A400-457D-92CE-542F9D03E774}" presName="dummy2b" presStyleCnt="0"/>
      <dgm:spPr/>
    </dgm:pt>
    <dgm:pt modelId="{FB29CE3A-E766-49A9-B700-1CB62C6E7BDF}" type="pres">
      <dgm:prSet presAssocID="{1ADD734F-A400-457D-92CE-542F9D03E774}" presName="wedge2Tx" presStyleLbl="node1" presStyleIdx="1" presStyleCnt="4">
        <dgm:presLayoutVars>
          <dgm:chMax val="0"/>
          <dgm:chPref val="0"/>
          <dgm:bulletEnabled val="1"/>
        </dgm:presLayoutVars>
      </dgm:prSet>
      <dgm:spPr/>
    </dgm:pt>
    <dgm:pt modelId="{5CE0BB71-C555-489D-A258-FCD00845F028}" type="pres">
      <dgm:prSet presAssocID="{1ADD734F-A400-457D-92CE-542F9D03E774}" presName="wedge3" presStyleLbl="node1" presStyleIdx="2" presStyleCnt="4"/>
      <dgm:spPr/>
    </dgm:pt>
    <dgm:pt modelId="{6FC1F2F4-11B7-416A-879A-6DA6969294C3}" type="pres">
      <dgm:prSet presAssocID="{1ADD734F-A400-457D-92CE-542F9D03E774}" presName="dummy3a" presStyleCnt="0"/>
      <dgm:spPr/>
    </dgm:pt>
    <dgm:pt modelId="{D26A3EBC-FCC5-4542-8F1D-133A42ABE636}" type="pres">
      <dgm:prSet presAssocID="{1ADD734F-A400-457D-92CE-542F9D03E774}" presName="dummy3b" presStyleCnt="0"/>
      <dgm:spPr/>
    </dgm:pt>
    <dgm:pt modelId="{05FC8143-BC16-4856-A141-6FD681A0ED63}" type="pres">
      <dgm:prSet presAssocID="{1ADD734F-A400-457D-92CE-542F9D03E774}" presName="wedge3Tx" presStyleLbl="node1" presStyleIdx="2" presStyleCnt="4">
        <dgm:presLayoutVars>
          <dgm:chMax val="0"/>
          <dgm:chPref val="0"/>
          <dgm:bulletEnabled val="1"/>
        </dgm:presLayoutVars>
      </dgm:prSet>
      <dgm:spPr/>
    </dgm:pt>
    <dgm:pt modelId="{CA1BC823-DBFB-4245-8134-8280054CC64A}" type="pres">
      <dgm:prSet presAssocID="{1ADD734F-A400-457D-92CE-542F9D03E774}" presName="wedge4" presStyleLbl="node1" presStyleIdx="3" presStyleCnt="4"/>
      <dgm:spPr/>
    </dgm:pt>
    <dgm:pt modelId="{323DFE2A-1682-409C-B12C-30B682AEB8D9}" type="pres">
      <dgm:prSet presAssocID="{1ADD734F-A400-457D-92CE-542F9D03E774}" presName="dummy4a" presStyleCnt="0"/>
      <dgm:spPr/>
    </dgm:pt>
    <dgm:pt modelId="{45797BE5-66F2-4FF0-AFBA-6B99D69DFC86}" type="pres">
      <dgm:prSet presAssocID="{1ADD734F-A400-457D-92CE-542F9D03E774}" presName="dummy4b" presStyleCnt="0"/>
      <dgm:spPr/>
    </dgm:pt>
    <dgm:pt modelId="{1E59C0AC-F308-4D69-83F6-8658C4944C32}" type="pres">
      <dgm:prSet presAssocID="{1ADD734F-A400-457D-92CE-542F9D03E774}" presName="wedge4Tx" presStyleLbl="node1" presStyleIdx="3" presStyleCnt="4">
        <dgm:presLayoutVars>
          <dgm:chMax val="0"/>
          <dgm:chPref val="0"/>
          <dgm:bulletEnabled val="1"/>
        </dgm:presLayoutVars>
      </dgm:prSet>
      <dgm:spPr/>
    </dgm:pt>
    <dgm:pt modelId="{9B8AED53-C9CB-48F0-9601-F6C0A3E36BCD}" type="pres">
      <dgm:prSet presAssocID="{2A990DAA-7EB0-401D-950A-C1BA2CF67A66}" presName="arrowWedge1" presStyleLbl="fgSibTrans2D1" presStyleIdx="0" presStyleCnt="4" custScaleX="100023" custScaleY="94337" custLinFactNeighborX="3381" custLinFactNeighborY="-3278"/>
      <dgm:spPr/>
    </dgm:pt>
    <dgm:pt modelId="{01970309-0442-47F1-9D12-A36950E991C3}" type="pres">
      <dgm:prSet presAssocID="{C401DFA2-99CE-4F7F-AE3D-89A9F2702E25}" presName="arrowWedge2" presStyleLbl="fgSibTrans2D1" presStyleIdx="1" presStyleCnt="4"/>
      <dgm:spPr/>
    </dgm:pt>
    <dgm:pt modelId="{75277B3A-9253-404E-95D5-124FA9FFA5A6}" type="pres">
      <dgm:prSet presAssocID="{84F89E0E-C447-4FD8-A1EB-30759C541C5A}" presName="arrowWedge3" presStyleLbl="fgSibTrans2D1" presStyleIdx="2" presStyleCnt="4"/>
      <dgm:spPr/>
    </dgm:pt>
    <dgm:pt modelId="{FB20FBB6-8D72-437D-B685-2098A915BB0E}" type="pres">
      <dgm:prSet presAssocID="{9FD8A8A7-F1D8-4E1C-912D-2C157D016921}" presName="arrowWedge4" presStyleLbl="fgSibTrans2D1" presStyleIdx="3" presStyleCnt="4"/>
      <dgm:spPr/>
    </dgm:pt>
  </dgm:ptLst>
  <dgm:cxnLst>
    <dgm:cxn modelId="{D397E600-6C66-43B8-8300-17FAA7845E97}" type="presOf" srcId="{17D730A3-0839-4A32-992B-C46462121987}" destId="{1E59C0AC-F308-4D69-83F6-8658C4944C32}" srcOrd="1" destOrd="3" presId="urn:microsoft.com/office/officeart/2005/8/layout/cycle8"/>
    <dgm:cxn modelId="{819A6D01-AAA2-4C49-89BD-A9DC8D42A0F1}" type="presOf" srcId="{0E51F2B7-6ED1-4B8B-A69B-BE769C726918}" destId="{00A695D8-B9E6-4DEC-AC3F-323AEE46D5AF}" srcOrd="0" destOrd="1" presId="urn:microsoft.com/office/officeart/2005/8/layout/cycle8"/>
    <dgm:cxn modelId="{4C75AE01-1F09-4A62-9270-591AF65CF6D6}" type="presOf" srcId="{1ADD734F-A400-457D-92CE-542F9D03E774}" destId="{EAD871EF-FBAD-40D3-8A49-2A616013269D}" srcOrd="0" destOrd="0" presId="urn:microsoft.com/office/officeart/2005/8/layout/cycle8"/>
    <dgm:cxn modelId="{12BC9B07-88FD-44E1-A0E9-5377415E1BA4}" type="presOf" srcId="{6C7E5775-29F6-4584-BB78-675EC67D42A8}" destId="{E298D009-7998-4F78-9B6E-069FD7D7FC5B}" srcOrd="0" destOrd="0" presId="urn:microsoft.com/office/officeart/2005/8/layout/cycle8"/>
    <dgm:cxn modelId="{F9FFD007-F429-48BC-90C9-1B520A64C98E}" type="presOf" srcId="{2FB54B58-3D19-463B-9207-193DF74FB879}" destId="{E298D009-7998-4F78-9B6E-069FD7D7FC5B}" srcOrd="0" destOrd="4" presId="urn:microsoft.com/office/officeart/2005/8/layout/cycle8"/>
    <dgm:cxn modelId="{A24C7614-F34E-4D03-A795-5E4AE9C72FEC}" type="presOf" srcId="{5FFD8589-7F78-4026-B467-A5DD52620ABB}" destId="{CA1BC823-DBFB-4245-8134-8280054CC64A}" srcOrd="0" destOrd="0" presId="urn:microsoft.com/office/officeart/2005/8/layout/cycle8"/>
    <dgm:cxn modelId="{B9E40A16-63BD-4B3E-B7B2-E822F4BD138B}" type="presOf" srcId="{B0F74FD7-7F4F-4B94-85E9-969B6683A6C8}" destId="{FB29CE3A-E766-49A9-B700-1CB62C6E7BDF}" srcOrd="1" destOrd="2" presId="urn:microsoft.com/office/officeart/2005/8/layout/cycle8"/>
    <dgm:cxn modelId="{DF32E616-6B94-45DD-8422-A4C9AD114400}" type="presOf" srcId="{2C608847-2FF4-4E1F-8FEF-0246C9A46C16}" destId="{5CE0BB71-C555-489D-A258-FCD00845F028}" srcOrd="0" destOrd="0" presId="urn:microsoft.com/office/officeart/2005/8/layout/cycle8"/>
    <dgm:cxn modelId="{79ED9418-82C7-41B5-8464-56DE0553594D}" type="presOf" srcId="{402AEB76-A5D5-4BB0-AE29-4DAD74715BB9}" destId="{1E59C0AC-F308-4D69-83F6-8658C4944C32}" srcOrd="1" destOrd="1" presId="urn:microsoft.com/office/officeart/2005/8/layout/cycle8"/>
    <dgm:cxn modelId="{B5438520-3DC9-4A61-9775-016A05C12C17}" srcId="{6C7E5775-29F6-4584-BB78-675EC67D42A8}" destId="{B0F74FD7-7F4F-4B94-85E9-969B6683A6C8}" srcOrd="1" destOrd="0" parTransId="{D8177535-3850-4F94-9095-DCFD5B87E504}" sibTransId="{8C1019C0-5D6E-4284-8AC3-08E0783E2FE8}"/>
    <dgm:cxn modelId="{997FA520-39BD-4A1D-8656-5004564019A5}" srcId="{0E5C4EA0-A4F1-4661-ACCE-50BDD7BEF539}" destId="{0E51F2B7-6ED1-4B8B-A69B-BE769C726918}" srcOrd="0" destOrd="0" parTransId="{D9BE6C00-C0BF-4C67-8A8B-661F99ADF2C1}" sibTransId="{F7A6BEE9-381D-4697-9F0A-53577EB82A2D}"/>
    <dgm:cxn modelId="{4A8FDE24-AA31-4E8B-93BE-69182172CA22}" type="presOf" srcId="{DAA9D0FD-5EB8-45B4-9B28-CD7E9FF57902}" destId="{05FC8143-BC16-4856-A141-6FD681A0ED63}" srcOrd="1" destOrd="2" presId="urn:microsoft.com/office/officeart/2005/8/layout/cycle8"/>
    <dgm:cxn modelId="{49CC5626-6701-42DF-98AA-72BA0171C360}" srcId="{6C7E5775-29F6-4584-BB78-675EC67D42A8}" destId="{2FB54B58-3D19-463B-9207-193DF74FB879}" srcOrd="3" destOrd="0" parTransId="{7C183898-FCA4-49E1-A21B-043A700954DC}" sibTransId="{807323C4-6859-4EA6-A752-30483891465A}"/>
    <dgm:cxn modelId="{D339F526-9111-4DF8-ABFE-DF57807C09E1}" type="presOf" srcId="{D065C9F0-1439-418B-A25A-A43A248E70F7}" destId="{FB29CE3A-E766-49A9-B700-1CB62C6E7BDF}" srcOrd="1" destOrd="3" presId="urn:microsoft.com/office/officeart/2005/8/layout/cycle8"/>
    <dgm:cxn modelId="{287C7428-4A2C-4FE9-A8E5-8ED61B4901A2}" srcId="{2C608847-2FF4-4E1F-8FEF-0246C9A46C16}" destId="{F1171DEB-975C-4062-BC61-45185FE10F42}" srcOrd="0" destOrd="0" parTransId="{57964EDF-D3CD-43C4-8534-EF9033C1BFEA}" sibTransId="{1D581A7B-DA4C-4764-8434-D8C76029A841}"/>
    <dgm:cxn modelId="{6081B02F-4B42-45E2-ACDF-4F59AFF932A5}" type="presOf" srcId="{D065C9F0-1439-418B-A25A-A43A248E70F7}" destId="{E298D009-7998-4F78-9B6E-069FD7D7FC5B}" srcOrd="0" destOrd="3" presId="urn:microsoft.com/office/officeart/2005/8/layout/cycle8"/>
    <dgm:cxn modelId="{1C742532-1EB4-4F2D-AECB-600466ADBCC0}" type="presOf" srcId="{0E5C4EA0-A4F1-4661-ACCE-50BDD7BEF539}" destId="{00A695D8-B9E6-4DEC-AC3F-323AEE46D5AF}" srcOrd="0" destOrd="0" presId="urn:microsoft.com/office/officeart/2005/8/layout/cycle8"/>
    <dgm:cxn modelId="{A88A0533-7834-494B-80BE-3CEF2045560B}" type="presOf" srcId="{B7BE559F-D4D4-45E4-B591-2716B83EE6B0}" destId="{8B325E2C-8054-4CF2-ABC4-9BDD072FC896}" srcOrd="1" destOrd="2" presId="urn:microsoft.com/office/officeart/2005/8/layout/cycle8"/>
    <dgm:cxn modelId="{BDC80733-2E00-40DF-917D-A6C7E2283710}" srcId="{6C7E5775-29F6-4584-BB78-675EC67D42A8}" destId="{B9CD4D8C-45BF-477E-B235-C6AD0BA82BA3}" srcOrd="0" destOrd="0" parTransId="{5C1BF0FF-48FE-4C4E-BE0A-3CD560E83CE8}" sibTransId="{C0748DA9-0C76-4D93-9DB3-609B79BBD2EB}"/>
    <dgm:cxn modelId="{6814735D-A9E6-409C-B870-122451DD8AB9}" type="presOf" srcId="{B0F74FD7-7F4F-4B94-85E9-969B6683A6C8}" destId="{E298D009-7998-4F78-9B6E-069FD7D7FC5B}" srcOrd="0" destOrd="2" presId="urn:microsoft.com/office/officeart/2005/8/layout/cycle8"/>
    <dgm:cxn modelId="{3A54AE61-D576-42CE-A627-557BE9C1BEFB}" type="presOf" srcId="{2C608847-2FF4-4E1F-8FEF-0246C9A46C16}" destId="{05FC8143-BC16-4856-A141-6FD681A0ED63}" srcOrd="1" destOrd="0" presId="urn:microsoft.com/office/officeart/2005/8/layout/cycle8"/>
    <dgm:cxn modelId="{26B35C6C-BB72-4039-9257-EBFC4AB89E11}" srcId="{0E5C4EA0-A4F1-4661-ACCE-50BDD7BEF539}" destId="{5DF0D2ED-9445-4AAF-8953-5ADE722C9436}" srcOrd="2" destOrd="0" parTransId="{6AE7C62D-038B-47F2-AEA0-76075FC4151B}" sibTransId="{6D79A3F0-47B9-406A-855F-2AE4DCF1091C}"/>
    <dgm:cxn modelId="{94C09D51-0D9D-4B06-9532-84FF8139AA94}" type="presOf" srcId="{C73C2956-7057-481E-9806-DC981EFF5A3F}" destId="{1E59C0AC-F308-4D69-83F6-8658C4944C32}" srcOrd="1" destOrd="2" presId="urn:microsoft.com/office/officeart/2005/8/layout/cycle8"/>
    <dgm:cxn modelId="{D9FF0F72-FB6B-43BA-ADFB-F559EC7D1F9F}" srcId="{5FFD8589-7F78-4026-B467-A5DD52620ABB}" destId="{C73C2956-7057-481E-9806-DC981EFF5A3F}" srcOrd="1" destOrd="0" parTransId="{C0DD77AC-225D-4207-A043-7C27CF26045E}" sibTransId="{A346918B-F979-4F5E-BB5D-25B360E6F872}"/>
    <dgm:cxn modelId="{14F6F453-101F-4CA2-8BAA-0FBBE8968FFD}" type="presOf" srcId="{B9CD4D8C-45BF-477E-B235-C6AD0BA82BA3}" destId="{E298D009-7998-4F78-9B6E-069FD7D7FC5B}" srcOrd="0" destOrd="1" presId="urn:microsoft.com/office/officeart/2005/8/layout/cycle8"/>
    <dgm:cxn modelId="{4E9B9885-AF03-4EE7-8998-20A15EA5BB94}" srcId="{5FFD8589-7F78-4026-B467-A5DD52620ABB}" destId="{17D730A3-0839-4A32-992B-C46462121987}" srcOrd="2" destOrd="0" parTransId="{8E43258C-063D-48D1-A6F5-CBD737361927}" sibTransId="{BC3EB99E-FA17-47D0-B6AE-8CFD158103FF}"/>
    <dgm:cxn modelId="{FF436588-02A4-450A-864B-E731F1D4D1C0}" srcId="{6C7E5775-29F6-4584-BB78-675EC67D42A8}" destId="{D065C9F0-1439-418B-A25A-A43A248E70F7}" srcOrd="2" destOrd="0" parTransId="{4BF86D5D-C29D-43A9-9003-8F11CDCBFE97}" sibTransId="{1BC762A6-4086-4ECF-BBAE-79D42FC3A37E}"/>
    <dgm:cxn modelId="{2C6DDA94-19EC-42EF-8645-E811A75375A3}" srcId="{0E5C4EA0-A4F1-4661-ACCE-50BDD7BEF539}" destId="{B7BE559F-D4D4-45E4-B591-2716B83EE6B0}" srcOrd="1" destOrd="0" parTransId="{28F8A95B-9DA8-4419-9969-09797933B591}" sibTransId="{501E09E3-0C92-40CE-87C6-306E5789316B}"/>
    <dgm:cxn modelId="{4D3B6595-4249-441A-9C63-07969D8B9509}" type="presOf" srcId="{DAA9D0FD-5EB8-45B4-9B28-CD7E9FF57902}" destId="{5CE0BB71-C555-489D-A258-FCD00845F028}" srcOrd="0" destOrd="2" presId="urn:microsoft.com/office/officeart/2005/8/layout/cycle8"/>
    <dgm:cxn modelId="{EB42E295-6159-4FB9-BFF4-0CEAE460ABFA}" srcId="{1ADD734F-A400-457D-92CE-542F9D03E774}" destId="{2C608847-2FF4-4E1F-8FEF-0246C9A46C16}" srcOrd="2" destOrd="0" parTransId="{56A9C17A-891F-48E9-B4EC-D0C4BF301A2F}" sibTransId="{84F89E0E-C447-4FD8-A1EB-30759C541C5A}"/>
    <dgm:cxn modelId="{99C3FD95-8515-40CA-8B3E-88AFAFD20F0B}" type="presOf" srcId="{2FB54B58-3D19-463B-9207-193DF74FB879}" destId="{FB29CE3A-E766-49A9-B700-1CB62C6E7BDF}" srcOrd="1" destOrd="4" presId="urn:microsoft.com/office/officeart/2005/8/layout/cycle8"/>
    <dgm:cxn modelId="{E1D70596-F14B-48FF-BE62-717A5BEFC48A}" type="presOf" srcId="{B9CD4D8C-45BF-477E-B235-C6AD0BA82BA3}" destId="{FB29CE3A-E766-49A9-B700-1CB62C6E7BDF}" srcOrd="1" destOrd="1" presId="urn:microsoft.com/office/officeart/2005/8/layout/cycle8"/>
    <dgm:cxn modelId="{AB122C9C-5FD4-44B9-A27B-3A29091F0139}" srcId="{1ADD734F-A400-457D-92CE-542F9D03E774}" destId="{5FFD8589-7F78-4026-B467-A5DD52620ABB}" srcOrd="3" destOrd="0" parTransId="{B78A3CA8-11AB-47E9-BA7F-59DC8EA94DE2}" sibTransId="{9FD8A8A7-F1D8-4E1C-912D-2C157D016921}"/>
    <dgm:cxn modelId="{EBF761A1-54A1-4D39-BF94-EFEC15242614}" type="presOf" srcId="{C73C2956-7057-481E-9806-DC981EFF5A3F}" destId="{CA1BC823-DBFB-4245-8134-8280054CC64A}" srcOrd="0" destOrd="2" presId="urn:microsoft.com/office/officeart/2005/8/layout/cycle8"/>
    <dgm:cxn modelId="{8F2CDCA7-BC58-4E4A-BEE0-AD240B0A87A1}" type="presOf" srcId="{5DF0D2ED-9445-4AAF-8953-5ADE722C9436}" destId="{00A695D8-B9E6-4DEC-AC3F-323AEE46D5AF}" srcOrd="0" destOrd="3" presId="urn:microsoft.com/office/officeart/2005/8/layout/cycle8"/>
    <dgm:cxn modelId="{DB57A2B4-D060-4DEC-AC6A-87B839460999}" type="presOf" srcId="{F1171DEB-975C-4062-BC61-45185FE10F42}" destId="{5CE0BB71-C555-489D-A258-FCD00845F028}" srcOrd="0" destOrd="1" presId="urn:microsoft.com/office/officeart/2005/8/layout/cycle8"/>
    <dgm:cxn modelId="{8130FBB6-5C67-4812-9340-0A291A582822}" type="presOf" srcId="{0E51F2B7-6ED1-4B8B-A69B-BE769C726918}" destId="{8B325E2C-8054-4CF2-ABC4-9BDD072FC896}" srcOrd="1" destOrd="1" presId="urn:microsoft.com/office/officeart/2005/8/layout/cycle8"/>
    <dgm:cxn modelId="{60636ABB-36BB-4F65-840C-7223D7BA240D}" type="presOf" srcId="{402AEB76-A5D5-4BB0-AE29-4DAD74715BB9}" destId="{CA1BC823-DBFB-4245-8134-8280054CC64A}" srcOrd="0" destOrd="1" presId="urn:microsoft.com/office/officeart/2005/8/layout/cycle8"/>
    <dgm:cxn modelId="{17B810BF-3BB5-4A2A-BF34-81FB203DF666}" type="presOf" srcId="{5DF0D2ED-9445-4AAF-8953-5ADE722C9436}" destId="{8B325E2C-8054-4CF2-ABC4-9BDD072FC896}" srcOrd="1" destOrd="3" presId="urn:microsoft.com/office/officeart/2005/8/layout/cycle8"/>
    <dgm:cxn modelId="{04823DC3-EBCD-40C0-9E42-9F73D1D2BEC3}" type="presOf" srcId="{0E5C4EA0-A4F1-4661-ACCE-50BDD7BEF539}" destId="{8B325E2C-8054-4CF2-ABC4-9BDD072FC896}" srcOrd="1" destOrd="0" presId="urn:microsoft.com/office/officeart/2005/8/layout/cycle8"/>
    <dgm:cxn modelId="{AB3BCCC4-A72B-4BF2-AE4A-F821335F5826}" srcId="{1ADD734F-A400-457D-92CE-542F9D03E774}" destId="{6C7E5775-29F6-4584-BB78-675EC67D42A8}" srcOrd="1" destOrd="0" parTransId="{CBCCA2A1-A8CB-41C9-AD9B-C780663C792F}" sibTransId="{C401DFA2-99CE-4F7F-AE3D-89A9F2702E25}"/>
    <dgm:cxn modelId="{CC99F4C4-0C6B-4831-B28E-713A859AEA65}" type="presOf" srcId="{5FFD8589-7F78-4026-B467-A5DD52620ABB}" destId="{1E59C0AC-F308-4D69-83F6-8658C4944C32}" srcOrd="1" destOrd="0" presId="urn:microsoft.com/office/officeart/2005/8/layout/cycle8"/>
    <dgm:cxn modelId="{F34102C9-A091-441F-99B5-2DC270616F51}" srcId="{2C608847-2FF4-4E1F-8FEF-0246C9A46C16}" destId="{DAA9D0FD-5EB8-45B4-9B28-CD7E9FF57902}" srcOrd="1" destOrd="0" parTransId="{0F724CDD-C081-4166-81CE-17DA802BB16B}" sibTransId="{7F996E5B-EC1B-41E3-84BE-3CC88E2F7DBD}"/>
    <dgm:cxn modelId="{EE1BECD1-D0AC-40E3-BA43-51F014FDB1FA}" type="presOf" srcId="{17D730A3-0839-4A32-992B-C46462121987}" destId="{CA1BC823-DBFB-4245-8134-8280054CC64A}" srcOrd="0" destOrd="3" presId="urn:microsoft.com/office/officeart/2005/8/layout/cycle8"/>
    <dgm:cxn modelId="{AC9EEFD1-5D0D-4489-A67C-3B8BB99C3C37}" type="presOf" srcId="{B7BE559F-D4D4-45E4-B591-2716B83EE6B0}" destId="{00A695D8-B9E6-4DEC-AC3F-323AEE46D5AF}" srcOrd="0" destOrd="2" presId="urn:microsoft.com/office/officeart/2005/8/layout/cycle8"/>
    <dgm:cxn modelId="{8876E3D8-9544-476A-936B-D73EB5EDDBCB}" srcId="{5FFD8589-7F78-4026-B467-A5DD52620ABB}" destId="{402AEB76-A5D5-4BB0-AE29-4DAD74715BB9}" srcOrd="0" destOrd="0" parTransId="{0AEEF926-317A-4B7C-8314-54D9FB27F3A1}" sibTransId="{AF2E24DE-F5A9-4C1C-99D2-E7BDC91CC5EF}"/>
    <dgm:cxn modelId="{C4B249DA-FAB5-4677-9702-3A923DA9C2AC}" type="presOf" srcId="{6C7E5775-29F6-4584-BB78-675EC67D42A8}" destId="{FB29CE3A-E766-49A9-B700-1CB62C6E7BDF}" srcOrd="1" destOrd="0" presId="urn:microsoft.com/office/officeart/2005/8/layout/cycle8"/>
    <dgm:cxn modelId="{3FEE3DDB-1D7B-409E-8298-FAE08E275A43}" srcId="{1ADD734F-A400-457D-92CE-542F9D03E774}" destId="{0E5C4EA0-A4F1-4661-ACCE-50BDD7BEF539}" srcOrd="0" destOrd="0" parTransId="{C79CFECB-112C-4ECE-B6FB-AB7EA1ABFC6D}" sibTransId="{2A990DAA-7EB0-401D-950A-C1BA2CF67A66}"/>
    <dgm:cxn modelId="{FC3AFDEC-127F-433A-9A2C-EC6945C881F6}" type="presOf" srcId="{F1171DEB-975C-4062-BC61-45185FE10F42}" destId="{05FC8143-BC16-4856-A141-6FD681A0ED63}" srcOrd="1" destOrd="1" presId="urn:microsoft.com/office/officeart/2005/8/layout/cycle8"/>
    <dgm:cxn modelId="{1359463A-5B96-4899-BA42-F588B1B13381}" type="presParOf" srcId="{EAD871EF-FBAD-40D3-8A49-2A616013269D}" destId="{00A695D8-B9E6-4DEC-AC3F-323AEE46D5AF}" srcOrd="0" destOrd="0" presId="urn:microsoft.com/office/officeart/2005/8/layout/cycle8"/>
    <dgm:cxn modelId="{97A830A3-F4FC-4653-812E-9AF6393DCCB5}" type="presParOf" srcId="{EAD871EF-FBAD-40D3-8A49-2A616013269D}" destId="{56BA6954-B8E3-49CB-A05F-6A2EB07EE34D}" srcOrd="1" destOrd="0" presId="urn:microsoft.com/office/officeart/2005/8/layout/cycle8"/>
    <dgm:cxn modelId="{99AD9AB2-8036-4646-BAEA-D495F2FFF745}" type="presParOf" srcId="{EAD871EF-FBAD-40D3-8A49-2A616013269D}" destId="{21053D2F-0045-4BA2-A858-50278F979D2F}" srcOrd="2" destOrd="0" presId="urn:microsoft.com/office/officeart/2005/8/layout/cycle8"/>
    <dgm:cxn modelId="{1D04AA48-FEC4-434B-8BAC-F0C233275A7E}" type="presParOf" srcId="{EAD871EF-FBAD-40D3-8A49-2A616013269D}" destId="{8B325E2C-8054-4CF2-ABC4-9BDD072FC896}" srcOrd="3" destOrd="0" presId="urn:microsoft.com/office/officeart/2005/8/layout/cycle8"/>
    <dgm:cxn modelId="{7D81C3E7-B5DF-4E3C-8FC9-40C5B45BCA8B}" type="presParOf" srcId="{EAD871EF-FBAD-40D3-8A49-2A616013269D}" destId="{E298D009-7998-4F78-9B6E-069FD7D7FC5B}" srcOrd="4" destOrd="0" presId="urn:microsoft.com/office/officeart/2005/8/layout/cycle8"/>
    <dgm:cxn modelId="{CB63D16B-E59A-44B6-A2CE-C43FECCC3D79}" type="presParOf" srcId="{EAD871EF-FBAD-40D3-8A49-2A616013269D}" destId="{7C57EDF7-98D7-4776-A6D2-3B69520A4891}" srcOrd="5" destOrd="0" presId="urn:microsoft.com/office/officeart/2005/8/layout/cycle8"/>
    <dgm:cxn modelId="{8603FE8D-762E-44F2-88F3-D8C74E02A27E}" type="presParOf" srcId="{EAD871EF-FBAD-40D3-8A49-2A616013269D}" destId="{8065CE1A-4390-4AE7-B0AA-9B119E7687CB}" srcOrd="6" destOrd="0" presId="urn:microsoft.com/office/officeart/2005/8/layout/cycle8"/>
    <dgm:cxn modelId="{E9B539B7-F7F3-4180-A12D-83164E2A8F0E}" type="presParOf" srcId="{EAD871EF-FBAD-40D3-8A49-2A616013269D}" destId="{FB29CE3A-E766-49A9-B700-1CB62C6E7BDF}" srcOrd="7" destOrd="0" presId="urn:microsoft.com/office/officeart/2005/8/layout/cycle8"/>
    <dgm:cxn modelId="{82CDED1F-75EC-4E1D-92C7-E794C4E499A1}" type="presParOf" srcId="{EAD871EF-FBAD-40D3-8A49-2A616013269D}" destId="{5CE0BB71-C555-489D-A258-FCD00845F028}" srcOrd="8" destOrd="0" presId="urn:microsoft.com/office/officeart/2005/8/layout/cycle8"/>
    <dgm:cxn modelId="{6588CBBF-F73D-4CC5-AD7E-13C47F1A432B}" type="presParOf" srcId="{EAD871EF-FBAD-40D3-8A49-2A616013269D}" destId="{6FC1F2F4-11B7-416A-879A-6DA6969294C3}" srcOrd="9" destOrd="0" presId="urn:microsoft.com/office/officeart/2005/8/layout/cycle8"/>
    <dgm:cxn modelId="{B96392D2-6AD6-4D34-998A-B17DD60A984F}" type="presParOf" srcId="{EAD871EF-FBAD-40D3-8A49-2A616013269D}" destId="{D26A3EBC-FCC5-4542-8F1D-133A42ABE636}" srcOrd="10" destOrd="0" presId="urn:microsoft.com/office/officeart/2005/8/layout/cycle8"/>
    <dgm:cxn modelId="{0A604D17-F227-4C3E-B893-DFD1D22BF8A9}" type="presParOf" srcId="{EAD871EF-FBAD-40D3-8A49-2A616013269D}" destId="{05FC8143-BC16-4856-A141-6FD681A0ED63}" srcOrd="11" destOrd="0" presId="urn:microsoft.com/office/officeart/2005/8/layout/cycle8"/>
    <dgm:cxn modelId="{02F001AD-1047-41A0-B198-95B406AC4CB7}" type="presParOf" srcId="{EAD871EF-FBAD-40D3-8A49-2A616013269D}" destId="{CA1BC823-DBFB-4245-8134-8280054CC64A}" srcOrd="12" destOrd="0" presId="urn:microsoft.com/office/officeart/2005/8/layout/cycle8"/>
    <dgm:cxn modelId="{CDFABFBB-41DB-4D46-B903-A6D769B4E784}" type="presParOf" srcId="{EAD871EF-FBAD-40D3-8A49-2A616013269D}" destId="{323DFE2A-1682-409C-B12C-30B682AEB8D9}" srcOrd="13" destOrd="0" presId="urn:microsoft.com/office/officeart/2005/8/layout/cycle8"/>
    <dgm:cxn modelId="{DF6199B0-9F5E-4361-9598-929F479C3361}" type="presParOf" srcId="{EAD871EF-FBAD-40D3-8A49-2A616013269D}" destId="{45797BE5-66F2-4FF0-AFBA-6B99D69DFC86}" srcOrd="14" destOrd="0" presId="urn:microsoft.com/office/officeart/2005/8/layout/cycle8"/>
    <dgm:cxn modelId="{91C0FB6A-50C6-40FB-A08C-E34A59370F72}" type="presParOf" srcId="{EAD871EF-FBAD-40D3-8A49-2A616013269D}" destId="{1E59C0AC-F308-4D69-83F6-8658C4944C32}" srcOrd="15" destOrd="0" presId="urn:microsoft.com/office/officeart/2005/8/layout/cycle8"/>
    <dgm:cxn modelId="{20FD2757-2F42-47A8-8B56-35F186C8AA4B}" type="presParOf" srcId="{EAD871EF-FBAD-40D3-8A49-2A616013269D}" destId="{9B8AED53-C9CB-48F0-9601-F6C0A3E36BCD}" srcOrd="16" destOrd="0" presId="urn:microsoft.com/office/officeart/2005/8/layout/cycle8"/>
    <dgm:cxn modelId="{0E62D561-A0F8-4979-A21C-8D33A43BF4C1}" type="presParOf" srcId="{EAD871EF-FBAD-40D3-8A49-2A616013269D}" destId="{01970309-0442-47F1-9D12-A36950E991C3}" srcOrd="17" destOrd="0" presId="urn:microsoft.com/office/officeart/2005/8/layout/cycle8"/>
    <dgm:cxn modelId="{BAF0024E-D030-4FE4-A7EF-888303F50FE8}" type="presParOf" srcId="{EAD871EF-FBAD-40D3-8A49-2A616013269D}" destId="{75277B3A-9253-404E-95D5-124FA9FFA5A6}" srcOrd="18" destOrd="0" presId="urn:microsoft.com/office/officeart/2005/8/layout/cycle8"/>
    <dgm:cxn modelId="{535CA2A2-390A-4035-A2CA-01124028E1E6}" type="presParOf" srcId="{EAD871EF-FBAD-40D3-8A49-2A616013269D}" destId="{FB20FBB6-8D72-437D-B685-2098A915BB0E}" srcOrd="19" destOrd="0" presId="urn:microsoft.com/office/officeart/2005/8/layout/cycle8"/>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A695D8-B9E6-4DEC-AC3F-323AEE46D5AF}">
      <dsp:nvSpPr>
        <dsp:cNvPr id="0" name=""/>
        <dsp:cNvSpPr/>
      </dsp:nvSpPr>
      <dsp:spPr>
        <a:xfrm>
          <a:off x="1915616" y="421381"/>
          <a:ext cx="4309670" cy="4309670"/>
        </a:xfrm>
        <a:prstGeom prst="pie">
          <a:avLst>
            <a:gd name="adj1" fmla="val 16200000"/>
            <a:gd name="adj2" fmla="val 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t" anchorCtr="0">
          <a:noAutofit/>
        </a:bodyPr>
        <a:lstStyle/>
        <a:p>
          <a:pPr marL="0" lvl="0" indent="0" algn="l" defTabSz="622300">
            <a:lnSpc>
              <a:spcPct val="90000"/>
            </a:lnSpc>
            <a:spcBef>
              <a:spcPct val="0"/>
            </a:spcBef>
            <a:spcAft>
              <a:spcPct val="35000"/>
            </a:spcAft>
            <a:buNone/>
          </a:pPr>
          <a:r>
            <a:rPr lang="fr-FR" sz="1400" kern="1200" dirty="0"/>
            <a:t>Logiciels</a:t>
          </a:r>
          <a:endParaRPr lang="en-US" sz="1400" kern="1200" dirty="0"/>
        </a:p>
        <a:p>
          <a:pPr marL="57150" lvl="1" indent="-57150" algn="l" defTabSz="488950">
            <a:lnSpc>
              <a:spcPct val="90000"/>
            </a:lnSpc>
            <a:spcBef>
              <a:spcPct val="0"/>
            </a:spcBef>
            <a:spcAft>
              <a:spcPct val="15000"/>
            </a:spcAft>
            <a:buChar char="•"/>
          </a:pPr>
          <a:r>
            <a:rPr lang="fr-FR" sz="1100" kern="1200" dirty="0"/>
            <a:t>Labellisation par l’ANSSI</a:t>
          </a:r>
          <a:endParaRPr lang="en-US" sz="1100" kern="1200" dirty="0"/>
        </a:p>
        <a:p>
          <a:pPr marL="57150" lvl="1" indent="-57150" algn="l" defTabSz="488950">
            <a:lnSpc>
              <a:spcPct val="90000"/>
            </a:lnSpc>
            <a:spcBef>
              <a:spcPct val="0"/>
            </a:spcBef>
            <a:spcAft>
              <a:spcPct val="15000"/>
            </a:spcAft>
            <a:buChar char="•"/>
          </a:pPr>
          <a:r>
            <a:rPr lang="fr-FR" sz="1100" kern="1200"/>
            <a:t>Plusieurs labellisés</a:t>
          </a:r>
          <a:endParaRPr lang="en-US" sz="1100" kern="1200" dirty="0"/>
        </a:p>
        <a:p>
          <a:pPr marL="57150" lvl="1" indent="-57150" algn="l" defTabSz="488950">
            <a:lnSpc>
              <a:spcPct val="90000"/>
            </a:lnSpc>
            <a:spcBef>
              <a:spcPct val="0"/>
            </a:spcBef>
            <a:spcAft>
              <a:spcPct val="15000"/>
            </a:spcAft>
            <a:buChar char="•"/>
          </a:pPr>
          <a:r>
            <a:rPr lang="fr-FR" sz="1100" kern="1200" dirty="0"/>
            <a:t>D’autres en cours de labellisation</a:t>
          </a:r>
          <a:endParaRPr lang="en-US" sz="1100" kern="1200" dirty="0"/>
        </a:p>
      </dsp:txBody>
      <dsp:txXfrm>
        <a:off x="4203332" y="1314611"/>
        <a:ext cx="1590473" cy="1180028"/>
      </dsp:txXfrm>
    </dsp:sp>
    <dsp:sp modelId="{E298D009-7998-4F78-9B6E-069FD7D7FC5B}">
      <dsp:nvSpPr>
        <dsp:cNvPr id="0" name=""/>
        <dsp:cNvSpPr/>
      </dsp:nvSpPr>
      <dsp:spPr>
        <a:xfrm>
          <a:off x="1894714" y="464785"/>
          <a:ext cx="4309670" cy="4309670"/>
        </a:xfrm>
        <a:prstGeom prst="pie">
          <a:avLst>
            <a:gd name="adj1" fmla="val 0"/>
            <a:gd name="adj2" fmla="val 54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t" anchorCtr="0">
          <a:noAutofit/>
        </a:bodyPr>
        <a:lstStyle/>
        <a:p>
          <a:pPr marL="0" lvl="0" indent="0" algn="l" defTabSz="622300">
            <a:lnSpc>
              <a:spcPct val="90000"/>
            </a:lnSpc>
            <a:spcBef>
              <a:spcPct val="0"/>
            </a:spcBef>
            <a:spcAft>
              <a:spcPct val="35000"/>
            </a:spcAft>
            <a:buNone/>
          </a:pPr>
          <a:r>
            <a:rPr lang="fr-FR" sz="1400" kern="1200" dirty="0"/>
            <a:t>Formation</a:t>
          </a:r>
          <a:endParaRPr lang="en-US" sz="1400" kern="1200" dirty="0"/>
        </a:p>
        <a:p>
          <a:pPr marL="57150" lvl="1" indent="-57150" algn="l" defTabSz="488950">
            <a:lnSpc>
              <a:spcPct val="90000"/>
            </a:lnSpc>
            <a:spcBef>
              <a:spcPct val="0"/>
            </a:spcBef>
            <a:spcAft>
              <a:spcPct val="15000"/>
            </a:spcAft>
            <a:buChar char="•"/>
          </a:pPr>
          <a:r>
            <a:rPr lang="fr-FR" sz="1100" kern="1200"/>
            <a:t>Cercle des formateurs du Club EBIOS</a:t>
          </a:r>
          <a:endParaRPr lang="en-US" sz="1100" kern="1200" dirty="0"/>
        </a:p>
        <a:p>
          <a:pPr marL="57150" lvl="1" indent="-57150" algn="l" defTabSz="488950">
            <a:lnSpc>
              <a:spcPct val="90000"/>
            </a:lnSpc>
            <a:spcBef>
              <a:spcPct val="0"/>
            </a:spcBef>
            <a:spcAft>
              <a:spcPct val="15000"/>
            </a:spcAft>
            <a:buChar char="•"/>
          </a:pPr>
          <a:r>
            <a:rPr lang="fr-FR" sz="1100" kern="1200"/>
            <a:t>Kit de formation partagé</a:t>
          </a:r>
          <a:endParaRPr lang="en-US" sz="1100" kern="1200" dirty="0"/>
        </a:p>
        <a:p>
          <a:pPr marL="57150" lvl="1" indent="-57150" algn="l" defTabSz="488950">
            <a:lnSpc>
              <a:spcPct val="90000"/>
            </a:lnSpc>
            <a:spcBef>
              <a:spcPct val="0"/>
            </a:spcBef>
            <a:spcAft>
              <a:spcPct val="15000"/>
            </a:spcAft>
            <a:buChar char="•"/>
          </a:pPr>
          <a:r>
            <a:rPr lang="fr-FR" sz="1100" kern="1200"/>
            <a:t>Charte du formateur</a:t>
          </a:r>
          <a:endParaRPr lang="en-US" sz="1100" kern="1200" dirty="0"/>
        </a:p>
        <a:p>
          <a:pPr marL="57150" lvl="1" indent="-57150" algn="l" defTabSz="488950">
            <a:lnSpc>
              <a:spcPct val="90000"/>
            </a:lnSpc>
            <a:spcBef>
              <a:spcPct val="0"/>
            </a:spcBef>
            <a:spcAft>
              <a:spcPct val="15000"/>
            </a:spcAft>
            <a:buChar char="•"/>
          </a:pPr>
          <a:r>
            <a:rPr lang="fr-FR" sz="1100" kern="1200"/>
            <a:t>Label SecNUmedu-FC</a:t>
          </a:r>
          <a:endParaRPr lang="en-US" sz="1100" kern="1200" dirty="0"/>
        </a:p>
      </dsp:txBody>
      <dsp:txXfrm>
        <a:off x="4182430" y="2701196"/>
        <a:ext cx="1590473" cy="1180028"/>
      </dsp:txXfrm>
    </dsp:sp>
    <dsp:sp modelId="{5CE0BB71-C555-489D-A258-FCD00845F028}">
      <dsp:nvSpPr>
        <dsp:cNvPr id="0" name=""/>
        <dsp:cNvSpPr/>
      </dsp:nvSpPr>
      <dsp:spPr>
        <a:xfrm>
          <a:off x="1750032" y="464785"/>
          <a:ext cx="4309670" cy="4309670"/>
        </a:xfrm>
        <a:prstGeom prst="pie">
          <a:avLst>
            <a:gd name="adj1" fmla="val 5400000"/>
            <a:gd name="adj2" fmla="val 108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t" anchorCtr="0">
          <a:noAutofit/>
        </a:bodyPr>
        <a:lstStyle/>
        <a:p>
          <a:pPr marL="0" lvl="0" indent="0" algn="r" defTabSz="622300">
            <a:lnSpc>
              <a:spcPct val="90000"/>
            </a:lnSpc>
            <a:spcBef>
              <a:spcPct val="0"/>
            </a:spcBef>
            <a:spcAft>
              <a:spcPct val="35000"/>
            </a:spcAft>
            <a:buNone/>
          </a:pPr>
          <a:r>
            <a:rPr lang="fr-FR" sz="1400" kern="1200" dirty="0"/>
            <a:t>Certification</a:t>
          </a:r>
          <a:endParaRPr lang="en-US" sz="1400" kern="1200" dirty="0"/>
        </a:p>
        <a:p>
          <a:pPr marL="57150" lvl="1" indent="-57150" algn="r" defTabSz="488950">
            <a:lnSpc>
              <a:spcPct val="90000"/>
            </a:lnSpc>
            <a:spcBef>
              <a:spcPct val="0"/>
            </a:spcBef>
            <a:spcAft>
              <a:spcPct val="15000"/>
            </a:spcAft>
            <a:buChar char="•"/>
          </a:pPr>
          <a:r>
            <a:rPr lang="fr-FR" sz="1100" kern="1200" dirty="0"/>
            <a:t>Agrément des certificateurs par le Club EBIOS</a:t>
          </a:r>
          <a:endParaRPr lang="en-US" sz="1100" kern="1200" dirty="0"/>
        </a:p>
        <a:p>
          <a:pPr marL="57150" lvl="1" indent="-57150" algn="r" defTabSz="488950">
            <a:lnSpc>
              <a:spcPct val="90000"/>
            </a:lnSpc>
            <a:spcBef>
              <a:spcPct val="0"/>
            </a:spcBef>
            <a:spcAft>
              <a:spcPct val="15000"/>
            </a:spcAft>
            <a:buChar char="•"/>
          </a:pPr>
          <a:r>
            <a:rPr lang="fr-FR" sz="1100" kern="1200" dirty="0"/>
            <a:t>Certification de compétences EBIOS</a:t>
          </a:r>
          <a:endParaRPr lang="en-US" sz="1100" kern="1200" dirty="0"/>
        </a:p>
      </dsp:txBody>
      <dsp:txXfrm>
        <a:off x="2181512" y="2701196"/>
        <a:ext cx="1590473" cy="1180028"/>
      </dsp:txXfrm>
    </dsp:sp>
    <dsp:sp modelId="{CA1BC823-DBFB-4245-8134-8280054CC64A}">
      <dsp:nvSpPr>
        <dsp:cNvPr id="0" name=""/>
        <dsp:cNvSpPr/>
      </dsp:nvSpPr>
      <dsp:spPr>
        <a:xfrm>
          <a:off x="1750032" y="320103"/>
          <a:ext cx="4309670" cy="4309670"/>
        </a:xfrm>
        <a:prstGeom prst="pie">
          <a:avLst>
            <a:gd name="adj1" fmla="val 108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t" anchorCtr="0">
          <a:noAutofit/>
        </a:bodyPr>
        <a:lstStyle/>
        <a:p>
          <a:pPr marL="0" lvl="0" indent="0" algn="r" defTabSz="622300">
            <a:lnSpc>
              <a:spcPct val="90000"/>
            </a:lnSpc>
            <a:spcBef>
              <a:spcPct val="0"/>
            </a:spcBef>
            <a:spcAft>
              <a:spcPct val="35000"/>
            </a:spcAft>
            <a:buNone/>
          </a:pPr>
          <a:r>
            <a:rPr lang="fr-FR" sz="1400" kern="1200" dirty="0"/>
            <a:t>Méthode</a:t>
          </a:r>
          <a:endParaRPr lang="en-US" sz="1400" kern="1200" dirty="0"/>
        </a:p>
        <a:p>
          <a:pPr marL="57150" lvl="1" indent="-57150" algn="r" defTabSz="488950">
            <a:lnSpc>
              <a:spcPct val="90000"/>
            </a:lnSpc>
            <a:spcBef>
              <a:spcPct val="0"/>
            </a:spcBef>
            <a:spcAft>
              <a:spcPct val="15000"/>
            </a:spcAft>
            <a:buChar char="•"/>
          </a:pPr>
          <a:r>
            <a:rPr lang="fr-FR" sz="1100" kern="1200" dirty="0"/>
            <a:t>Publiée par l’ANSSI</a:t>
          </a:r>
          <a:endParaRPr lang="en-US" sz="1100" kern="1200" dirty="0"/>
        </a:p>
        <a:p>
          <a:pPr marL="57150" lvl="1" indent="-57150" algn="r" defTabSz="488950">
            <a:lnSpc>
              <a:spcPct val="90000"/>
            </a:lnSpc>
            <a:spcBef>
              <a:spcPct val="0"/>
            </a:spcBef>
            <a:spcAft>
              <a:spcPct val="15000"/>
            </a:spcAft>
            <a:buChar char="•"/>
          </a:pPr>
          <a:r>
            <a:rPr lang="fr-FR" sz="1100" kern="1200" dirty="0"/>
            <a:t>Traduite en Anglais</a:t>
          </a:r>
          <a:endParaRPr lang="en-US" sz="1100" kern="1200" dirty="0"/>
        </a:p>
        <a:p>
          <a:pPr marL="57150" lvl="1" indent="-57150" algn="r" defTabSz="488950">
            <a:lnSpc>
              <a:spcPct val="90000"/>
            </a:lnSpc>
            <a:spcBef>
              <a:spcPct val="0"/>
            </a:spcBef>
            <a:spcAft>
              <a:spcPct val="15000"/>
            </a:spcAft>
            <a:buChar char="•"/>
          </a:pPr>
          <a:r>
            <a:rPr lang="fr-FR" sz="1100" kern="1200" dirty="0"/>
            <a:t>Outils (Cyber et autres) au Club EBIOS</a:t>
          </a:r>
          <a:endParaRPr lang="en-US" sz="1100" kern="1200" dirty="0"/>
        </a:p>
      </dsp:txBody>
      <dsp:txXfrm>
        <a:off x="2181512" y="1213334"/>
        <a:ext cx="1590473" cy="1180028"/>
      </dsp:txXfrm>
    </dsp:sp>
    <dsp:sp modelId="{9B8AED53-C9CB-48F0-9601-F6C0A3E36BCD}">
      <dsp:nvSpPr>
        <dsp:cNvPr id="0" name=""/>
        <dsp:cNvSpPr/>
      </dsp:nvSpPr>
      <dsp:spPr>
        <a:xfrm>
          <a:off x="1812020" y="132966"/>
          <a:ext cx="4844362" cy="4568975"/>
        </a:xfrm>
        <a:prstGeom prst="circularArrow">
          <a:avLst>
            <a:gd name="adj1" fmla="val 5085"/>
            <a:gd name="adj2" fmla="val 327528"/>
            <a:gd name="adj3" fmla="val 21272472"/>
            <a:gd name="adj4" fmla="val 162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1970309-0442-47F1-9D12-A36950E991C3}">
      <dsp:nvSpPr>
        <dsp:cNvPr id="0" name=""/>
        <dsp:cNvSpPr/>
      </dsp:nvSpPr>
      <dsp:spPr>
        <a:xfrm>
          <a:off x="1627925" y="197996"/>
          <a:ext cx="4843248" cy="4843248"/>
        </a:xfrm>
        <a:prstGeom prst="circularArrow">
          <a:avLst>
            <a:gd name="adj1" fmla="val 5085"/>
            <a:gd name="adj2" fmla="val 327528"/>
            <a:gd name="adj3" fmla="val 5072472"/>
            <a:gd name="adj4" fmla="val 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5277B3A-9253-404E-95D5-124FA9FFA5A6}">
      <dsp:nvSpPr>
        <dsp:cNvPr id="0" name=""/>
        <dsp:cNvSpPr/>
      </dsp:nvSpPr>
      <dsp:spPr>
        <a:xfrm>
          <a:off x="1483243" y="197996"/>
          <a:ext cx="4843248" cy="4843248"/>
        </a:xfrm>
        <a:prstGeom prst="circularArrow">
          <a:avLst>
            <a:gd name="adj1" fmla="val 5085"/>
            <a:gd name="adj2" fmla="val 327528"/>
            <a:gd name="adj3" fmla="val 10472472"/>
            <a:gd name="adj4" fmla="val 54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B20FBB6-8D72-437D-B685-2098A915BB0E}">
      <dsp:nvSpPr>
        <dsp:cNvPr id="0" name=""/>
        <dsp:cNvSpPr/>
      </dsp:nvSpPr>
      <dsp:spPr>
        <a:xfrm>
          <a:off x="1483243" y="53314"/>
          <a:ext cx="4843248" cy="4843248"/>
        </a:xfrm>
        <a:prstGeom prst="circularArrow">
          <a:avLst>
            <a:gd name="adj1" fmla="val 5085"/>
            <a:gd name="adj2" fmla="val 327528"/>
            <a:gd name="adj3" fmla="val 15872472"/>
            <a:gd name="adj4" fmla="val 108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7FC4E5-CE9A-478E-B09E-084021AEFAEB}" type="datetimeFigureOut">
              <a:rPr lang="fr-FR" smtClean="0"/>
              <a:t>04/11/2025</a:t>
            </a:fld>
            <a:endParaRPr lang="fr-FR"/>
          </a:p>
        </p:txBody>
      </p:sp>
      <p:sp>
        <p:nvSpPr>
          <p:cNvPr id="4" name="Espace réservé de l'image des diapositives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E0A65F-70CE-4C11-9DB6-CADF0E49A1AB}" type="slidenum">
              <a:rPr lang="fr-FR" smtClean="0"/>
              <a:t>‹N°›</a:t>
            </a:fld>
            <a:endParaRPr lang="fr-FR"/>
          </a:p>
        </p:txBody>
      </p:sp>
    </p:spTree>
    <p:extLst>
      <p:ext uri="{BB962C8B-B14F-4D97-AF65-F5344CB8AC3E}">
        <p14:creationId xmlns:p14="http://schemas.microsoft.com/office/powerpoint/2010/main" val="1584098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4E0A65F-70CE-4C11-9DB6-CADF0E49A1AB}" type="slidenum">
              <a:rPr lang="fr-FR" smtClean="0"/>
              <a:t>1</a:t>
            </a:fld>
            <a:endParaRPr lang="fr-FR"/>
          </a:p>
        </p:txBody>
      </p:sp>
    </p:spTree>
    <p:extLst>
      <p:ext uri="{BB962C8B-B14F-4D97-AF65-F5344CB8AC3E}">
        <p14:creationId xmlns:p14="http://schemas.microsoft.com/office/powerpoint/2010/main" val="3222186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Il faut souligner que le Projet HELIOS affute la pratique de cette </a:t>
            </a:r>
          </a:p>
          <a:p>
            <a:r>
              <a:rPr lang="fr-FR" dirty="0"/>
              <a:t>Méthode pour gérer ses risques au quotidien</a:t>
            </a:r>
            <a:endParaRPr lang="en-US" dirty="0"/>
          </a:p>
        </p:txBody>
      </p:sp>
      <p:sp>
        <p:nvSpPr>
          <p:cNvPr id="4" name="Espace réservé du numéro de diapositive 3"/>
          <p:cNvSpPr>
            <a:spLocks noGrp="1"/>
          </p:cNvSpPr>
          <p:nvPr>
            <p:ph type="sldNum" sz="quarter" idx="5"/>
          </p:nvPr>
        </p:nvSpPr>
        <p:spPr/>
        <p:txBody>
          <a:bodyPr/>
          <a:lstStyle/>
          <a:p>
            <a:fld id="{B4E0A65F-70CE-4C11-9DB6-CADF0E49A1AB}" type="slidenum">
              <a:rPr lang="fr-FR" smtClean="0"/>
              <a:t>3</a:t>
            </a:fld>
            <a:endParaRPr lang="fr-FR"/>
          </a:p>
        </p:txBody>
      </p:sp>
    </p:spTree>
    <p:extLst>
      <p:ext uri="{BB962C8B-B14F-4D97-AF65-F5344CB8AC3E}">
        <p14:creationId xmlns:p14="http://schemas.microsoft.com/office/powerpoint/2010/main" val="2371876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dirty="0"/>
              <a:t>Face à des menaces toujours plus sophistiquées, la maîtrise du risque cyber n’est plus une option :</a:t>
            </a:r>
            <a:br>
              <a:rPr lang="fr-FR" dirty="0"/>
            </a:br>
            <a:r>
              <a:rPr lang="fr-FR" dirty="0"/>
              <a:t>c’est le socle d’une SSI efficace, résiliente et digne de confiance.</a:t>
            </a:r>
            <a:endParaRPr lang="en-US" dirty="0"/>
          </a:p>
        </p:txBody>
      </p:sp>
      <p:sp>
        <p:nvSpPr>
          <p:cNvPr id="4" name="Espace réservé du numéro de diapositive 3"/>
          <p:cNvSpPr>
            <a:spLocks noGrp="1"/>
          </p:cNvSpPr>
          <p:nvPr>
            <p:ph type="sldNum" sz="quarter" idx="5"/>
          </p:nvPr>
        </p:nvSpPr>
        <p:spPr/>
        <p:txBody>
          <a:bodyPr/>
          <a:lstStyle/>
          <a:p>
            <a:fld id="{B4E0A65F-70CE-4C11-9DB6-CADF0E49A1AB}" type="slidenum">
              <a:rPr lang="fr-FR" smtClean="0"/>
              <a:t>6</a:t>
            </a:fld>
            <a:endParaRPr lang="fr-FR"/>
          </a:p>
        </p:txBody>
      </p:sp>
    </p:spTree>
    <p:extLst>
      <p:ext uri="{BB962C8B-B14F-4D97-AF65-F5344CB8AC3E}">
        <p14:creationId xmlns:p14="http://schemas.microsoft.com/office/powerpoint/2010/main" val="4247226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4854E-87F0-D42C-FB03-2F69730E442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E3D6E79-E02C-B406-A696-B9766F1B4AF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B7059D9-BDC4-1536-24D0-4C2D7138F722}"/>
              </a:ext>
            </a:extLst>
          </p:cNvPr>
          <p:cNvSpPr>
            <a:spLocks noGrp="1"/>
          </p:cNvSpPr>
          <p:nvPr>
            <p:ph type="body" idx="1"/>
          </p:nvPr>
        </p:nvSpPr>
        <p:spPr/>
        <p:txBody>
          <a:bodyPr/>
          <a:lstStyle/>
          <a:p>
            <a:pPr marL="171450" indent="-171450" algn="l">
              <a:buFontTx/>
              <a:buChar char="-"/>
            </a:pPr>
            <a:r>
              <a:rPr lang="fr-FR" dirty="0"/>
              <a:t>Continuité des activités = En minimisant les interruptions causées par des incidents de sécurité. Un système sécurisé garantit que les opérations peuvent se poursuivre sans imprévus majeurs</a:t>
            </a:r>
          </a:p>
          <a:p>
            <a:pPr marL="171450" indent="-171450" algn="l">
              <a:buFontTx/>
              <a:buChar char="-"/>
            </a:pPr>
            <a:r>
              <a:rPr lang="fr-FR" dirty="0"/>
              <a:t>Protection des données sensibles = Primordiale pour éviter les violations de données, qui peuvent entrainer des pertes financières et juridiques. Une bonne sécurit » aide à sauvegarder les informations critiques des clients et de l’entreprise.</a:t>
            </a:r>
          </a:p>
          <a:p>
            <a:pPr marL="171450" indent="-171450" algn="l">
              <a:buFontTx/>
              <a:buChar char="-"/>
            </a:pPr>
            <a:r>
              <a:rPr lang="fr-FR" dirty="0"/>
              <a:t>Confiance des clients = qui se construit sur des bases solides de sécurité. Lorsque les clients savent que leurs informations sont en sécurité, ils sont plus enclin à interagir et à faire des affaires avec l’organisation.</a:t>
            </a:r>
          </a:p>
          <a:p>
            <a:pPr marL="171450" indent="-171450" algn="l">
              <a:buFontTx/>
              <a:buChar char="-"/>
            </a:pPr>
            <a:r>
              <a:rPr lang="fr-FR" dirty="0"/>
              <a:t>Conformité réglementaire = </a:t>
            </a:r>
            <a:r>
              <a:rPr lang="fr-FR" dirty="0" err="1"/>
              <a:t>Element</a:t>
            </a:r>
            <a:r>
              <a:rPr lang="fr-FR" dirty="0"/>
              <a:t> clé pour éviter les sanctions et les amendes. Les organisations doivent se conformer aux lois et aux normes en matière de sécurité des données pour maintenir leur réputation et leur viabilité</a:t>
            </a:r>
          </a:p>
          <a:p>
            <a:pPr marL="171450" indent="-171450" algn="l">
              <a:buFontTx/>
              <a:buChar char="-"/>
            </a:pPr>
            <a:r>
              <a:rPr lang="fr-FR" dirty="0"/>
              <a:t>Réputation de l’organisation = Elle est en jeu lorsque les incidents de sécurité surviennent. Investir dans la SSI aide à construire et à maintenir une image de marque positive </a:t>
            </a:r>
            <a:endParaRPr lang="en-US" dirty="0"/>
          </a:p>
        </p:txBody>
      </p:sp>
      <p:sp>
        <p:nvSpPr>
          <p:cNvPr id="4" name="Espace réservé du numéro de diapositive 3">
            <a:extLst>
              <a:ext uri="{FF2B5EF4-FFF2-40B4-BE49-F238E27FC236}">
                <a16:creationId xmlns:a16="http://schemas.microsoft.com/office/drawing/2014/main" id="{272FBD53-EABC-F69E-7D5C-DB2D7B16E575}"/>
              </a:ext>
            </a:extLst>
          </p:cNvPr>
          <p:cNvSpPr>
            <a:spLocks noGrp="1"/>
          </p:cNvSpPr>
          <p:nvPr>
            <p:ph type="sldNum" sz="quarter" idx="5"/>
          </p:nvPr>
        </p:nvSpPr>
        <p:spPr/>
        <p:txBody>
          <a:bodyPr/>
          <a:lstStyle/>
          <a:p>
            <a:fld id="{B4E0A65F-70CE-4C11-9DB6-CADF0E49A1AB}" type="slidenum">
              <a:rPr lang="fr-FR" smtClean="0"/>
              <a:t>7</a:t>
            </a:fld>
            <a:endParaRPr lang="fr-FR"/>
          </a:p>
        </p:txBody>
      </p:sp>
    </p:spTree>
    <p:extLst>
      <p:ext uri="{BB962C8B-B14F-4D97-AF65-F5344CB8AC3E}">
        <p14:creationId xmlns:p14="http://schemas.microsoft.com/office/powerpoint/2010/main" val="2185655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80DAB-3B23-E189-5E8D-D3A95D98649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9B3933E-A95B-8BF0-3371-CA3B20428E0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9393600-E03D-2736-F1E4-C62246FF6B1E}"/>
              </a:ext>
            </a:extLst>
          </p:cNvPr>
          <p:cNvSpPr>
            <a:spLocks noGrp="1"/>
          </p:cNvSpPr>
          <p:nvPr>
            <p:ph type="body" idx="1"/>
          </p:nvPr>
        </p:nvSpPr>
        <p:spPr/>
        <p:txBody>
          <a:bodyPr/>
          <a:lstStyle/>
          <a:p>
            <a:pPr marL="0" indent="0" algn="l">
              <a:buFontTx/>
              <a:buNone/>
            </a:pPr>
            <a:r>
              <a:rPr lang="fr-FR" dirty="0"/>
              <a:t>Les principales méthodes d'analyse de risque cyber se divisent en deux catégories : </a:t>
            </a:r>
          </a:p>
          <a:p>
            <a:pPr marL="0" indent="0" algn="l">
              <a:buFontTx/>
              <a:buNone/>
            </a:pPr>
            <a:r>
              <a:rPr lang="fr-FR" dirty="0"/>
              <a:t>les approches qualitatives et les approches quantitatives</a:t>
            </a:r>
            <a:r>
              <a:rPr lang="fr-FR" sz="1200" b="0" i="0" kern="1200" dirty="0">
                <a:solidFill>
                  <a:schemeClr val="tx1"/>
                </a:solidFill>
                <a:effectLst/>
                <a:latin typeface="+mn-lt"/>
                <a:ea typeface="+mn-ea"/>
                <a:cs typeface="+mn-cs"/>
              </a:rPr>
              <a:t>. </a:t>
            </a:r>
          </a:p>
          <a:p>
            <a:pPr marL="0" indent="0" algn="l">
              <a:buFontTx/>
              <a:buNone/>
            </a:pPr>
            <a:r>
              <a:rPr lang="fr-FR" sz="1200" b="0" i="0" kern="1200" dirty="0">
                <a:solidFill>
                  <a:schemeClr val="tx1"/>
                </a:solidFill>
                <a:effectLst/>
                <a:latin typeface="+mn-lt"/>
                <a:ea typeface="+mn-ea"/>
                <a:cs typeface="+mn-cs"/>
              </a:rPr>
              <a:t>Des méthodes spécifiques ont été développées pour chaque approche, en fonction des besoins de l'entreprise. </a:t>
            </a:r>
            <a:endParaRPr lang="en-US" dirty="0"/>
          </a:p>
        </p:txBody>
      </p:sp>
      <p:sp>
        <p:nvSpPr>
          <p:cNvPr id="4" name="Espace réservé du numéro de diapositive 3">
            <a:extLst>
              <a:ext uri="{FF2B5EF4-FFF2-40B4-BE49-F238E27FC236}">
                <a16:creationId xmlns:a16="http://schemas.microsoft.com/office/drawing/2014/main" id="{F546A255-B7F6-CDD0-2C9C-4151EF83396F}"/>
              </a:ext>
            </a:extLst>
          </p:cNvPr>
          <p:cNvSpPr>
            <a:spLocks noGrp="1"/>
          </p:cNvSpPr>
          <p:nvPr>
            <p:ph type="sldNum" sz="quarter" idx="5"/>
          </p:nvPr>
        </p:nvSpPr>
        <p:spPr/>
        <p:txBody>
          <a:bodyPr/>
          <a:lstStyle/>
          <a:p>
            <a:fld id="{B4E0A65F-70CE-4C11-9DB6-CADF0E49A1AB}" type="slidenum">
              <a:rPr lang="fr-FR" smtClean="0"/>
              <a:t>8</a:t>
            </a:fld>
            <a:endParaRPr lang="fr-FR"/>
          </a:p>
        </p:txBody>
      </p:sp>
    </p:spTree>
    <p:extLst>
      <p:ext uri="{BB962C8B-B14F-4D97-AF65-F5344CB8AC3E}">
        <p14:creationId xmlns:p14="http://schemas.microsoft.com/office/powerpoint/2010/main" val="3494771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9D246-0BF2-1B3C-6CE5-18B2C6D64A1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87DC4D2-4A94-B4DE-7765-28023326962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ACC4FD4-0ABF-8FFF-299E-F81C50F6B41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 Norme internationale de </a:t>
            </a:r>
            <a:r>
              <a:rPr lang="fr-FR" b="1" dirty="0"/>
              <a:t>gestion globale des risques</a:t>
            </a:r>
            <a:r>
              <a:rPr lang="fr-FR" dirty="0"/>
              <a:t> (tous domaines confondus : stratégique, opérationnel, financier, cyber, etc.).</a:t>
            </a:r>
            <a:br>
              <a:rPr lang="fr-FR" dirty="0"/>
            </a:br>
            <a:r>
              <a:rPr lang="fr-FR" dirty="0"/>
              <a:t>🔹 Établit les </a:t>
            </a:r>
            <a:r>
              <a:rPr lang="fr-FR" b="1" dirty="0"/>
              <a:t>principes, cadre et processus</a:t>
            </a:r>
            <a:r>
              <a:rPr lang="fr-FR" dirty="0"/>
              <a:t> de gestion du risque applicables à toute organisation.</a:t>
            </a:r>
            <a:br>
              <a:rPr lang="fr-FR" dirty="0"/>
            </a:br>
            <a:r>
              <a:rPr lang="fr-FR" dirty="0"/>
              <a:t>🔹 Sert de </a:t>
            </a:r>
            <a:r>
              <a:rPr lang="fr-FR" b="1" dirty="0"/>
              <a:t>référence universelle</a:t>
            </a:r>
            <a:r>
              <a:rPr lang="fr-FR" dirty="0"/>
              <a:t> sur laquelle s’appuient les normes spécialisées (comme ISO 27005 pour la SSI).</a:t>
            </a:r>
            <a:br>
              <a:rPr lang="fr-FR" dirty="0"/>
            </a:br>
            <a:r>
              <a:rPr lang="fr-FR" dirty="0"/>
              <a:t>🔹 Met l’accent sur la </a:t>
            </a:r>
            <a:r>
              <a:rPr lang="fr-FR" b="1" dirty="0"/>
              <a:t>création de valeur</a:t>
            </a:r>
            <a:r>
              <a:rPr lang="fr-FR" dirty="0"/>
              <a:t>, la </a:t>
            </a:r>
            <a:r>
              <a:rPr lang="fr-FR" b="1" dirty="0"/>
              <a:t>prise de décision éclairée</a:t>
            </a:r>
            <a:r>
              <a:rPr lang="fr-FR" dirty="0"/>
              <a:t> et l’</a:t>
            </a:r>
            <a:r>
              <a:rPr lang="fr-FR" b="1" dirty="0"/>
              <a:t>intégration du risque dans la gouvernance</a:t>
            </a:r>
            <a:r>
              <a:rPr lang="fr-FR" dirty="0"/>
              <a:t>.</a:t>
            </a:r>
          </a:p>
          <a:p>
            <a:pPr marL="0" indent="0" algn="l">
              <a:buFontTx/>
              <a:buNone/>
            </a:pPr>
            <a:endParaRPr lang="en-US" dirty="0"/>
          </a:p>
        </p:txBody>
      </p:sp>
      <p:sp>
        <p:nvSpPr>
          <p:cNvPr id="4" name="Espace réservé du numéro de diapositive 3">
            <a:extLst>
              <a:ext uri="{FF2B5EF4-FFF2-40B4-BE49-F238E27FC236}">
                <a16:creationId xmlns:a16="http://schemas.microsoft.com/office/drawing/2014/main" id="{C554FB12-2FC4-2147-6978-9B0841180B9B}"/>
              </a:ext>
            </a:extLst>
          </p:cNvPr>
          <p:cNvSpPr>
            <a:spLocks noGrp="1"/>
          </p:cNvSpPr>
          <p:nvPr>
            <p:ph type="sldNum" sz="quarter" idx="5"/>
          </p:nvPr>
        </p:nvSpPr>
        <p:spPr/>
        <p:txBody>
          <a:bodyPr/>
          <a:lstStyle/>
          <a:p>
            <a:fld id="{B4E0A65F-70CE-4C11-9DB6-CADF0E49A1AB}" type="slidenum">
              <a:rPr lang="fr-FR" smtClean="0"/>
              <a:t>9</a:t>
            </a:fld>
            <a:endParaRPr lang="fr-FR"/>
          </a:p>
        </p:txBody>
      </p:sp>
    </p:spTree>
    <p:extLst>
      <p:ext uri="{BB962C8B-B14F-4D97-AF65-F5344CB8AC3E}">
        <p14:creationId xmlns:p14="http://schemas.microsoft.com/office/powerpoint/2010/main" val="1720541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D40C0-7BDD-8FD1-7A66-BFAC023ADE5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6EF2615-A3D6-4E75-3D4A-FAAB10B2ABA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47182E4-EA64-0FC0-A4E7-CC1682BD1B4C}"/>
              </a:ext>
            </a:extLst>
          </p:cNvPr>
          <p:cNvSpPr>
            <a:spLocks noGrp="1"/>
          </p:cNvSpPr>
          <p:nvPr>
            <p:ph type="body" idx="1"/>
          </p:nvPr>
        </p:nvSpPr>
        <p:spPr/>
        <p:txBody>
          <a:bodyPr/>
          <a:lstStyle/>
          <a:p>
            <a:r>
              <a:rPr lang="fr-FR" b="1" dirty="0"/>
              <a:t>ISO/IEC 27005</a:t>
            </a:r>
          </a:p>
          <a:p>
            <a:r>
              <a:rPr lang="fr-FR" dirty="0"/>
              <a:t>🔹 Norme internationale support de l’ISO 27001.</a:t>
            </a:r>
            <a:br>
              <a:rPr lang="fr-FR" dirty="0"/>
            </a:br>
            <a:r>
              <a:rPr lang="fr-FR" dirty="0"/>
              <a:t>🔹 Fournit un cadre méthodologique pour gérer les risques liés à la sécurité de l’information.</a:t>
            </a:r>
            <a:br>
              <a:rPr lang="fr-FR" dirty="0"/>
            </a:br>
            <a:r>
              <a:rPr lang="fr-FR" dirty="0"/>
              <a:t>🔹 Flexible et adaptable à tout type d’organisation.</a:t>
            </a:r>
            <a:br>
              <a:rPr lang="fr-FR" dirty="0"/>
            </a:br>
            <a:r>
              <a:rPr lang="fr-FR" dirty="0"/>
              <a:t>🔹 S’appuie sur le cycle </a:t>
            </a:r>
            <a:r>
              <a:rPr lang="fr-FR" b="1" dirty="0"/>
              <a:t>PDCA (Plan – Do – Check – </a:t>
            </a:r>
            <a:r>
              <a:rPr lang="fr-FR" b="1" dirty="0" err="1"/>
              <a:t>Act</a:t>
            </a:r>
            <a:r>
              <a:rPr lang="fr-FR" b="1" dirty="0"/>
              <a:t>)</a:t>
            </a:r>
            <a:r>
              <a:rPr lang="fr-FR" dirty="0"/>
              <a:t>.</a:t>
            </a:r>
          </a:p>
          <a:p>
            <a:pPr marL="0" indent="0" algn="l">
              <a:buFontTx/>
              <a:buNone/>
            </a:pPr>
            <a:endParaRPr lang="en-US" dirty="0"/>
          </a:p>
        </p:txBody>
      </p:sp>
      <p:sp>
        <p:nvSpPr>
          <p:cNvPr id="4" name="Espace réservé du numéro de diapositive 3">
            <a:extLst>
              <a:ext uri="{FF2B5EF4-FFF2-40B4-BE49-F238E27FC236}">
                <a16:creationId xmlns:a16="http://schemas.microsoft.com/office/drawing/2014/main" id="{6DAE0A8A-6764-FA9F-7977-C4D060D6165B}"/>
              </a:ext>
            </a:extLst>
          </p:cNvPr>
          <p:cNvSpPr>
            <a:spLocks noGrp="1"/>
          </p:cNvSpPr>
          <p:nvPr>
            <p:ph type="sldNum" sz="quarter" idx="5"/>
          </p:nvPr>
        </p:nvSpPr>
        <p:spPr/>
        <p:txBody>
          <a:bodyPr/>
          <a:lstStyle/>
          <a:p>
            <a:fld id="{B4E0A65F-70CE-4C11-9DB6-CADF0E49A1AB}" type="slidenum">
              <a:rPr lang="fr-FR" smtClean="0"/>
              <a:t>10</a:t>
            </a:fld>
            <a:endParaRPr lang="fr-FR"/>
          </a:p>
        </p:txBody>
      </p:sp>
    </p:spTree>
    <p:extLst>
      <p:ext uri="{BB962C8B-B14F-4D97-AF65-F5344CB8AC3E}">
        <p14:creationId xmlns:p14="http://schemas.microsoft.com/office/powerpoint/2010/main" val="11820041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3DE2A-60C1-5EDF-F52E-9D82778E565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55CAD40-4C74-805D-1E50-1DECED56593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5396195-796D-DEDF-54EA-3FAA6D0E8C2D}"/>
              </a:ext>
            </a:extLst>
          </p:cNvPr>
          <p:cNvSpPr>
            <a:spLocks noGrp="1"/>
          </p:cNvSpPr>
          <p:nvPr>
            <p:ph type="body" idx="1"/>
          </p:nvPr>
        </p:nvSpPr>
        <p:spPr/>
        <p:txBody>
          <a:bodyPr/>
          <a:lstStyle/>
          <a:p>
            <a:r>
              <a:rPr lang="fr-FR" b="1" dirty="0"/>
              <a:t>MAGERIT (Espagne)</a:t>
            </a:r>
          </a:p>
          <a:p>
            <a:r>
              <a:rPr lang="fr-FR" dirty="0"/>
              <a:t>🔹 Méthode développée par l’administration espagnole.</a:t>
            </a:r>
            <a:br>
              <a:rPr lang="fr-FR" dirty="0"/>
            </a:br>
            <a:r>
              <a:rPr lang="fr-FR" dirty="0"/>
              <a:t>🔹 Très structurée, avec des catalogues détaillés d’actifs, de menaces et de mesures.</a:t>
            </a:r>
            <a:br>
              <a:rPr lang="fr-FR" dirty="0"/>
            </a:br>
            <a:r>
              <a:rPr lang="fr-FR" dirty="0"/>
              <a:t>🔹 Outil associé : </a:t>
            </a:r>
            <a:r>
              <a:rPr lang="fr-FR" b="1" dirty="0"/>
              <a:t>PILAR</a:t>
            </a:r>
            <a:r>
              <a:rPr lang="fr-FR" dirty="0"/>
              <a:t>.</a:t>
            </a:r>
            <a:br>
              <a:rPr lang="fr-FR" dirty="0"/>
            </a:br>
            <a:r>
              <a:rPr lang="fr-FR" dirty="0"/>
              <a:t>🔹 Vise une approche systématique et documentaire.</a:t>
            </a:r>
          </a:p>
          <a:p>
            <a:pPr marL="0" indent="0" algn="l">
              <a:buFontTx/>
              <a:buNone/>
            </a:pPr>
            <a:r>
              <a:rPr lang="es-ES" dirty="0"/>
              <a:t>Metodología de Análisis y Gestión de Riesgos de los Sistemas de Información</a:t>
            </a:r>
            <a:endParaRPr lang="en-US" dirty="0"/>
          </a:p>
        </p:txBody>
      </p:sp>
      <p:sp>
        <p:nvSpPr>
          <p:cNvPr id="4" name="Espace réservé du numéro de diapositive 3">
            <a:extLst>
              <a:ext uri="{FF2B5EF4-FFF2-40B4-BE49-F238E27FC236}">
                <a16:creationId xmlns:a16="http://schemas.microsoft.com/office/drawing/2014/main" id="{881B77AA-8091-D4B4-CEBD-2615445CB328}"/>
              </a:ext>
            </a:extLst>
          </p:cNvPr>
          <p:cNvSpPr>
            <a:spLocks noGrp="1"/>
          </p:cNvSpPr>
          <p:nvPr>
            <p:ph type="sldNum" sz="quarter" idx="5"/>
          </p:nvPr>
        </p:nvSpPr>
        <p:spPr/>
        <p:txBody>
          <a:bodyPr/>
          <a:lstStyle/>
          <a:p>
            <a:fld id="{B4E0A65F-70CE-4C11-9DB6-CADF0E49A1AB}" type="slidenum">
              <a:rPr lang="fr-FR" smtClean="0"/>
              <a:t>11</a:t>
            </a:fld>
            <a:endParaRPr lang="fr-FR"/>
          </a:p>
        </p:txBody>
      </p:sp>
    </p:spTree>
    <p:extLst>
      <p:ext uri="{BB962C8B-B14F-4D97-AF65-F5344CB8AC3E}">
        <p14:creationId xmlns:p14="http://schemas.microsoft.com/office/powerpoint/2010/main" val="20363478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DBAD3-2879-A609-0FF5-03ACC1110DD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2D79804-65A7-40BF-A4A3-ECE04D7C75D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2D0EEC2-454E-4A39-FFE3-E577E4205170}"/>
              </a:ext>
            </a:extLst>
          </p:cNvPr>
          <p:cNvSpPr>
            <a:spLocks noGrp="1"/>
          </p:cNvSpPr>
          <p:nvPr>
            <p:ph type="body" idx="1"/>
          </p:nvPr>
        </p:nvSpPr>
        <p:spPr/>
        <p:txBody>
          <a:bodyPr/>
          <a:lstStyle/>
          <a:p>
            <a:r>
              <a:rPr lang="fr-FR" b="1" dirty="0"/>
              <a:t>4. FAIR (Factor </a:t>
            </a:r>
            <a:r>
              <a:rPr lang="fr-FR" b="1" dirty="0" err="1"/>
              <a:t>Analysis</a:t>
            </a:r>
            <a:r>
              <a:rPr lang="fr-FR" b="1" dirty="0"/>
              <a:t> of Information Risk – États-Unis)</a:t>
            </a:r>
          </a:p>
          <a:p>
            <a:r>
              <a:rPr lang="fr-FR" dirty="0"/>
              <a:t>🔹 Approche quantitative du risque (en valeur financière).</a:t>
            </a:r>
            <a:br>
              <a:rPr lang="fr-FR" dirty="0"/>
            </a:br>
            <a:r>
              <a:rPr lang="fr-FR" dirty="0"/>
              <a:t>🔹 Repose sur la modélisation mathématique et probabiliste.</a:t>
            </a:r>
            <a:br>
              <a:rPr lang="fr-FR" dirty="0"/>
            </a:br>
            <a:r>
              <a:rPr lang="fr-FR" dirty="0"/>
              <a:t>🔹 Très prisée dans les milieux financiers et par le NIST.</a:t>
            </a:r>
            <a:br>
              <a:rPr lang="fr-FR" dirty="0"/>
            </a:br>
            <a:r>
              <a:rPr lang="fr-FR" dirty="0"/>
              <a:t>🔹 Permet d’estimer le </a:t>
            </a:r>
            <a:r>
              <a:rPr lang="fr-FR" b="1" dirty="0"/>
              <a:t>coût potentiel</a:t>
            </a:r>
            <a:r>
              <a:rPr lang="fr-FR" dirty="0"/>
              <a:t> d’un risque cyber.</a:t>
            </a:r>
          </a:p>
          <a:p>
            <a:pPr marL="0" indent="0" algn="l">
              <a:buFontTx/>
              <a:buNone/>
            </a:pPr>
            <a:endParaRPr lang="en-US" dirty="0"/>
          </a:p>
        </p:txBody>
      </p:sp>
      <p:sp>
        <p:nvSpPr>
          <p:cNvPr id="4" name="Espace réservé du numéro de diapositive 3">
            <a:extLst>
              <a:ext uri="{FF2B5EF4-FFF2-40B4-BE49-F238E27FC236}">
                <a16:creationId xmlns:a16="http://schemas.microsoft.com/office/drawing/2014/main" id="{3E4C74B4-353C-6C47-D3A8-A1637C88045A}"/>
              </a:ext>
            </a:extLst>
          </p:cNvPr>
          <p:cNvSpPr>
            <a:spLocks noGrp="1"/>
          </p:cNvSpPr>
          <p:nvPr>
            <p:ph type="sldNum" sz="quarter" idx="5"/>
          </p:nvPr>
        </p:nvSpPr>
        <p:spPr/>
        <p:txBody>
          <a:bodyPr/>
          <a:lstStyle/>
          <a:p>
            <a:fld id="{B4E0A65F-70CE-4C11-9DB6-CADF0E49A1AB}" type="slidenum">
              <a:rPr lang="fr-FR" smtClean="0"/>
              <a:t>12</a:t>
            </a:fld>
            <a:endParaRPr lang="fr-FR"/>
          </a:p>
        </p:txBody>
      </p:sp>
    </p:spTree>
    <p:extLst>
      <p:ext uri="{BB962C8B-B14F-4D97-AF65-F5344CB8AC3E}">
        <p14:creationId xmlns:p14="http://schemas.microsoft.com/office/powerpoint/2010/main" val="730446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4EF1D-D2AF-AAF7-D599-38E1170BB89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9A1259E-BBDC-66BF-8016-9F48652D80F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2FA98DF-7A97-C031-BB60-432681C94D17}"/>
              </a:ext>
            </a:extLst>
          </p:cNvPr>
          <p:cNvSpPr>
            <a:spLocks noGrp="1"/>
          </p:cNvSpPr>
          <p:nvPr>
            <p:ph type="body" idx="1"/>
          </p:nvPr>
        </p:nvSpPr>
        <p:spPr/>
        <p:txBody>
          <a:bodyPr/>
          <a:lstStyle/>
          <a:p>
            <a:r>
              <a:rPr lang="fr-FR" b="1" dirty="0"/>
              <a:t>MEHARI (France – CLUSIF)- 1990</a:t>
            </a:r>
          </a:p>
          <a:p>
            <a:r>
              <a:rPr lang="fr-FR" dirty="0"/>
              <a:t>🔹 Méthode basée sur la logique de </a:t>
            </a:r>
            <a:r>
              <a:rPr lang="fr-FR" b="1" dirty="0"/>
              <a:t>scénarios de risque</a:t>
            </a:r>
            <a:r>
              <a:rPr lang="fr-FR" dirty="0"/>
              <a:t>.</a:t>
            </a:r>
            <a:br>
              <a:rPr lang="fr-FR" dirty="0"/>
            </a:br>
            <a:r>
              <a:rPr lang="fr-FR" dirty="0"/>
              <a:t>🔹 Propose des </a:t>
            </a:r>
            <a:r>
              <a:rPr lang="fr-FR" b="1" dirty="0"/>
              <a:t>grilles d’évaluation qualitatives et semi-quantitatives</a:t>
            </a:r>
            <a:r>
              <a:rPr lang="fr-FR" dirty="0"/>
              <a:t>.</a:t>
            </a:r>
            <a:br>
              <a:rPr lang="fr-FR" dirty="0"/>
            </a:br>
            <a:r>
              <a:rPr lang="fr-FR" dirty="0"/>
              <a:t>🔹 Fort ancrage dans les organisations françaises.</a:t>
            </a:r>
            <a:br>
              <a:rPr lang="fr-FR" dirty="0"/>
            </a:br>
            <a:r>
              <a:rPr lang="fr-FR" dirty="0"/>
              <a:t>🔹 Complémentaire à </a:t>
            </a:r>
            <a:r>
              <a:rPr lang="fr-FR" b="1" dirty="0"/>
              <a:t>ISO 27005</a:t>
            </a:r>
            <a:r>
              <a:rPr lang="fr-FR" dirty="0"/>
              <a:t>.</a:t>
            </a:r>
          </a:p>
          <a:p>
            <a:pPr marL="0" indent="0" algn="l">
              <a:buFontTx/>
              <a:buNone/>
            </a:pPr>
            <a:endParaRPr lang="en-US" dirty="0"/>
          </a:p>
        </p:txBody>
      </p:sp>
      <p:sp>
        <p:nvSpPr>
          <p:cNvPr id="4" name="Espace réservé du numéro de diapositive 3">
            <a:extLst>
              <a:ext uri="{FF2B5EF4-FFF2-40B4-BE49-F238E27FC236}">
                <a16:creationId xmlns:a16="http://schemas.microsoft.com/office/drawing/2014/main" id="{06AE8266-AD76-65B6-BB25-D2B8FA8C6060}"/>
              </a:ext>
            </a:extLst>
          </p:cNvPr>
          <p:cNvSpPr>
            <a:spLocks noGrp="1"/>
          </p:cNvSpPr>
          <p:nvPr>
            <p:ph type="sldNum" sz="quarter" idx="5"/>
          </p:nvPr>
        </p:nvSpPr>
        <p:spPr/>
        <p:txBody>
          <a:bodyPr/>
          <a:lstStyle/>
          <a:p>
            <a:fld id="{B4E0A65F-70CE-4C11-9DB6-CADF0E49A1AB}" type="slidenum">
              <a:rPr lang="fr-FR" smtClean="0"/>
              <a:t>13</a:t>
            </a:fld>
            <a:endParaRPr lang="fr-FR"/>
          </a:p>
        </p:txBody>
      </p:sp>
    </p:spTree>
    <p:extLst>
      <p:ext uri="{BB962C8B-B14F-4D97-AF65-F5344CB8AC3E}">
        <p14:creationId xmlns:p14="http://schemas.microsoft.com/office/powerpoint/2010/main" val="2906986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81D36-B385-BF6F-880E-99C6160164E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84BF590-33C6-A9DC-8446-88EC8850B59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4F20955-9912-0F06-575F-FEFEE347D702}"/>
              </a:ext>
            </a:extLst>
          </p:cNvPr>
          <p:cNvSpPr>
            <a:spLocks noGrp="1"/>
          </p:cNvSpPr>
          <p:nvPr>
            <p:ph type="body" idx="1"/>
          </p:nvPr>
        </p:nvSpPr>
        <p:spPr/>
        <p:txBody>
          <a:bodyPr/>
          <a:lstStyle/>
          <a:p>
            <a:r>
              <a:rPr lang="fr-FR" b="1" dirty="0"/>
              <a:t>OCTAVE (</a:t>
            </a:r>
            <a:r>
              <a:rPr lang="fr-FR" b="1" dirty="0" err="1"/>
              <a:t>Operationally</a:t>
            </a:r>
            <a:r>
              <a:rPr lang="fr-FR" b="1" dirty="0"/>
              <a:t> Critical </a:t>
            </a:r>
            <a:r>
              <a:rPr lang="fr-FR" b="1" dirty="0" err="1"/>
              <a:t>Threat</a:t>
            </a:r>
            <a:r>
              <a:rPr lang="fr-FR" b="1" dirty="0"/>
              <a:t>, Asset, and </a:t>
            </a:r>
            <a:r>
              <a:rPr lang="fr-FR" b="1" dirty="0" err="1"/>
              <a:t>Vulnerability</a:t>
            </a:r>
            <a:r>
              <a:rPr lang="fr-FR" b="1" dirty="0"/>
              <a:t> Evaluation – Carnegie Mellon)</a:t>
            </a:r>
          </a:p>
          <a:p>
            <a:r>
              <a:rPr lang="fr-FR" dirty="0"/>
              <a:t>🔹 Focalisée sur les </a:t>
            </a:r>
            <a:r>
              <a:rPr lang="fr-FR" b="1" dirty="0"/>
              <a:t>actifs critiques</a:t>
            </a:r>
            <a:r>
              <a:rPr lang="fr-FR" dirty="0"/>
              <a:t> et les </a:t>
            </a:r>
            <a:r>
              <a:rPr lang="fr-FR" b="1" dirty="0"/>
              <a:t>processus métiers</a:t>
            </a:r>
            <a:r>
              <a:rPr lang="fr-FR" dirty="0"/>
              <a:t>.</a:t>
            </a:r>
            <a:br>
              <a:rPr lang="fr-FR" dirty="0"/>
            </a:br>
            <a:r>
              <a:rPr lang="fr-FR" dirty="0"/>
              <a:t>🔹 Encourage la participation des utilisateurs clés.</a:t>
            </a:r>
            <a:br>
              <a:rPr lang="fr-FR" dirty="0"/>
            </a:br>
            <a:r>
              <a:rPr lang="fr-FR" dirty="0"/>
              <a:t>🔹 Repose sur une </a:t>
            </a:r>
            <a:r>
              <a:rPr lang="fr-FR" b="1" dirty="0"/>
              <a:t>auto-évaluation interne</a:t>
            </a:r>
            <a:r>
              <a:rPr lang="fr-FR" dirty="0"/>
              <a:t>.</a:t>
            </a:r>
            <a:br>
              <a:rPr lang="fr-FR" dirty="0"/>
            </a:br>
            <a:r>
              <a:rPr lang="fr-FR" dirty="0"/>
              <a:t>🔹 Convient bien aux </a:t>
            </a:r>
            <a:r>
              <a:rPr lang="fr-FR" b="1" dirty="0"/>
              <a:t>structures de taille moyenne</a:t>
            </a:r>
            <a:r>
              <a:rPr lang="fr-FR" dirty="0"/>
              <a:t>.</a:t>
            </a:r>
          </a:p>
          <a:p>
            <a:pPr marL="0" indent="0" algn="l">
              <a:buFontTx/>
              <a:buNone/>
            </a:pPr>
            <a:endParaRPr lang="en-US" dirty="0"/>
          </a:p>
        </p:txBody>
      </p:sp>
      <p:sp>
        <p:nvSpPr>
          <p:cNvPr id="4" name="Espace réservé du numéro de diapositive 3">
            <a:extLst>
              <a:ext uri="{FF2B5EF4-FFF2-40B4-BE49-F238E27FC236}">
                <a16:creationId xmlns:a16="http://schemas.microsoft.com/office/drawing/2014/main" id="{A4F32740-5E3B-7B69-CFB7-F8550E8C22E5}"/>
              </a:ext>
            </a:extLst>
          </p:cNvPr>
          <p:cNvSpPr>
            <a:spLocks noGrp="1"/>
          </p:cNvSpPr>
          <p:nvPr>
            <p:ph type="sldNum" sz="quarter" idx="5"/>
          </p:nvPr>
        </p:nvSpPr>
        <p:spPr/>
        <p:txBody>
          <a:bodyPr/>
          <a:lstStyle/>
          <a:p>
            <a:fld id="{B4E0A65F-70CE-4C11-9DB6-CADF0E49A1AB}" type="slidenum">
              <a:rPr lang="fr-FR" smtClean="0"/>
              <a:t>14</a:t>
            </a:fld>
            <a:endParaRPr lang="fr-FR"/>
          </a:p>
        </p:txBody>
      </p:sp>
    </p:spTree>
    <p:extLst>
      <p:ext uri="{BB962C8B-B14F-4D97-AF65-F5344CB8AC3E}">
        <p14:creationId xmlns:p14="http://schemas.microsoft.com/office/powerpoint/2010/main" val="7517567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8DC16-2B07-F1C4-53E9-AE88DD0CBCC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9527DC2-6549-BF98-FFA4-721DABF5301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81ADD49-F389-5A5B-6A30-C8CE40D64907}"/>
              </a:ext>
            </a:extLst>
          </p:cNvPr>
          <p:cNvSpPr>
            <a:spLocks noGrp="1"/>
          </p:cNvSpPr>
          <p:nvPr>
            <p:ph type="body" idx="1"/>
          </p:nvPr>
        </p:nvSpPr>
        <p:spPr/>
        <p:txBody>
          <a:bodyPr/>
          <a:lstStyle/>
          <a:p>
            <a:r>
              <a:rPr lang="fr-FR" b="1" dirty="0"/>
              <a:t>NIST RMF (Risk Management Framework – États-Unis)</a:t>
            </a:r>
          </a:p>
          <a:p>
            <a:r>
              <a:rPr lang="fr-FR" dirty="0"/>
              <a:t>🔹 Référentiel du </a:t>
            </a:r>
            <a:r>
              <a:rPr lang="fr-FR" b="1" dirty="0"/>
              <a:t>NIST</a:t>
            </a:r>
            <a:r>
              <a:rPr lang="fr-FR" dirty="0"/>
              <a:t> pour les systèmes fédéraux américains.</a:t>
            </a:r>
            <a:br>
              <a:rPr lang="fr-FR" dirty="0"/>
            </a:br>
            <a:r>
              <a:rPr lang="fr-FR" dirty="0"/>
              <a:t>🔹 Structure en </a:t>
            </a:r>
            <a:r>
              <a:rPr lang="fr-FR" b="1" dirty="0"/>
              <a:t>7 étapes</a:t>
            </a:r>
            <a:r>
              <a:rPr lang="fr-FR" dirty="0"/>
              <a:t> : catégoriser / sélectionner / implémenter / évaluer / autoriser / surveiller / améliorer.</a:t>
            </a:r>
            <a:br>
              <a:rPr lang="fr-FR" dirty="0"/>
            </a:br>
            <a:r>
              <a:rPr lang="fr-FR" dirty="0"/>
              <a:t>🔹 Très complet et orienté conformité.</a:t>
            </a:r>
            <a:br>
              <a:rPr lang="fr-FR" dirty="0"/>
            </a:br>
            <a:r>
              <a:rPr lang="fr-FR" dirty="0"/>
              <a:t>🔹 Compatible avec les standards ISO.</a:t>
            </a:r>
          </a:p>
          <a:p>
            <a:pPr marL="0" indent="0" algn="l">
              <a:buFontTx/>
              <a:buNone/>
            </a:pPr>
            <a:endParaRPr lang="en-US" dirty="0"/>
          </a:p>
        </p:txBody>
      </p:sp>
      <p:sp>
        <p:nvSpPr>
          <p:cNvPr id="4" name="Espace réservé du numéro de diapositive 3">
            <a:extLst>
              <a:ext uri="{FF2B5EF4-FFF2-40B4-BE49-F238E27FC236}">
                <a16:creationId xmlns:a16="http://schemas.microsoft.com/office/drawing/2014/main" id="{B25DDCEC-3AD5-3320-5A8B-7DBEB4E1FE37}"/>
              </a:ext>
            </a:extLst>
          </p:cNvPr>
          <p:cNvSpPr>
            <a:spLocks noGrp="1"/>
          </p:cNvSpPr>
          <p:nvPr>
            <p:ph type="sldNum" sz="quarter" idx="5"/>
          </p:nvPr>
        </p:nvSpPr>
        <p:spPr/>
        <p:txBody>
          <a:bodyPr/>
          <a:lstStyle/>
          <a:p>
            <a:fld id="{B4E0A65F-70CE-4C11-9DB6-CADF0E49A1AB}" type="slidenum">
              <a:rPr lang="fr-FR" smtClean="0"/>
              <a:t>15</a:t>
            </a:fld>
            <a:endParaRPr lang="fr-FR"/>
          </a:p>
        </p:txBody>
      </p:sp>
    </p:spTree>
    <p:extLst>
      <p:ext uri="{BB962C8B-B14F-4D97-AF65-F5344CB8AC3E}">
        <p14:creationId xmlns:p14="http://schemas.microsoft.com/office/powerpoint/2010/main" val="13838837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355BF-8650-E9F3-77CE-6BA66682D96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D2D6964-1C04-A9C0-67C4-42B655FDC6B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2A818C3-DA8A-8184-D1DC-7C4758E76F75}"/>
              </a:ext>
            </a:extLst>
          </p:cNvPr>
          <p:cNvSpPr>
            <a:spLocks noGrp="1"/>
          </p:cNvSpPr>
          <p:nvPr>
            <p:ph type="body" idx="1"/>
          </p:nvPr>
        </p:nvSpPr>
        <p:spPr/>
        <p:txBody>
          <a:bodyPr/>
          <a:lstStyle/>
          <a:p>
            <a:r>
              <a:rPr lang="fr-FR" b="1" dirty="0"/>
              <a:t>EBIOS Risk Manager (France – ANSSI)</a:t>
            </a:r>
          </a:p>
          <a:p>
            <a:r>
              <a:rPr lang="fr-FR" dirty="0"/>
              <a:t>🔹 Méthode officielle de l’État français pour la </a:t>
            </a:r>
            <a:r>
              <a:rPr lang="fr-FR" b="1" dirty="0"/>
              <a:t>gestion des risques cyber</a:t>
            </a:r>
            <a:r>
              <a:rPr lang="fr-FR" dirty="0"/>
              <a:t>.</a:t>
            </a:r>
            <a:br>
              <a:rPr lang="fr-FR" dirty="0"/>
            </a:br>
            <a:r>
              <a:rPr lang="fr-FR" dirty="0"/>
              <a:t>🔹 Axée sur la </a:t>
            </a:r>
            <a:r>
              <a:rPr lang="fr-FR" b="1" dirty="0"/>
              <a:t>compréhension du contexte</a:t>
            </a:r>
            <a:r>
              <a:rPr lang="fr-FR" dirty="0"/>
              <a:t>, les </a:t>
            </a:r>
            <a:r>
              <a:rPr lang="fr-FR" b="1" dirty="0"/>
              <a:t>scénarios stratégiques</a:t>
            </a:r>
            <a:r>
              <a:rPr lang="fr-FR" dirty="0"/>
              <a:t> et les </a:t>
            </a:r>
            <a:r>
              <a:rPr lang="fr-FR" b="1" dirty="0"/>
              <a:t>risques opérationnels</a:t>
            </a:r>
            <a:r>
              <a:rPr lang="fr-FR" dirty="0"/>
              <a:t>.</a:t>
            </a:r>
            <a:br>
              <a:rPr lang="fr-FR" dirty="0"/>
            </a:br>
            <a:r>
              <a:rPr lang="fr-FR" dirty="0"/>
              <a:t>🔹 Revue en 2018 pour intégrer les menaces modernes (APT, </a:t>
            </a:r>
            <a:r>
              <a:rPr lang="fr-FR" dirty="0" err="1"/>
              <a:t>supply</a:t>
            </a:r>
            <a:r>
              <a:rPr lang="fr-FR" dirty="0"/>
              <a:t> </a:t>
            </a:r>
            <a:r>
              <a:rPr lang="fr-FR" dirty="0" err="1"/>
              <a:t>chain</a:t>
            </a:r>
            <a:r>
              <a:rPr lang="fr-FR" dirty="0"/>
              <a:t>, cloud, etc.).</a:t>
            </a:r>
            <a:br>
              <a:rPr lang="fr-FR" dirty="0"/>
            </a:br>
            <a:r>
              <a:rPr lang="fr-FR" dirty="0"/>
              <a:t>🔹 </a:t>
            </a:r>
            <a:r>
              <a:rPr lang="fr-FR" b="1" dirty="0"/>
              <a:t>Alignée avec ISO 27005 et NIST RMF</a:t>
            </a:r>
            <a:r>
              <a:rPr lang="fr-FR" dirty="0"/>
              <a:t>.</a:t>
            </a:r>
          </a:p>
          <a:p>
            <a:pPr marL="0" indent="0" algn="l">
              <a:buFontTx/>
              <a:buNone/>
            </a:pPr>
            <a:endParaRPr lang="en-US" dirty="0"/>
          </a:p>
        </p:txBody>
      </p:sp>
      <p:sp>
        <p:nvSpPr>
          <p:cNvPr id="4" name="Espace réservé du numéro de diapositive 3">
            <a:extLst>
              <a:ext uri="{FF2B5EF4-FFF2-40B4-BE49-F238E27FC236}">
                <a16:creationId xmlns:a16="http://schemas.microsoft.com/office/drawing/2014/main" id="{768A1909-CEC9-FD4B-6C48-44177BB9493F}"/>
              </a:ext>
            </a:extLst>
          </p:cNvPr>
          <p:cNvSpPr>
            <a:spLocks noGrp="1"/>
          </p:cNvSpPr>
          <p:nvPr>
            <p:ph type="sldNum" sz="quarter" idx="5"/>
          </p:nvPr>
        </p:nvSpPr>
        <p:spPr/>
        <p:txBody>
          <a:bodyPr/>
          <a:lstStyle/>
          <a:p>
            <a:fld id="{B4E0A65F-70CE-4C11-9DB6-CADF0E49A1AB}" type="slidenum">
              <a:rPr lang="fr-FR" smtClean="0"/>
              <a:t>16</a:t>
            </a:fld>
            <a:endParaRPr lang="fr-FR"/>
          </a:p>
        </p:txBody>
      </p:sp>
    </p:spTree>
    <p:extLst>
      <p:ext uri="{BB962C8B-B14F-4D97-AF65-F5344CB8AC3E}">
        <p14:creationId xmlns:p14="http://schemas.microsoft.com/office/powerpoint/2010/main" val="9274372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9A20F-7D29-C8E8-DC3A-099F2CFB6D3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D7C0A4D-5D68-56A7-0C2F-7C238244D89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76D03C4-C09B-0985-B8E4-FD4DF6006159}"/>
              </a:ext>
            </a:extLst>
          </p:cNvPr>
          <p:cNvSpPr>
            <a:spLocks noGrp="1"/>
          </p:cNvSpPr>
          <p:nvPr>
            <p:ph type="body" idx="1"/>
          </p:nvPr>
        </p:nvSpPr>
        <p:spPr/>
        <p:txBody>
          <a:bodyPr/>
          <a:lstStyle/>
          <a:p>
            <a:r>
              <a:rPr lang="fr-FR" b="1" dirty="0"/>
              <a:t>Lecture stratégique</a:t>
            </a:r>
          </a:p>
          <a:p>
            <a:r>
              <a:rPr lang="fr-FR" dirty="0"/>
              <a:t>🏗️ </a:t>
            </a:r>
            <a:r>
              <a:rPr lang="fr-FR" b="1" dirty="0"/>
              <a:t>ISO 31000 →</a:t>
            </a:r>
            <a:r>
              <a:rPr lang="fr-FR" dirty="0"/>
              <a:t> Le </a:t>
            </a:r>
            <a:r>
              <a:rPr lang="fr-FR" b="1" dirty="0"/>
              <a:t>cadre global</a:t>
            </a:r>
            <a:r>
              <a:rPr lang="fr-FR" dirty="0"/>
              <a:t> de gestion des risques.</a:t>
            </a:r>
          </a:p>
          <a:p>
            <a:r>
              <a:rPr lang="fr-FR" dirty="0"/>
              <a:t>🔐 </a:t>
            </a:r>
            <a:r>
              <a:rPr lang="fr-FR" b="1" dirty="0"/>
              <a:t>ISO 27005 →</a:t>
            </a:r>
            <a:r>
              <a:rPr lang="fr-FR" dirty="0"/>
              <a:t> Le </a:t>
            </a:r>
            <a:r>
              <a:rPr lang="fr-FR" b="1" dirty="0"/>
              <a:t>socle normatif SSI</a:t>
            </a:r>
            <a:r>
              <a:rPr lang="fr-FR" dirty="0"/>
              <a:t> compatible avec ISO 31000.</a:t>
            </a:r>
          </a:p>
          <a:p>
            <a:r>
              <a:rPr lang="fr-FR" dirty="0"/>
              <a:t>⚙️ </a:t>
            </a:r>
            <a:r>
              <a:rPr lang="fr-FR" b="1" dirty="0"/>
              <a:t>MAGERIT / MEHARI / OCTAVE →</a:t>
            </a:r>
            <a:r>
              <a:rPr lang="fr-FR" dirty="0"/>
              <a:t> Les </a:t>
            </a:r>
            <a:r>
              <a:rPr lang="fr-FR" b="1" dirty="0"/>
              <a:t>méthodes opérationnelles</a:t>
            </a:r>
            <a:r>
              <a:rPr lang="fr-FR" dirty="0"/>
              <a:t> d’application.</a:t>
            </a:r>
          </a:p>
          <a:p>
            <a:r>
              <a:rPr lang="fr-FR" dirty="0"/>
              <a:t>🧮 </a:t>
            </a:r>
            <a:r>
              <a:rPr lang="fr-FR" b="1" dirty="0"/>
              <a:t>FAIR →</a:t>
            </a:r>
            <a:r>
              <a:rPr lang="fr-FR" dirty="0"/>
              <a:t> L’</a:t>
            </a:r>
            <a:r>
              <a:rPr lang="fr-FR" b="1" dirty="0"/>
              <a:t>approche financière</a:t>
            </a:r>
            <a:r>
              <a:rPr lang="fr-FR" dirty="0"/>
              <a:t> et quantitative.</a:t>
            </a:r>
          </a:p>
          <a:p>
            <a:r>
              <a:rPr lang="fr-FR" dirty="0"/>
              <a:t>🧠 </a:t>
            </a:r>
            <a:r>
              <a:rPr lang="fr-FR" b="1" dirty="0"/>
              <a:t>EBIOS RM →</a:t>
            </a:r>
            <a:r>
              <a:rPr lang="fr-FR" dirty="0"/>
              <a:t> La </a:t>
            </a:r>
            <a:r>
              <a:rPr lang="fr-FR" b="1" dirty="0"/>
              <a:t>méthode moderne et collaborative</a:t>
            </a:r>
            <a:r>
              <a:rPr lang="fr-FR" dirty="0"/>
              <a:t>, adaptée aux menaces actuelles.</a:t>
            </a:r>
          </a:p>
          <a:p>
            <a:r>
              <a:rPr lang="fr-FR" dirty="0"/>
              <a:t>🧰 </a:t>
            </a:r>
            <a:r>
              <a:rPr lang="fr-FR" b="1" dirty="0"/>
              <a:t>NIST RMF →</a:t>
            </a:r>
            <a:r>
              <a:rPr lang="fr-FR" dirty="0"/>
              <a:t> Le </a:t>
            </a:r>
            <a:r>
              <a:rPr lang="fr-FR" b="1" dirty="0"/>
              <a:t>cadre réglementaire</a:t>
            </a:r>
            <a:r>
              <a:rPr lang="fr-FR" dirty="0"/>
              <a:t> et technique de référence américain.</a:t>
            </a:r>
          </a:p>
          <a:p>
            <a:pPr marL="0" indent="0" algn="l">
              <a:buFontTx/>
              <a:buNone/>
            </a:pPr>
            <a:endParaRPr lang="en-US" dirty="0"/>
          </a:p>
        </p:txBody>
      </p:sp>
      <p:sp>
        <p:nvSpPr>
          <p:cNvPr id="4" name="Espace réservé du numéro de diapositive 3">
            <a:extLst>
              <a:ext uri="{FF2B5EF4-FFF2-40B4-BE49-F238E27FC236}">
                <a16:creationId xmlns:a16="http://schemas.microsoft.com/office/drawing/2014/main" id="{677CEF84-1E22-04EC-6685-2D5230F72F15}"/>
              </a:ext>
            </a:extLst>
          </p:cNvPr>
          <p:cNvSpPr>
            <a:spLocks noGrp="1"/>
          </p:cNvSpPr>
          <p:nvPr>
            <p:ph type="sldNum" sz="quarter" idx="5"/>
          </p:nvPr>
        </p:nvSpPr>
        <p:spPr/>
        <p:txBody>
          <a:bodyPr/>
          <a:lstStyle/>
          <a:p>
            <a:fld id="{B4E0A65F-70CE-4C11-9DB6-CADF0E49A1AB}" type="slidenum">
              <a:rPr lang="fr-FR" smtClean="0"/>
              <a:t>17</a:t>
            </a:fld>
            <a:endParaRPr lang="fr-FR"/>
          </a:p>
        </p:txBody>
      </p:sp>
    </p:spTree>
    <p:extLst>
      <p:ext uri="{BB962C8B-B14F-4D97-AF65-F5344CB8AC3E}">
        <p14:creationId xmlns:p14="http://schemas.microsoft.com/office/powerpoint/2010/main" val="7984616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6E4F8-5B29-8DC6-DD21-7729276044F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356B490-2A5D-B2B1-EACD-41149B170BE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6B5CDCF-0A31-E1B3-E307-57C56031B84F}"/>
              </a:ext>
            </a:extLst>
          </p:cNvPr>
          <p:cNvSpPr>
            <a:spLocks noGrp="1"/>
          </p:cNvSpPr>
          <p:nvPr>
            <p:ph type="body" idx="1"/>
          </p:nvPr>
        </p:nvSpPr>
        <p:spPr/>
        <p:txBody>
          <a:bodyPr/>
          <a:lstStyle/>
          <a:p>
            <a:pPr lvl="1"/>
            <a:r>
              <a:rPr lang="fr-FR" dirty="0"/>
              <a:t>-Maitriser ses risques, c’est contribuer à la confiance </a:t>
            </a:r>
            <a:r>
              <a:rPr lang="fr-FR" dirty="0" err="1"/>
              <a:t>necessaire</a:t>
            </a:r>
            <a:r>
              <a:rPr lang="fr-FR" dirty="0"/>
              <a:t> aux dirigeant, à son personnel, aux clients , aux partenaires</a:t>
            </a:r>
          </a:p>
          <a:p>
            <a:pPr lvl="1"/>
            <a:r>
              <a:rPr lang="fr-FR" dirty="0"/>
              <a:t>-Cela permet aussi de </a:t>
            </a:r>
            <a:r>
              <a:rPr lang="fr-FR" dirty="0" err="1"/>
              <a:t>determiner</a:t>
            </a:r>
            <a:r>
              <a:rPr lang="fr-FR" dirty="0"/>
              <a:t> un niveau de sécurité parfaitement adapté aux risques auxquels on est réellement confrontés et à notre contexte particulier</a:t>
            </a:r>
          </a:p>
          <a:p>
            <a:pPr marL="628650" lvl="1" indent="-171450">
              <a:buFontTx/>
              <a:buChar char="-"/>
            </a:pPr>
            <a:r>
              <a:rPr lang="fr-FR" dirty="0"/>
              <a:t>Cela permet d’ailleurs de faire des économies </a:t>
            </a:r>
            <a:r>
              <a:rPr lang="fr-FR" dirty="0" err="1"/>
              <a:t>puisqu</a:t>
            </a:r>
            <a:r>
              <a:rPr lang="fr-FR" dirty="0"/>
              <a:t> en déterminant des mesures proportionnées aux risques, on ne va </a:t>
            </a:r>
            <a:r>
              <a:rPr lang="fr-FR" dirty="0" err="1"/>
              <a:t>depenser</a:t>
            </a:r>
            <a:r>
              <a:rPr lang="fr-FR" dirty="0"/>
              <a:t> que ce qui est </a:t>
            </a:r>
            <a:r>
              <a:rPr lang="fr-FR" dirty="0" err="1"/>
              <a:t>necessaire</a:t>
            </a:r>
            <a:r>
              <a:rPr lang="fr-FR" dirty="0"/>
              <a:t> et suffisant</a:t>
            </a:r>
          </a:p>
          <a:p>
            <a:pPr marL="628650" lvl="1" indent="-171450">
              <a:buFontTx/>
              <a:buChar char="-"/>
            </a:pPr>
            <a:r>
              <a:rPr lang="fr-FR" dirty="0"/>
              <a:t>On contribue à la conformité et aux obligation légales car ces </a:t>
            </a:r>
            <a:r>
              <a:rPr lang="fr-FR" dirty="0" err="1"/>
              <a:t>dernieres</a:t>
            </a:r>
            <a:r>
              <a:rPr lang="fr-FR" dirty="0"/>
              <a:t> sont </a:t>
            </a:r>
            <a:r>
              <a:rPr lang="fr-FR" dirty="0" err="1"/>
              <a:t>basees</a:t>
            </a:r>
            <a:r>
              <a:rPr lang="fr-FR" dirty="0"/>
              <a:t> sur les risques et à la proportionnalité des mesures</a:t>
            </a:r>
          </a:p>
          <a:p>
            <a:pPr marL="628650" lvl="1" indent="-171450">
              <a:buFontTx/>
              <a:buChar char="-"/>
            </a:pPr>
            <a:r>
              <a:rPr lang="fr-FR" dirty="0"/>
              <a:t>C’est aussi contribuer à la </a:t>
            </a:r>
            <a:r>
              <a:rPr lang="fr-FR" dirty="0" err="1"/>
              <a:t>coherence</a:t>
            </a:r>
            <a:r>
              <a:rPr lang="fr-FR" dirty="0"/>
              <a:t> avec les normes internationales qui comporte des exigences et des bonnes pratiques sur la gestion des risques</a:t>
            </a:r>
          </a:p>
        </p:txBody>
      </p:sp>
      <p:sp>
        <p:nvSpPr>
          <p:cNvPr id="4" name="Espace réservé du numéro de diapositive 3">
            <a:extLst>
              <a:ext uri="{FF2B5EF4-FFF2-40B4-BE49-F238E27FC236}">
                <a16:creationId xmlns:a16="http://schemas.microsoft.com/office/drawing/2014/main" id="{2A69822F-4AB0-1BE2-BE2E-B34179AB04C1}"/>
              </a:ext>
            </a:extLst>
          </p:cNvPr>
          <p:cNvSpPr>
            <a:spLocks noGrp="1"/>
          </p:cNvSpPr>
          <p:nvPr>
            <p:ph type="sldNum" sz="quarter" idx="5"/>
          </p:nvPr>
        </p:nvSpPr>
        <p:spPr/>
        <p:txBody>
          <a:bodyPr/>
          <a:lstStyle/>
          <a:p>
            <a:fld id="{B4E0A65F-70CE-4C11-9DB6-CADF0E49A1AB}" type="slidenum">
              <a:rPr lang="fr-FR" smtClean="0"/>
              <a:t>19</a:t>
            </a:fld>
            <a:endParaRPr lang="fr-FR"/>
          </a:p>
        </p:txBody>
      </p:sp>
    </p:spTree>
    <p:extLst>
      <p:ext uri="{BB962C8B-B14F-4D97-AF65-F5344CB8AC3E}">
        <p14:creationId xmlns:p14="http://schemas.microsoft.com/office/powerpoint/2010/main" val="4318284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B377-F32C-C54C-4A4D-C7D405D16E1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A347AB9-3A1F-0F53-0057-07C7790A703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9AA560D-533D-F12A-F384-45F95D284E18}"/>
              </a:ext>
            </a:extLst>
          </p:cNvPr>
          <p:cNvSpPr>
            <a:spLocks noGrp="1"/>
          </p:cNvSpPr>
          <p:nvPr>
            <p:ph type="body" idx="1"/>
          </p:nvPr>
        </p:nvSpPr>
        <p:spPr/>
        <p:txBody>
          <a:bodyPr/>
          <a:lstStyle/>
          <a:p>
            <a:r>
              <a:rPr lang="fr-FR" b="1" dirty="0"/>
              <a:t>1. En quoi la démarche EBIOS RM favorise-t-elle la convergence entre les enjeux métiers et la cybersécurité ?</a:t>
            </a:r>
          </a:p>
          <a:p>
            <a:r>
              <a:rPr lang="fr-FR" dirty="0"/>
              <a:t>La méthode </a:t>
            </a:r>
            <a:r>
              <a:rPr lang="fr-FR" b="1" dirty="0"/>
              <a:t>EBIOS Risk Manager</a:t>
            </a:r>
            <a:r>
              <a:rPr lang="fr-FR" dirty="0"/>
              <a:t> repose sur une approche </a:t>
            </a:r>
            <a:r>
              <a:rPr lang="fr-FR" b="1" dirty="0"/>
              <a:t>par les scénarios de risque</a:t>
            </a:r>
            <a:r>
              <a:rPr lang="fr-FR" dirty="0"/>
              <a:t> qui part des </a:t>
            </a:r>
            <a:r>
              <a:rPr lang="fr-FR" b="1" dirty="0"/>
              <a:t>valeurs métiers essentielles</a:t>
            </a:r>
            <a:r>
              <a:rPr lang="fr-FR" dirty="0"/>
              <a:t> et des </a:t>
            </a:r>
            <a:r>
              <a:rPr lang="fr-FR" b="1" dirty="0"/>
              <a:t>objectifs stratégiques</a:t>
            </a:r>
            <a:r>
              <a:rPr lang="fr-FR" dirty="0"/>
              <a:t> de l’organisation.</a:t>
            </a:r>
            <a:br>
              <a:rPr lang="fr-FR" dirty="0"/>
            </a:br>
            <a:r>
              <a:rPr lang="fr-FR" dirty="0"/>
              <a:t>Elle permet de replacer la cybersécurité dans le </a:t>
            </a:r>
            <a:r>
              <a:rPr lang="fr-FR" b="1" dirty="0"/>
              <a:t>contexte business</a:t>
            </a:r>
            <a:r>
              <a:rPr lang="fr-FR" dirty="0"/>
              <a:t>, en faisant dialoguer les acteurs de la sécurité avec les </a:t>
            </a:r>
            <a:r>
              <a:rPr lang="fr-FR" b="1" dirty="0"/>
              <a:t>métiers, la direction et les opérationnels</a:t>
            </a:r>
            <a:r>
              <a:rPr lang="fr-FR" dirty="0"/>
              <a:t> autour des mêmes préoccupations : la </a:t>
            </a:r>
            <a:r>
              <a:rPr lang="fr-FR" b="1" dirty="0"/>
              <a:t>protection des activités critiques</a:t>
            </a:r>
            <a:r>
              <a:rPr lang="fr-FR" dirty="0"/>
              <a:t>.</a:t>
            </a:r>
          </a:p>
          <a:p>
            <a:r>
              <a:rPr lang="fr-FR" dirty="0"/>
              <a:t>Ainsi :</a:t>
            </a:r>
          </a:p>
          <a:p>
            <a:r>
              <a:rPr lang="fr-FR" dirty="0"/>
              <a:t>Les </a:t>
            </a:r>
            <a:r>
              <a:rPr lang="fr-FR" b="1" dirty="0"/>
              <a:t>biens essentiels</a:t>
            </a:r>
            <a:r>
              <a:rPr lang="fr-FR" dirty="0"/>
              <a:t> (informations, services, processus) sont identifiés avec les métiers, ce qui ancre la sécurité dans la </a:t>
            </a:r>
            <a:r>
              <a:rPr lang="fr-FR" b="1" dirty="0"/>
              <a:t>réalité opérationnelle</a:t>
            </a:r>
            <a:r>
              <a:rPr lang="fr-FR" dirty="0"/>
              <a:t>.</a:t>
            </a:r>
          </a:p>
          <a:p>
            <a:r>
              <a:rPr lang="fr-FR" dirty="0"/>
              <a:t>Les </a:t>
            </a:r>
            <a:r>
              <a:rPr lang="fr-FR" b="1" dirty="0"/>
              <a:t>sources de risque</a:t>
            </a:r>
            <a:r>
              <a:rPr lang="fr-FR" dirty="0"/>
              <a:t> (attaquants, motivations, capacités) sont évaluées en fonction de leur </a:t>
            </a:r>
            <a:r>
              <a:rPr lang="fr-FR" b="1" dirty="0"/>
              <a:t>impact sur les missions et objectifs métier</a:t>
            </a:r>
            <a:r>
              <a:rPr lang="fr-FR" dirty="0"/>
              <a:t>.</a:t>
            </a:r>
          </a:p>
          <a:p>
            <a:r>
              <a:rPr lang="fr-FR" dirty="0"/>
              <a:t>Les </a:t>
            </a:r>
            <a:r>
              <a:rPr lang="fr-FR" b="1" dirty="0"/>
              <a:t>mesures de sécurité</a:t>
            </a:r>
            <a:r>
              <a:rPr lang="fr-FR" dirty="0"/>
              <a:t> proposées sont justifiées par leur </a:t>
            </a:r>
            <a:r>
              <a:rPr lang="fr-FR" b="1" dirty="0"/>
              <a:t>valeur ajoutée métier</a:t>
            </a:r>
            <a:r>
              <a:rPr lang="fr-FR" dirty="0"/>
              <a:t> et non par une simple conformité technique.</a:t>
            </a:r>
          </a:p>
          <a:p>
            <a:r>
              <a:rPr lang="fr-FR" dirty="0"/>
              <a:t>👉 En somme, EBIOS RM établit un </a:t>
            </a:r>
            <a:r>
              <a:rPr lang="fr-FR" b="1" dirty="0"/>
              <a:t>langage commun</a:t>
            </a:r>
            <a:r>
              <a:rPr lang="fr-FR" dirty="0"/>
              <a:t> entre RSSI, DSI et direction générale, favorisant une </a:t>
            </a:r>
            <a:r>
              <a:rPr lang="fr-FR" b="1" dirty="0"/>
              <a:t>gouvernance intégrée du risque numérique</a:t>
            </a:r>
            <a:r>
              <a:rPr lang="fr-FR" dirty="0"/>
              <a:t> alignée sur les priorités métier.</a:t>
            </a:r>
          </a:p>
          <a:p>
            <a:br>
              <a:rPr lang="fr-FR" dirty="0"/>
            </a:br>
            <a:endParaRPr lang="fr-FR" dirty="0"/>
          </a:p>
          <a:p>
            <a:r>
              <a:rPr lang="fr-FR" b="1" dirty="0"/>
              <a:t>🧭 2. Comment s’assurer que les ateliers EBIOS RM produisent des résultats réutilisables et capitalisables ?</a:t>
            </a:r>
          </a:p>
          <a:p>
            <a:r>
              <a:rPr lang="fr-FR" dirty="0"/>
              <a:t>Pour rendre les résultats exploitables dans le temps et transverses aux projets, il faut adopter une </a:t>
            </a:r>
            <a:r>
              <a:rPr lang="fr-FR" b="1" dirty="0"/>
              <a:t>démarche structurée et outillée</a:t>
            </a:r>
            <a:r>
              <a:rPr lang="fr-FR" dirty="0"/>
              <a:t>, reposant sur quatre leviers principaux :</a:t>
            </a:r>
          </a:p>
          <a:p>
            <a:r>
              <a:rPr lang="fr-FR" b="1" dirty="0"/>
              <a:t>Normalisation des livrables</a:t>
            </a:r>
            <a:endParaRPr lang="fr-FR" dirty="0"/>
          </a:p>
          <a:p>
            <a:pPr lvl="1"/>
            <a:r>
              <a:rPr lang="fr-FR" dirty="0"/>
              <a:t>Utiliser des </a:t>
            </a:r>
            <a:r>
              <a:rPr lang="fr-FR" b="1" dirty="0"/>
              <a:t>gabarits communs</a:t>
            </a:r>
            <a:r>
              <a:rPr lang="fr-FR" dirty="0"/>
              <a:t> pour tous les ateliers (cartographie des valeurs métiers, scénarios de menace, mesures, etc.).</a:t>
            </a:r>
          </a:p>
          <a:p>
            <a:pPr lvl="1"/>
            <a:r>
              <a:rPr lang="fr-FR" dirty="0"/>
              <a:t>Garantir la </a:t>
            </a:r>
            <a:r>
              <a:rPr lang="fr-FR" b="1" dirty="0"/>
              <a:t>traçabilité</a:t>
            </a:r>
            <a:r>
              <a:rPr lang="fr-FR" dirty="0"/>
              <a:t> entre les ateliers : du bien essentiel jusqu’au scénario de risque et au plan de traitement associé.</a:t>
            </a:r>
          </a:p>
          <a:p>
            <a:r>
              <a:rPr lang="fr-FR" b="1" dirty="0"/>
              <a:t>Capitalisation dans un référentiel de risques</a:t>
            </a:r>
            <a:endParaRPr lang="fr-FR" dirty="0"/>
          </a:p>
          <a:p>
            <a:pPr lvl="1"/>
            <a:r>
              <a:rPr lang="fr-FR" dirty="0"/>
              <a:t>Alimenter une </a:t>
            </a:r>
            <a:r>
              <a:rPr lang="fr-FR" b="1" dirty="0"/>
              <a:t>base de connaissances EBIOS RM</a:t>
            </a:r>
            <a:r>
              <a:rPr lang="fr-FR" dirty="0"/>
              <a:t> (menaces types, vulnérabilités, mesures éprouvées).</a:t>
            </a:r>
          </a:p>
          <a:p>
            <a:pPr lvl="1"/>
            <a:r>
              <a:rPr lang="fr-FR" dirty="0"/>
              <a:t>Réutiliser les scénarios pour d’autres projets ou audits afin d’assurer la cohérence du management des risques.</a:t>
            </a:r>
          </a:p>
          <a:p>
            <a:r>
              <a:rPr lang="fr-FR" b="1" dirty="0"/>
              <a:t>Outillage collaboratif</a:t>
            </a:r>
            <a:endParaRPr lang="fr-FR" dirty="0"/>
          </a:p>
          <a:p>
            <a:pPr lvl="1"/>
            <a:r>
              <a:rPr lang="fr-FR" dirty="0"/>
              <a:t>Employer des outils comme </a:t>
            </a:r>
            <a:r>
              <a:rPr lang="fr-FR" b="1" dirty="0"/>
              <a:t>MEHARI, PILAR, Risk Manager, ou Excel/SharePoint structuré</a:t>
            </a:r>
            <a:r>
              <a:rPr lang="fr-FR" dirty="0"/>
              <a:t> pour centraliser les résultats.</a:t>
            </a:r>
          </a:p>
          <a:p>
            <a:pPr lvl="1"/>
            <a:r>
              <a:rPr lang="fr-FR" dirty="0"/>
              <a:t>Favoriser le travail </a:t>
            </a:r>
            <a:r>
              <a:rPr lang="fr-FR" b="1" dirty="0"/>
              <a:t>pluridisciplinaire</a:t>
            </a:r>
            <a:r>
              <a:rPr lang="fr-FR" dirty="0"/>
              <a:t> (RSSI, DPO, métiers, IT, conformité).</a:t>
            </a:r>
          </a:p>
          <a:p>
            <a:r>
              <a:rPr lang="fr-FR" b="1" dirty="0"/>
              <a:t>Revue périodique et gouvernance</a:t>
            </a:r>
            <a:endParaRPr lang="fr-FR" dirty="0"/>
          </a:p>
          <a:p>
            <a:pPr lvl="1"/>
            <a:r>
              <a:rPr lang="fr-FR" dirty="0"/>
              <a:t>Intégrer les résultats EBIOS RM au </a:t>
            </a:r>
            <a:r>
              <a:rPr lang="fr-FR" b="1" dirty="0"/>
              <a:t>registre de risques global</a:t>
            </a:r>
            <a:r>
              <a:rPr lang="fr-FR" dirty="0"/>
              <a:t> de l’organisation.</a:t>
            </a:r>
          </a:p>
          <a:p>
            <a:pPr lvl="1"/>
            <a:r>
              <a:rPr lang="fr-FR" dirty="0"/>
              <a:t>Mettre en place un </a:t>
            </a:r>
            <a:r>
              <a:rPr lang="fr-FR" b="1" dirty="0"/>
              <a:t>cycle de réévaluation</a:t>
            </a:r>
            <a:r>
              <a:rPr lang="fr-FR" dirty="0"/>
              <a:t> annuel ou post-incident pour actualiser les données.</a:t>
            </a:r>
          </a:p>
          <a:p>
            <a:r>
              <a:rPr lang="fr-FR" dirty="0"/>
              <a:t>👉 Cela permet de transformer les ateliers en </a:t>
            </a:r>
            <a:r>
              <a:rPr lang="fr-FR" b="1" dirty="0"/>
              <a:t>actifs organisationnels</a:t>
            </a:r>
            <a:r>
              <a:rPr lang="fr-FR" dirty="0"/>
              <a:t> plutôt qu’en simples exercices ponctuels, assurant leur </a:t>
            </a:r>
            <a:r>
              <a:rPr lang="fr-FR" b="1" dirty="0"/>
              <a:t>réutilisabilité, traçabilité et évolutivité.</a:t>
            </a:r>
            <a:endParaRPr lang="fr-FR" dirty="0"/>
          </a:p>
          <a:p>
            <a:br>
              <a:rPr lang="fr-FR" dirty="0"/>
            </a:br>
            <a:endParaRPr lang="fr-FR" dirty="0"/>
          </a:p>
          <a:p>
            <a:r>
              <a:rPr lang="fr-FR" b="1" dirty="0"/>
              <a:t>💡 3. (Question complémentaire possible)</a:t>
            </a:r>
          </a:p>
          <a:p>
            <a:r>
              <a:rPr lang="fr-FR" b="1" dirty="0"/>
              <a:t>Comment valoriser les résultats d’une analyse EBIOS RM auprès de la direction générale ?</a:t>
            </a:r>
            <a:endParaRPr lang="fr-FR" dirty="0"/>
          </a:p>
          <a:p>
            <a:r>
              <a:rPr lang="fr-FR" dirty="0"/>
              <a:t>En traduisant les scénarios de risque en </a:t>
            </a:r>
            <a:r>
              <a:rPr lang="fr-FR" b="1" dirty="0"/>
              <a:t>indicateurs de performance et de décision</a:t>
            </a:r>
            <a:r>
              <a:rPr lang="fr-FR" dirty="0"/>
              <a:t> :</a:t>
            </a:r>
          </a:p>
          <a:p>
            <a:r>
              <a:rPr lang="fr-FR" dirty="0"/>
              <a:t>Impacts financiers, juridiques, réputationnels sur les activités clés.</a:t>
            </a:r>
          </a:p>
          <a:p>
            <a:r>
              <a:rPr lang="fr-FR" dirty="0"/>
              <a:t>Retour sur investissement des mesures de sécurité proposées.</a:t>
            </a:r>
          </a:p>
          <a:p>
            <a:r>
              <a:rPr lang="fr-FR" dirty="0"/>
              <a:t>Mise en évidence du lien entre </a:t>
            </a:r>
            <a:r>
              <a:rPr lang="fr-FR" b="1" dirty="0"/>
              <a:t>risque numérique et risque métier</a:t>
            </a:r>
            <a:r>
              <a:rPr lang="fr-FR" dirty="0"/>
              <a:t> global.</a:t>
            </a:r>
          </a:p>
          <a:p>
            <a:r>
              <a:rPr lang="fr-FR" dirty="0"/>
              <a:t>👉 L’objectif est de </a:t>
            </a:r>
            <a:r>
              <a:rPr lang="fr-FR" b="1" dirty="0"/>
              <a:t>parler le langage du risque d’entreprise</a:t>
            </a:r>
            <a:r>
              <a:rPr lang="fr-FR" dirty="0"/>
              <a:t>, pas celui de la technique.</a:t>
            </a:r>
          </a:p>
          <a:p>
            <a:pPr lvl="1"/>
            <a:endParaRPr lang="fr-FR" dirty="0"/>
          </a:p>
        </p:txBody>
      </p:sp>
      <p:sp>
        <p:nvSpPr>
          <p:cNvPr id="4" name="Espace réservé du numéro de diapositive 3">
            <a:extLst>
              <a:ext uri="{FF2B5EF4-FFF2-40B4-BE49-F238E27FC236}">
                <a16:creationId xmlns:a16="http://schemas.microsoft.com/office/drawing/2014/main" id="{BE3D89F6-9FCE-18B8-25F3-92074967B92C}"/>
              </a:ext>
            </a:extLst>
          </p:cNvPr>
          <p:cNvSpPr>
            <a:spLocks noGrp="1"/>
          </p:cNvSpPr>
          <p:nvPr>
            <p:ph type="sldNum" sz="quarter" idx="5"/>
          </p:nvPr>
        </p:nvSpPr>
        <p:spPr/>
        <p:txBody>
          <a:bodyPr/>
          <a:lstStyle/>
          <a:p>
            <a:fld id="{B4E0A65F-70CE-4C11-9DB6-CADF0E49A1AB}" type="slidenum">
              <a:rPr lang="fr-FR" smtClean="0"/>
              <a:t>20</a:t>
            </a:fld>
            <a:endParaRPr lang="fr-FR"/>
          </a:p>
        </p:txBody>
      </p:sp>
    </p:spTree>
    <p:extLst>
      <p:ext uri="{BB962C8B-B14F-4D97-AF65-F5344CB8AC3E}">
        <p14:creationId xmlns:p14="http://schemas.microsoft.com/office/powerpoint/2010/main" val="41757563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D605E-47F4-B3C9-29B0-CAB9CF13751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D5C9F80-2D20-7399-277D-13AE65DE052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F60F371-D22F-593D-9677-222E66B6BE2D}"/>
              </a:ext>
            </a:extLst>
          </p:cNvPr>
          <p:cNvSpPr>
            <a:spLocks noGrp="1"/>
          </p:cNvSpPr>
          <p:nvPr>
            <p:ph type="body" idx="1"/>
          </p:nvPr>
        </p:nvSpPr>
        <p:spPr/>
        <p:txBody>
          <a:bodyPr/>
          <a:lstStyle/>
          <a:p>
            <a:pPr lvl="1"/>
            <a:r>
              <a:rPr lang="fr-FR" dirty="0"/>
              <a:t>La labellisation d'un logiciel est un processus d'évaluation par un organisme tiers et indépendant, qui permet de certifier qu'un produit respecte un cahier des charges précis en matière de qualité, de sécurité ou de conformité</a:t>
            </a:r>
            <a:r>
              <a:rPr lang="fr-FR" sz="1200" b="0" i="0" kern="1200" dirty="0">
                <a:solidFill>
                  <a:schemeClr val="tx1"/>
                </a:solidFill>
                <a:effectLst/>
                <a:latin typeface="+mn-lt"/>
                <a:ea typeface="+mn-ea"/>
                <a:cs typeface="+mn-cs"/>
              </a:rPr>
              <a:t>.</a:t>
            </a:r>
          </a:p>
          <a:p>
            <a:pPr lvl="1"/>
            <a:endParaRPr lang="fr-FR" sz="1200" b="0" i="0" kern="1200" dirty="0">
              <a:solidFill>
                <a:schemeClr val="tx1"/>
              </a:solidFill>
              <a:effectLst/>
              <a:latin typeface="+mn-lt"/>
              <a:ea typeface="+mn-ea"/>
              <a:cs typeface="+mn-cs"/>
            </a:endParaRPr>
          </a:p>
          <a:p>
            <a:pPr marL="628650" lvl="1" indent="-171450">
              <a:buFontTx/>
              <a:buChar char="-"/>
            </a:pPr>
            <a:r>
              <a:rPr lang="fr-FR" sz="1200" b="0" i="0" kern="1200" dirty="0">
                <a:solidFill>
                  <a:schemeClr val="tx1"/>
                </a:solidFill>
                <a:effectLst/>
                <a:latin typeface="+mn-lt"/>
                <a:ea typeface="+mn-ea"/>
                <a:cs typeface="+mn-cs"/>
              </a:rPr>
              <a:t>BASES DE CONNAISSANCES</a:t>
            </a:r>
          </a:p>
          <a:p>
            <a:pPr marL="628650" lvl="1" indent="-171450">
              <a:buFontTx/>
              <a:buChar char="-"/>
            </a:pPr>
            <a:r>
              <a:rPr lang="fr-FR" sz="1200" b="0" i="0" kern="1200" dirty="0">
                <a:solidFill>
                  <a:schemeClr val="tx1"/>
                </a:solidFill>
                <a:effectLst/>
                <a:latin typeface="+mn-lt"/>
                <a:ea typeface="+mn-ea"/>
                <a:cs typeface="+mn-cs"/>
              </a:rPr>
              <a:t>ETUDES DE CAS</a:t>
            </a:r>
            <a:endParaRPr lang="fr-FR" dirty="0"/>
          </a:p>
        </p:txBody>
      </p:sp>
      <p:sp>
        <p:nvSpPr>
          <p:cNvPr id="4" name="Espace réservé du numéro de diapositive 3">
            <a:extLst>
              <a:ext uri="{FF2B5EF4-FFF2-40B4-BE49-F238E27FC236}">
                <a16:creationId xmlns:a16="http://schemas.microsoft.com/office/drawing/2014/main" id="{4952B6BE-7FF9-7331-A445-AB7AAFFC7B6E}"/>
              </a:ext>
            </a:extLst>
          </p:cNvPr>
          <p:cNvSpPr>
            <a:spLocks noGrp="1"/>
          </p:cNvSpPr>
          <p:nvPr>
            <p:ph type="sldNum" sz="quarter" idx="5"/>
          </p:nvPr>
        </p:nvSpPr>
        <p:spPr/>
        <p:txBody>
          <a:bodyPr/>
          <a:lstStyle/>
          <a:p>
            <a:fld id="{B4E0A65F-70CE-4C11-9DB6-CADF0E49A1AB}" type="slidenum">
              <a:rPr lang="fr-FR" smtClean="0"/>
              <a:t>21</a:t>
            </a:fld>
            <a:endParaRPr lang="fr-FR"/>
          </a:p>
        </p:txBody>
      </p:sp>
    </p:spTree>
    <p:extLst>
      <p:ext uri="{BB962C8B-B14F-4D97-AF65-F5344CB8AC3E}">
        <p14:creationId xmlns:p14="http://schemas.microsoft.com/office/powerpoint/2010/main" val="28168175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E1A8C-ADB0-FB89-E174-A0471BB8513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F673C44-7A3B-5D33-D6C6-59BFF306E24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3A712E3-A618-7972-F0ED-8C2BFA8DAEB8}"/>
              </a:ext>
            </a:extLst>
          </p:cNvPr>
          <p:cNvSpPr>
            <a:spLocks noGrp="1"/>
          </p:cNvSpPr>
          <p:nvPr>
            <p:ph type="body" idx="1"/>
          </p:nvPr>
        </p:nvSpPr>
        <p:spPr/>
        <p:txBody>
          <a:bodyPr/>
          <a:lstStyle/>
          <a:p>
            <a:pPr lvl="1"/>
            <a:endParaRPr lang="fr-FR" dirty="0"/>
          </a:p>
        </p:txBody>
      </p:sp>
      <p:sp>
        <p:nvSpPr>
          <p:cNvPr id="4" name="Espace réservé du numéro de diapositive 3">
            <a:extLst>
              <a:ext uri="{FF2B5EF4-FFF2-40B4-BE49-F238E27FC236}">
                <a16:creationId xmlns:a16="http://schemas.microsoft.com/office/drawing/2014/main" id="{29065FD3-28C5-7615-BBEB-AE073E09F835}"/>
              </a:ext>
            </a:extLst>
          </p:cNvPr>
          <p:cNvSpPr>
            <a:spLocks noGrp="1"/>
          </p:cNvSpPr>
          <p:nvPr>
            <p:ph type="sldNum" sz="quarter" idx="5"/>
          </p:nvPr>
        </p:nvSpPr>
        <p:spPr/>
        <p:txBody>
          <a:bodyPr/>
          <a:lstStyle/>
          <a:p>
            <a:fld id="{B4E0A65F-70CE-4C11-9DB6-CADF0E49A1AB}" type="slidenum">
              <a:rPr lang="fr-FR" smtClean="0"/>
              <a:t>22</a:t>
            </a:fld>
            <a:endParaRPr lang="fr-FR"/>
          </a:p>
        </p:txBody>
      </p:sp>
    </p:spTree>
    <p:extLst>
      <p:ext uri="{BB962C8B-B14F-4D97-AF65-F5344CB8AC3E}">
        <p14:creationId xmlns:p14="http://schemas.microsoft.com/office/powerpoint/2010/main" val="7093312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B8EA0-36DB-85DF-753B-533AB5D29A2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43113D2-0B2A-382B-23F2-FD5992D9ECD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1CA0455-E5E2-3DF7-0EBF-091C096380D8}"/>
              </a:ext>
            </a:extLst>
          </p:cNvPr>
          <p:cNvSpPr>
            <a:spLocks noGrp="1"/>
          </p:cNvSpPr>
          <p:nvPr>
            <p:ph type="body" idx="1"/>
          </p:nvPr>
        </p:nvSpPr>
        <p:spPr/>
        <p:txBody>
          <a:bodyPr/>
          <a:lstStyle/>
          <a:p>
            <a:pPr lvl="1"/>
            <a:endParaRPr lang="fr-FR" dirty="0"/>
          </a:p>
        </p:txBody>
      </p:sp>
      <p:sp>
        <p:nvSpPr>
          <p:cNvPr id="4" name="Espace réservé du numéro de diapositive 3">
            <a:extLst>
              <a:ext uri="{FF2B5EF4-FFF2-40B4-BE49-F238E27FC236}">
                <a16:creationId xmlns:a16="http://schemas.microsoft.com/office/drawing/2014/main" id="{BECFB4E9-2F98-C689-C727-598854A74EE4}"/>
              </a:ext>
            </a:extLst>
          </p:cNvPr>
          <p:cNvSpPr>
            <a:spLocks noGrp="1"/>
          </p:cNvSpPr>
          <p:nvPr>
            <p:ph type="sldNum" sz="quarter" idx="5"/>
          </p:nvPr>
        </p:nvSpPr>
        <p:spPr/>
        <p:txBody>
          <a:bodyPr/>
          <a:lstStyle/>
          <a:p>
            <a:fld id="{B4E0A65F-70CE-4C11-9DB6-CADF0E49A1AB}" type="slidenum">
              <a:rPr lang="fr-FR" smtClean="0"/>
              <a:t>23</a:t>
            </a:fld>
            <a:endParaRPr lang="fr-FR"/>
          </a:p>
        </p:txBody>
      </p:sp>
    </p:spTree>
    <p:extLst>
      <p:ext uri="{BB962C8B-B14F-4D97-AF65-F5344CB8AC3E}">
        <p14:creationId xmlns:p14="http://schemas.microsoft.com/office/powerpoint/2010/main" val="41956262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AA4FD-D25D-2BCE-4726-010076E770E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8EA1835-448E-82B5-A64A-D391A30AC84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62A68CF-3445-9BF8-F6AE-4943F360B0A6}"/>
              </a:ext>
            </a:extLst>
          </p:cNvPr>
          <p:cNvSpPr>
            <a:spLocks noGrp="1"/>
          </p:cNvSpPr>
          <p:nvPr>
            <p:ph type="body" idx="1"/>
          </p:nvPr>
        </p:nvSpPr>
        <p:spPr/>
        <p:txBody>
          <a:bodyPr/>
          <a:lstStyle/>
          <a:p>
            <a:pPr lvl="1"/>
            <a:r>
              <a:rPr lang="fr-FR" dirty="0"/>
              <a:t>Si le commanditaire est technique, la réponse sera technique</a:t>
            </a:r>
          </a:p>
          <a:p>
            <a:pPr lvl="1"/>
            <a:r>
              <a:rPr lang="fr-FR" dirty="0"/>
              <a:t>Si le commanditaire est un décideur, la direction, le CSPH, la réponse sera stratégique</a:t>
            </a:r>
          </a:p>
          <a:p>
            <a:pPr lvl="1"/>
            <a:r>
              <a:rPr lang="fr-FR" dirty="0"/>
              <a:t>---------------</a:t>
            </a:r>
          </a:p>
          <a:p>
            <a:pPr lvl="1"/>
            <a:r>
              <a:rPr lang="fr-FR" dirty="0"/>
              <a:t>Le niveau de détails d’une étude dépendront des ressources accordées</a:t>
            </a:r>
          </a:p>
        </p:txBody>
      </p:sp>
      <p:sp>
        <p:nvSpPr>
          <p:cNvPr id="4" name="Espace réservé du numéro de diapositive 3">
            <a:extLst>
              <a:ext uri="{FF2B5EF4-FFF2-40B4-BE49-F238E27FC236}">
                <a16:creationId xmlns:a16="http://schemas.microsoft.com/office/drawing/2014/main" id="{48C10252-5C4B-5B86-01DA-E4504D97A52C}"/>
              </a:ext>
            </a:extLst>
          </p:cNvPr>
          <p:cNvSpPr>
            <a:spLocks noGrp="1"/>
          </p:cNvSpPr>
          <p:nvPr>
            <p:ph type="sldNum" sz="quarter" idx="5"/>
          </p:nvPr>
        </p:nvSpPr>
        <p:spPr/>
        <p:txBody>
          <a:bodyPr/>
          <a:lstStyle/>
          <a:p>
            <a:fld id="{B4E0A65F-70CE-4C11-9DB6-CADF0E49A1AB}" type="slidenum">
              <a:rPr lang="fr-FR" smtClean="0"/>
              <a:t>24</a:t>
            </a:fld>
            <a:endParaRPr lang="fr-FR"/>
          </a:p>
        </p:txBody>
      </p:sp>
    </p:spTree>
    <p:extLst>
      <p:ext uri="{BB962C8B-B14F-4D97-AF65-F5344CB8AC3E}">
        <p14:creationId xmlns:p14="http://schemas.microsoft.com/office/powerpoint/2010/main" val="20612386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6BCED-8A8E-9FF1-3069-27C003EBCBF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26CA627-565E-DBC5-0839-657D68B3279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5B7215A-14C2-C0B6-FB3B-EBEA4DF0C567}"/>
              </a:ext>
            </a:extLst>
          </p:cNvPr>
          <p:cNvSpPr>
            <a:spLocks noGrp="1"/>
          </p:cNvSpPr>
          <p:nvPr>
            <p:ph type="body" idx="1"/>
          </p:nvPr>
        </p:nvSpPr>
        <p:spPr/>
        <p:txBody>
          <a:bodyPr/>
          <a:lstStyle/>
          <a:p>
            <a:pPr lvl="1"/>
            <a:r>
              <a:rPr lang="fr-FR" dirty="0"/>
              <a:t>Le point de vue défenseur – L’évènement redouté</a:t>
            </a:r>
          </a:p>
          <a:p>
            <a:pPr lvl="1"/>
            <a:r>
              <a:rPr lang="fr-FR" dirty="0"/>
              <a:t>Pour étudier ce qu’on veut protéger, la VM</a:t>
            </a:r>
          </a:p>
          <a:p>
            <a:pPr lvl="1"/>
            <a:r>
              <a:rPr lang="fr-FR" dirty="0"/>
              <a:t>En quoi elle pourrait </a:t>
            </a:r>
            <a:r>
              <a:rPr lang="fr-FR" dirty="0" err="1"/>
              <a:t>etre</a:t>
            </a:r>
            <a:r>
              <a:rPr lang="fr-FR" dirty="0"/>
              <a:t> atteinte, le critère de sécurité – CID</a:t>
            </a:r>
          </a:p>
          <a:p>
            <a:pPr lvl="1"/>
            <a:r>
              <a:rPr lang="fr-FR" dirty="0"/>
              <a:t>Ce qui pourrait arriver à l’organisme si c’était le cas, Impact</a:t>
            </a:r>
          </a:p>
          <a:p>
            <a:pPr lvl="1"/>
            <a:r>
              <a:rPr lang="fr-FR" dirty="0"/>
              <a:t>Ceci compose les Events redoutés et nous permettra de prioriser nos efforts sur ce qu’on craint le plus</a:t>
            </a:r>
          </a:p>
        </p:txBody>
      </p:sp>
      <p:sp>
        <p:nvSpPr>
          <p:cNvPr id="4" name="Espace réservé du numéro de diapositive 3">
            <a:extLst>
              <a:ext uri="{FF2B5EF4-FFF2-40B4-BE49-F238E27FC236}">
                <a16:creationId xmlns:a16="http://schemas.microsoft.com/office/drawing/2014/main" id="{B8A8E427-841B-47FF-0024-7A8192B7E24A}"/>
              </a:ext>
            </a:extLst>
          </p:cNvPr>
          <p:cNvSpPr>
            <a:spLocks noGrp="1"/>
          </p:cNvSpPr>
          <p:nvPr>
            <p:ph type="sldNum" sz="quarter" idx="5"/>
          </p:nvPr>
        </p:nvSpPr>
        <p:spPr/>
        <p:txBody>
          <a:bodyPr/>
          <a:lstStyle/>
          <a:p>
            <a:fld id="{B4E0A65F-70CE-4C11-9DB6-CADF0E49A1AB}" type="slidenum">
              <a:rPr lang="fr-FR" smtClean="0"/>
              <a:t>25</a:t>
            </a:fld>
            <a:endParaRPr lang="fr-FR"/>
          </a:p>
        </p:txBody>
      </p:sp>
    </p:spTree>
    <p:extLst>
      <p:ext uri="{BB962C8B-B14F-4D97-AF65-F5344CB8AC3E}">
        <p14:creationId xmlns:p14="http://schemas.microsoft.com/office/powerpoint/2010/main" val="24383933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86F5F-7143-1897-B259-E621EF41690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9DBF770-4973-FA16-6BF1-6F94CEF3715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B1DAD52-AA3D-821D-539F-AEC14EBD1270}"/>
              </a:ext>
            </a:extLst>
          </p:cNvPr>
          <p:cNvSpPr>
            <a:spLocks noGrp="1"/>
          </p:cNvSpPr>
          <p:nvPr>
            <p:ph type="body" idx="1"/>
          </p:nvPr>
        </p:nvSpPr>
        <p:spPr/>
        <p:txBody>
          <a:bodyPr/>
          <a:lstStyle/>
          <a:p>
            <a:pPr lvl="1"/>
            <a:r>
              <a:rPr lang="fr-FR" dirty="0"/>
              <a:t>Le point de vue de l’attaquant – Le couple SR/OV</a:t>
            </a:r>
          </a:p>
          <a:p>
            <a:pPr lvl="1"/>
            <a:r>
              <a:rPr lang="fr-FR" dirty="0"/>
              <a:t>On va ainsi s’interroger sur ce qui pourrait nous attaquer et leur motivation</a:t>
            </a:r>
          </a:p>
          <a:p>
            <a:pPr lvl="1"/>
            <a:r>
              <a:rPr lang="fr-FR" dirty="0"/>
              <a:t>Et aussi sur ceux qui voudraient attaquer un autre site que nous même mais qui nous toucherait car on serait au milieu de leur chemin</a:t>
            </a:r>
          </a:p>
          <a:p>
            <a:pPr lvl="1"/>
            <a:r>
              <a:rPr lang="fr-FR" dirty="0"/>
              <a:t>Elle nous permettra de prioriser nos efforts sur les attaques les plus réalistes, les plus vraisemblables</a:t>
            </a:r>
          </a:p>
        </p:txBody>
      </p:sp>
      <p:sp>
        <p:nvSpPr>
          <p:cNvPr id="4" name="Espace réservé du numéro de diapositive 3">
            <a:extLst>
              <a:ext uri="{FF2B5EF4-FFF2-40B4-BE49-F238E27FC236}">
                <a16:creationId xmlns:a16="http://schemas.microsoft.com/office/drawing/2014/main" id="{B1F9740A-766A-F2D9-7B5D-D9578EA5F87F}"/>
              </a:ext>
            </a:extLst>
          </p:cNvPr>
          <p:cNvSpPr>
            <a:spLocks noGrp="1"/>
          </p:cNvSpPr>
          <p:nvPr>
            <p:ph type="sldNum" sz="quarter" idx="5"/>
          </p:nvPr>
        </p:nvSpPr>
        <p:spPr/>
        <p:txBody>
          <a:bodyPr/>
          <a:lstStyle/>
          <a:p>
            <a:fld id="{B4E0A65F-70CE-4C11-9DB6-CADF0E49A1AB}" type="slidenum">
              <a:rPr lang="fr-FR" smtClean="0"/>
              <a:t>26</a:t>
            </a:fld>
            <a:endParaRPr lang="fr-FR"/>
          </a:p>
        </p:txBody>
      </p:sp>
    </p:spTree>
    <p:extLst>
      <p:ext uri="{BB962C8B-B14F-4D97-AF65-F5344CB8AC3E}">
        <p14:creationId xmlns:p14="http://schemas.microsoft.com/office/powerpoint/2010/main" val="2883692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970EC-8A43-B5D2-2D2E-30D77BEB95E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7C9C692-A567-B9FA-928D-B0555DC6C17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4772576-E257-CE95-6407-58CEDC323594}"/>
              </a:ext>
            </a:extLst>
          </p:cNvPr>
          <p:cNvSpPr>
            <a:spLocks noGrp="1"/>
          </p:cNvSpPr>
          <p:nvPr>
            <p:ph type="body" idx="1"/>
          </p:nvPr>
        </p:nvSpPr>
        <p:spPr/>
        <p:txBody>
          <a:bodyPr/>
          <a:lstStyle/>
          <a:p>
            <a:pPr lvl="1"/>
            <a:r>
              <a:rPr lang="fr-FR" dirty="0"/>
              <a:t>Croisement des 2 points de vue</a:t>
            </a:r>
          </a:p>
          <a:p>
            <a:pPr lvl="1"/>
            <a:r>
              <a:rPr lang="fr-FR" dirty="0"/>
              <a:t>Un risque en </a:t>
            </a:r>
            <a:r>
              <a:rPr lang="fr-FR" dirty="0" err="1"/>
              <a:t>matiere</a:t>
            </a:r>
            <a:r>
              <a:rPr lang="fr-FR" dirty="0"/>
              <a:t> de cyber n’existe en </a:t>
            </a:r>
            <a:r>
              <a:rPr lang="fr-FR" dirty="0" err="1"/>
              <a:t>réalite</a:t>
            </a:r>
            <a:r>
              <a:rPr lang="fr-FR" dirty="0"/>
              <a:t> que le point de vue de l’attaquant et de ses objectifs rencontre celui du  défenseur et de ses </a:t>
            </a:r>
            <a:r>
              <a:rPr lang="fr-FR" dirty="0" err="1"/>
              <a:t>events</a:t>
            </a:r>
            <a:r>
              <a:rPr lang="fr-FR" dirty="0"/>
              <a:t> redoutes</a:t>
            </a:r>
          </a:p>
          <a:p>
            <a:pPr lvl="1"/>
            <a:r>
              <a:rPr lang="fr-FR" dirty="0"/>
              <a:t>C’est tout l’objet de l’appréciation des risques avec la méthode EBIOS RM</a:t>
            </a:r>
          </a:p>
        </p:txBody>
      </p:sp>
      <p:sp>
        <p:nvSpPr>
          <p:cNvPr id="4" name="Espace réservé du numéro de diapositive 3">
            <a:extLst>
              <a:ext uri="{FF2B5EF4-FFF2-40B4-BE49-F238E27FC236}">
                <a16:creationId xmlns:a16="http://schemas.microsoft.com/office/drawing/2014/main" id="{912A6952-16DB-1C14-13E9-32BA70EEF014}"/>
              </a:ext>
            </a:extLst>
          </p:cNvPr>
          <p:cNvSpPr>
            <a:spLocks noGrp="1"/>
          </p:cNvSpPr>
          <p:nvPr>
            <p:ph type="sldNum" sz="quarter" idx="5"/>
          </p:nvPr>
        </p:nvSpPr>
        <p:spPr/>
        <p:txBody>
          <a:bodyPr/>
          <a:lstStyle/>
          <a:p>
            <a:fld id="{B4E0A65F-70CE-4C11-9DB6-CADF0E49A1AB}" type="slidenum">
              <a:rPr lang="fr-FR" smtClean="0"/>
              <a:t>27</a:t>
            </a:fld>
            <a:endParaRPr lang="fr-FR"/>
          </a:p>
        </p:txBody>
      </p:sp>
    </p:spTree>
    <p:extLst>
      <p:ext uri="{BB962C8B-B14F-4D97-AF65-F5344CB8AC3E}">
        <p14:creationId xmlns:p14="http://schemas.microsoft.com/office/powerpoint/2010/main" val="22919635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45C49-43F4-63EF-6AE9-49DEE253139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8CD33B1-68A7-B1FB-5F95-7DD6824B5D8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0FD47B2-6AE0-97C5-83EC-2D81A50862CA}"/>
              </a:ext>
            </a:extLst>
          </p:cNvPr>
          <p:cNvSpPr>
            <a:spLocks noGrp="1"/>
          </p:cNvSpPr>
          <p:nvPr>
            <p:ph type="body" idx="1"/>
          </p:nvPr>
        </p:nvSpPr>
        <p:spPr/>
        <p:txBody>
          <a:bodyPr/>
          <a:lstStyle/>
          <a:p>
            <a:pPr lvl="1"/>
            <a:r>
              <a:rPr lang="fr-FR" dirty="0"/>
              <a:t>Prendre des mesures sur nos interactions avec notre écosystème</a:t>
            </a:r>
          </a:p>
        </p:txBody>
      </p:sp>
      <p:sp>
        <p:nvSpPr>
          <p:cNvPr id="4" name="Espace réservé du numéro de diapositive 3">
            <a:extLst>
              <a:ext uri="{FF2B5EF4-FFF2-40B4-BE49-F238E27FC236}">
                <a16:creationId xmlns:a16="http://schemas.microsoft.com/office/drawing/2014/main" id="{3BE601D4-1AF9-BD9C-304F-4F848D3180B2}"/>
              </a:ext>
            </a:extLst>
          </p:cNvPr>
          <p:cNvSpPr>
            <a:spLocks noGrp="1"/>
          </p:cNvSpPr>
          <p:nvPr>
            <p:ph type="sldNum" sz="quarter" idx="5"/>
          </p:nvPr>
        </p:nvSpPr>
        <p:spPr/>
        <p:txBody>
          <a:bodyPr/>
          <a:lstStyle/>
          <a:p>
            <a:fld id="{B4E0A65F-70CE-4C11-9DB6-CADF0E49A1AB}" type="slidenum">
              <a:rPr lang="fr-FR" smtClean="0"/>
              <a:t>28</a:t>
            </a:fld>
            <a:endParaRPr lang="fr-FR"/>
          </a:p>
        </p:txBody>
      </p:sp>
    </p:spTree>
    <p:extLst>
      <p:ext uri="{BB962C8B-B14F-4D97-AF65-F5344CB8AC3E}">
        <p14:creationId xmlns:p14="http://schemas.microsoft.com/office/powerpoint/2010/main" val="40736393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23CA7-3F9B-2E41-7FEA-40A9773360F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C5D93A9-0460-0B49-B562-FBEA3B93BC2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684BB65-1F3A-61E6-4D18-9B5557257489}"/>
              </a:ext>
            </a:extLst>
          </p:cNvPr>
          <p:cNvSpPr>
            <a:spLocks noGrp="1"/>
          </p:cNvSpPr>
          <p:nvPr>
            <p:ph type="body" idx="1"/>
          </p:nvPr>
        </p:nvSpPr>
        <p:spPr/>
        <p:txBody>
          <a:bodyPr/>
          <a:lstStyle/>
          <a:p>
            <a:r>
              <a:rPr lang="fr-FR" sz="1200" b="0" i="0" u="none" strike="noStrike" kern="1200" baseline="0" dirty="0">
                <a:solidFill>
                  <a:schemeClr val="tx1"/>
                </a:solidFill>
                <a:latin typeface="+mn-lt"/>
                <a:ea typeface="+mn-ea"/>
                <a:cs typeface="+mn-cs"/>
              </a:rPr>
              <a:t>La démarche prévoit deux cycles, </a:t>
            </a:r>
          </a:p>
          <a:p>
            <a:r>
              <a:rPr lang="fr-FR" sz="1200" b="0" i="0" u="none" strike="noStrike" kern="1200" baseline="0" dirty="0">
                <a:solidFill>
                  <a:schemeClr val="tx1"/>
                </a:solidFill>
                <a:latin typeface="+mn-lt"/>
                <a:ea typeface="+mn-ea"/>
                <a:cs typeface="+mn-cs"/>
              </a:rPr>
              <a:t>dont les durées sont définies lors du premier atelier : </a:t>
            </a:r>
          </a:p>
          <a:p>
            <a:r>
              <a:rPr lang="fr-FR" sz="1200" b="0" i="0" u="none" strike="noStrike" kern="1200" baseline="0" dirty="0">
                <a:solidFill>
                  <a:schemeClr val="tx1"/>
                </a:solidFill>
                <a:latin typeface="+mn-lt"/>
                <a:ea typeface="+mn-ea"/>
                <a:cs typeface="+mn-cs"/>
              </a:rPr>
              <a:t>un cycle stratégique revisitant l’ensemble de l’étude et en particulier les scénarios stratégiques ; </a:t>
            </a:r>
          </a:p>
          <a:p>
            <a:r>
              <a:rPr lang="fr-FR" sz="1200" b="0" i="0" u="none" strike="noStrike" kern="1200" baseline="0" dirty="0">
                <a:solidFill>
                  <a:schemeClr val="tx1"/>
                </a:solidFill>
                <a:latin typeface="+mn-lt"/>
                <a:ea typeface="+mn-ea"/>
                <a:cs typeface="+mn-cs"/>
              </a:rPr>
              <a:t>un cycle opérationnel revenant sur les scénarios opérationnels à la lumière des incidents de sécurité survenus, de l’apparition de nouvelles vulnérabilités et de l’évolution des modes opératoires. </a:t>
            </a:r>
          </a:p>
        </p:txBody>
      </p:sp>
      <p:sp>
        <p:nvSpPr>
          <p:cNvPr id="4" name="Espace réservé du numéro de diapositive 3">
            <a:extLst>
              <a:ext uri="{FF2B5EF4-FFF2-40B4-BE49-F238E27FC236}">
                <a16:creationId xmlns:a16="http://schemas.microsoft.com/office/drawing/2014/main" id="{14DAFC76-9BC5-72A9-644A-36824EFE2421}"/>
              </a:ext>
            </a:extLst>
          </p:cNvPr>
          <p:cNvSpPr>
            <a:spLocks noGrp="1"/>
          </p:cNvSpPr>
          <p:nvPr>
            <p:ph type="sldNum" sz="quarter" idx="5"/>
          </p:nvPr>
        </p:nvSpPr>
        <p:spPr/>
        <p:txBody>
          <a:bodyPr/>
          <a:lstStyle/>
          <a:p>
            <a:fld id="{B4E0A65F-70CE-4C11-9DB6-CADF0E49A1AB}" type="slidenum">
              <a:rPr lang="fr-FR" smtClean="0"/>
              <a:t>29</a:t>
            </a:fld>
            <a:endParaRPr lang="fr-FR"/>
          </a:p>
        </p:txBody>
      </p:sp>
    </p:spTree>
    <p:extLst>
      <p:ext uri="{BB962C8B-B14F-4D97-AF65-F5344CB8AC3E}">
        <p14:creationId xmlns:p14="http://schemas.microsoft.com/office/powerpoint/2010/main" val="13048941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A4B69-E5ED-C44E-3394-AA5DEC6847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D4783BC-3A20-EC68-8A2C-77A68283DD0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046A1F5-F173-52C2-86A3-909C6B842D5B}"/>
              </a:ext>
            </a:extLst>
          </p:cNvPr>
          <p:cNvSpPr>
            <a:spLocks noGrp="1"/>
          </p:cNvSpPr>
          <p:nvPr>
            <p:ph type="body" idx="1"/>
          </p:nvPr>
        </p:nvSpPr>
        <p:spPr/>
        <p:txBody>
          <a:bodyPr/>
          <a:lstStyle/>
          <a:p>
            <a:pPr lvl="1"/>
            <a:r>
              <a:rPr lang="fr-FR" dirty="0"/>
              <a:t>Prendre des mesures sur nos interactions avec notre écosystème</a:t>
            </a:r>
          </a:p>
        </p:txBody>
      </p:sp>
      <p:sp>
        <p:nvSpPr>
          <p:cNvPr id="4" name="Espace réservé du numéro de diapositive 3">
            <a:extLst>
              <a:ext uri="{FF2B5EF4-FFF2-40B4-BE49-F238E27FC236}">
                <a16:creationId xmlns:a16="http://schemas.microsoft.com/office/drawing/2014/main" id="{5A7ECB7D-56CB-872B-0C06-FBC7A674A100}"/>
              </a:ext>
            </a:extLst>
          </p:cNvPr>
          <p:cNvSpPr>
            <a:spLocks noGrp="1"/>
          </p:cNvSpPr>
          <p:nvPr>
            <p:ph type="sldNum" sz="quarter" idx="5"/>
          </p:nvPr>
        </p:nvSpPr>
        <p:spPr/>
        <p:txBody>
          <a:bodyPr/>
          <a:lstStyle/>
          <a:p>
            <a:fld id="{B4E0A65F-70CE-4C11-9DB6-CADF0E49A1AB}" type="slidenum">
              <a:rPr lang="fr-FR" smtClean="0"/>
              <a:t>30</a:t>
            </a:fld>
            <a:endParaRPr lang="fr-FR"/>
          </a:p>
        </p:txBody>
      </p:sp>
    </p:spTree>
    <p:extLst>
      <p:ext uri="{BB962C8B-B14F-4D97-AF65-F5344CB8AC3E}">
        <p14:creationId xmlns:p14="http://schemas.microsoft.com/office/powerpoint/2010/main" val="17331860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EA5A7-4B4A-A171-6BA2-74C99DC2588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0A2FCB8-0B08-B322-0FD0-92FBF7B835D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BBBC34A-C8AD-4B16-0EFA-4EFAD97175AB}"/>
              </a:ext>
            </a:extLst>
          </p:cNvPr>
          <p:cNvSpPr>
            <a:spLocks noGrp="1"/>
          </p:cNvSpPr>
          <p:nvPr>
            <p:ph type="body" idx="1"/>
          </p:nvPr>
        </p:nvSpPr>
        <p:spPr/>
        <p:txBody>
          <a:bodyPr/>
          <a:lstStyle/>
          <a:p>
            <a:endParaRPr lang="fr-FR" sz="1200" b="0" i="0" u="none" strike="noStrike" kern="1200" baseline="0" dirty="0">
              <a:solidFill>
                <a:schemeClr val="tx1"/>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569B2535-FB53-D3C0-95B7-911E14900835}"/>
              </a:ext>
            </a:extLst>
          </p:cNvPr>
          <p:cNvSpPr>
            <a:spLocks noGrp="1"/>
          </p:cNvSpPr>
          <p:nvPr>
            <p:ph type="sldNum" sz="quarter" idx="5"/>
          </p:nvPr>
        </p:nvSpPr>
        <p:spPr/>
        <p:txBody>
          <a:bodyPr/>
          <a:lstStyle/>
          <a:p>
            <a:fld id="{B4E0A65F-70CE-4C11-9DB6-CADF0E49A1AB}" type="slidenum">
              <a:rPr lang="fr-FR" smtClean="0"/>
              <a:t>31</a:t>
            </a:fld>
            <a:endParaRPr lang="fr-FR"/>
          </a:p>
        </p:txBody>
      </p:sp>
    </p:spTree>
    <p:extLst>
      <p:ext uri="{BB962C8B-B14F-4D97-AF65-F5344CB8AC3E}">
        <p14:creationId xmlns:p14="http://schemas.microsoft.com/office/powerpoint/2010/main" val="32745529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99D49-C861-C3A5-9405-EFB480D6F17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C070562-5527-5925-5D26-C1D8E555D24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3496751-7293-59D2-639C-EDF5FA3727F3}"/>
              </a:ext>
            </a:extLst>
          </p:cNvPr>
          <p:cNvSpPr>
            <a:spLocks noGrp="1"/>
          </p:cNvSpPr>
          <p:nvPr>
            <p:ph type="body" idx="1"/>
          </p:nvPr>
        </p:nvSpPr>
        <p:spPr/>
        <p:txBody>
          <a:bodyPr/>
          <a:lstStyle/>
          <a:p>
            <a:endParaRPr lang="fr-FR" sz="1200" b="0" i="0" u="none" strike="noStrike" kern="1200" baseline="0" dirty="0">
              <a:solidFill>
                <a:schemeClr val="tx1"/>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D63BBB8C-5FB7-5DE2-C67E-3169C17E8FCA}"/>
              </a:ext>
            </a:extLst>
          </p:cNvPr>
          <p:cNvSpPr>
            <a:spLocks noGrp="1"/>
          </p:cNvSpPr>
          <p:nvPr>
            <p:ph type="sldNum" sz="quarter" idx="5"/>
          </p:nvPr>
        </p:nvSpPr>
        <p:spPr/>
        <p:txBody>
          <a:bodyPr/>
          <a:lstStyle/>
          <a:p>
            <a:fld id="{B4E0A65F-70CE-4C11-9DB6-CADF0E49A1AB}" type="slidenum">
              <a:rPr lang="fr-FR" smtClean="0"/>
              <a:t>32</a:t>
            </a:fld>
            <a:endParaRPr lang="fr-FR"/>
          </a:p>
        </p:txBody>
      </p:sp>
    </p:spTree>
    <p:extLst>
      <p:ext uri="{BB962C8B-B14F-4D97-AF65-F5344CB8AC3E}">
        <p14:creationId xmlns:p14="http://schemas.microsoft.com/office/powerpoint/2010/main" val="5511204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D091A-9B4C-295B-558E-8D75037ABBC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6B56CB0-BF18-3FD7-8A18-B75E8591149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B57673D-FA4E-43F4-903C-D8363D8132ED}"/>
              </a:ext>
            </a:extLst>
          </p:cNvPr>
          <p:cNvSpPr>
            <a:spLocks noGrp="1"/>
          </p:cNvSpPr>
          <p:nvPr>
            <p:ph type="body" idx="1"/>
          </p:nvPr>
        </p:nvSpPr>
        <p:spPr/>
        <p:txBody>
          <a:bodyPr/>
          <a:lstStyle/>
          <a:p>
            <a:endParaRPr lang="fr-FR" sz="1200" b="0" i="0" u="none" strike="noStrike" kern="1200" baseline="0" dirty="0">
              <a:solidFill>
                <a:schemeClr val="tx1"/>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5F7F1ECD-00A3-3F7F-059E-BB40D3C74152}"/>
              </a:ext>
            </a:extLst>
          </p:cNvPr>
          <p:cNvSpPr>
            <a:spLocks noGrp="1"/>
          </p:cNvSpPr>
          <p:nvPr>
            <p:ph type="sldNum" sz="quarter" idx="5"/>
          </p:nvPr>
        </p:nvSpPr>
        <p:spPr/>
        <p:txBody>
          <a:bodyPr/>
          <a:lstStyle/>
          <a:p>
            <a:fld id="{B4E0A65F-70CE-4C11-9DB6-CADF0E49A1AB}" type="slidenum">
              <a:rPr lang="fr-FR" smtClean="0"/>
              <a:t>33</a:t>
            </a:fld>
            <a:endParaRPr lang="fr-FR"/>
          </a:p>
        </p:txBody>
      </p:sp>
    </p:spTree>
    <p:extLst>
      <p:ext uri="{BB962C8B-B14F-4D97-AF65-F5344CB8AC3E}">
        <p14:creationId xmlns:p14="http://schemas.microsoft.com/office/powerpoint/2010/main" val="3058980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AB923-A239-EE5D-228B-C81965CB582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281AB71-068E-0C69-B38A-56A6539FA88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D8636FC-E7F4-1253-40F5-E646CC2A813A}"/>
              </a:ext>
            </a:extLst>
          </p:cNvPr>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NOTES :</a:t>
            </a:r>
          </a:p>
          <a:p>
            <a:r>
              <a:rPr lang="fr-FR" sz="1200" b="1" i="0" u="none" strike="noStrike" kern="1200" baseline="0" dirty="0">
                <a:solidFill>
                  <a:schemeClr val="tx1"/>
                </a:solidFill>
                <a:latin typeface="+mn-lt"/>
                <a:ea typeface="+mn-ea"/>
                <a:cs typeface="+mn-cs"/>
              </a:rPr>
              <a:t>■ </a:t>
            </a:r>
            <a:r>
              <a:rPr lang="fr-FR" sz="1200" b="0" i="0" u="none" strike="noStrike" kern="1200" baseline="0" dirty="0">
                <a:solidFill>
                  <a:schemeClr val="tx1"/>
                </a:solidFill>
                <a:latin typeface="+mn-lt"/>
                <a:ea typeface="+mn-ea"/>
                <a:cs typeface="+mn-cs"/>
              </a:rPr>
              <a:t>Les ateliers 3 et 4 s’alimentent naturellement au cours d’itérations</a:t>
            </a:r>
          </a:p>
          <a:p>
            <a:r>
              <a:rPr lang="en-US" sz="1200" b="0" i="0" u="none" strike="noStrike" kern="1200" baseline="0" dirty="0" err="1">
                <a:solidFill>
                  <a:schemeClr val="tx1"/>
                </a:solidFill>
                <a:latin typeface="+mn-lt"/>
                <a:ea typeface="+mn-ea"/>
                <a:cs typeface="+mn-cs"/>
              </a:rPr>
              <a:t>successives</a:t>
            </a:r>
            <a:r>
              <a:rPr lang="en-US" sz="1200" b="0" i="0" u="none" strike="noStrike" kern="1200" baseline="0" dirty="0">
                <a:solidFill>
                  <a:schemeClr val="tx1"/>
                </a:solidFill>
                <a:latin typeface="+mn-lt"/>
                <a:ea typeface="+mn-ea"/>
                <a:cs typeface="+mn-cs"/>
              </a:rPr>
              <a:t>.</a:t>
            </a:r>
          </a:p>
          <a:p>
            <a:r>
              <a:rPr lang="fr-FR" sz="1200" b="1" i="0" u="none" strike="noStrike" kern="1200" baseline="0" dirty="0">
                <a:solidFill>
                  <a:schemeClr val="tx1"/>
                </a:solidFill>
                <a:latin typeface="+mn-lt"/>
                <a:ea typeface="+mn-ea"/>
                <a:cs typeface="+mn-cs"/>
              </a:rPr>
              <a:t>■ </a:t>
            </a:r>
            <a:r>
              <a:rPr lang="fr-FR" sz="1200" b="0" i="0" u="none" strike="noStrike" kern="1200" baseline="0" dirty="0">
                <a:solidFill>
                  <a:schemeClr val="tx1"/>
                </a:solidFill>
                <a:latin typeface="+mn-lt"/>
                <a:ea typeface="+mn-ea"/>
                <a:cs typeface="+mn-cs"/>
              </a:rPr>
              <a:t>Les ateliers 2, 3 et 4 permettent d’apprécier les risques,</a:t>
            </a:r>
          </a:p>
          <a:p>
            <a:r>
              <a:rPr lang="fr-FR" sz="1200" b="0" i="0" u="none" strike="noStrike" kern="1200" baseline="0" dirty="0">
                <a:solidFill>
                  <a:schemeClr val="tx1"/>
                </a:solidFill>
                <a:latin typeface="+mn-lt"/>
                <a:ea typeface="+mn-ea"/>
                <a:cs typeface="+mn-cs"/>
              </a:rPr>
              <a:t>ce qui constitue le dernier étage de la pyramide du management</a:t>
            </a:r>
          </a:p>
          <a:p>
            <a:r>
              <a:rPr lang="fr-FR" sz="1200" b="0" i="0" u="none" strike="noStrike" kern="1200" baseline="0" dirty="0">
                <a:solidFill>
                  <a:schemeClr val="tx1"/>
                </a:solidFill>
                <a:latin typeface="+mn-lt"/>
                <a:ea typeface="+mn-ea"/>
                <a:cs typeface="+mn-cs"/>
              </a:rPr>
              <a:t>du risque numérique. Ils sollicitent le socle de sécurité selon</a:t>
            </a:r>
          </a:p>
          <a:p>
            <a:r>
              <a:rPr lang="fr-FR" sz="1200" b="0" i="0" u="none" strike="noStrike" kern="1200" baseline="0" dirty="0">
                <a:solidFill>
                  <a:schemeClr val="tx1"/>
                </a:solidFill>
                <a:latin typeface="+mn-lt"/>
                <a:ea typeface="+mn-ea"/>
                <a:cs typeface="+mn-cs"/>
              </a:rPr>
              <a:t>des axes d’attaque différents, pertinents au regard des menaces</a:t>
            </a:r>
          </a:p>
          <a:p>
            <a:r>
              <a:rPr lang="fr-FR" sz="1200" b="0" i="0" u="none" strike="noStrike" kern="1200" baseline="0" dirty="0">
                <a:solidFill>
                  <a:schemeClr val="tx1"/>
                </a:solidFill>
                <a:latin typeface="+mn-lt"/>
                <a:ea typeface="+mn-ea"/>
                <a:cs typeface="+mn-cs"/>
              </a:rPr>
              <a:t>considérées et en nombre limité pour en faciliter l’analyse.</a:t>
            </a:r>
          </a:p>
        </p:txBody>
      </p:sp>
      <p:sp>
        <p:nvSpPr>
          <p:cNvPr id="4" name="Espace réservé du numéro de diapositive 3">
            <a:extLst>
              <a:ext uri="{FF2B5EF4-FFF2-40B4-BE49-F238E27FC236}">
                <a16:creationId xmlns:a16="http://schemas.microsoft.com/office/drawing/2014/main" id="{DD099AEE-D058-A29F-0CFC-A87F93064076}"/>
              </a:ext>
            </a:extLst>
          </p:cNvPr>
          <p:cNvSpPr>
            <a:spLocks noGrp="1"/>
          </p:cNvSpPr>
          <p:nvPr>
            <p:ph type="sldNum" sz="quarter" idx="5"/>
          </p:nvPr>
        </p:nvSpPr>
        <p:spPr/>
        <p:txBody>
          <a:bodyPr/>
          <a:lstStyle/>
          <a:p>
            <a:fld id="{B4E0A65F-70CE-4C11-9DB6-CADF0E49A1AB}" type="slidenum">
              <a:rPr lang="fr-FR" smtClean="0"/>
              <a:t>34</a:t>
            </a:fld>
            <a:endParaRPr lang="fr-FR"/>
          </a:p>
        </p:txBody>
      </p:sp>
    </p:spTree>
    <p:extLst>
      <p:ext uri="{BB962C8B-B14F-4D97-AF65-F5344CB8AC3E}">
        <p14:creationId xmlns:p14="http://schemas.microsoft.com/office/powerpoint/2010/main" val="9621197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E3958-D0B9-3F8A-CBFF-39D6B2979A0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EC78BF3-4BF2-79A8-859B-7F05A66079A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0CF8F3C-88F8-4F30-462B-F9DDC8917EB2}"/>
              </a:ext>
            </a:extLst>
          </p:cNvPr>
          <p:cNvSpPr>
            <a:spLocks noGrp="1"/>
          </p:cNvSpPr>
          <p:nvPr>
            <p:ph type="body" idx="1"/>
          </p:nvPr>
        </p:nvSpPr>
        <p:spPr/>
        <p:txBody>
          <a:bodyPr/>
          <a:lstStyle/>
          <a:p>
            <a:r>
              <a:rPr lang="fr-FR" sz="1200" b="0" i="0" u="none" strike="noStrike" kern="1200" baseline="0" dirty="0">
                <a:solidFill>
                  <a:schemeClr val="tx1"/>
                </a:solidFill>
                <a:latin typeface="+mn-lt"/>
                <a:ea typeface="+mn-ea"/>
                <a:cs typeface="+mn-cs"/>
              </a:rPr>
              <a:t>En général, chaque chemin d’attaque d’un scénario</a:t>
            </a:r>
          </a:p>
          <a:p>
            <a:r>
              <a:rPr lang="fr-FR" sz="1200" b="0" i="0" u="none" strike="noStrike" kern="1200" baseline="0" dirty="0">
                <a:solidFill>
                  <a:schemeClr val="tx1"/>
                </a:solidFill>
                <a:latin typeface="+mn-lt"/>
                <a:ea typeface="+mn-ea"/>
                <a:cs typeface="+mn-cs"/>
              </a:rPr>
              <a:t>stratégique donne lieu à un scénario opérationnel. Un scénario</a:t>
            </a:r>
          </a:p>
          <a:p>
            <a:r>
              <a:rPr lang="fr-FR" sz="1200" b="0" i="0" u="none" strike="noStrike" kern="1200" baseline="0" dirty="0">
                <a:solidFill>
                  <a:schemeClr val="tx1"/>
                </a:solidFill>
                <a:latin typeface="+mn-lt"/>
                <a:ea typeface="+mn-ea"/>
                <a:cs typeface="+mn-cs"/>
              </a:rPr>
              <a:t>de risque correspond à l’association d’un chemin d’attaque</a:t>
            </a:r>
          </a:p>
          <a:p>
            <a:r>
              <a:rPr lang="fr-FR" sz="1200" b="0" i="0" u="none" strike="noStrike" kern="1200" baseline="0" dirty="0">
                <a:solidFill>
                  <a:schemeClr val="tx1"/>
                </a:solidFill>
                <a:latin typeface="+mn-lt"/>
                <a:ea typeface="+mn-ea"/>
                <a:cs typeface="+mn-cs"/>
              </a:rPr>
              <a:t>et de son scénario opérationnel.</a:t>
            </a:r>
          </a:p>
        </p:txBody>
      </p:sp>
      <p:sp>
        <p:nvSpPr>
          <p:cNvPr id="4" name="Espace réservé du numéro de diapositive 3">
            <a:extLst>
              <a:ext uri="{FF2B5EF4-FFF2-40B4-BE49-F238E27FC236}">
                <a16:creationId xmlns:a16="http://schemas.microsoft.com/office/drawing/2014/main" id="{256E79F1-1A6B-3508-0BD1-C8F178FDABE8}"/>
              </a:ext>
            </a:extLst>
          </p:cNvPr>
          <p:cNvSpPr>
            <a:spLocks noGrp="1"/>
          </p:cNvSpPr>
          <p:nvPr>
            <p:ph type="sldNum" sz="quarter" idx="5"/>
          </p:nvPr>
        </p:nvSpPr>
        <p:spPr/>
        <p:txBody>
          <a:bodyPr/>
          <a:lstStyle/>
          <a:p>
            <a:fld id="{B4E0A65F-70CE-4C11-9DB6-CADF0E49A1AB}" type="slidenum">
              <a:rPr lang="fr-FR" smtClean="0"/>
              <a:t>35</a:t>
            </a:fld>
            <a:endParaRPr lang="fr-FR"/>
          </a:p>
        </p:txBody>
      </p:sp>
    </p:spTree>
    <p:extLst>
      <p:ext uri="{BB962C8B-B14F-4D97-AF65-F5344CB8AC3E}">
        <p14:creationId xmlns:p14="http://schemas.microsoft.com/office/powerpoint/2010/main" val="42275257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C9DDE-F3D7-849B-45C0-690F6BDDD62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AF704CF-A0BB-3E5A-6D30-0A6D4272DF2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0A705EC-8360-ED49-0EBC-DBA7B0872CD8}"/>
              </a:ext>
            </a:extLst>
          </p:cNvPr>
          <p:cNvSpPr>
            <a:spLocks noGrp="1"/>
          </p:cNvSpPr>
          <p:nvPr>
            <p:ph type="body" idx="1"/>
          </p:nvPr>
        </p:nvSpPr>
        <p:spPr/>
        <p:txBody>
          <a:bodyPr/>
          <a:lstStyle/>
          <a:p>
            <a:endParaRPr lang="fr-FR" sz="1200" b="0" i="0" u="none" strike="noStrike" kern="1200" baseline="0" dirty="0">
              <a:solidFill>
                <a:schemeClr val="tx1"/>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661B5DD7-B44A-E6E0-E0D2-DF6010221F3A}"/>
              </a:ext>
            </a:extLst>
          </p:cNvPr>
          <p:cNvSpPr>
            <a:spLocks noGrp="1"/>
          </p:cNvSpPr>
          <p:nvPr>
            <p:ph type="sldNum" sz="quarter" idx="5"/>
          </p:nvPr>
        </p:nvSpPr>
        <p:spPr/>
        <p:txBody>
          <a:bodyPr/>
          <a:lstStyle/>
          <a:p>
            <a:fld id="{B4E0A65F-70CE-4C11-9DB6-CADF0E49A1AB}" type="slidenum">
              <a:rPr lang="fr-FR" smtClean="0"/>
              <a:t>36</a:t>
            </a:fld>
            <a:endParaRPr lang="fr-FR"/>
          </a:p>
        </p:txBody>
      </p:sp>
    </p:spTree>
    <p:extLst>
      <p:ext uri="{BB962C8B-B14F-4D97-AF65-F5344CB8AC3E}">
        <p14:creationId xmlns:p14="http://schemas.microsoft.com/office/powerpoint/2010/main" val="382096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strike="noStrike" kern="1200" baseline="0" dirty="0">
                <a:solidFill>
                  <a:schemeClr val="tx1"/>
                </a:solidFill>
                <a:latin typeface="+mn-lt"/>
                <a:ea typeface="+mn-ea"/>
                <a:cs typeface="+mn-cs"/>
              </a:rPr>
              <a:t>La méthode est illustrée à l’aide d’un exemple mettant en scène une entreprise fictive, à savoir une société de biotechnologie fabriquant des vaccins. Cet exemple se veut réaliste dans l’objectif de fournir au lecteur une illustration concrète et pédagogique de la méthode. </a:t>
            </a:r>
            <a:endParaRPr lang="en-US" dirty="0"/>
          </a:p>
        </p:txBody>
      </p:sp>
      <p:sp>
        <p:nvSpPr>
          <p:cNvPr id="4" name="Espace réservé du numéro de diapositive 3"/>
          <p:cNvSpPr>
            <a:spLocks noGrp="1"/>
          </p:cNvSpPr>
          <p:nvPr>
            <p:ph type="sldNum" sz="quarter" idx="5"/>
          </p:nvPr>
        </p:nvSpPr>
        <p:spPr/>
        <p:txBody>
          <a:bodyPr/>
          <a:lstStyle/>
          <a:p>
            <a:fld id="{B4E0A65F-70CE-4C11-9DB6-CADF0E49A1AB}" type="slidenum">
              <a:rPr lang="fr-FR" smtClean="0"/>
              <a:t>38</a:t>
            </a:fld>
            <a:endParaRPr lang="fr-FR"/>
          </a:p>
        </p:txBody>
      </p:sp>
    </p:spTree>
    <p:extLst>
      <p:ext uri="{BB962C8B-B14F-4D97-AF65-F5344CB8AC3E}">
        <p14:creationId xmlns:p14="http://schemas.microsoft.com/office/powerpoint/2010/main" val="15319773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6C2C9-2DEA-EA9E-CC4D-00B75C623EE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FA98341-5369-B99E-0711-9E31D1994E7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6E3910A-2A23-735D-7141-947B535D38B7}"/>
              </a:ext>
            </a:extLst>
          </p:cNvPr>
          <p:cNvSpPr>
            <a:spLocks noGrp="1"/>
          </p:cNvSpPr>
          <p:nvPr>
            <p:ph type="body" idx="1"/>
          </p:nvPr>
        </p:nvSpPr>
        <p:spPr/>
        <p:txBody>
          <a:bodyPr/>
          <a:lstStyle/>
          <a:p>
            <a:r>
              <a:rPr lang="fr-FR" sz="1200" b="0" i="0" u="none" strike="noStrike" kern="1200" baseline="0" dirty="0">
                <a:solidFill>
                  <a:schemeClr val="tx1"/>
                </a:solidFill>
                <a:latin typeface="+mn-lt"/>
                <a:ea typeface="+mn-ea"/>
                <a:cs typeface="+mn-cs"/>
              </a:rPr>
              <a:t>Cet atelier peut par exemple se dérouler sur une à trois séances</a:t>
            </a:r>
          </a:p>
          <a:p>
            <a:r>
              <a:rPr lang="fr-FR" sz="1200" b="0" i="0" u="none" strike="noStrike" kern="1200" baseline="0" dirty="0">
                <a:solidFill>
                  <a:schemeClr val="tx1"/>
                </a:solidFill>
                <a:latin typeface="+mn-lt"/>
                <a:ea typeface="+mn-ea"/>
                <a:cs typeface="+mn-cs"/>
              </a:rPr>
              <a:t>d’une demi-journée7. L’objectif sera de :</a:t>
            </a:r>
          </a:p>
          <a:p>
            <a:r>
              <a:rPr lang="fr-FR" sz="1200" b="0" i="0" u="none" strike="noStrike" kern="1200" baseline="0" dirty="0">
                <a:solidFill>
                  <a:schemeClr val="tx1"/>
                </a:solidFill>
                <a:latin typeface="+mn-lt"/>
                <a:ea typeface="+mn-ea"/>
                <a:cs typeface="+mn-cs"/>
              </a:rPr>
              <a:t>a. définir le cadre de l’étude ;</a:t>
            </a:r>
          </a:p>
          <a:p>
            <a:r>
              <a:rPr lang="fr-FR" sz="1200" b="0" i="0" u="none" strike="noStrike" kern="1200" baseline="0" dirty="0">
                <a:solidFill>
                  <a:schemeClr val="tx1"/>
                </a:solidFill>
                <a:latin typeface="+mn-lt"/>
                <a:ea typeface="+mn-ea"/>
                <a:cs typeface="+mn-cs"/>
              </a:rPr>
              <a:t>b. définir le périmètre métier et technique de l’objet étudié ;</a:t>
            </a:r>
          </a:p>
          <a:p>
            <a:r>
              <a:rPr lang="fr-FR" sz="1200" b="0" i="0" u="none" strike="noStrike" kern="1200" baseline="0" dirty="0">
                <a:solidFill>
                  <a:schemeClr val="tx1"/>
                </a:solidFill>
                <a:latin typeface="+mn-lt"/>
                <a:ea typeface="+mn-ea"/>
                <a:cs typeface="+mn-cs"/>
              </a:rPr>
              <a:t>c. identifier les événements redoutés et estimer leur niveau</a:t>
            </a:r>
          </a:p>
          <a:p>
            <a:r>
              <a:rPr lang="en-US" sz="1200" b="0" i="0" u="none" strike="noStrike" kern="1200" baseline="0" dirty="0">
                <a:solidFill>
                  <a:schemeClr val="tx1"/>
                </a:solidFill>
                <a:latin typeface="+mn-lt"/>
                <a:ea typeface="+mn-ea"/>
                <a:cs typeface="+mn-cs"/>
              </a:rPr>
              <a:t>de </a:t>
            </a:r>
            <a:r>
              <a:rPr lang="en-US" sz="1200" b="0" i="0" u="none" strike="noStrike" kern="1200" baseline="0" dirty="0" err="1">
                <a:solidFill>
                  <a:schemeClr val="tx1"/>
                </a:solidFill>
                <a:latin typeface="+mn-lt"/>
                <a:ea typeface="+mn-ea"/>
                <a:cs typeface="+mn-cs"/>
              </a:rPr>
              <a:t>gravité</a:t>
            </a:r>
            <a:r>
              <a:rPr lang="en-US" sz="1200" b="0" i="0" u="none" strike="noStrike" kern="1200" baseline="0" dirty="0">
                <a:solidFill>
                  <a:schemeClr val="tx1"/>
                </a:solidFill>
                <a:latin typeface="+mn-lt"/>
                <a:ea typeface="+mn-ea"/>
                <a:cs typeface="+mn-cs"/>
              </a:rPr>
              <a:t> ;</a:t>
            </a:r>
          </a:p>
          <a:p>
            <a:r>
              <a:rPr lang="fr-FR" sz="1200" b="0" i="0" u="none" strike="noStrike" kern="1200" baseline="0" dirty="0">
                <a:solidFill>
                  <a:schemeClr val="tx1"/>
                </a:solidFill>
                <a:latin typeface="+mn-lt"/>
                <a:ea typeface="+mn-ea"/>
                <a:cs typeface="+mn-cs"/>
              </a:rPr>
              <a:t>d. déterminer le socle de sécurité et en évaluer la conformité.</a:t>
            </a:r>
            <a:endParaRPr lang="en-US" dirty="0"/>
          </a:p>
        </p:txBody>
      </p:sp>
      <p:sp>
        <p:nvSpPr>
          <p:cNvPr id="4" name="Espace réservé du numéro de diapositive 3">
            <a:extLst>
              <a:ext uri="{FF2B5EF4-FFF2-40B4-BE49-F238E27FC236}">
                <a16:creationId xmlns:a16="http://schemas.microsoft.com/office/drawing/2014/main" id="{F94C1D3D-E7C3-59C1-9FD1-467CC96F00AD}"/>
              </a:ext>
            </a:extLst>
          </p:cNvPr>
          <p:cNvSpPr>
            <a:spLocks noGrp="1"/>
          </p:cNvSpPr>
          <p:nvPr>
            <p:ph type="sldNum" sz="quarter" idx="5"/>
          </p:nvPr>
        </p:nvSpPr>
        <p:spPr/>
        <p:txBody>
          <a:bodyPr/>
          <a:lstStyle/>
          <a:p>
            <a:fld id="{B4E0A65F-70CE-4C11-9DB6-CADF0E49A1AB}" type="slidenum">
              <a:rPr lang="fr-FR" smtClean="0"/>
              <a:t>39</a:t>
            </a:fld>
            <a:endParaRPr lang="fr-FR"/>
          </a:p>
        </p:txBody>
      </p:sp>
    </p:spTree>
    <p:extLst>
      <p:ext uri="{BB962C8B-B14F-4D97-AF65-F5344CB8AC3E}">
        <p14:creationId xmlns:p14="http://schemas.microsoft.com/office/powerpoint/2010/main" val="36769018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9BB36-1C1C-9102-3B5D-DB8E63B00FE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BEF4792-A4D6-E726-C038-CCAF45699AA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1C345EA-3A43-1488-C7CD-04AF8C2C7CD6}"/>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21A96156-C352-6A82-1719-38BFAF6A62D7}"/>
              </a:ext>
            </a:extLst>
          </p:cNvPr>
          <p:cNvSpPr>
            <a:spLocks noGrp="1"/>
          </p:cNvSpPr>
          <p:nvPr>
            <p:ph type="sldNum" sz="quarter" idx="5"/>
          </p:nvPr>
        </p:nvSpPr>
        <p:spPr/>
        <p:txBody>
          <a:bodyPr/>
          <a:lstStyle/>
          <a:p>
            <a:fld id="{B4E0A65F-70CE-4C11-9DB6-CADF0E49A1AB}" type="slidenum">
              <a:rPr lang="fr-FR" smtClean="0"/>
              <a:t>40</a:t>
            </a:fld>
            <a:endParaRPr lang="fr-FR"/>
          </a:p>
        </p:txBody>
      </p:sp>
    </p:spTree>
    <p:extLst>
      <p:ext uri="{BB962C8B-B14F-4D97-AF65-F5344CB8AC3E}">
        <p14:creationId xmlns:p14="http://schemas.microsoft.com/office/powerpoint/2010/main" val="36506199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C5EE-489A-EF6D-E54B-30FA0646F8F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F6E58CD-7390-FD66-9A6C-1483B69E2C1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4D74EA4-D5B4-CC8A-F462-8CFFEA05236D}"/>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9359F5A6-0DAF-B58D-242F-A8183C660BF0}"/>
              </a:ext>
            </a:extLst>
          </p:cNvPr>
          <p:cNvSpPr>
            <a:spLocks noGrp="1"/>
          </p:cNvSpPr>
          <p:nvPr>
            <p:ph type="sldNum" sz="quarter" idx="5"/>
          </p:nvPr>
        </p:nvSpPr>
        <p:spPr/>
        <p:txBody>
          <a:bodyPr/>
          <a:lstStyle/>
          <a:p>
            <a:fld id="{B4E0A65F-70CE-4C11-9DB6-CADF0E49A1AB}" type="slidenum">
              <a:rPr lang="fr-FR" smtClean="0"/>
              <a:t>41</a:t>
            </a:fld>
            <a:endParaRPr lang="fr-FR"/>
          </a:p>
        </p:txBody>
      </p:sp>
    </p:spTree>
    <p:extLst>
      <p:ext uri="{BB962C8B-B14F-4D97-AF65-F5344CB8AC3E}">
        <p14:creationId xmlns:p14="http://schemas.microsoft.com/office/powerpoint/2010/main" val="39972114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7C466-1008-8138-592E-232FBFDFBEA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1619A80-6EEA-CA9D-0C25-77E9A7ACC9D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E9FFE6C-889E-3CB9-2D70-DE65374E2E34}"/>
              </a:ext>
            </a:extLst>
          </p:cNvPr>
          <p:cNvSpPr>
            <a:spLocks noGrp="1"/>
          </p:cNvSpPr>
          <p:nvPr>
            <p:ph type="body" idx="1"/>
          </p:nvPr>
        </p:nvSpPr>
        <p:spPr/>
        <p:txBody>
          <a:bodyPr/>
          <a:lstStyle/>
          <a:p>
            <a:r>
              <a:rPr lang="fr-FR" dirty="0"/>
              <a:t>Evolution cartographie des menaces</a:t>
            </a:r>
            <a:endParaRPr lang="en-US" dirty="0"/>
          </a:p>
        </p:txBody>
      </p:sp>
      <p:sp>
        <p:nvSpPr>
          <p:cNvPr id="4" name="Espace réservé du numéro de diapositive 3">
            <a:extLst>
              <a:ext uri="{FF2B5EF4-FFF2-40B4-BE49-F238E27FC236}">
                <a16:creationId xmlns:a16="http://schemas.microsoft.com/office/drawing/2014/main" id="{01232966-531D-2CC9-E87A-CD42DC9FC367}"/>
              </a:ext>
            </a:extLst>
          </p:cNvPr>
          <p:cNvSpPr>
            <a:spLocks noGrp="1"/>
          </p:cNvSpPr>
          <p:nvPr>
            <p:ph type="sldNum" sz="quarter" idx="5"/>
          </p:nvPr>
        </p:nvSpPr>
        <p:spPr/>
        <p:txBody>
          <a:bodyPr/>
          <a:lstStyle/>
          <a:p>
            <a:fld id="{B4E0A65F-70CE-4C11-9DB6-CADF0E49A1AB}" type="slidenum">
              <a:rPr lang="fr-FR" smtClean="0"/>
              <a:t>42</a:t>
            </a:fld>
            <a:endParaRPr lang="fr-FR"/>
          </a:p>
        </p:txBody>
      </p:sp>
    </p:spTree>
    <p:extLst>
      <p:ext uri="{BB962C8B-B14F-4D97-AF65-F5344CB8AC3E}">
        <p14:creationId xmlns:p14="http://schemas.microsoft.com/office/powerpoint/2010/main" val="1978771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0950D-6FE2-648B-82D6-CFC7564ABBF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EEAC234-993F-AB74-096E-104779C0CDE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A77D19F-0295-8F6F-CBB0-2C7AC50F5529}"/>
              </a:ext>
            </a:extLst>
          </p:cNvPr>
          <p:cNvSpPr>
            <a:spLocks noGrp="1"/>
          </p:cNvSpPr>
          <p:nvPr>
            <p:ph type="body" idx="1"/>
          </p:nvPr>
        </p:nvSpPr>
        <p:spPr/>
        <p:txBody>
          <a:bodyPr/>
          <a:lstStyle/>
          <a:p>
            <a:r>
              <a:rPr lang="fr-FR" dirty="0"/>
              <a:t>Evolution cartographie des menaces</a:t>
            </a:r>
            <a:endParaRPr lang="en-US" dirty="0"/>
          </a:p>
        </p:txBody>
      </p:sp>
      <p:sp>
        <p:nvSpPr>
          <p:cNvPr id="4" name="Espace réservé du numéro de diapositive 3">
            <a:extLst>
              <a:ext uri="{FF2B5EF4-FFF2-40B4-BE49-F238E27FC236}">
                <a16:creationId xmlns:a16="http://schemas.microsoft.com/office/drawing/2014/main" id="{08D96940-6874-7E13-EECC-2618D0C548CC}"/>
              </a:ext>
            </a:extLst>
          </p:cNvPr>
          <p:cNvSpPr>
            <a:spLocks noGrp="1"/>
          </p:cNvSpPr>
          <p:nvPr>
            <p:ph type="sldNum" sz="quarter" idx="5"/>
          </p:nvPr>
        </p:nvSpPr>
        <p:spPr/>
        <p:txBody>
          <a:bodyPr/>
          <a:lstStyle/>
          <a:p>
            <a:fld id="{B4E0A65F-70CE-4C11-9DB6-CADF0E49A1AB}" type="slidenum">
              <a:rPr lang="fr-FR" smtClean="0"/>
              <a:t>43</a:t>
            </a:fld>
            <a:endParaRPr lang="fr-FR"/>
          </a:p>
        </p:txBody>
      </p:sp>
    </p:spTree>
    <p:extLst>
      <p:ext uri="{BB962C8B-B14F-4D97-AF65-F5344CB8AC3E}">
        <p14:creationId xmlns:p14="http://schemas.microsoft.com/office/powerpoint/2010/main" val="84007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E7455-FBB1-4C10-6868-88F1398F487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30192AA-888E-9F92-8543-8664A5DEDB3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678D7E5-7D7B-773F-4814-112A7556FF59}"/>
              </a:ext>
            </a:extLst>
          </p:cNvPr>
          <p:cNvSpPr>
            <a:spLocks noGrp="1"/>
          </p:cNvSpPr>
          <p:nvPr>
            <p:ph type="body" idx="1"/>
          </p:nvPr>
        </p:nvSpPr>
        <p:spPr/>
        <p:txBody>
          <a:bodyPr/>
          <a:lstStyle/>
          <a:p>
            <a:r>
              <a:rPr lang="fr-FR" dirty="0"/>
              <a:t>Evolution cartographie des menaces</a:t>
            </a:r>
            <a:endParaRPr lang="en-US" dirty="0"/>
          </a:p>
        </p:txBody>
      </p:sp>
      <p:sp>
        <p:nvSpPr>
          <p:cNvPr id="4" name="Espace réservé du numéro de diapositive 3">
            <a:extLst>
              <a:ext uri="{FF2B5EF4-FFF2-40B4-BE49-F238E27FC236}">
                <a16:creationId xmlns:a16="http://schemas.microsoft.com/office/drawing/2014/main" id="{F133D7DB-2C58-BD41-36D6-A8D73DFD5F05}"/>
              </a:ext>
            </a:extLst>
          </p:cNvPr>
          <p:cNvSpPr>
            <a:spLocks noGrp="1"/>
          </p:cNvSpPr>
          <p:nvPr>
            <p:ph type="sldNum" sz="quarter" idx="5"/>
          </p:nvPr>
        </p:nvSpPr>
        <p:spPr/>
        <p:txBody>
          <a:bodyPr/>
          <a:lstStyle/>
          <a:p>
            <a:fld id="{B4E0A65F-70CE-4C11-9DB6-CADF0E49A1AB}" type="slidenum">
              <a:rPr lang="fr-FR" smtClean="0"/>
              <a:t>44</a:t>
            </a:fld>
            <a:endParaRPr lang="fr-FR"/>
          </a:p>
        </p:txBody>
      </p:sp>
    </p:spTree>
    <p:extLst>
      <p:ext uri="{BB962C8B-B14F-4D97-AF65-F5344CB8AC3E}">
        <p14:creationId xmlns:p14="http://schemas.microsoft.com/office/powerpoint/2010/main" val="38218017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0D6E9-7B3B-B0A3-A17F-780C54D7563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9C65BFB-233A-39CD-6B78-596F69F3128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95E6237-705E-A7BF-15BB-364CA1DF3247}"/>
              </a:ext>
            </a:extLst>
          </p:cNvPr>
          <p:cNvSpPr>
            <a:spLocks noGrp="1"/>
          </p:cNvSpPr>
          <p:nvPr>
            <p:ph type="body" idx="1"/>
          </p:nvPr>
        </p:nvSpPr>
        <p:spPr/>
        <p:txBody>
          <a:bodyPr/>
          <a:lstStyle/>
          <a:p>
            <a:pPr algn="l"/>
            <a:endParaRPr lang="en-US" dirty="0"/>
          </a:p>
        </p:txBody>
      </p:sp>
      <p:sp>
        <p:nvSpPr>
          <p:cNvPr id="4" name="Espace réservé du numéro de diapositive 3">
            <a:extLst>
              <a:ext uri="{FF2B5EF4-FFF2-40B4-BE49-F238E27FC236}">
                <a16:creationId xmlns:a16="http://schemas.microsoft.com/office/drawing/2014/main" id="{ABF3EF4A-7A8C-2C5F-A1D6-E035F591799C}"/>
              </a:ext>
            </a:extLst>
          </p:cNvPr>
          <p:cNvSpPr>
            <a:spLocks noGrp="1"/>
          </p:cNvSpPr>
          <p:nvPr>
            <p:ph type="sldNum" sz="quarter" idx="5"/>
          </p:nvPr>
        </p:nvSpPr>
        <p:spPr/>
        <p:txBody>
          <a:bodyPr/>
          <a:lstStyle/>
          <a:p>
            <a:fld id="{B4E0A65F-70CE-4C11-9DB6-CADF0E49A1AB}" type="slidenum">
              <a:rPr lang="fr-FR" smtClean="0"/>
              <a:t>45</a:t>
            </a:fld>
            <a:endParaRPr lang="fr-FR"/>
          </a:p>
        </p:txBody>
      </p:sp>
    </p:spTree>
    <p:extLst>
      <p:ext uri="{BB962C8B-B14F-4D97-AF65-F5344CB8AC3E}">
        <p14:creationId xmlns:p14="http://schemas.microsoft.com/office/powerpoint/2010/main" val="11464244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B4E0A65F-70CE-4C11-9DB6-CADF0E49A1AB}" type="slidenum">
              <a:rPr lang="fr-FR" smtClean="0"/>
              <a:t>46</a:t>
            </a:fld>
            <a:endParaRPr lang="fr-FR"/>
          </a:p>
        </p:txBody>
      </p:sp>
    </p:spTree>
    <p:extLst>
      <p:ext uri="{BB962C8B-B14F-4D97-AF65-F5344CB8AC3E}">
        <p14:creationId xmlns:p14="http://schemas.microsoft.com/office/powerpoint/2010/main" val="7312337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B4E0A65F-70CE-4C11-9DB6-CADF0E49A1AB}" type="slidenum">
              <a:rPr lang="fr-FR" smtClean="0"/>
              <a:t>47</a:t>
            </a:fld>
            <a:endParaRPr lang="fr-FR"/>
          </a:p>
        </p:txBody>
      </p:sp>
    </p:spTree>
    <p:extLst>
      <p:ext uri="{BB962C8B-B14F-4D97-AF65-F5344CB8AC3E}">
        <p14:creationId xmlns:p14="http://schemas.microsoft.com/office/powerpoint/2010/main" val="3306544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381810F3-05C8-F096-C9D2-3FC03FBD30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48672" y="6885615"/>
            <a:ext cx="644728" cy="677235"/>
          </a:xfrm>
          <a:prstGeom prst="rect">
            <a:avLst/>
          </a:prstGeom>
        </p:spPr>
      </p:pic>
      <p:pic>
        <p:nvPicPr>
          <p:cNvPr id="4" name="Image 3">
            <a:extLst>
              <a:ext uri="{FF2B5EF4-FFF2-40B4-BE49-F238E27FC236}">
                <a16:creationId xmlns:a16="http://schemas.microsoft.com/office/drawing/2014/main" id="{F5BF56F4-9159-01F8-5FA5-06C9E2EE99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449" y="6892098"/>
            <a:ext cx="644728" cy="677235"/>
          </a:xfrm>
          <a:prstGeom prst="rect">
            <a:avLst/>
          </a:prstGeom>
        </p:spPr>
      </p:pic>
      <p:sp>
        <p:nvSpPr>
          <p:cNvPr id="7" name="Rectangle 6"/>
          <p:cNvSpPr/>
          <p:nvPr userDrawn="1"/>
        </p:nvSpPr>
        <p:spPr>
          <a:xfrm>
            <a:off x="9289915" y="7294480"/>
            <a:ext cx="408561" cy="268369"/>
          </a:xfrm>
          <a:prstGeom prst="rect">
            <a:avLst/>
          </a:prstGeom>
          <a:solidFill>
            <a:srgbClr val="013B53"/>
          </a:solidFill>
        </p:spPr>
        <p:txBody>
          <a:bodyPr wrap="none" lIns="0" tIns="0" rIns="0" bIns="0">
            <a:noAutofit/>
          </a:bodyPr>
          <a:lstStyle/>
          <a:p>
            <a:pPr indent="0"/>
            <a:fld id="{B617CC79-FD00-4B7E-AD77-00347CBAF224}" type="slidenum">
              <a:rPr lang="en-US" sz="1300" b="1" i="1" smtClean="0">
                <a:solidFill>
                  <a:srgbClr val="FFFFFF"/>
                </a:solidFill>
                <a:latin typeface="Arial Black" panose="020B0A04020102020204" pitchFamily="34" charset="0"/>
              </a:rPr>
              <a:t>‹N°›</a:t>
            </a:fld>
            <a:endParaRPr lang="en-US" sz="1300" b="1" i="1" dirty="0">
              <a:solidFill>
                <a:srgbClr val="FFFFFF"/>
              </a:solidFill>
              <a:latin typeface="Arial Black" panose="020B0A04020102020204" pitchFamily="34" charset="0"/>
            </a:endParaRPr>
          </a:p>
        </p:txBody>
      </p:sp>
      <p:sp>
        <p:nvSpPr>
          <p:cNvPr id="6" name="Rectangle 5">
            <a:extLst>
              <a:ext uri="{FF2B5EF4-FFF2-40B4-BE49-F238E27FC236}">
                <a16:creationId xmlns:a16="http://schemas.microsoft.com/office/drawing/2014/main" id="{F1510EE2-713F-2A8C-5A62-C9E4E9F9390B}"/>
              </a:ext>
            </a:extLst>
          </p:cNvPr>
          <p:cNvSpPr/>
          <p:nvPr userDrawn="1"/>
        </p:nvSpPr>
        <p:spPr>
          <a:xfrm>
            <a:off x="804152" y="7294482"/>
            <a:ext cx="5450733" cy="268368"/>
          </a:xfrm>
          <a:prstGeom prst="rect">
            <a:avLst/>
          </a:prstGeom>
          <a:solidFill>
            <a:srgbClr val="013B53"/>
          </a:solidFill>
        </p:spPr>
        <p:txBody>
          <a:bodyPr wrap="none" lIns="0" tIns="0" rIns="0" bIns="0">
            <a:noAutofit/>
          </a:bodyPr>
          <a:lstStyle/>
          <a:p>
            <a:pPr indent="0"/>
            <a:r>
              <a:rPr lang="en-US" sz="1300" b="1" i="1" dirty="0">
                <a:solidFill>
                  <a:srgbClr val="FFFFFF"/>
                </a:solidFill>
                <a:latin typeface="Arial"/>
              </a:rPr>
              <a:t>WEDNES-CYBER-DAY BY FIRST LIEUTENANT MOAMPANDJ OTIS </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6.jpeg"/><Relationship Id="rId7"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jpeg"/><Relationship Id="rId4" Type="http://schemas.openxmlformats.org/officeDocument/2006/relationships/image" Target="../media/image8.png"/><Relationship Id="rId9"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jpe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3.jpe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2.jpe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jpe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6.jpeg"/><Relationship Id="rId7" Type="http://schemas.openxmlformats.org/officeDocument/2006/relationships/diagramColors" Target="../diagrams/colors1.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5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4B233B2-3DDD-E27F-99F4-5D638B2145D6}"/>
              </a:ext>
            </a:extLst>
          </p:cNvPr>
          <p:cNvSpPr/>
          <p:nvPr/>
        </p:nvSpPr>
        <p:spPr>
          <a:xfrm>
            <a:off x="9215718" y="7171765"/>
            <a:ext cx="591670" cy="391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a:extLst>
              <a:ext uri="{FF2B5EF4-FFF2-40B4-BE49-F238E27FC236}">
                <a16:creationId xmlns:a16="http://schemas.microsoft.com/office/drawing/2014/main" id="{627457D2-F7D0-53DF-35EB-487609C43314}"/>
              </a:ext>
            </a:extLst>
          </p:cNvPr>
          <p:cNvSpPr txBox="1">
            <a:spLocks/>
          </p:cNvSpPr>
          <p:nvPr/>
        </p:nvSpPr>
        <p:spPr>
          <a:xfrm>
            <a:off x="987612" y="3266915"/>
            <a:ext cx="9023318" cy="1029019"/>
          </a:xfrm>
          <a:prstGeom prst="rect">
            <a:avLst/>
          </a:prstGeom>
        </p:spPr>
        <p:txBody>
          <a:bodyP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7000" b="1" i="1" dirty="0"/>
              <a:t>APPORT DE L’ANALYSE DE RISQUE CYBER À LA SSI : CAS EBIOS RM</a:t>
            </a:r>
          </a:p>
        </p:txBody>
      </p:sp>
      <p:sp>
        <p:nvSpPr>
          <p:cNvPr id="3" name="Rounded Rectangle 9">
            <a:extLst>
              <a:ext uri="{FF2B5EF4-FFF2-40B4-BE49-F238E27FC236}">
                <a16:creationId xmlns:a16="http://schemas.microsoft.com/office/drawing/2014/main" id="{A45B48D4-DF0A-A4D7-54FD-52D93B657D79}"/>
              </a:ext>
            </a:extLst>
          </p:cNvPr>
          <p:cNvSpPr/>
          <p:nvPr/>
        </p:nvSpPr>
        <p:spPr>
          <a:xfrm>
            <a:off x="987612" y="2840094"/>
            <a:ext cx="9200204" cy="1882662"/>
          </a:xfrm>
          <a:prstGeom prst="roundRect">
            <a:avLst/>
          </a:prstGeom>
          <a:no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4" name="Rectangle 3">
            <a:extLst>
              <a:ext uri="{FF2B5EF4-FFF2-40B4-BE49-F238E27FC236}">
                <a16:creationId xmlns:a16="http://schemas.microsoft.com/office/drawing/2014/main" id="{645A4C4C-4CC8-C56E-700E-C6EBD6F2C9DA}"/>
              </a:ext>
            </a:extLst>
          </p:cNvPr>
          <p:cNvSpPr/>
          <p:nvPr/>
        </p:nvSpPr>
        <p:spPr>
          <a:xfrm>
            <a:off x="0" y="1765247"/>
            <a:ext cx="10693400" cy="4032354"/>
          </a:xfrm>
          <a:prstGeom prst="rect">
            <a:avLst/>
          </a:prstGeom>
          <a:blipFill dpi="0" rotWithShape="0">
            <a:blip r:embed="rId3">
              <a:alphaModFix amt="35000"/>
            </a:blip>
            <a:srcRect/>
            <a:tile tx="0" ty="0" sx="80000" sy="80000" flip="none" algn="t"/>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fr-FR" dirty="0"/>
          </a:p>
        </p:txBody>
      </p:sp>
      <p:sp>
        <p:nvSpPr>
          <p:cNvPr id="7" name="ZoneTexte 6">
            <a:extLst>
              <a:ext uri="{FF2B5EF4-FFF2-40B4-BE49-F238E27FC236}">
                <a16:creationId xmlns:a16="http://schemas.microsoft.com/office/drawing/2014/main" id="{BE17AB88-6B59-B9A9-E5E5-9AC473105CEB}"/>
              </a:ext>
            </a:extLst>
          </p:cNvPr>
          <p:cNvSpPr txBox="1"/>
          <p:nvPr/>
        </p:nvSpPr>
        <p:spPr>
          <a:xfrm>
            <a:off x="2417815" y="907902"/>
            <a:ext cx="6339798" cy="461665"/>
          </a:xfrm>
          <a:prstGeom prst="rect">
            <a:avLst/>
          </a:prstGeom>
          <a:noFill/>
        </p:spPr>
        <p:txBody>
          <a:bodyPr wrap="square">
            <a:spAutoFit/>
          </a:bodyPr>
          <a:lstStyle/>
          <a:p>
            <a:pPr algn="ctr">
              <a:spcBef>
                <a:spcPts val="1650"/>
              </a:spcBef>
              <a:spcAft>
                <a:spcPts val="825"/>
              </a:spcAft>
              <a:buNone/>
            </a:pPr>
            <a:r>
              <a:rPr lang="fr-FR" sz="2400" b="1" i="1" dirty="0">
                <a:solidFill>
                  <a:srgbClr val="002060"/>
                </a:solidFill>
                <a:latin typeface="Arial" panose="020B0604020202020204" pitchFamily="34" charset="0"/>
                <a:cs typeface="Arial" panose="020B0604020202020204" pitchFamily="34" charset="0"/>
              </a:rPr>
              <a:t>D’une méthode à sa pratique…</a:t>
            </a:r>
            <a:endParaRPr lang="fr-FR" sz="2400" b="1" i="1" dirty="0">
              <a:solidFill>
                <a:srgbClr val="002060"/>
              </a:solidFill>
              <a:effectLst/>
              <a:latin typeface="Arial" panose="020B0604020202020204" pitchFamily="34" charset="0"/>
              <a:cs typeface="Arial" panose="020B0604020202020204" pitchFamily="34" charset="0"/>
            </a:endParaRPr>
          </a:p>
        </p:txBody>
      </p:sp>
      <p:pic>
        <p:nvPicPr>
          <p:cNvPr id="6" name="Image 5">
            <a:extLst>
              <a:ext uri="{FF2B5EF4-FFF2-40B4-BE49-F238E27FC236}">
                <a16:creationId xmlns:a16="http://schemas.microsoft.com/office/drawing/2014/main" id="{CE0C9373-55A4-AA69-ED64-1F40FFDF7ACB}"/>
              </a:ext>
            </a:extLst>
          </p:cNvPr>
          <p:cNvPicPr>
            <a:picLocks noChangeAspect="1"/>
          </p:cNvPicPr>
          <p:nvPr/>
        </p:nvPicPr>
        <p:blipFill>
          <a:blip r:embed="rId4"/>
          <a:stretch>
            <a:fillRect/>
          </a:stretch>
        </p:blipFill>
        <p:spPr>
          <a:xfrm>
            <a:off x="3714750" y="5276371"/>
            <a:ext cx="3621045" cy="1899323"/>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48768" y="682752"/>
            <a:ext cx="10591800" cy="225552"/>
          </a:xfrm>
          <a:prstGeom prst="rect">
            <a:avLst/>
          </a:prstGeom>
        </p:spPr>
      </p:pic>
      <p:sp>
        <p:nvSpPr>
          <p:cNvPr id="4" name="Rectangle 3"/>
          <p:cNvSpPr/>
          <p:nvPr/>
        </p:nvSpPr>
        <p:spPr>
          <a:xfrm>
            <a:off x="445008" y="213360"/>
            <a:ext cx="862584" cy="295656"/>
          </a:xfrm>
          <a:prstGeom prst="rect">
            <a:avLst/>
          </a:prstGeom>
        </p:spPr>
        <p:txBody>
          <a:bodyPr wrap="none" lIns="0" tIns="0" rIns="0" bIns="0">
            <a:noAutofit/>
          </a:bodyPr>
          <a:lstStyle/>
          <a:p>
            <a:pPr indent="0"/>
            <a:r>
              <a:rPr lang="en-US" sz="2700" b="1" dirty="0">
                <a:solidFill>
                  <a:srgbClr val="161616"/>
                </a:solidFill>
                <a:latin typeface="Arial"/>
              </a:rPr>
              <a:t>Hello HELIOS </a:t>
            </a:r>
            <a:r>
              <a:rPr lang="en-CA" sz="2700" b="1" dirty="0">
                <a:solidFill>
                  <a:srgbClr val="161616"/>
                </a:solidFill>
                <a:latin typeface="Arial"/>
              </a:rPr>
              <a:t>!</a:t>
            </a:r>
            <a:endParaRPr lang="en-US" sz="2700" b="1" dirty="0">
              <a:solidFill>
                <a:srgbClr val="161616"/>
              </a:solidFill>
              <a:latin typeface="Arial"/>
            </a:endParaRPr>
          </a:p>
        </p:txBody>
      </p:sp>
      <p:sp>
        <p:nvSpPr>
          <p:cNvPr id="5" name="Rectangle 4"/>
          <p:cNvSpPr/>
          <p:nvPr/>
        </p:nvSpPr>
        <p:spPr>
          <a:xfrm>
            <a:off x="1075944" y="1508760"/>
            <a:ext cx="6284080" cy="3642360"/>
          </a:xfrm>
          <a:prstGeom prst="rect">
            <a:avLst/>
          </a:prstGeom>
        </p:spPr>
        <p:txBody>
          <a:bodyPr lIns="0" tIns="0" rIns="0" bIns="0">
            <a:noAutofit/>
          </a:bodyPr>
          <a:lstStyle/>
          <a:p>
            <a:pPr indent="0" algn="just">
              <a:lnSpc>
                <a:spcPts val="3132"/>
              </a:lnSpc>
            </a:pPr>
            <a:r>
              <a:rPr lang="en-US" sz="2100" b="1" dirty="0">
                <a:latin typeface="Arial"/>
              </a:rPr>
              <a:t>-    M. Sc. Otis MOAMPANDJ</a:t>
            </a:r>
          </a:p>
          <a:p>
            <a:pPr marL="342900" indent="-342900" algn="just">
              <a:lnSpc>
                <a:spcPts val="3132"/>
              </a:lnSpc>
              <a:buFontTx/>
              <a:buChar char="-"/>
            </a:pPr>
            <a:r>
              <a:rPr lang="en-US" sz="1900" dirty="0">
                <a:latin typeface="Arial"/>
              </a:rPr>
              <a:t>Computer Science Engineer (ISDS)</a:t>
            </a:r>
          </a:p>
          <a:p>
            <a:pPr marL="342900" indent="-342900" algn="just">
              <a:lnSpc>
                <a:spcPts val="3132"/>
              </a:lnSpc>
              <a:buFontTx/>
              <a:buChar char="-"/>
            </a:pPr>
            <a:r>
              <a:rPr lang="en-US" sz="1900" dirty="0">
                <a:latin typeface="Arial"/>
              </a:rPr>
              <a:t>Young Officer </a:t>
            </a:r>
          </a:p>
          <a:p>
            <a:pPr marL="342900" indent="-342900" algn="just">
              <a:lnSpc>
                <a:spcPts val="3132"/>
              </a:lnSpc>
              <a:buFontTx/>
              <a:buChar char="-"/>
            </a:pPr>
            <a:r>
              <a:rPr lang="en-US" sz="1900" dirty="0">
                <a:latin typeface="Arial"/>
              </a:rPr>
              <a:t>Certified NSE, </a:t>
            </a:r>
            <a:r>
              <a:rPr lang="en-US" sz="1900" dirty="0" err="1">
                <a:latin typeface="Arial"/>
              </a:rPr>
              <a:t>Cyberdiplomacy</a:t>
            </a:r>
            <a:r>
              <a:rPr lang="en-US" sz="1900" dirty="0">
                <a:latin typeface="Arial"/>
              </a:rPr>
              <a:t>  (UNADER)</a:t>
            </a:r>
          </a:p>
          <a:p>
            <a:pPr indent="0" algn="just">
              <a:lnSpc>
                <a:spcPts val="3132"/>
              </a:lnSpc>
            </a:pPr>
            <a:r>
              <a:rPr lang="en-US" sz="1900" dirty="0">
                <a:latin typeface="Arial"/>
              </a:rPr>
              <a:t>-    Research Interests:</a:t>
            </a:r>
          </a:p>
          <a:p>
            <a:pPr marL="520700" indent="0" algn="just">
              <a:spcAft>
                <a:spcPts val="630"/>
              </a:spcAft>
            </a:pPr>
            <a:r>
              <a:rPr lang="en-US" sz="1700" dirty="0">
                <a:latin typeface="Arial"/>
              </a:rPr>
              <a:t>•    Deep Learning</a:t>
            </a:r>
          </a:p>
          <a:p>
            <a:pPr marL="520700" indent="0" algn="just">
              <a:spcAft>
                <a:spcPts val="1050"/>
              </a:spcAft>
            </a:pPr>
            <a:r>
              <a:rPr lang="en-US" sz="1700" dirty="0">
                <a:latin typeface="Arial"/>
              </a:rPr>
              <a:t>•    Big Data Analytics</a:t>
            </a:r>
          </a:p>
          <a:p>
            <a:pPr marL="520700" algn="just">
              <a:spcAft>
                <a:spcPts val="1050"/>
              </a:spcAft>
            </a:pPr>
            <a:r>
              <a:rPr lang="en-US" sz="1700" dirty="0">
                <a:latin typeface="Arial"/>
              </a:rPr>
              <a:t>•    Information Retrieval</a:t>
            </a:r>
          </a:p>
          <a:p>
            <a:pPr marL="520700" algn="just">
              <a:spcAft>
                <a:spcPts val="1050"/>
              </a:spcAft>
            </a:pPr>
            <a:r>
              <a:rPr lang="en-US" sz="1700" dirty="0">
                <a:latin typeface="Arial"/>
              </a:rPr>
              <a:t>•    Cybersecurity</a:t>
            </a:r>
          </a:p>
          <a:p>
            <a:pPr indent="0" algn="just">
              <a:spcAft>
                <a:spcPts val="1050"/>
              </a:spcAft>
            </a:pPr>
            <a:r>
              <a:rPr lang="en-US" sz="1900" dirty="0">
                <a:latin typeface="Arial"/>
              </a:rPr>
              <a:t>-    Room: Situation Room PC HELIOS</a:t>
            </a:r>
          </a:p>
          <a:p>
            <a:pPr marL="342900" indent="-342900" algn="just">
              <a:spcAft>
                <a:spcPts val="2940"/>
              </a:spcAft>
              <a:buFontTx/>
              <a:buChar char="-"/>
            </a:pPr>
            <a:r>
              <a:rPr lang="en-US" sz="1900" dirty="0" err="1">
                <a:latin typeface="Arial"/>
              </a:rPr>
              <a:t>eMail</a:t>
            </a:r>
            <a:r>
              <a:rPr lang="en-US" sz="1900" dirty="0">
                <a:latin typeface="Arial"/>
              </a:rPr>
              <a:t>: moampandjotis@heliosc4i.cm</a:t>
            </a:r>
          </a:p>
        </p:txBody>
      </p:sp>
      <p:pic>
        <p:nvPicPr>
          <p:cNvPr id="13" name="Image 12">
            <a:extLst>
              <a:ext uri="{FF2B5EF4-FFF2-40B4-BE49-F238E27FC236}">
                <a16:creationId xmlns:a16="http://schemas.microsoft.com/office/drawing/2014/main" id="{094057CC-A5F2-5BED-2E79-D61A0FFAA90E}"/>
              </a:ext>
            </a:extLst>
          </p:cNvPr>
          <p:cNvPicPr>
            <a:picLocks noChangeAspect="1"/>
          </p:cNvPicPr>
          <p:nvPr/>
        </p:nvPicPr>
        <p:blipFill rotWithShape="1">
          <a:blip r:embed="rId3">
            <a:extLst>
              <a:ext uri="{28A0092B-C50C-407E-A947-70E740481C1C}">
                <a14:useLocalDpi xmlns:a14="http://schemas.microsoft.com/office/drawing/2010/main" val="0"/>
              </a:ext>
            </a:extLst>
          </a:blip>
          <a:srcRect l="14648" t="15616" r="14795" b="12158"/>
          <a:stretch/>
        </p:blipFill>
        <p:spPr>
          <a:xfrm>
            <a:off x="6902825" y="1810872"/>
            <a:ext cx="2465294" cy="2574642"/>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1"/>
          <p:cNvPicPr>
            <a:picLocks noChangeAspect="1"/>
          </p:cNvPicPr>
          <p:nvPr/>
        </p:nvPicPr>
        <p:blipFill>
          <a:blip r:embed="rId3"/>
          <a:stretch>
            <a:fillRect/>
          </a:stretch>
        </p:blipFill>
        <p:spPr>
          <a:xfrm>
            <a:off x="48768" y="679704"/>
            <a:ext cx="10591800" cy="231648"/>
          </a:xfrm>
          <a:prstGeom prst="rect">
            <a:avLst/>
          </a:prstGeom>
        </p:spPr>
      </p:pic>
      <p:sp>
        <p:nvSpPr>
          <p:cNvPr id="4" name="Rectangle 3"/>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Id</a:t>
            </a:r>
            <a:r>
              <a:rPr lang="fr-FR" sz="2600" b="1" dirty="0" err="1">
                <a:solidFill>
                  <a:srgbClr val="161616"/>
                </a:solidFill>
                <a:latin typeface="Arial"/>
              </a:rPr>
              <a:t>ée</a:t>
            </a:r>
            <a:r>
              <a:rPr lang="fr-FR" sz="2600" b="1" dirty="0">
                <a:solidFill>
                  <a:srgbClr val="161616"/>
                </a:solidFill>
                <a:latin typeface="Arial"/>
              </a:rPr>
              <a:t> </a:t>
            </a:r>
            <a:r>
              <a:rPr lang="en-CA" sz="2600" b="1" dirty="0" err="1">
                <a:solidFill>
                  <a:srgbClr val="161616"/>
                </a:solidFill>
                <a:latin typeface="Arial"/>
              </a:rPr>
              <a:t>Maitresse</a:t>
            </a:r>
            <a:endParaRPr lang="en-US" sz="2600" b="1" dirty="0">
              <a:solidFill>
                <a:srgbClr val="161616"/>
              </a:solidFill>
              <a:latin typeface="Arial"/>
            </a:endParaRPr>
          </a:p>
        </p:txBody>
      </p:sp>
      <p:sp>
        <p:nvSpPr>
          <p:cNvPr id="5" name="Rectangle 4"/>
          <p:cNvSpPr/>
          <p:nvPr/>
        </p:nvSpPr>
        <p:spPr>
          <a:xfrm>
            <a:off x="518160" y="1207008"/>
            <a:ext cx="7825740" cy="5660136"/>
          </a:xfrm>
          <a:prstGeom prst="rect">
            <a:avLst/>
          </a:prstGeom>
        </p:spPr>
        <p:txBody>
          <a:bodyPr lIns="0" tIns="0" rIns="0" bIns="0">
            <a:noAutofit/>
          </a:bodyPr>
          <a:lstStyle/>
          <a:p>
            <a:pPr marL="393192" indent="-457200">
              <a:lnSpc>
                <a:spcPts val="2856"/>
              </a:lnSpc>
              <a:spcAft>
                <a:spcPts val="1050"/>
              </a:spcAft>
            </a:pPr>
            <a:endParaRPr lang="en-US" sz="1900" dirty="0">
              <a:latin typeface="Arial"/>
            </a:endParaRPr>
          </a:p>
        </p:txBody>
      </p:sp>
      <p:sp>
        <p:nvSpPr>
          <p:cNvPr id="3" name="Rectangle : en biseau 2">
            <a:extLst>
              <a:ext uri="{FF2B5EF4-FFF2-40B4-BE49-F238E27FC236}">
                <a16:creationId xmlns:a16="http://schemas.microsoft.com/office/drawing/2014/main" id="{4DD122C9-1071-9C7B-5D97-3F3409BB55A7}"/>
              </a:ext>
            </a:extLst>
          </p:cNvPr>
          <p:cNvSpPr/>
          <p:nvPr/>
        </p:nvSpPr>
        <p:spPr>
          <a:xfrm>
            <a:off x="518160" y="1486460"/>
            <a:ext cx="9449929" cy="5196562"/>
          </a:xfrm>
          <a:prstGeom prst="bevel">
            <a:avLst/>
          </a:prstGeom>
          <a:solidFill>
            <a:schemeClr val="bg1"/>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fr-FR" sz="2800" i="1" dirty="0">
                <a:solidFill>
                  <a:srgbClr val="002060"/>
                </a:solidFill>
                <a:latin typeface="Arial" panose="020B0604020202020204" pitchFamily="34" charset="0"/>
                <a:cs typeface="Arial" panose="020B0604020202020204" pitchFamily="34" charset="0"/>
              </a:rPr>
              <a:t>	</a:t>
            </a:r>
            <a:r>
              <a:rPr lang="fr-FR" sz="2400" i="1" dirty="0">
                <a:solidFill>
                  <a:srgbClr val="002060"/>
                </a:solidFill>
                <a:latin typeface="Arial" panose="020B0604020202020204" pitchFamily="34" charset="0"/>
                <a:cs typeface="Arial" panose="020B0604020202020204" pitchFamily="34" charset="0"/>
              </a:rPr>
              <a:t>La gestion du risque cyber est aujourd’hui le cœur de la SSI. Elle permet de relier les enjeux métiers aux menaces réelles, d’orienter les investissements de sécurité et de piloter la résilience numérique. La méthode EBIOS Risk Manager, élaborée par l’ANSSI et le Club EBIOS, offre un cadre structuré et pragmatique pour comprendre, évaluer et traiter ces risques. À travers ses cinq (05) ateliers, elle transforme la SSI en une démarche stratégique, collaborative et pilotée par les risques.</a:t>
            </a:r>
            <a:endParaRPr lang="fr-FR" sz="2800" i="1"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297786"/>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48768" y="679704"/>
            <a:ext cx="10591800" cy="231648"/>
          </a:xfrm>
          <a:prstGeom prst="rect">
            <a:avLst/>
          </a:prstGeom>
        </p:spPr>
      </p:pic>
      <p:sp>
        <p:nvSpPr>
          <p:cNvPr id="3" name="Rectangle 2"/>
          <p:cNvSpPr/>
          <p:nvPr/>
        </p:nvSpPr>
        <p:spPr>
          <a:xfrm>
            <a:off x="435864" y="198120"/>
            <a:ext cx="6019800" cy="365760"/>
          </a:xfrm>
          <a:prstGeom prst="rect">
            <a:avLst/>
          </a:prstGeom>
        </p:spPr>
        <p:txBody>
          <a:bodyPr wrap="none" lIns="0" tIns="0" rIns="0" bIns="0">
            <a:noAutofit/>
          </a:bodyPr>
          <a:lstStyle/>
          <a:p>
            <a:pPr indent="0"/>
            <a:r>
              <a:rPr lang="en-US" sz="2700" b="1" dirty="0">
                <a:solidFill>
                  <a:srgbClr val="161616"/>
                </a:solidFill>
                <a:latin typeface="Arial"/>
              </a:rPr>
              <a:t>Overview of Presentation</a:t>
            </a:r>
          </a:p>
        </p:txBody>
      </p:sp>
      <p:sp>
        <p:nvSpPr>
          <p:cNvPr id="4" name="Rectangle 3"/>
          <p:cNvSpPr/>
          <p:nvPr/>
        </p:nvSpPr>
        <p:spPr>
          <a:xfrm>
            <a:off x="2112778" y="3020949"/>
            <a:ext cx="7997941" cy="1520952"/>
          </a:xfrm>
          <a:prstGeom prst="rect">
            <a:avLst/>
          </a:prstGeom>
        </p:spPr>
        <p:txBody>
          <a:bodyPr lIns="0" tIns="0" rIns="0" bIns="0">
            <a:noAutofit/>
          </a:bodyPr>
          <a:lstStyle/>
          <a:p>
            <a:pPr indent="0" algn="just">
              <a:lnSpc>
                <a:spcPts val="4656"/>
              </a:lnSpc>
            </a:pPr>
            <a:r>
              <a:rPr lang="en-US" sz="2800" b="1" i="1" dirty="0">
                <a:latin typeface="Arial"/>
              </a:rPr>
              <a:t>1.  </a:t>
            </a:r>
            <a:r>
              <a:rPr lang="en-US" sz="2800" b="1" i="1" dirty="0" err="1">
                <a:latin typeface="Arial"/>
              </a:rPr>
              <a:t>Contexte</a:t>
            </a:r>
            <a:endParaRPr lang="en-US" sz="2800" b="1" i="1" dirty="0">
              <a:latin typeface="Arial"/>
            </a:endParaRPr>
          </a:p>
          <a:p>
            <a:pPr indent="0" algn="just">
              <a:lnSpc>
                <a:spcPts val="4656"/>
              </a:lnSpc>
            </a:pPr>
            <a:r>
              <a:rPr lang="en-US" sz="2800" b="1" i="1" dirty="0">
                <a:latin typeface="Arial"/>
              </a:rPr>
              <a:t>2.  EBIOS RM et </a:t>
            </a:r>
            <a:r>
              <a:rPr lang="en-US" sz="2800" b="1" i="1" dirty="0" err="1">
                <a:latin typeface="Arial"/>
              </a:rPr>
              <a:t>ses</a:t>
            </a:r>
            <a:r>
              <a:rPr lang="en-US" sz="2800" b="1" i="1" dirty="0">
                <a:latin typeface="Arial"/>
              </a:rPr>
              <a:t> 5 Ateliers</a:t>
            </a:r>
          </a:p>
          <a:p>
            <a:pPr marL="514350" indent="-514350" algn="just">
              <a:lnSpc>
                <a:spcPts val="4656"/>
              </a:lnSpc>
              <a:buAutoNum type="arabicPeriod" startAt="3"/>
            </a:pPr>
            <a:r>
              <a:rPr lang="en-US" sz="2800" b="1" i="1" dirty="0">
                <a:latin typeface="Arial"/>
              </a:rPr>
              <a:t>Use Case</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5747FCC-5BB3-FBC2-54CF-E609F3554F78}"/>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0F3FB9C8-9DE9-A383-D0E5-9162CF939DCD}"/>
              </a:ext>
            </a:extLst>
          </p:cNvPr>
          <p:cNvPicPr>
            <a:picLocks noChangeAspect="1"/>
          </p:cNvPicPr>
          <p:nvPr/>
        </p:nvPicPr>
        <p:blipFill>
          <a:blip r:embed="rId2"/>
          <a:stretch>
            <a:fillRect/>
          </a:stretch>
        </p:blipFill>
        <p:spPr>
          <a:xfrm>
            <a:off x="48768" y="679704"/>
            <a:ext cx="10591800" cy="231648"/>
          </a:xfrm>
          <a:prstGeom prst="rect">
            <a:avLst/>
          </a:prstGeom>
        </p:spPr>
      </p:pic>
      <p:sp>
        <p:nvSpPr>
          <p:cNvPr id="3" name="Rectangle 2">
            <a:extLst>
              <a:ext uri="{FF2B5EF4-FFF2-40B4-BE49-F238E27FC236}">
                <a16:creationId xmlns:a16="http://schemas.microsoft.com/office/drawing/2014/main" id="{62281F1D-6108-857C-21D9-8ED5923EA04E}"/>
              </a:ext>
            </a:extLst>
          </p:cNvPr>
          <p:cNvSpPr/>
          <p:nvPr/>
        </p:nvSpPr>
        <p:spPr>
          <a:xfrm>
            <a:off x="435864" y="198120"/>
            <a:ext cx="6019800" cy="365760"/>
          </a:xfrm>
          <a:prstGeom prst="rect">
            <a:avLst/>
          </a:prstGeom>
        </p:spPr>
        <p:txBody>
          <a:bodyPr wrap="none" lIns="0" tIns="0" rIns="0" bIns="0">
            <a:noAutofit/>
          </a:bodyPr>
          <a:lstStyle/>
          <a:p>
            <a:pPr indent="0"/>
            <a:r>
              <a:rPr lang="en-US" sz="2700" b="1" dirty="0">
                <a:solidFill>
                  <a:srgbClr val="161616"/>
                </a:solidFill>
                <a:latin typeface="Arial"/>
              </a:rPr>
              <a:t>Overview of Presentation</a:t>
            </a:r>
          </a:p>
        </p:txBody>
      </p:sp>
      <p:sp>
        <p:nvSpPr>
          <p:cNvPr id="4" name="Rectangle 3">
            <a:extLst>
              <a:ext uri="{FF2B5EF4-FFF2-40B4-BE49-F238E27FC236}">
                <a16:creationId xmlns:a16="http://schemas.microsoft.com/office/drawing/2014/main" id="{BDD2CEB3-D7B7-C09B-BF90-2A79A48F19B2}"/>
              </a:ext>
            </a:extLst>
          </p:cNvPr>
          <p:cNvSpPr/>
          <p:nvPr/>
        </p:nvSpPr>
        <p:spPr>
          <a:xfrm>
            <a:off x="2112778" y="3020949"/>
            <a:ext cx="7997941" cy="1520952"/>
          </a:xfrm>
          <a:prstGeom prst="rect">
            <a:avLst/>
          </a:prstGeom>
        </p:spPr>
        <p:txBody>
          <a:bodyPr lIns="0" tIns="0" rIns="0" bIns="0">
            <a:noAutofit/>
          </a:bodyPr>
          <a:lstStyle/>
          <a:p>
            <a:pPr indent="0" algn="just">
              <a:lnSpc>
                <a:spcPts val="4656"/>
              </a:lnSpc>
            </a:pPr>
            <a:r>
              <a:rPr lang="en-US" sz="2800" b="1" i="1" dirty="0">
                <a:solidFill>
                  <a:srgbClr val="FF0000"/>
                </a:solidFill>
                <a:latin typeface="Arial"/>
              </a:rPr>
              <a:t>1.  </a:t>
            </a:r>
            <a:r>
              <a:rPr lang="en-US" sz="2800" b="1" i="1" dirty="0" err="1">
                <a:solidFill>
                  <a:srgbClr val="FF0000"/>
                </a:solidFill>
                <a:latin typeface="Arial"/>
              </a:rPr>
              <a:t>Contexte</a:t>
            </a:r>
            <a:endParaRPr lang="en-US" sz="2800" b="1" i="1" dirty="0">
              <a:solidFill>
                <a:srgbClr val="FF0000"/>
              </a:solidFill>
              <a:latin typeface="Arial"/>
            </a:endParaRPr>
          </a:p>
          <a:p>
            <a:pPr indent="0" algn="just">
              <a:lnSpc>
                <a:spcPts val="4656"/>
              </a:lnSpc>
            </a:pPr>
            <a:r>
              <a:rPr lang="en-US" sz="2800" b="1" i="1" dirty="0">
                <a:latin typeface="Arial"/>
              </a:rPr>
              <a:t>2.  EBIOS RM et </a:t>
            </a:r>
            <a:r>
              <a:rPr lang="en-US" sz="2800" b="1" i="1" dirty="0" err="1">
                <a:latin typeface="Arial"/>
              </a:rPr>
              <a:t>ses</a:t>
            </a:r>
            <a:r>
              <a:rPr lang="en-US" sz="2800" b="1" i="1" dirty="0">
                <a:latin typeface="Arial"/>
              </a:rPr>
              <a:t> 5 Ateliers</a:t>
            </a:r>
          </a:p>
          <a:p>
            <a:pPr marL="514350" indent="-514350" algn="just">
              <a:lnSpc>
                <a:spcPts val="4656"/>
              </a:lnSpc>
              <a:buAutoNum type="arabicPeriod" startAt="3"/>
            </a:pPr>
            <a:r>
              <a:rPr lang="en-US" sz="2800" b="1" i="1" dirty="0">
                <a:latin typeface="Arial"/>
              </a:rPr>
              <a:t>Use Case</a:t>
            </a:r>
          </a:p>
        </p:txBody>
      </p:sp>
    </p:spTree>
    <p:extLst>
      <p:ext uri="{BB962C8B-B14F-4D97-AF65-F5344CB8AC3E}">
        <p14:creationId xmlns:p14="http://schemas.microsoft.com/office/powerpoint/2010/main" val="828431004"/>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1"/>
          <p:cNvPicPr>
            <a:picLocks noChangeAspect="1"/>
          </p:cNvPicPr>
          <p:nvPr/>
        </p:nvPicPr>
        <p:blipFill>
          <a:blip r:embed="rId3"/>
          <a:stretch>
            <a:fillRect/>
          </a:stretch>
        </p:blipFill>
        <p:spPr>
          <a:xfrm>
            <a:off x="48768" y="679704"/>
            <a:ext cx="10591800" cy="231648"/>
          </a:xfrm>
          <a:prstGeom prst="rect">
            <a:avLst/>
          </a:prstGeom>
        </p:spPr>
      </p:pic>
      <p:sp>
        <p:nvSpPr>
          <p:cNvPr id="4" name="Rectangle 3"/>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1. </a:t>
            </a:r>
            <a:r>
              <a:rPr lang="en-US" sz="2600" b="1" dirty="0" err="1">
                <a:solidFill>
                  <a:srgbClr val="161616"/>
                </a:solidFill>
                <a:latin typeface="Arial"/>
              </a:rPr>
              <a:t>Contexte</a:t>
            </a:r>
            <a:endParaRPr lang="en-US" sz="2600" b="1" dirty="0">
              <a:solidFill>
                <a:srgbClr val="161616"/>
              </a:solidFill>
              <a:latin typeface="Arial"/>
            </a:endParaRPr>
          </a:p>
        </p:txBody>
      </p:sp>
      <p:sp>
        <p:nvSpPr>
          <p:cNvPr id="15" name="Rectangle 14">
            <a:extLst>
              <a:ext uri="{FF2B5EF4-FFF2-40B4-BE49-F238E27FC236}">
                <a16:creationId xmlns:a16="http://schemas.microsoft.com/office/drawing/2014/main" id="{749B9851-1431-D97B-3508-C64F19B2ED09}"/>
              </a:ext>
            </a:extLst>
          </p:cNvPr>
          <p:cNvSpPr/>
          <p:nvPr/>
        </p:nvSpPr>
        <p:spPr>
          <a:xfrm>
            <a:off x="3535510" y="1171500"/>
            <a:ext cx="3234493" cy="365760"/>
          </a:xfrm>
          <a:prstGeom prst="rect">
            <a:avLst/>
          </a:prstGeom>
        </p:spPr>
        <p:txBody>
          <a:bodyPr wrap="none" lIns="0" tIns="0" rIns="0" bIns="0">
            <a:noAutofit/>
          </a:bodyPr>
          <a:lstStyle/>
          <a:p>
            <a:pPr indent="0" algn="ctr"/>
            <a:r>
              <a:rPr lang="fr-FR" sz="2800" b="1" i="1" dirty="0">
                <a:solidFill>
                  <a:srgbClr val="161616"/>
                </a:solidFill>
                <a:latin typeface="Arial"/>
              </a:rPr>
              <a:t>L’analyse de risque cyber : une </a:t>
            </a:r>
            <a:r>
              <a:rPr lang="fr-FR" sz="2800" b="1" i="1" dirty="0" err="1">
                <a:solidFill>
                  <a:srgbClr val="161616"/>
                </a:solidFill>
                <a:latin typeface="Arial"/>
              </a:rPr>
              <a:t>nécéssité</a:t>
            </a:r>
            <a:r>
              <a:rPr lang="fr-FR" sz="2800" b="1" i="1" dirty="0">
                <a:solidFill>
                  <a:srgbClr val="161616"/>
                </a:solidFill>
                <a:latin typeface="Arial"/>
              </a:rPr>
              <a:t> stratégique</a:t>
            </a:r>
            <a:endParaRPr lang="en-US" sz="2800" b="1" i="1" dirty="0">
              <a:solidFill>
                <a:srgbClr val="161616"/>
              </a:solidFill>
              <a:latin typeface="Arial"/>
            </a:endParaRPr>
          </a:p>
        </p:txBody>
      </p:sp>
      <p:sp>
        <p:nvSpPr>
          <p:cNvPr id="10" name="ZoneTexte 9">
            <a:extLst>
              <a:ext uri="{FF2B5EF4-FFF2-40B4-BE49-F238E27FC236}">
                <a16:creationId xmlns:a16="http://schemas.microsoft.com/office/drawing/2014/main" id="{97AC8116-F479-7F74-1B45-A671EABD317A}"/>
              </a:ext>
            </a:extLst>
          </p:cNvPr>
          <p:cNvSpPr txBox="1"/>
          <p:nvPr/>
        </p:nvSpPr>
        <p:spPr>
          <a:xfrm>
            <a:off x="475089" y="1797408"/>
            <a:ext cx="9739158" cy="3539430"/>
          </a:xfrm>
          <a:prstGeom prst="rect">
            <a:avLst/>
          </a:prstGeom>
          <a:noFill/>
        </p:spPr>
        <p:txBody>
          <a:bodyPr wrap="square" rtlCol="0">
            <a:spAutoFit/>
          </a:bodyPr>
          <a:lstStyle/>
          <a:p>
            <a:pPr algn="just"/>
            <a:r>
              <a:rPr lang="fr-FR" sz="2800" b="0" dirty="0">
                <a:solidFill>
                  <a:srgbClr val="05192D"/>
                </a:solidFill>
                <a:effectLst/>
                <a:latin typeface="Arial" panose="020B0604020202020204" pitchFamily="34" charset="0"/>
                <a:cs typeface="Arial" panose="020B0604020202020204" pitchFamily="34" charset="0"/>
              </a:rPr>
              <a:t>	L’analyse de risque cyber est cruciale pour sécuriser les systèmes d’information face à des menaces de plus en plus sophistiquées. Elle offre un cadre méthodologique pour identifier, évaluer, gérer les risques, assurant ainsi la protection des données et des infrastructures. Cette approche proactive est indispensable pour garantir la continuité des activités et la confiance des parties prenantes.  </a:t>
            </a:r>
            <a:endParaRPr lang="en-US" sz="2800" b="1" dirty="0">
              <a:latin typeface="Arial" panose="020B0604020202020204" pitchFamily="34" charset="0"/>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1D0E466-93D2-22D7-6873-EBC41F8698E8}"/>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F6C01759-F9E1-506F-878A-C4B65B4AD923}"/>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5F28A616-434F-B8A5-2CDA-23CA316E560B}"/>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1. </a:t>
            </a:r>
            <a:r>
              <a:rPr lang="en-US" sz="2600" b="1" dirty="0" err="1">
                <a:solidFill>
                  <a:srgbClr val="161616"/>
                </a:solidFill>
                <a:latin typeface="Arial"/>
              </a:rPr>
              <a:t>Contexte</a:t>
            </a:r>
            <a:endParaRPr lang="en-US" sz="2600" b="1" dirty="0">
              <a:solidFill>
                <a:srgbClr val="161616"/>
              </a:solidFill>
              <a:latin typeface="Arial"/>
            </a:endParaRPr>
          </a:p>
        </p:txBody>
      </p:sp>
      <p:sp>
        <p:nvSpPr>
          <p:cNvPr id="15" name="Rectangle 14">
            <a:extLst>
              <a:ext uri="{FF2B5EF4-FFF2-40B4-BE49-F238E27FC236}">
                <a16:creationId xmlns:a16="http://schemas.microsoft.com/office/drawing/2014/main" id="{010267B2-8C20-60E1-0722-9F359BF0B9F5}"/>
              </a:ext>
            </a:extLst>
          </p:cNvPr>
          <p:cNvSpPr/>
          <p:nvPr/>
        </p:nvSpPr>
        <p:spPr>
          <a:xfrm>
            <a:off x="3535510" y="1171500"/>
            <a:ext cx="3234493" cy="365760"/>
          </a:xfrm>
          <a:prstGeom prst="rect">
            <a:avLst/>
          </a:prstGeom>
        </p:spPr>
        <p:txBody>
          <a:bodyPr wrap="none" lIns="0" tIns="0" rIns="0" bIns="0">
            <a:noAutofit/>
          </a:bodyPr>
          <a:lstStyle/>
          <a:p>
            <a:pPr indent="0" algn="ctr"/>
            <a:r>
              <a:rPr lang="fr-FR" sz="2800" b="1" i="1" dirty="0">
                <a:solidFill>
                  <a:srgbClr val="161616"/>
                </a:solidFill>
                <a:latin typeface="Arial"/>
              </a:rPr>
              <a:t>Pourquoi la SSI est-elle essentielle ?</a:t>
            </a:r>
            <a:endParaRPr lang="en-US" sz="2800" b="1" i="1" dirty="0">
              <a:solidFill>
                <a:srgbClr val="161616"/>
              </a:solidFill>
              <a:latin typeface="Arial"/>
            </a:endParaRPr>
          </a:p>
        </p:txBody>
      </p:sp>
      <p:pic>
        <p:nvPicPr>
          <p:cNvPr id="5" name="Image 4">
            <a:extLst>
              <a:ext uri="{FF2B5EF4-FFF2-40B4-BE49-F238E27FC236}">
                <a16:creationId xmlns:a16="http://schemas.microsoft.com/office/drawing/2014/main" id="{9E2F7091-E6DA-68F9-D8EB-7C00137AF53C}"/>
              </a:ext>
            </a:extLst>
          </p:cNvPr>
          <p:cNvPicPr>
            <a:picLocks noChangeAspect="1"/>
          </p:cNvPicPr>
          <p:nvPr/>
        </p:nvPicPr>
        <p:blipFill>
          <a:blip r:embed="rId4"/>
          <a:stretch>
            <a:fillRect/>
          </a:stretch>
        </p:blipFill>
        <p:spPr>
          <a:xfrm>
            <a:off x="1924715" y="2099063"/>
            <a:ext cx="6839905" cy="4887007"/>
          </a:xfrm>
          <a:prstGeom prst="rect">
            <a:avLst/>
          </a:prstGeom>
        </p:spPr>
      </p:pic>
    </p:spTree>
    <p:extLst>
      <p:ext uri="{BB962C8B-B14F-4D97-AF65-F5344CB8AC3E}">
        <p14:creationId xmlns:p14="http://schemas.microsoft.com/office/powerpoint/2010/main" val="3737147277"/>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C1AB3E3-725A-7763-CD22-C637BD464FEB}"/>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23BEB10B-F716-E56C-43C9-ADD9E76C085E}"/>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253AF631-15FE-32E8-AA53-47C9618BE95E}"/>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1. </a:t>
            </a:r>
            <a:r>
              <a:rPr lang="en-US" sz="2600" b="1" dirty="0" err="1">
                <a:solidFill>
                  <a:srgbClr val="161616"/>
                </a:solidFill>
                <a:latin typeface="Arial"/>
              </a:rPr>
              <a:t>Contexte</a:t>
            </a:r>
            <a:endParaRPr lang="en-US" sz="2600" b="1" dirty="0">
              <a:solidFill>
                <a:srgbClr val="161616"/>
              </a:solidFill>
              <a:latin typeface="Arial"/>
            </a:endParaRPr>
          </a:p>
        </p:txBody>
      </p:sp>
      <p:sp>
        <p:nvSpPr>
          <p:cNvPr id="15" name="Rectangle 14">
            <a:extLst>
              <a:ext uri="{FF2B5EF4-FFF2-40B4-BE49-F238E27FC236}">
                <a16:creationId xmlns:a16="http://schemas.microsoft.com/office/drawing/2014/main" id="{9D991415-D1A3-5639-84DD-ACE68D253633}"/>
              </a:ext>
            </a:extLst>
          </p:cNvPr>
          <p:cNvSpPr/>
          <p:nvPr/>
        </p:nvSpPr>
        <p:spPr>
          <a:xfrm>
            <a:off x="3535510" y="1171500"/>
            <a:ext cx="3234493" cy="365760"/>
          </a:xfrm>
          <a:prstGeom prst="rect">
            <a:avLst/>
          </a:prstGeom>
        </p:spPr>
        <p:txBody>
          <a:bodyPr wrap="none" lIns="0" tIns="0" rIns="0" bIns="0">
            <a:noAutofit/>
          </a:bodyPr>
          <a:lstStyle/>
          <a:p>
            <a:pPr indent="0" algn="ctr"/>
            <a:r>
              <a:rPr lang="fr-FR" sz="2800" b="1" i="1" dirty="0">
                <a:solidFill>
                  <a:srgbClr val="161616"/>
                </a:solidFill>
                <a:latin typeface="Arial"/>
              </a:rPr>
              <a:t>Panorama des principales méthodes d’analyse de risque </a:t>
            </a:r>
          </a:p>
          <a:p>
            <a:pPr indent="0" algn="ctr"/>
            <a:r>
              <a:rPr lang="fr-FR" sz="2800" b="1" i="1" dirty="0">
                <a:solidFill>
                  <a:srgbClr val="161616"/>
                </a:solidFill>
                <a:latin typeface="Arial"/>
              </a:rPr>
              <a:t>cyber</a:t>
            </a:r>
            <a:endParaRPr lang="en-US" sz="2800" b="1" i="1" dirty="0">
              <a:solidFill>
                <a:srgbClr val="161616"/>
              </a:solidFill>
              <a:latin typeface="Arial"/>
            </a:endParaRPr>
          </a:p>
        </p:txBody>
      </p:sp>
      <p:pic>
        <p:nvPicPr>
          <p:cNvPr id="6" name="Image 5">
            <a:extLst>
              <a:ext uri="{FF2B5EF4-FFF2-40B4-BE49-F238E27FC236}">
                <a16:creationId xmlns:a16="http://schemas.microsoft.com/office/drawing/2014/main" id="{C625025A-AC47-7B38-71E9-9719DDA0B79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4152" y="5310828"/>
            <a:ext cx="2771775" cy="1453860"/>
          </a:xfrm>
          <a:prstGeom prst="rect">
            <a:avLst/>
          </a:prstGeom>
        </p:spPr>
      </p:pic>
      <p:pic>
        <p:nvPicPr>
          <p:cNvPr id="8" name="Image 7">
            <a:extLst>
              <a:ext uri="{FF2B5EF4-FFF2-40B4-BE49-F238E27FC236}">
                <a16:creationId xmlns:a16="http://schemas.microsoft.com/office/drawing/2014/main" id="{EE372E2C-8AF4-F413-2221-E3FC7D095F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4152" y="2286206"/>
            <a:ext cx="2143125" cy="2143125"/>
          </a:xfrm>
          <a:prstGeom prst="rect">
            <a:avLst/>
          </a:prstGeom>
        </p:spPr>
      </p:pic>
      <p:pic>
        <p:nvPicPr>
          <p:cNvPr id="12" name="Image 11">
            <a:extLst>
              <a:ext uri="{FF2B5EF4-FFF2-40B4-BE49-F238E27FC236}">
                <a16:creationId xmlns:a16="http://schemas.microsoft.com/office/drawing/2014/main" id="{C2CA9FBA-432C-7048-11A2-B3A559191BF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53989" y="5516205"/>
            <a:ext cx="2656134" cy="1487435"/>
          </a:xfrm>
          <a:prstGeom prst="rect">
            <a:avLst/>
          </a:prstGeom>
        </p:spPr>
      </p:pic>
      <p:pic>
        <p:nvPicPr>
          <p:cNvPr id="14" name="Image 13">
            <a:extLst>
              <a:ext uri="{FF2B5EF4-FFF2-40B4-BE49-F238E27FC236}">
                <a16:creationId xmlns:a16="http://schemas.microsoft.com/office/drawing/2014/main" id="{0134C948-82C6-9172-93F5-7FA4A0708FC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29041" y="2709862"/>
            <a:ext cx="2143125" cy="2143125"/>
          </a:xfrm>
          <a:prstGeom prst="rect">
            <a:avLst/>
          </a:prstGeom>
        </p:spPr>
      </p:pic>
      <p:pic>
        <p:nvPicPr>
          <p:cNvPr id="17" name="Image 16">
            <a:extLst>
              <a:ext uri="{FF2B5EF4-FFF2-40B4-BE49-F238E27FC236}">
                <a16:creationId xmlns:a16="http://schemas.microsoft.com/office/drawing/2014/main" id="{09AC76DD-6BD8-AD7E-A758-2687A0A0B39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096397" y="5292839"/>
            <a:ext cx="2475769" cy="1471849"/>
          </a:xfrm>
          <a:prstGeom prst="rect">
            <a:avLst/>
          </a:prstGeom>
        </p:spPr>
      </p:pic>
      <p:pic>
        <p:nvPicPr>
          <p:cNvPr id="19" name="Image 18">
            <a:extLst>
              <a:ext uri="{FF2B5EF4-FFF2-40B4-BE49-F238E27FC236}">
                <a16:creationId xmlns:a16="http://schemas.microsoft.com/office/drawing/2014/main" id="{C5A8D8EC-2772-3169-F2A2-536C6514C77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12198" y="3047062"/>
            <a:ext cx="2143125" cy="2143125"/>
          </a:xfrm>
          <a:prstGeom prst="rect">
            <a:avLst/>
          </a:prstGeom>
        </p:spPr>
      </p:pic>
      <p:pic>
        <p:nvPicPr>
          <p:cNvPr id="21" name="Image 20">
            <a:extLst>
              <a:ext uri="{FF2B5EF4-FFF2-40B4-BE49-F238E27FC236}">
                <a16:creationId xmlns:a16="http://schemas.microsoft.com/office/drawing/2014/main" id="{B97514D6-2C40-530A-87C4-9DD299A5374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225927" y="2418757"/>
            <a:ext cx="2469479" cy="2458504"/>
          </a:xfrm>
          <a:prstGeom prst="rect">
            <a:avLst/>
          </a:prstGeom>
        </p:spPr>
      </p:pic>
      <p:pic>
        <p:nvPicPr>
          <p:cNvPr id="23" name="Image 22">
            <a:extLst>
              <a:ext uri="{FF2B5EF4-FFF2-40B4-BE49-F238E27FC236}">
                <a16:creationId xmlns:a16="http://schemas.microsoft.com/office/drawing/2014/main" id="{24008EFC-0D8E-8A25-8883-66000E3D807C}"/>
              </a:ext>
            </a:extLst>
          </p:cNvPr>
          <p:cNvPicPr>
            <a:picLocks noChangeAspect="1"/>
          </p:cNvPicPr>
          <p:nvPr/>
        </p:nvPicPr>
        <p:blipFill>
          <a:blip r:embed="rId11"/>
          <a:stretch>
            <a:fillRect/>
          </a:stretch>
        </p:blipFill>
        <p:spPr>
          <a:xfrm>
            <a:off x="5890906" y="2203782"/>
            <a:ext cx="2205491" cy="724432"/>
          </a:xfrm>
          <a:prstGeom prst="rect">
            <a:avLst/>
          </a:prstGeom>
        </p:spPr>
      </p:pic>
    </p:spTree>
    <p:extLst>
      <p:ext uri="{BB962C8B-B14F-4D97-AF65-F5344CB8AC3E}">
        <p14:creationId xmlns:p14="http://schemas.microsoft.com/office/powerpoint/2010/main" val="1225828191"/>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59635E0-8E17-4221-D175-028F656882E7}"/>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496C10BB-2807-98B6-8EB3-E46E58592AC4}"/>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4332E296-2C7E-AFAE-FAB1-363E67AB55DA}"/>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1. </a:t>
            </a:r>
            <a:r>
              <a:rPr lang="en-US" sz="2600" b="1" dirty="0" err="1">
                <a:solidFill>
                  <a:srgbClr val="161616"/>
                </a:solidFill>
                <a:latin typeface="Arial"/>
              </a:rPr>
              <a:t>Contexte</a:t>
            </a:r>
            <a:endParaRPr lang="en-US" sz="2600" b="1" dirty="0">
              <a:solidFill>
                <a:srgbClr val="161616"/>
              </a:solidFill>
              <a:latin typeface="Arial"/>
            </a:endParaRPr>
          </a:p>
        </p:txBody>
      </p:sp>
      <p:sp>
        <p:nvSpPr>
          <p:cNvPr id="15" name="Rectangle 14">
            <a:extLst>
              <a:ext uri="{FF2B5EF4-FFF2-40B4-BE49-F238E27FC236}">
                <a16:creationId xmlns:a16="http://schemas.microsoft.com/office/drawing/2014/main" id="{DA70239F-07B2-3B4A-1A6E-712BE5F4F82C}"/>
              </a:ext>
            </a:extLst>
          </p:cNvPr>
          <p:cNvSpPr/>
          <p:nvPr/>
        </p:nvSpPr>
        <p:spPr>
          <a:xfrm>
            <a:off x="3535510" y="1171500"/>
            <a:ext cx="3234493" cy="365760"/>
          </a:xfrm>
          <a:prstGeom prst="rect">
            <a:avLst/>
          </a:prstGeom>
        </p:spPr>
        <p:txBody>
          <a:bodyPr wrap="none" lIns="0" tIns="0" rIns="0" bIns="0">
            <a:noAutofit/>
          </a:bodyPr>
          <a:lstStyle/>
          <a:p>
            <a:pPr indent="0" algn="ctr"/>
            <a:r>
              <a:rPr lang="fr-FR" sz="2800" b="1" i="1" dirty="0">
                <a:solidFill>
                  <a:srgbClr val="161616"/>
                </a:solidFill>
                <a:latin typeface="Arial"/>
              </a:rPr>
              <a:t>ISO 31000 – International Standard for Risk Management</a:t>
            </a:r>
          </a:p>
          <a:p>
            <a:pPr indent="0" algn="ctr"/>
            <a:r>
              <a:rPr lang="fr-FR" sz="2800" b="1" i="1" dirty="0">
                <a:solidFill>
                  <a:srgbClr val="161616"/>
                </a:solidFill>
                <a:latin typeface="Arial"/>
              </a:rPr>
              <a:t>cyber</a:t>
            </a:r>
            <a:endParaRPr lang="en-US" sz="2800" b="1" i="1" dirty="0">
              <a:solidFill>
                <a:srgbClr val="161616"/>
              </a:solidFill>
              <a:latin typeface="Arial"/>
            </a:endParaRPr>
          </a:p>
        </p:txBody>
      </p:sp>
      <p:pic>
        <p:nvPicPr>
          <p:cNvPr id="5" name="Image 4">
            <a:extLst>
              <a:ext uri="{FF2B5EF4-FFF2-40B4-BE49-F238E27FC236}">
                <a16:creationId xmlns:a16="http://schemas.microsoft.com/office/drawing/2014/main" id="{567DFB99-3BAF-7E83-C6CC-A9C5F6D0C0C3}"/>
              </a:ext>
            </a:extLst>
          </p:cNvPr>
          <p:cNvPicPr>
            <a:picLocks noChangeAspect="1"/>
          </p:cNvPicPr>
          <p:nvPr/>
        </p:nvPicPr>
        <p:blipFill>
          <a:blip r:embed="rId4"/>
          <a:stretch>
            <a:fillRect/>
          </a:stretch>
        </p:blipFill>
        <p:spPr>
          <a:xfrm>
            <a:off x="354402" y="1603599"/>
            <a:ext cx="9534181" cy="5323394"/>
          </a:xfrm>
          <a:prstGeom prst="rect">
            <a:avLst/>
          </a:prstGeom>
        </p:spPr>
      </p:pic>
      <p:pic>
        <p:nvPicPr>
          <p:cNvPr id="7" name="Image 6">
            <a:extLst>
              <a:ext uri="{FF2B5EF4-FFF2-40B4-BE49-F238E27FC236}">
                <a16:creationId xmlns:a16="http://schemas.microsoft.com/office/drawing/2014/main" id="{133E1DC2-AEAE-C47F-FB36-F3BE173733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81005" y="3854750"/>
            <a:ext cx="1029461" cy="1024886"/>
          </a:xfrm>
          <a:prstGeom prst="rect">
            <a:avLst/>
          </a:prstGeom>
        </p:spPr>
      </p:pic>
    </p:spTree>
    <p:extLst>
      <p:ext uri="{BB962C8B-B14F-4D97-AF65-F5344CB8AC3E}">
        <p14:creationId xmlns:p14="http://schemas.microsoft.com/office/powerpoint/2010/main" val="2400097158"/>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4089696-B7F9-5891-9AED-8CE966353315}"/>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6662C6E7-CEAE-C3D7-7CB7-3B7FD9FDC29D}"/>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0A9F1C4F-96B4-7059-C556-3BBB08609538}"/>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1. </a:t>
            </a:r>
            <a:r>
              <a:rPr lang="en-US" sz="2600" b="1" dirty="0" err="1">
                <a:solidFill>
                  <a:srgbClr val="161616"/>
                </a:solidFill>
                <a:latin typeface="Arial"/>
              </a:rPr>
              <a:t>Contexte</a:t>
            </a:r>
            <a:endParaRPr lang="en-US" sz="2600" b="1" dirty="0">
              <a:solidFill>
                <a:srgbClr val="161616"/>
              </a:solidFill>
              <a:latin typeface="Arial"/>
            </a:endParaRPr>
          </a:p>
        </p:txBody>
      </p:sp>
      <p:sp>
        <p:nvSpPr>
          <p:cNvPr id="15" name="Rectangle 14">
            <a:extLst>
              <a:ext uri="{FF2B5EF4-FFF2-40B4-BE49-F238E27FC236}">
                <a16:creationId xmlns:a16="http://schemas.microsoft.com/office/drawing/2014/main" id="{9F647ED3-5A64-AA10-A66C-ADCBB44707E8}"/>
              </a:ext>
            </a:extLst>
          </p:cNvPr>
          <p:cNvSpPr/>
          <p:nvPr/>
        </p:nvSpPr>
        <p:spPr>
          <a:xfrm>
            <a:off x="3478360" y="1027176"/>
            <a:ext cx="3234493" cy="365760"/>
          </a:xfrm>
          <a:prstGeom prst="rect">
            <a:avLst/>
          </a:prstGeom>
        </p:spPr>
        <p:txBody>
          <a:bodyPr wrap="none" lIns="0" tIns="0" rIns="0" bIns="0">
            <a:noAutofit/>
          </a:bodyPr>
          <a:lstStyle/>
          <a:p>
            <a:pPr indent="0" algn="ctr"/>
            <a:r>
              <a:rPr lang="fr-FR" sz="2800" b="1" i="1" dirty="0">
                <a:solidFill>
                  <a:srgbClr val="161616"/>
                </a:solidFill>
                <a:latin typeface="Arial"/>
              </a:rPr>
              <a:t>ISO 27005</a:t>
            </a:r>
          </a:p>
        </p:txBody>
      </p:sp>
      <p:pic>
        <p:nvPicPr>
          <p:cNvPr id="6" name="Image 5">
            <a:extLst>
              <a:ext uri="{FF2B5EF4-FFF2-40B4-BE49-F238E27FC236}">
                <a16:creationId xmlns:a16="http://schemas.microsoft.com/office/drawing/2014/main" id="{1CF77C9E-921E-D48D-9252-0E3801C5EBD5}"/>
              </a:ext>
            </a:extLst>
          </p:cNvPr>
          <p:cNvPicPr>
            <a:picLocks noChangeAspect="1"/>
          </p:cNvPicPr>
          <p:nvPr/>
        </p:nvPicPr>
        <p:blipFill>
          <a:blip r:embed="rId4"/>
          <a:stretch>
            <a:fillRect/>
          </a:stretch>
        </p:blipFill>
        <p:spPr>
          <a:xfrm>
            <a:off x="362437" y="1828800"/>
            <a:ext cx="10109288" cy="4864774"/>
          </a:xfrm>
          <a:prstGeom prst="rect">
            <a:avLst/>
          </a:prstGeom>
        </p:spPr>
      </p:pic>
      <p:pic>
        <p:nvPicPr>
          <p:cNvPr id="8" name="Image 7">
            <a:extLst>
              <a:ext uri="{FF2B5EF4-FFF2-40B4-BE49-F238E27FC236}">
                <a16:creationId xmlns:a16="http://schemas.microsoft.com/office/drawing/2014/main" id="{0D346594-0F76-820B-4BB0-E1A8FE88A7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1197" y="3781424"/>
            <a:ext cx="1033463" cy="1033463"/>
          </a:xfrm>
          <a:prstGeom prst="rect">
            <a:avLst/>
          </a:prstGeom>
        </p:spPr>
      </p:pic>
    </p:spTree>
    <p:extLst>
      <p:ext uri="{BB962C8B-B14F-4D97-AF65-F5344CB8AC3E}">
        <p14:creationId xmlns:p14="http://schemas.microsoft.com/office/powerpoint/2010/main" val="1279610391"/>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9C2E38E-45A5-7937-0233-B8137C277239}"/>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C0A8583D-42B5-2434-0A9C-07F2411A345B}"/>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A281C442-21BD-301C-3194-93346D6DE660}"/>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1. </a:t>
            </a:r>
            <a:r>
              <a:rPr lang="en-US" sz="2600" b="1" dirty="0" err="1">
                <a:solidFill>
                  <a:srgbClr val="161616"/>
                </a:solidFill>
                <a:latin typeface="Arial"/>
              </a:rPr>
              <a:t>Contexte</a:t>
            </a:r>
            <a:endParaRPr lang="en-US" sz="2600" b="1" dirty="0">
              <a:solidFill>
                <a:srgbClr val="161616"/>
              </a:solidFill>
              <a:latin typeface="Arial"/>
            </a:endParaRPr>
          </a:p>
        </p:txBody>
      </p:sp>
      <p:sp>
        <p:nvSpPr>
          <p:cNvPr id="15" name="Rectangle 14">
            <a:extLst>
              <a:ext uri="{FF2B5EF4-FFF2-40B4-BE49-F238E27FC236}">
                <a16:creationId xmlns:a16="http://schemas.microsoft.com/office/drawing/2014/main" id="{8BB4F58D-6D96-A8CC-A71F-A2DBD12216B9}"/>
              </a:ext>
            </a:extLst>
          </p:cNvPr>
          <p:cNvSpPr/>
          <p:nvPr/>
        </p:nvSpPr>
        <p:spPr>
          <a:xfrm>
            <a:off x="3478360" y="1027176"/>
            <a:ext cx="3234493" cy="365760"/>
          </a:xfrm>
          <a:prstGeom prst="rect">
            <a:avLst/>
          </a:prstGeom>
        </p:spPr>
        <p:txBody>
          <a:bodyPr wrap="none" lIns="0" tIns="0" rIns="0" bIns="0">
            <a:noAutofit/>
          </a:bodyPr>
          <a:lstStyle/>
          <a:p>
            <a:pPr indent="0" algn="ctr"/>
            <a:r>
              <a:rPr lang="fr-FR" sz="2800" b="1" i="1" dirty="0">
                <a:solidFill>
                  <a:srgbClr val="161616"/>
                </a:solidFill>
                <a:latin typeface="Arial"/>
              </a:rPr>
              <a:t>MAGERIT</a:t>
            </a:r>
          </a:p>
        </p:txBody>
      </p:sp>
      <p:pic>
        <p:nvPicPr>
          <p:cNvPr id="10" name="Image 9">
            <a:extLst>
              <a:ext uri="{FF2B5EF4-FFF2-40B4-BE49-F238E27FC236}">
                <a16:creationId xmlns:a16="http://schemas.microsoft.com/office/drawing/2014/main" id="{9738C256-07D7-93C0-F5AA-CBD120DB2B0F}"/>
              </a:ext>
            </a:extLst>
          </p:cNvPr>
          <p:cNvPicPr>
            <a:picLocks noChangeAspect="1"/>
          </p:cNvPicPr>
          <p:nvPr/>
        </p:nvPicPr>
        <p:blipFill>
          <a:blip r:embed="rId4"/>
          <a:stretch>
            <a:fillRect/>
          </a:stretch>
        </p:blipFill>
        <p:spPr>
          <a:xfrm>
            <a:off x="157581" y="1986613"/>
            <a:ext cx="10374173" cy="4896533"/>
          </a:xfrm>
          <a:prstGeom prst="rect">
            <a:avLst/>
          </a:prstGeom>
        </p:spPr>
      </p:pic>
      <p:pic>
        <p:nvPicPr>
          <p:cNvPr id="11" name="Image 10">
            <a:extLst>
              <a:ext uri="{FF2B5EF4-FFF2-40B4-BE49-F238E27FC236}">
                <a16:creationId xmlns:a16="http://schemas.microsoft.com/office/drawing/2014/main" id="{12850A3E-3A56-7DFA-A36D-3F6FEBD9D7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7565" y="1505030"/>
            <a:ext cx="3140142" cy="1866820"/>
          </a:xfrm>
          <a:prstGeom prst="rect">
            <a:avLst/>
          </a:prstGeom>
        </p:spPr>
      </p:pic>
    </p:spTree>
    <p:extLst>
      <p:ext uri="{BB962C8B-B14F-4D97-AF65-F5344CB8AC3E}">
        <p14:creationId xmlns:p14="http://schemas.microsoft.com/office/powerpoint/2010/main" val="1889328575"/>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286D04-C7D2-8327-B73C-9297133CF490}"/>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EA6ACE21-3360-52F8-7FFE-E972C56C51C3}"/>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2C315000-F71C-FAF3-836F-F95F65C9C46B}"/>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1. </a:t>
            </a:r>
            <a:r>
              <a:rPr lang="en-US" sz="2600" b="1" dirty="0" err="1">
                <a:solidFill>
                  <a:srgbClr val="161616"/>
                </a:solidFill>
                <a:latin typeface="Arial"/>
              </a:rPr>
              <a:t>Contexte</a:t>
            </a:r>
            <a:endParaRPr lang="en-US" sz="2600" b="1" dirty="0">
              <a:solidFill>
                <a:srgbClr val="161616"/>
              </a:solidFill>
              <a:latin typeface="Arial"/>
            </a:endParaRPr>
          </a:p>
        </p:txBody>
      </p:sp>
      <p:sp>
        <p:nvSpPr>
          <p:cNvPr id="15" name="Rectangle 14">
            <a:extLst>
              <a:ext uri="{FF2B5EF4-FFF2-40B4-BE49-F238E27FC236}">
                <a16:creationId xmlns:a16="http://schemas.microsoft.com/office/drawing/2014/main" id="{0E1FE6E6-84FC-602A-D46C-40BD23E51ECE}"/>
              </a:ext>
            </a:extLst>
          </p:cNvPr>
          <p:cNvSpPr/>
          <p:nvPr/>
        </p:nvSpPr>
        <p:spPr>
          <a:xfrm>
            <a:off x="3478360" y="1027176"/>
            <a:ext cx="3234493" cy="365760"/>
          </a:xfrm>
          <a:prstGeom prst="rect">
            <a:avLst/>
          </a:prstGeom>
        </p:spPr>
        <p:txBody>
          <a:bodyPr wrap="none" lIns="0" tIns="0" rIns="0" bIns="0">
            <a:noAutofit/>
          </a:bodyPr>
          <a:lstStyle/>
          <a:p>
            <a:pPr indent="0" algn="ctr"/>
            <a:r>
              <a:rPr lang="fr-FR" sz="2800" b="1" i="1" dirty="0">
                <a:solidFill>
                  <a:srgbClr val="161616"/>
                </a:solidFill>
                <a:latin typeface="Arial"/>
              </a:rPr>
              <a:t>FAIR (Factor </a:t>
            </a:r>
            <a:r>
              <a:rPr lang="fr-FR" sz="2800" b="1" i="1" dirty="0" err="1">
                <a:solidFill>
                  <a:srgbClr val="161616"/>
                </a:solidFill>
                <a:latin typeface="Arial"/>
              </a:rPr>
              <a:t>Analysis</a:t>
            </a:r>
            <a:r>
              <a:rPr lang="fr-FR" sz="2800" b="1" i="1" dirty="0">
                <a:solidFill>
                  <a:srgbClr val="161616"/>
                </a:solidFill>
                <a:latin typeface="Arial"/>
              </a:rPr>
              <a:t> of Information Risk) – États-Unis</a:t>
            </a:r>
          </a:p>
        </p:txBody>
      </p:sp>
      <p:pic>
        <p:nvPicPr>
          <p:cNvPr id="5" name="Image 4">
            <a:extLst>
              <a:ext uri="{FF2B5EF4-FFF2-40B4-BE49-F238E27FC236}">
                <a16:creationId xmlns:a16="http://schemas.microsoft.com/office/drawing/2014/main" id="{BDF883C8-A087-B764-EFCB-A5BCBB7E5B0B}"/>
              </a:ext>
            </a:extLst>
          </p:cNvPr>
          <p:cNvPicPr>
            <a:picLocks noChangeAspect="1"/>
          </p:cNvPicPr>
          <p:nvPr/>
        </p:nvPicPr>
        <p:blipFill>
          <a:blip r:embed="rId4"/>
          <a:stretch>
            <a:fillRect/>
          </a:stretch>
        </p:blipFill>
        <p:spPr>
          <a:xfrm>
            <a:off x="454152" y="1535078"/>
            <a:ext cx="4689348" cy="5589177"/>
          </a:xfrm>
          <a:prstGeom prst="rect">
            <a:avLst/>
          </a:prstGeom>
        </p:spPr>
      </p:pic>
      <p:pic>
        <p:nvPicPr>
          <p:cNvPr id="6" name="Image 5">
            <a:extLst>
              <a:ext uri="{FF2B5EF4-FFF2-40B4-BE49-F238E27FC236}">
                <a16:creationId xmlns:a16="http://schemas.microsoft.com/office/drawing/2014/main" id="{9005D12C-9D3B-031B-5418-E8DC9E18CD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29350" y="2495549"/>
            <a:ext cx="3285541" cy="3285541"/>
          </a:xfrm>
          <a:prstGeom prst="rect">
            <a:avLst/>
          </a:prstGeom>
        </p:spPr>
      </p:pic>
    </p:spTree>
    <p:extLst>
      <p:ext uri="{BB962C8B-B14F-4D97-AF65-F5344CB8AC3E}">
        <p14:creationId xmlns:p14="http://schemas.microsoft.com/office/powerpoint/2010/main" val="2178739373"/>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A54143C-893F-BA6E-8B4B-E8C1F81BE698}"/>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1A7741EA-9FC2-9820-66EB-20BE2BCA212D}"/>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A3C15AC7-13A8-80B5-D562-FE47361F0B4C}"/>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1. </a:t>
            </a:r>
            <a:r>
              <a:rPr lang="en-US" sz="2600" b="1" dirty="0" err="1">
                <a:solidFill>
                  <a:srgbClr val="161616"/>
                </a:solidFill>
                <a:latin typeface="Arial"/>
              </a:rPr>
              <a:t>Contexte</a:t>
            </a:r>
            <a:endParaRPr lang="en-US" sz="2600" b="1" dirty="0">
              <a:solidFill>
                <a:srgbClr val="161616"/>
              </a:solidFill>
              <a:latin typeface="Arial"/>
            </a:endParaRPr>
          </a:p>
        </p:txBody>
      </p:sp>
      <p:sp>
        <p:nvSpPr>
          <p:cNvPr id="15" name="Rectangle 14">
            <a:extLst>
              <a:ext uri="{FF2B5EF4-FFF2-40B4-BE49-F238E27FC236}">
                <a16:creationId xmlns:a16="http://schemas.microsoft.com/office/drawing/2014/main" id="{C8C26F3D-A36A-3CCA-1EAC-206FD479B83E}"/>
              </a:ext>
            </a:extLst>
          </p:cNvPr>
          <p:cNvSpPr/>
          <p:nvPr/>
        </p:nvSpPr>
        <p:spPr>
          <a:xfrm>
            <a:off x="3478360" y="1027176"/>
            <a:ext cx="3234493" cy="365760"/>
          </a:xfrm>
          <a:prstGeom prst="rect">
            <a:avLst/>
          </a:prstGeom>
        </p:spPr>
        <p:txBody>
          <a:bodyPr wrap="none" lIns="0" tIns="0" rIns="0" bIns="0">
            <a:noAutofit/>
          </a:bodyPr>
          <a:lstStyle/>
          <a:p>
            <a:pPr indent="0" algn="ctr"/>
            <a:r>
              <a:rPr lang="fr-FR" sz="2400" b="1" i="1" dirty="0">
                <a:solidFill>
                  <a:srgbClr val="161616"/>
                </a:solidFill>
                <a:latin typeface="Arial"/>
              </a:rPr>
              <a:t>MEHARI (Méthode Harmonisée d’Analyse de Risques) – France</a:t>
            </a:r>
          </a:p>
        </p:txBody>
      </p:sp>
      <p:pic>
        <p:nvPicPr>
          <p:cNvPr id="7" name="Image 6">
            <a:extLst>
              <a:ext uri="{FF2B5EF4-FFF2-40B4-BE49-F238E27FC236}">
                <a16:creationId xmlns:a16="http://schemas.microsoft.com/office/drawing/2014/main" id="{3B36E849-8BF1-90BB-2089-EEBCD55E8BC8}"/>
              </a:ext>
            </a:extLst>
          </p:cNvPr>
          <p:cNvPicPr>
            <a:picLocks noChangeAspect="1"/>
          </p:cNvPicPr>
          <p:nvPr/>
        </p:nvPicPr>
        <p:blipFill>
          <a:blip r:embed="rId4"/>
          <a:stretch>
            <a:fillRect/>
          </a:stretch>
        </p:blipFill>
        <p:spPr>
          <a:xfrm>
            <a:off x="2284669" y="1743962"/>
            <a:ext cx="8219917" cy="5356926"/>
          </a:xfrm>
          <a:prstGeom prst="rect">
            <a:avLst/>
          </a:prstGeom>
        </p:spPr>
      </p:pic>
      <p:pic>
        <p:nvPicPr>
          <p:cNvPr id="8" name="Image 7">
            <a:extLst>
              <a:ext uri="{FF2B5EF4-FFF2-40B4-BE49-F238E27FC236}">
                <a16:creationId xmlns:a16="http://schemas.microsoft.com/office/drawing/2014/main" id="{BEEE987A-4FE5-47C1-4AFD-95ECEC27C9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4152" y="2100264"/>
            <a:ext cx="3048582" cy="1707206"/>
          </a:xfrm>
          <a:prstGeom prst="rect">
            <a:avLst/>
          </a:prstGeom>
        </p:spPr>
      </p:pic>
    </p:spTree>
    <p:extLst>
      <p:ext uri="{BB962C8B-B14F-4D97-AF65-F5344CB8AC3E}">
        <p14:creationId xmlns:p14="http://schemas.microsoft.com/office/powerpoint/2010/main" val="3180579583"/>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27463C8-2987-8EC9-ECD3-82B195DFAEAF}"/>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4F96F894-435F-C4AE-3925-151870AAEC97}"/>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D5BF7203-CD6D-FC1D-0A0E-57E710E73F7C}"/>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1. </a:t>
            </a:r>
            <a:r>
              <a:rPr lang="en-US" sz="2600" b="1" dirty="0" err="1">
                <a:solidFill>
                  <a:srgbClr val="161616"/>
                </a:solidFill>
                <a:latin typeface="Arial"/>
              </a:rPr>
              <a:t>Contexte</a:t>
            </a:r>
            <a:endParaRPr lang="en-US" sz="2600" b="1" dirty="0">
              <a:solidFill>
                <a:srgbClr val="161616"/>
              </a:solidFill>
              <a:latin typeface="Arial"/>
            </a:endParaRPr>
          </a:p>
        </p:txBody>
      </p:sp>
      <p:sp>
        <p:nvSpPr>
          <p:cNvPr id="15" name="Rectangle 14">
            <a:extLst>
              <a:ext uri="{FF2B5EF4-FFF2-40B4-BE49-F238E27FC236}">
                <a16:creationId xmlns:a16="http://schemas.microsoft.com/office/drawing/2014/main" id="{DEAA0604-D762-7538-567A-051D49EC8788}"/>
              </a:ext>
            </a:extLst>
          </p:cNvPr>
          <p:cNvSpPr/>
          <p:nvPr/>
        </p:nvSpPr>
        <p:spPr>
          <a:xfrm>
            <a:off x="3727421" y="1072982"/>
            <a:ext cx="3234493" cy="365760"/>
          </a:xfrm>
          <a:prstGeom prst="rect">
            <a:avLst/>
          </a:prstGeom>
        </p:spPr>
        <p:txBody>
          <a:bodyPr wrap="none" lIns="0" tIns="0" rIns="0" bIns="0">
            <a:noAutofit/>
          </a:bodyPr>
          <a:lstStyle/>
          <a:p>
            <a:pPr algn="ctr"/>
            <a:r>
              <a:rPr lang="fr-FR" sz="2400" b="1" i="1" dirty="0"/>
              <a:t>OCTAVE (</a:t>
            </a:r>
            <a:r>
              <a:rPr lang="fr-FR" sz="2400" b="1" i="1" dirty="0" err="1"/>
              <a:t>Operationally</a:t>
            </a:r>
            <a:r>
              <a:rPr lang="fr-FR" sz="2400" b="1" i="1" dirty="0"/>
              <a:t> Critical </a:t>
            </a:r>
            <a:r>
              <a:rPr lang="fr-FR" sz="2400" b="1" i="1" dirty="0" err="1"/>
              <a:t>Threat</a:t>
            </a:r>
            <a:r>
              <a:rPr lang="fr-FR" sz="2400" b="1" i="1" dirty="0"/>
              <a:t>, Asset, and </a:t>
            </a:r>
            <a:r>
              <a:rPr lang="fr-FR" sz="2400" b="1" i="1" dirty="0" err="1"/>
              <a:t>Vulnerability</a:t>
            </a:r>
            <a:r>
              <a:rPr lang="fr-FR" sz="2400" b="1" i="1" dirty="0"/>
              <a:t> Evaluation </a:t>
            </a:r>
          </a:p>
          <a:p>
            <a:pPr algn="ctr"/>
            <a:r>
              <a:rPr lang="fr-FR" sz="2400" b="1" i="1" dirty="0"/>
              <a:t>– Carnegie Mellon)</a:t>
            </a:r>
          </a:p>
        </p:txBody>
      </p:sp>
      <p:pic>
        <p:nvPicPr>
          <p:cNvPr id="9" name="Image 8">
            <a:extLst>
              <a:ext uri="{FF2B5EF4-FFF2-40B4-BE49-F238E27FC236}">
                <a16:creationId xmlns:a16="http://schemas.microsoft.com/office/drawing/2014/main" id="{E7C158E2-F177-7FD1-0101-13649FAC908A}"/>
              </a:ext>
            </a:extLst>
          </p:cNvPr>
          <p:cNvPicPr>
            <a:picLocks noChangeAspect="1"/>
          </p:cNvPicPr>
          <p:nvPr/>
        </p:nvPicPr>
        <p:blipFill>
          <a:blip r:embed="rId4"/>
          <a:stretch>
            <a:fillRect/>
          </a:stretch>
        </p:blipFill>
        <p:spPr>
          <a:xfrm>
            <a:off x="111982" y="2321443"/>
            <a:ext cx="10469436" cy="2972215"/>
          </a:xfrm>
          <a:prstGeom prst="rect">
            <a:avLst/>
          </a:prstGeom>
        </p:spPr>
      </p:pic>
      <p:pic>
        <p:nvPicPr>
          <p:cNvPr id="10" name="Image 9">
            <a:extLst>
              <a:ext uri="{FF2B5EF4-FFF2-40B4-BE49-F238E27FC236}">
                <a16:creationId xmlns:a16="http://schemas.microsoft.com/office/drawing/2014/main" id="{C864371C-7DCD-0FA6-18DA-8B9752948281}"/>
              </a:ext>
            </a:extLst>
          </p:cNvPr>
          <p:cNvPicPr>
            <a:picLocks noChangeAspect="1"/>
          </p:cNvPicPr>
          <p:nvPr/>
        </p:nvPicPr>
        <p:blipFill>
          <a:blip r:embed="rId5"/>
          <a:srcRect b="24536"/>
          <a:stretch>
            <a:fillRect/>
          </a:stretch>
        </p:blipFill>
        <p:spPr>
          <a:xfrm>
            <a:off x="2536197" y="5214927"/>
            <a:ext cx="5407005" cy="1340256"/>
          </a:xfrm>
          <a:prstGeom prst="rect">
            <a:avLst/>
          </a:prstGeom>
        </p:spPr>
      </p:pic>
    </p:spTree>
    <p:extLst>
      <p:ext uri="{BB962C8B-B14F-4D97-AF65-F5344CB8AC3E}">
        <p14:creationId xmlns:p14="http://schemas.microsoft.com/office/powerpoint/2010/main" val="1519036611"/>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CB480B6-BB4B-DC5D-C01C-7A4358CBF3F0}"/>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3AC90764-72EE-6E95-7142-0C23F216A906}"/>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0B76FA95-6C6C-31CF-2129-E7FD81FD7C59}"/>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1. </a:t>
            </a:r>
            <a:r>
              <a:rPr lang="en-US" sz="2600" b="1" dirty="0" err="1">
                <a:solidFill>
                  <a:srgbClr val="161616"/>
                </a:solidFill>
                <a:latin typeface="Arial"/>
              </a:rPr>
              <a:t>Contexte</a:t>
            </a:r>
            <a:endParaRPr lang="en-US" sz="2600" b="1" dirty="0">
              <a:solidFill>
                <a:srgbClr val="161616"/>
              </a:solidFill>
              <a:latin typeface="Arial"/>
            </a:endParaRPr>
          </a:p>
        </p:txBody>
      </p:sp>
      <p:sp>
        <p:nvSpPr>
          <p:cNvPr id="15" name="Rectangle 14">
            <a:extLst>
              <a:ext uri="{FF2B5EF4-FFF2-40B4-BE49-F238E27FC236}">
                <a16:creationId xmlns:a16="http://schemas.microsoft.com/office/drawing/2014/main" id="{5795EEFD-8010-09A4-C6E1-3FEC7017B9B9}"/>
              </a:ext>
            </a:extLst>
          </p:cNvPr>
          <p:cNvSpPr/>
          <p:nvPr/>
        </p:nvSpPr>
        <p:spPr>
          <a:xfrm>
            <a:off x="1870046" y="1074675"/>
            <a:ext cx="3234493" cy="365760"/>
          </a:xfrm>
          <a:prstGeom prst="rect">
            <a:avLst/>
          </a:prstGeom>
        </p:spPr>
        <p:txBody>
          <a:bodyPr wrap="none" lIns="0" tIns="0" rIns="0" bIns="0">
            <a:noAutofit/>
          </a:bodyPr>
          <a:lstStyle/>
          <a:p>
            <a:r>
              <a:rPr lang="fr-FR" sz="2400" b="1" i="1" dirty="0"/>
              <a:t>NIST RMF (Risk Management Framework – États-Unis)</a:t>
            </a:r>
          </a:p>
        </p:txBody>
      </p:sp>
      <p:pic>
        <p:nvPicPr>
          <p:cNvPr id="5" name="Image 4">
            <a:extLst>
              <a:ext uri="{FF2B5EF4-FFF2-40B4-BE49-F238E27FC236}">
                <a16:creationId xmlns:a16="http://schemas.microsoft.com/office/drawing/2014/main" id="{A44412D7-7C2F-77E3-45CF-54D15C63E265}"/>
              </a:ext>
            </a:extLst>
          </p:cNvPr>
          <p:cNvPicPr>
            <a:picLocks noChangeAspect="1"/>
          </p:cNvPicPr>
          <p:nvPr/>
        </p:nvPicPr>
        <p:blipFill>
          <a:blip r:embed="rId4"/>
          <a:stretch>
            <a:fillRect/>
          </a:stretch>
        </p:blipFill>
        <p:spPr>
          <a:xfrm>
            <a:off x="682757" y="1603758"/>
            <a:ext cx="7274602" cy="5395211"/>
          </a:xfrm>
          <a:prstGeom prst="rect">
            <a:avLst/>
          </a:prstGeom>
        </p:spPr>
      </p:pic>
      <p:pic>
        <p:nvPicPr>
          <p:cNvPr id="6" name="Image 5">
            <a:extLst>
              <a:ext uri="{FF2B5EF4-FFF2-40B4-BE49-F238E27FC236}">
                <a16:creationId xmlns:a16="http://schemas.microsoft.com/office/drawing/2014/main" id="{2EA6EC28-39D8-2CC9-3E73-57AB8376C2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69389" y="3229800"/>
            <a:ext cx="2143125" cy="2143125"/>
          </a:xfrm>
          <a:prstGeom prst="rect">
            <a:avLst/>
          </a:prstGeom>
        </p:spPr>
      </p:pic>
    </p:spTree>
    <p:extLst>
      <p:ext uri="{BB962C8B-B14F-4D97-AF65-F5344CB8AC3E}">
        <p14:creationId xmlns:p14="http://schemas.microsoft.com/office/powerpoint/2010/main" val="3506350620"/>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0756EEB-EA6A-9563-39F6-B84791ECF060}"/>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63BFF1E7-AF0C-35D6-F5B4-91670455D241}"/>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A861124C-B745-FD2A-10B8-277BD044C5D3}"/>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1. </a:t>
            </a:r>
            <a:r>
              <a:rPr lang="en-US" sz="2600" b="1" dirty="0" err="1">
                <a:solidFill>
                  <a:srgbClr val="161616"/>
                </a:solidFill>
                <a:latin typeface="Arial"/>
              </a:rPr>
              <a:t>Contexte</a:t>
            </a:r>
            <a:endParaRPr lang="en-US" sz="2600" b="1" dirty="0">
              <a:solidFill>
                <a:srgbClr val="161616"/>
              </a:solidFill>
              <a:latin typeface="Arial"/>
            </a:endParaRPr>
          </a:p>
        </p:txBody>
      </p:sp>
      <p:sp>
        <p:nvSpPr>
          <p:cNvPr id="15" name="Rectangle 14">
            <a:extLst>
              <a:ext uri="{FF2B5EF4-FFF2-40B4-BE49-F238E27FC236}">
                <a16:creationId xmlns:a16="http://schemas.microsoft.com/office/drawing/2014/main" id="{598C8923-A911-EF8D-26B1-8B050CDCE53F}"/>
              </a:ext>
            </a:extLst>
          </p:cNvPr>
          <p:cNvSpPr/>
          <p:nvPr/>
        </p:nvSpPr>
        <p:spPr>
          <a:xfrm>
            <a:off x="4413504" y="1269302"/>
            <a:ext cx="3234493" cy="365760"/>
          </a:xfrm>
          <a:prstGeom prst="rect">
            <a:avLst/>
          </a:prstGeom>
        </p:spPr>
        <p:txBody>
          <a:bodyPr wrap="none" lIns="0" tIns="0" rIns="0" bIns="0">
            <a:noAutofit/>
          </a:bodyPr>
          <a:lstStyle/>
          <a:p>
            <a:r>
              <a:rPr lang="fr-FR" sz="3200" b="1" i="1" dirty="0"/>
              <a:t>EBIOS RM</a:t>
            </a:r>
          </a:p>
        </p:txBody>
      </p:sp>
      <p:pic>
        <p:nvPicPr>
          <p:cNvPr id="7" name="Image 6">
            <a:extLst>
              <a:ext uri="{FF2B5EF4-FFF2-40B4-BE49-F238E27FC236}">
                <a16:creationId xmlns:a16="http://schemas.microsoft.com/office/drawing/2014/main" id="{5FA22B26-F525-7925-E974-337FAC452147}"/>
              </a:ext>
            </a:extLst>
          </p:cNvPr>
          <p:cNvPicPr>
            <a:picLocks noChangeAspect="1"/>
          </p:cNvPicPr>
          <p:nvPr/>
        </p:nvPicPr>
        <p:blipFill>
          <a:blip r:embed="rId4"/>
          <a:stretch>
            <a:fillRect/>
          </a:stretch>
        </p:blipFill>
        <p:spPr>
          <a:xfrm>
            <a:off x="772165" y="2811590"/>
            <a:ext cx="8782838" cy="4100981"/>
          </a:xfrm>
          <a:prstGeom prst="rect">
            <a:avLst/>
          </a:prstGeom>
        </p:spPr>
      </p:pic>
      <p:pic>
        <p:nvPicPr>
          <p:cNvPr id="8" name="Image 7">
            <a:extLst>
              <a:ext uri="{FF2B5EF4-FFF2-40B4-BE49-F238E27FC236}">
                <a16:creationId xmlns:a16="http://schemas.microsoft.com/office/drawing/2014/main" id="{79CED3DC-10D4-6028-441B-C32D8146386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77696" y="1982534"/>
            <a:ext cx="2771775" cy="1453860"/>
          </a:xfrm>
          <a:prstGeom prst="rect">
            <a:avLst/>
          </a:prstGeom>
        </p:spPr>
      </p:pic>
    </p:spTree>
    <p:extLst>
      <p:ext uri="{BB962C8B-B14F-4D97-AF65-F5344CB8AC3E}">
        <p14:creationId xmlns:p14="http://schemas.microsoft.com/office/powerpoint/2010/main" val="3316172026"/>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28AF5FD-9F68-627E-1379-299B26DB4D39}"/>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97BF2030-3521-5AA4-F93F-593001F94B45}"/>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90B0739A-0513-9B57-92C7-8F240E20F137}"/>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1. </a:t>
            </a:r>
            <a:r>
              <a:rPr lang="en-US" sz="2600" b="1" dirty="0" err="1">
                <a:solidFill>
                  <a:srgbClr val="161616"/>
                </a:solidFill>
                <a:latin typeface="Arial"/>
              </a:rPr>
              <a:t>Contexte</a:t>
            </a:r>
            <a:endParaRPr lang="en-US" sz="2600" b="1" dirty="0">
              <a:solidFill>
                <a:srgbClr val="161616"/>
              </a:solidFill>
              <a:latin typeface="Arial"/>
            </a:endParaRPr>
          </a:p>
        </p:txBody>
      </p:sp>
      <p:sp>
        <p:nvSpPr>
          <p:cNvPr id="15" name="Rectangle 14">
            <a:extLst>
              <a:ext uri="{FF2B5EF4-FFF2-40B4-BE49-F238E27FC236}">
                <a16:creationId xmlns:a16="http://schemas.microsoft.com/office/drawing/2014/main" id="{E5AEF47F-5145-5822-18ED-27122E954163}"/>
              </a:ext>
            </a:extLst>
          </p:cNvPr>
          <p:cNvSpPr/>
          <p:nvPr/>
        </p:nvSpPr>
        <p:spPr>
          <a:xfrm>
            <a:off x="3871914" y="911352"/>
            <a:ext cx="3776084" cy="723710"/>
          </a:xfrm>
          <a:prstGeom prst="rect">
            <a:avLst/>
          </a:prstGeom>
        </p:spPr>
        <p:txBody>
          <a:bodyPr wrap="none" lIns="0" tIns="0" rIns="0" bIns="0">
            <a:noAutofit/>
          </a:bodyPr>
          <a:lstStyle/>
          <a:p>
            <a:r>
              <a:rPr lang="fr-FR" sz="3200" b="1" i="1" dirty="0"/>
              <a:t>RECAPITULATIF</a:t>
            </a:r>
          </a:p>
        </p:txBody>
      </p:sp>
      <p:graphicFrame>
        <p:nvGraphicFramePr>
          <p:cNvPr id="6" name="Tableau 5">
            <a:extLst>
              <a:ext uri="{FF2B5EF4-FFF2-40B4-BE49-F238E27FC236}">
                <a16:creationId xmlns:a16="http://schemas.microsoft.com/office/drawing/2014/main" id="{E0D4C01A-4DD6-8B56-2401-76408ECC0BEC}"/>
              </a:ext>
            </a:extLst>
          </p:cNvPr>
          <p:cNvGraphicFramePr>
            <a:graphicFrameLocks noGrp="1"/>
          </p:cNvGraphicFramePr>
          <p:nvPr>
            <p:extLst>
              <p:ext uri="{D42A27DB-BD31-4B8C-83A1-F6EECF244321}">
                <p14:modId xmlns:p14="http://schemas.microsoft.com/office/powerpoint/2010/main" val="3519318801"/>
              </p:ext>
            </p:extLst>
          </p:nvPr>
        </p:nvGraphicFramePr>
        <p:xfrm>
          <a:off x="828675" y="1635062"/>
          <a:ext cx="9158289" cy="5248084"/>
        </p:xfrm>
        <a:graphic>
          <a:graphicData uri="http://schemas.openxmlformats.org/drawingml/2006/table">
            <a:tbl>
              <a:tblPr firstRow="1" firstCol="1" bandRow="1">
                <a:tableStyleId>{5C22544A-7EE6-4342-B048-85BDC9FD1C3A}</a:tableStyleId>
              </a:tblPr>
              <a:tblGrid>
                <a:gridCol w="1308327">
                  <a:extLst>
                    <a:ext uri="{9D8B030D-6E8A-4147-A177-3AD203B41FA5}">
                      <a16:colId xmlns:a16="http://schemas.microsoft.com/office/drawing/2014/main" val="650795148"/>
                    </a:ext>
                  </a:extLst>
                </a:gridCol>
                <a:gridCol w="1308327">
                  <a:extLst>
                    <a:ext uri="{9D8B030D-6E8A-4147-A177-3AD203B41FA5}">
                      <a16:colId xmlns:a16="http://schemas.microsoft.com/office/drawing/2014/main" val="3748348230"/>
                    </a:ext>
                  </a:extLst>
                </a:gridCol>
                <a:gridCol w="1308327">
                  <a:extLst>
                    <a:ext uri="{9D8B030D-6E8A-4147-A177-3AD203B41FA5}">
                      <a16:colId xmlns:a16="http://schemas.microsoft.com/office/drawing/2014/main" val="1805112679"/>
                    </a:ext>
                  </a:extLst>
                </a:gridCol>
                <a:gridCol w="1308327">
                  <a:extLst>
                    <a:ext uri="{9D8B030D-6E8A-4147-A177-3AD203B41FA5}">
                      <a16:colId xmlns:a16="http://schemas.microsoft.com/office/drawing/2014/main" val="1897632124"/>
                    </a:ext>
                  </a:extLst>
                </a:gridCol>
                <a:gridCol w="1308327">
                  <a:extLst>
                    <a:ext uri="{9D8B030D-6E8A-4147-A177-3AD203B41FA5}">
                      <a16:colId xmlns:a16="http://schemas.microsoft.com/office/drawing/2014/main" val="221676292"/>
                    </a:ext>
                  </a:extLst>
                </a:gridCol>
                <a:gridCol w="1308327">
                  <a:extLst>
                    <a:ext uri="{9D8B030D-6E8A-4147-A177-3AD203B41FA5}">
                      <a16:colId xmlns:a16="http://schemas.microsoft.com/office/drawing/2014/main" val="1980718252"/>
                    </a:ext>
                  </a:extLst>
                </a:gridCol>
                <a:gridCol w="1308327">
                  <a:extLst>
                    <a:ext uri="{9D8B030D-6E8A-4147-A177-3AD203B41FA5}">
                      <a16:colId xmlns:a16="http://schemas.microsoft.com/office/drawing/2014/main" val="3970841520"/>
                    </a:ext>
                  </a:extLst>
                </a:gridCol>
              </a:tblGrid>
              <a:tr h="325063">
                <a:tc>
                  <a:txBody>
                    <a:bodyPr/>
                    <a:lstStyle/>
                    <a:p>
                      <a:pPr>
                        <a:lnSpc>
                          <a:spcPct val="115000"/>
                        </a:lnSpc>
                        <a:spcAft>
                          <a:spcPts val="800"/>
                        </a:spcAft>
                        <a:buNone/>
                      </a:pPr>
                      <a:r>
                        <a:rPr lang="en-US" sz="900" kern="0">
                          <a:effectLst/>
                        </a:rPr>
                        <a:t>Méthode / Référentiel</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Origine</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Objectif principal</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Approche</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Avantages clés</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Limites</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Maturité / Alignement</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extLst>
                  <a:ext uri="{0D108BD9-81ED-4DB2-BD59-A6C34878D82A}">
                    <a16:rowId xmlns:a16="http://schemas.microsoft.com/office/drawing/2014/main" val="3515819284"/>
                  </a:ext>
                </a:extLst>
              </a:tr>
              <a:tr h="827422">
                <a:tc>
                  <a:txBody>
                    <a:bodyPr/>
                    <a:lstStyle/>
                    <a:p>
                      <a:pPr>
                        <a:lnSpc>
                          <a:spcPct val="115000"/>
                        </a:lnSpc>
                        <a:spcAft>
                          <a:spcPts val="800"/>
                        </a:spcAft>
                        <a:buNone/>
                      </a:pPr>
                      <a:r>
                        <a:rPr lang="en-US" sz="900" kern="0">
                          <a:effectLst/>
                        </a:rPr>
                        <a:t>ISO 31000</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International (ISO)</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Fournir les principes et un cadre global de gestion du risque, tous domaines confondus</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Conceptuelle / stratégique</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Vision globale, applicable à tous les secteurs, crée une culture du risque</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Non spécifique à la cybersécurité</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Référence universelle, chapeau normatif</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extLst>
                  <a:ext uri="{0D108BD9-81ED-4DB2-BD59-A6C34878D82A}">
                    <a16:rowId xmlns:a16="http://schemas.microsoft.com/office/drawing/2014/main" val="691701965"/>
                  </a:ext>
                </a:extLst>
              </a:tr>
              <a:tr h="827422">
                <a:tc>
                  <a:txBody>
                    <a:bodyPr/>
                    <a:lstStyle/>
                    <a:p>
                      <a:pPr>
                        <a:lnSpc>
                          <a:spcPct val="115000"/>
                        </a:lnSpc>
                        <a:spcAft>
                          <a:spcPts val="800"/>
                        </a:spcAft>
                        <a:buNone/>
                      </a:pPr>
                      <a:r>
                        <a:rPr lang="en-US" sz="900" kern="0">
                          <a:effectLst/>
                        </a:rPr>
                        <a:t>ISO/IEC 27005</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International (ISO)</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Gestion des risques liés à la sécurité de l’information (support de l’ISO 27001)</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Qualitative / adaptable</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Compatible avec tout SMSI, structuré sur le PDCA</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Nécessite interprétation, non prescriptive</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Alignée ISO 31000</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extLst>
                  <a:ext uri="{0D108BD9-81ED-4DB2-BD59-A6C34878D82A}">
                    <a16:rowId xmlns:a16="http://schemas.microsoft.com/office/drawing/2014/main" val="4106809916"/>
                  </a:ext>
                </a:extLst>
              </a:tr>
              <a:tr h="492516">
                <a:tc>
                  <a:txBody>
                    <a:bodyPr/>
                    <a:lstStyle/>
                    <a:p>
                      <a:pPr>
                        <a:lnSpc>
                          <a:spcPct val="115000"/>
                        </a:lnSpc>
                        <a:spcAft>
                          <a:spcPts val="800"/>
                        </a:spcAft>
                        <a:buNone/>
                      </a:pPr>
                      <a:r>
                        <a:rPr lang="en-US" sz="900" kern="0">
                          <a:effectLst/>
                        </a:rPr>
                        <a:t>MAGERIT</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Espagne</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Gestion complète et systématique des risques SI</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Qualitative avec outils et catalogues</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Documentation riche, outil PILAR, exhaustif</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Lourde à déployer, rigide</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 Alignée ISO 27005</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extLst>
                  <a:ext uri="{0D108BD9-81ED-4DB2-BD59-A6C34878D82A}">
                    <a16:rowId xmlns:a16="http://schemas.microsoft.com/office/drawing/2014/main" val="932539877"/>
                  </a:ext>
                </a:extLst>
              </a:tr>
              <a:tr h="492516">
                <a:tc>
                  <a:txBody>
                    <a:bodyPr/>
                    <a:lstStyle/>
                    <a:p>
                      <a:pPr>
                        <a:lnSpc>
                          <a:spcPct val="115000"/>
                        </a:lnSpc>
                        <a:spcAft>
                          <a:spcPts val="800"/>
                        </a:spcAft>
                        <a:buNone/>
                      </a:pPr>
                      <a:r>
                        <a:rPr lang="en-US" sz="900" kern="0">
                          <a:effectLst/>
                        </a:rPr>
                        <a:t>FAIR</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États-Unis</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Quantification du risque en termes financiers</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Quantitative / probabiliste</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Mesure économique du risque, appui décisionnel</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Requiert données fiables, complexité statistique</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 Complément ISO/NIST</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extLst>
                  <a:ext uri="{0D108BD9-81ED-4DB2-BD59-A6C34878D82A}">
                    <a16:rowId xmlns:a16="http://schemas.microsoft.com/office/drawing/2014/main" val="1559973946"/>
                  </a:ext>
                </a:extLst>
              </a:tr>
              <a:tr h="492516">
                <a:tc>
                  <a:txBody>
                    <a:bodyPr/>
                    <a:lstStyle/>
                    <a:p>
                      <a:pPr>
                        <a:lnSpc>
                          <a:spcPct val="115000"/>
                        </a:lnSpc>
                        <a:spcAft>
                          <a:spcPts val="800"/>
                        </a:spcAft>
                        <a:buNone/>
                      </a:pPr>
                      <a:r>
                        <a:rPr lang="en-US" sz="900" kern="0">
                          <a:effectLst/>
                        </a:rPr>
                        <a:t>MEHARI</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France (CLUSIF)</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Évaluation des risques à partir de scénarios concrets</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Semi-quantitative</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Simple à appliquer, riche base de scénarios</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Moins adaptée aux environnements complexes</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 Alignée ISO 27005</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extLst>
                  <a:ext uri="{0D108BD9-81ED-4DB2-BD59-A6C34878D82A}">
                    <a16:rowId xmlns:a16="http://schemas.microsoft.com/office/drawing/2014/main" val="3251886679"/>
                  </a:ext>
                </a:extLst>
              </a:tr>
              <a:tr h="492516">
                <a:tc>
                  <a:txBody>
                    <a:bodyPr/>
                    <a:lstStyle/>
                    <a:p>
                      <a:pPr>
                        <a:lnSpc>
                          <a:spcPct val="115000"/>
                        </a:lnSpc>
                        <a:spcAft>
                          <a:spcPts val="800"/>
                        </a:spcAft>
                        <a:buNone/>
                      </a:pPr>
                      <a:r>
                        <a:rPr lang="en-US" sz="900" kern="0">
                          <a:effectLst/>
                        </a:rPr>
                        <a:t>OCTAVE</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États-Unis (Carnegie Mellon)</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Identifier actifs critiques, menaces et vulnérabilités</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Participative / qualitative</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Implique les métiers, auto-évaluation</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Limité aux structures moyennes</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 Maturité intermédiaire</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extLst>
                  <a:ext uri="{0D108BD9-81ED-4DB2-BD59-A6C34878D82A}">
                    <a16:rowId xmlns:a16="http://schemas.microsoft.com/office/drawing/2014/main" val="1546293602"/>
                  </a:ext>
                </a:extLst>
              </a:tr>
              <a:tr h="659968">
                <a:tc>
                  <a:txBody>
                    <a:bodyPr/>
                    <a:lstStyle/>
                    <a:p>
                      <a:pPr>
                        <a:lnSpc>
                          <a:spcPct val="115000"/>
                        </a:lnSpc>
                        <a:spcAft>
                          <a:spcPts val="800"/>
                        </a:spcAft>
                        <a:buNone/>
                      </a:pPr>
                      <a:r>
                        <a:rPr lang="en-US" sz="900" kern="0">
                          <a:effectLst/>
                        </a:rPr>
                        <a:t>EBIOS Risk Manager</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France (ANSSI)</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Analyse stratégique et opérationnelle des risques cyber</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Scénarisation et collaboration</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Moderne, alignée ISO/NIST, adaptée aux menaces actuelles</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Formation préalable requise</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 Méthode officielle ANSSI</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extLst>
                  <a:ext uri="{0D108BD9-81ED-4DB2-BD59-A6C34878D82A}">
                    <a16:rowId xmlns:a16="http://schemas.microsoft.com/office/drawing/2014/main" val="2259237470"/>
                  </a:ext>
                </a:extLst>
              </a:tr>
              <a:tr h="638145">
                <a:tc>
                  <a:txBody>
                    <a:bodyPr/>
                    <a:lstStyle/>
                    <a:p>
                      <a:pPr>
                        <a:lnSpc>
                          <a:spcPct val="115000"/>
                        </a:lnSpc>
                        <a:spcAft>
                          <a:spcPts val="800"/>
                        </a:spcAft>
                        <a:buNone/>
                      </a:pPr>
                      <a:r>
                        <a:rPr lang="en-US" sz="900" kern="0" dirty="0">
                          <a:effectLst/>
                        </a:rPr>
                        <a:t>NIST RMF</a:t>
                      </a:r>
                      <a:endParaRPr lang="en-US"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États-Unis (NIST)</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Gestion du risque pour systèmes fédéraux et critiques</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a:effectLst/>
                        </a:rPr>
                        <a:t>Processus structuré en 7 étapes</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dirty="0">
                          <a:effectLst/>
                        </a:rPr>
                        <a:t>Très complet, orienté conformité et résilience</a:t>
                      </a:r>
                      <a:endParaRPr lang="en-US"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fr-FR" sz="900" kern="0">
                          <a:effectLst/>
                        </a:rPr>
                        <a:t>Complexité documentaire, approche US-centrée</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tc>
                  <a:txBody>
                    <a:bodyPr/>
                    <a:lstStyle/>
                    <a:p>
                      <a:pPr>
                        <a:lnSpc>
                          <a:spcPct val="115000"/>
                        </a:lnSpc>
                        <a:spcAft>
                          <a:spcPts val="800"/>
                        </a:spcAft>
                        <a:buNone/>
                      </a:pPr>
                      <a:r>
                        <a:rPr lang="en-US" sz="900" kern="0" dirty="0">
                          <a:effectLst/>
                        </a:rPr>
                        <a:t>🇺🇸 </a:t>
                      </a:r>
                      <a:r>
                        <a:rPr lang="en-US" sz="900" kern="0" dirty="0" err="1">
                          <a:effectLst/>
                        </a:rPr>
                        <a:t>Alignée</a:t>
                      </a:r>
                      <a:r>
                        <a:rPr lang="en-US" sz="900" kern="0" dirty="0">
                          <a:effectLst/>
                        </a:rPr>
                        <a:t> ISO 31000 / 27005</a:t>
                      </a:r>
                      <a:endParaRPr lang="en-US"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9768" marR="59768" marT="0" marB="0"/>
                </a:tc>
                <a:extLst>
                  <a:ext uri="{0D108BD9-81ED-4DB2-BD59-A6C34878D82A}">
                    <a16:rowId xmlns:a16="http://schemas.microsoft.com/office/drawing/2014/main" val="2416757184"/>
                  </a:ext>
                </a:extLst>
              </a:tr>
            </a:tbl>
          </a:graphicData>
        </a:graphic>
      </p:graphicFrame>
    </p:spTree>
    <p:extLst>
      <p:ext uri="{BB962C8B-B14F-4D97-AF65-F5344CB8AC3E}">
        <p14:creationId xmlns:p14="http://schemas.microsoft.com/office/powerpoint/2010/main" val="3166475853"/>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6212DA9-3263-1189-40C3-9BAA2620FCC1}"/>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815320F9-7408-DFE1-0521-C253ACF7E472}"/>
              </a:ext>
            </a:extLst>
          </p:cNvPr>
          <p:cNvPicPr>
            <a:picLocks noChangeAspect="1"/>
          </p:cNvPicPr>
          <p:nvPr/>
        </p:nvPicPr>
        <p:blipFill>
          <a:blip r:embed="rId2"/>
          <a:stretch>
            <a:fillRect/>
          </a:stretch>
        </p:blipFill>
        <p:spPr>
          <a:xfrm>
            <a:off x="48768" y="679704"/>
            <a:ext cx="10591800" cy="231648"/>
          </a:xfrm>
          <a:prstGeom prst="rect">
            <a:avLst/>
          </a:prstGeom>
        </p:spPr>
      </p:pic>
      <p:sp>
        <p:nvSpPr>
          <p:cNvPr id="3" name="Rectangle 2">
            <a:extLst>
              <a:ext uri="{FF2B5EF4-FFF2-40B4-BE49-F238E27FC236}">
                <a16:creationId xmlns:a16="http://schemas.microsoft.com/office/drawing/2014/main" id="{27102380-72FA-A918-8445-B0E40710E3FC}"/>
              </a:ext>
            </a:extLst>
          </p:cNvPr>
          <p:cNvSpPr/>
          <p:nvPr/>
        </p:nvSpPr>
        <p:spPr>
          <a:xfrm>
            <a:off x="435864" y="198120"/>
            <a:ext cx="6019800" cy="365760"/>
          </a:xfrm>
          <a:prstGeom prst="rect">
            <a:avLst/>
          </a:prstGeom>
        </p:spPr>
        <p:txBody>
          <a:bodyPr wrap="none" lIns="0" tIns="0" rIns="0" bIns="0">
            <a:noAutofit/>
          </a:bodyPr>
          <a:lstStyle/>
          <a:p>
            <a:pPr indent="0"/>
            <a:r>
              <a:rPr lang="en-US" sz="2700" b="1" dirty="0">
                <a:solidFill>
                  <a:srgbClr val="161616"/>
                </a:solidFill>
                <a:latin typeface="Arial"/>
              </a:rPr>
              <a:t>Overview of Presentation</a:t>
            </a:r>
          </a:p>
        </p:txBody>
      </p:sp>
      <p:sp>
        <p:nvSpPr>
          <p:cNvPr id="4" name="Rectangle 3">
            <a:extLst>
              <a:ext uri="{FF2B5EF4-FFF2-40B4-BE49-F238E27FC236}">
                <a16:creationId xmlns:a16="http://schemas.microsoft.com/office/drawing/2014/main" id="{5DA5C3A0-DF46-8DE7-FCDC-32039D3F14B9}"/>
              </a:ext>
            </a:extLst>
          </p:cNvPr>
          <p:cNvSpPr/>
          <p:nvPr/>
        </p:nvSpPr>
        <p:spPr>
          <a:xfrm>
            <a:off x="2112778" y="3020949"/>
            <a:ext cx="7997941" cy="1520952"/>
          </a:xfrm>
          <a:prstGeom prst="rect">
            <a:avLst/>
          </a:prstGeom>
        </p:spPr>
        <p:txBody>
          <a:bodyPr lIns="0" tIns="0" rIns="0" bIns="0">
            <a:noAutofit/>
          </a:bodyPr>
          <a:lstStyle/>
          <a:p>
            <a:pPr indent="0" algn="just">
              <a:lnSpc>
                <a:spcPts val="4656"/>
              </a:lnSpc>
            </a:pPr>
            <a:r>
              <a:rPr lang="en-US" sz="2800" b="1" i="1" dirty="0">
                <a:latin typeface="Arial"/>
              </a:rPr>
              <a:t>1.  </a:t>
            </a:r>
            <a:r>
              <a:rPr lang="en-US" sz="2800" b="1" i="1" dirty="0" err="1">
                <a:latin typeface="Arial"/>
              </a:rPr>
              <a:t>Contexte</a:t>
            </a:r>
            <a:endParaRPr lang="en-US" sz="2800" b="1" i="1" dirty="0">
              <a:latin typeface="Arial"/>
            </a:endParaRPr>
          </a:p>
          <a:p>
            <a:pPr indent="0" algn="just">
              <a:lnSpc>
                <a:spcPts val="4656"/>
              </a:lnSpc>
            </a:pPr>
            <a:r>
              <a:rPr lang="en-US" sz="2800" b="1" i="1" dirty="0">
                <a:solidFill>
                  <a:srgbClr val="FF0000"/>
                </a:solidFill>
                <a:latin typeface="Arial"/>
              </a:rPr>
              <a:t>2.  EBIOS RM et </a:t>
            </a:r>
            <a:r>
              <a:rPr lang="en-US" sz="2800" b="1" i="1" dirty="0" err="1">
                <a:solidFill>
                  <a:srgbClr val="FF0000"/>
                </a:solidFill>
                <a:latin typeface="Arial"/>
              </a:rPr>
              <a:t>ses</a:t>
            </a:r>
            <a:r>
              <a:rPr lang="en-US" sz="2800" b="1" i="1" dirty="0">
                <a:solidFill>
                  <a:srgbClr val="FF0000"/>
                </a:solidFill>
                <a:latin typeface="Arial"/>
              </a:rPr>
              <a:t> 5 Ateliers</a:t>
            </a:r>
          </a:p>
          <a:p>
            <a:pPr marL="514350" indent="-514350" algn="just">
              <a:lnSpc>
                <a:spcPts val="4656"/>
              </a:lnSpc>
              <a:buAutoNum type="arabicPeriod" startAt="3"/>
            </a:pPr>
            <a:r>
              <a:rPr lang="en-US" sz="2800" b="1" i="1" dirty="0">
                <a:latin typeface="Arial"/>
              </a:rPr>
              <a:t>Use Case</a:t>
            </a:r>
          </a:p>
        </p:txBody>
      </p:sp>
    </p:spTree>
    <p:extLst>
      <p:ext uri="{BB962C8B-B14F-4D97-AF65-F5344CB8AC3E}">
        <p14:creationId xmlns:p14="http://schemas.microsoft.com/office/powerpoint/2010/main" val="160709314"/>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E1C307E-BFA4-7188-2833-8238ED6BD30A}"/>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88494AAF-B29B-A9CF-53A3-DE489883CD54}"/>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23147119-7806-407F-DFA0-4B60F1F2557D}"/>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2. EBIOS Risk Manager et </a:t>
            </a:r>
            <a:r>
              <a:rPr lang="en-US" sz="2600" b="1" dirty="0" err="1">
                <a:solidFill>
                  <a:srgbClr val="161616"/>
                </a:solidFill>
                <a:latin typeface="Arial"/>
              </a:rPr>
              <a:t>ses</a:t>
            </a:r>
            <a:r>
              <a:rPr lang="en-US" sz="2600" b="1" dirty="0">
                <a:solidFill>
                  <a:srgbClr val="161616"/>
                </a:solidFill>
                <a:latin typeface="Arial"/>
              </a:rPr>
              <a:t> Ateliers</a:t>
            </a:r>
          </a:p>
        </p:txBody>
      </p:sp>
      <p:sp>
        <p:nvSpPr>
          <p:cNvPr id="15" name="Rectangle 14">
            <a:extLst>
              <a:ext uri="{FF2B5EF4-FFF2-40B4-BE49-F238E27FC236}">
                <a16:creationId xmlns:a16="http://schemas.microsoft.com/office/drawing/2014/main" id="{1938880A-8814-A42F-8F7F-CF02D5E871F1}"/>
              </a:ext>
            </a:extLst>
          </p:cNvPr>
          <p:cNvSpPr/>
          <p:nvPr/>
        </p:nvSpPr>
        <p:spPr>
          <a:xfrm>
            <a:off x="3549797" y="1027176"/>
            <a:ext cx="3234493" cy="365760"/>
          </a:xfrm>
          <a:prstGeom prst="rect">
            <a:avLst/>
          </a:prstGeom>
        </p:spPr>
        <p:txBody>
          <a:bodyPr wrap="none" lIns="0" tIns="0" rIns="0" bIns="0">
            <a:noAutofit/>
          </a:bodyPr>
          <a:lstStyle/>
          <a:p>
            <a:pPr indent="0" algn="ctr"/>
            <a:r>
              <a:rPr lang="fr-FR" sz="2800" b="1" dirty="0">
                <a:solidFill>
                  <a:srgbClr val="161616"/>
                </a:solidFill>
                <a:latin typeface="Arial"/>
              </a:rPr>
              <a:t>R</a:t>
            </a:r>
            <a:r>
              <a:rPr lang="en-US" sz="2800" b="1" dirty="0" err="1">
                <a:solidFill>
                  <a:srgbClr val="161616"/>
                </a:solidFill>
                <a:latin typeface="Arial"/>
              </a:rPr>
              <a:t>evenons</a:t>
            </a:r>
            <a:r>
              <a:rPr lang="en-US" sz="2800" b="1" dirty="0">
                <a:solidFill>
                  <a:srgbClr val="161616"/>
                </a:solidFill>
                <a:latin typeface="Arial"/>
              </a:rPr>
              <a:t> sur le </a:t>
            </a:r>
            <a:r>
              <a:rPr lang="en-US" sz="2800" b="1" dirty="0" err="1">
                <a:solidFill>
                  <a:srgbClr val="161616"/>
                </a:solidFill>
                <a:latin typeface="Arial"/>
              </a:rPr>
              <a:t>Pourquoi</a:t>
            </a:r>
            <a:r>
              <a:rPr lang="en-US" sz="2800" b="1" dirty="0">
                <a:solidFill>
                  <a:srgbClr val="161616"/>
                </a:solidFill>
                <a:latin typeface="Arial"/>
              </a:rPr>
              <a:t>, le Why ?</a:t>
            </a:r>
          </a:p>
        </p:txBody>
      </p:sp>
      <p:sp>
        <p:nvSpPr>
          <p:cNvPr id="3" name="ZoneTexte 2">
            <a:extLst>
              <a:ext uri="{FF2B5EF4-FFF2-40B4-BE49-F238E27FC236}">
                <a16:creationId xmlns:a16="http://schemas.microsoft.com/office/drawing/2014/main" id="{FC32CEA6-78B6-32B8-C52F-8C8D0A8B8BD8}"/>
              </a:ext>
            </a:extLst>
          </p:cNvPr>
          <p:cNvSpPr txBox="1"/>
          <p:nvPr/>
        </p:nvSpPr>
        <p:spPr>
          <a:xfrm>
            <a:off x="70104" y="1508760"/>
            <a:ext cx="4892548" cy="5165517"/>
          </a:xfrm>
          <a:prstGeom prst="rect">
            <a:avLst/>
          </a:prstGeom>
          <a:noFill/>
        </p:spPr>
        <p:txBody>
          <a:bodyPr wrap="square" rtlCol="0">
            <a:spAutoFit/>
          </a:bodyPr>
          <a:lstStyle/>
          <a:p>
            <a:pPr algn="ctr">
              <a:lnSpc>
                <a:spcPct val="150000"/>
              </a:lnSpc>
            </a:pPr>
            <a:r>
              <a:rPr lang="fr-FR" sz="2400" b="1" i="1" dirty="0">
                <a:latin typeface="Arial" panose="020B0604020202020204" pitchFamily="34" charset="0"/>
                <a:cs typeface="Arial" panose="020B0604020202020204" pitchFamily="34" charset="0"/>
              </a:rPr>
              <a:t>Gérer les risques ?</a:t>
            </a:r>
          </a:p>
          <a:p>
            <a:pPr marL="285750" indent="-285750" algn="just">
              <a:lnSpc>
                <a:spcPct val="150000"/>
              </a:lnSpc>
              <a:buFont typeface="Wingdings" panose="05000000000000000000" pitchFamily="2" charset="2"/>
              <a:buChar char="q"/>
            </a:pPr>
            <a:r>
              <a:rPr lang="fr-FR" dirty="0">
                <a:latin typeface="Arial" panose="020B0604020202020204" pitchFamily="34" charset="0"/>
                <a:cs typeface="Arial" panose="020B0604020202020204" pitchFamily="34" charset="0"/>
              </a:rPr>
              <a:t>Apport de </a:t>
            </a:r>
            <a:r>
              <a:rPr lang="fr-FR" b="1" dirty="0">
                <a:latin typeface="Arial" panose="020B0604020202020204" pitchFamily="34" charset="0"/>
                <a:cs typeface="Arial" panose="020B0604020202020204" pitchFamily="34" charset="0"/>
              </a:rPr>
              <a:t>confiance </a:t>
            </a:r>
            <a:r>
              <a:rPr lang="fr-FR" dirty="0">
                <a:latin typeface="Arial" panose="020B0604020202020204" pitchFamily="34" charset="0"/>
                <a:cs typeface="Arial" panose="020B0604020202020204" pitchFamily="34" charset="0"/>
              </a:rPr>
              <a:t>: dirigeants, employés, clients, partenaires ;</a:t>
            </a:r>
          </a:p>
          <a:p>
            <a:pPr marL="285750" indent="-285750" algn="just">
              <a:lnSpc>
                <a:spcPct val="150000"/>
              </a:lnSpc>
              <a:buFont typeface="Wingdings" panose="05000000000000000000" pitchFamily="2" charset="2"/>
              <a:buChar char="q"/>
            </a:pPr>
            <a:r>
              <a:rPr lang="fr-FR" dirty="0">
                <a:latin typeface="Arial" panose="020B0604020202020204" pitchFamily="34" charset="0"/>
                <a:cs typeface="Arial" panose="020B0604020202020204" pitchFamily="34" charset="0"/>
              </a:rPr>
              <a:t>Une </a:t>
            </a:r>
            <a:r>
              <a:rPr lang="fr-FR" b="1" dirty="0">
                <a:latin typeface="Arial" panose="020B0604020202020204" pitchFamily="34" charset="0"/>
                <a:cs typeface="Arial" panose="020B0604020202020204" pitchFamily="34" charset="0"/>
              </a:rPr>
              <a:t>sécurité adaptée </a:t>
            </a:r>
            <a:r>
              <a:rPr lang="fr-FR" dirty="0">
                <a:latin typeface="Arial" panose="020B0604020202020204" pitchFamily="34" charset="0"/>
                <a:cs typeface="Arial" panose="020B0604020202020204" pitchFamily="34" charset="0"/>
              </a:rPr>
              <a:t>au contexte et aux risques ;</a:t>
            </a:r>
          </a:p>
          <a:p>
            <a:pPr marL="285750" indent="-285750" algn="just">
              <a:lnSpc>
                <a:spcPct val="150000"/>
              </a:lnSpc>
              <a:buFont typeface="Wingdings" panose="05000000000000000000" pitchFamily="2" charset="2"/>
              <a:buChar char="q"/>
            </a:pPr>
            <a:r>
              <a:rPr lang="fr-FR" dirty="0">
                <a:latin typeface="Arial" panose="020B0604020202020204" pitchFamily="34" charset="0"/>
                <a:cs typeface="Arial" panose="020B0604020202020204" pitchFamily="34" charset="0"/>
              </a:rPr>
              <a:t>Des </a:t>
            </a:r>
            <a:r>
              <a:rPr lang="fr-FR" b="1" dirty="0">
                <a:latin typeface="Arial" panose="020B0604020202020204" pitchFamily="34" charset="0"/>
                <a:cs typeface="Arial" panose="020B0604020202020204" pitchFamily="34" charset="0"/>
              </a:rPr>
              <a:t>économies</a:t>
            </a:r>
            <a:r>
              <a:rPr lang="fr-FR" dirty="0">
                <a:latin typeface="Arial" panose="020B0604020202020204" pitchFamily="34" charset="0"/>
                <a:cs typeface="Arial" panose="020B0604020202020204" pitchFamily="34" charset="0"/>
              </a:rPr>
              <a:t> : pas de dépenses inutiles</a:t>
            </a:r>
          </a:p>
          <a:p>
            <a:pPr marL="285750" indent="-285750" algn="just">
              <a:lnSpc>
                <a:spcPct val="150000"/>
              </a:lnSpc>
              <a:buFont typeface="Wingdings" panose="05000000000000000000" pitchFamily="2" charset="2"/>
              <a:buChar char="q"/>
            </a:pPr>
            <a:r>
              <a:rPr lang="fr-FR" b="1" dirty="0">
                <a:latin typeface="Arial" panose="020B0604020202020204" pitchFamily="34" charset="0"/>
                <a:cs typeface="Arial" panose="020B0604020202020204" pitchFamily="34" charset="0"/>
              </a:rPr>
              <a:t>Conformité</a:t>
            </a:r>
            <a:r>
              <a:rPr lang="fr-FR" dirty="0">
                <a:latin typeface="Arial" panose="020B0604020202020204" pitchFamily="34" charset="0"/>
                <a:cs typeface="Arial" panose="020B0604020202020204" pitchFamily="34" charset="0"/>
              </a:rPr>
              <a:t> aux obligations légales : RGPD, Directives NIS, Loi sur la cybersécurité de 2012</a:t>
            </a:r>
          </a:p>
          <a:p>
            <a:pPr marL="285750" indent="-285750" algn="just">
              <a:lnSpc>
                <a:spcPct val="150000"/>
              </a:lnSpc>
              <a:buFont typeface="Wingdings" panose="05000000000000000000" pitchFamily="2" charset="2"/>
              <a:buChar char="q"/>
            </a:pPr>
            <a:r>
              <a:rPr lang="fr-FR" b="1" dirty="0">
                <a:latin typeface="Arial" panose="020B0604020202020204" pitchFamily="34" charset="0"/>
                <a:cs typeface="Arial" panose="020B0604020202020204" pitchFamily="34" charset="0"/>
              </a:rPr>
              <a:t>Cohérence</a:t>
            </a:r>
            <a:r>
              <a:rPr lang="fr-FR" dirty="0">
                <a:latin typeface="Arial" panose="020B0604020202020204" pitchFamily="34" charset="0"/>
                <a:cs typeface="Arial" panose="020B0604020202020204" pitchFamily="34" charset="0"/>
              </a:rPr>
              <a:t> avec les normes internationales : ISO/IEC 27001, ISO 31000, ISO/IEC 27005, et cetera</a:t>
            </a:r>
            <a:endParaRPr lang="en-US" dirty="0">
              <a:latin typeface="Arial" panose="020B0604020202020204" pitchFamily="34" charset="0"/>
              <a:cs typeface="Arial" panose="020B0604020202020204" pitchFamily="34" charset="0"/>
            </a:endParaRPr>
          </a:p>
        </p:txBody>
      </p:sp>
      <p:sp>
        <p:nvSpPr>
          <p:cNvPr id="5" name="ZoneTexte 4">
            <a:extLst>
              <a:ext uri="{FF2B5EF4-FFF2-40B4-BE49-F238E27FC236}">
                <a16:creationId xmlns:a16="http://schemas.microsoft.com/office/drawing/2014/main" id="{4BDC6CEC-16C7-7665-49D0-00053A0AD96D}"/>
              </a:ext>
            </a:extLst>
          </p:cNvPr>
          <p:cNvSpPr txBox="1"/>
          <p:nvPr/>
        </p:nvSpPr>
        <p:spPr>
          <a:xfrm>
            <a:off x="5478604" y="1508760"/>
            <a:ext cx="4892548" cy="5165517"/>
          </a:xfrm>
          <a:prstGeom prst="rect">
            <a:avLst/>
          </a:prstGeom>
          <a:noFill/>
        </p:spPr>
        <p:txBody>
          <a:bodyPr wrap="square" rtlCol="0">
            <a:spAutoFit/>
          </a:bodyPr>
          <a:lstStyle/>
          <a:p>
            <a:pPr algn="ctr">
              <a:lnSpc>
                <a:spcPct val="150000"/>
              </a:lnSpc>
            </a:pPr>
            <a:r>
              <a:rPr lang="fr-FR" sz="2400" b="1" i="1" dirty="0">
                <a:latin typeface="Arial" panose="020B0604020202020204" pitchFamily="34" charset="0"/>
                <a:cs typeface="Arial" panose="020B0604020202020204" pitchFamily="34" charset="0"/>
              </a:rPr>
              <a:t>EBIOS Risk Manager ?</a:t>
            </a:r>
          </a:p>
          <a:p>
            <a:pPr marL="285750" indent="-285750" algn="just">
              <a:lnSpc>
                <a:spcPct val="150000"/>
              </a:lnSpc>
              <a:buFont typeface="Wingdings" panose="05000000000000000000" pitchFamily="2" charset="2"/>
              <a:buChar char="q"/>
            </a:pPr>
            <a:r>
              <a:rPr lang="fr-FR" dirty="0">
                <a:latin typeface="Arial" panose="020B0604020202020204" pitchFamily="34" charset="0"/>
                <a:cs typeface="Arial" panose="020B0604020202020204" pitchFamily="34" charset="0"/>
              </a:rPr>
              <a:t>Un focus sur ce qui relève réellement de la gestion des risques, le reste relevant de la conformité ;</a:t>
            </a:r>
          </a:p>
          <a:p>
            <a:pPr marL="285750" indent="-285750" algn="just">
              <a:lnSpc>
                <a:spcPct val="150000"/>
              </a:lnSpc>
              <a:buFont typeface="Wingdings" panose="05000000000000000000" pitchFamily="2" charset="2"/>
              <a:buChar char="q"/>
            </a:pPr>
            <a:r>
              <a:rPr lang="fr-FR" dirty="0">
                <a:latin typeface="Arial" panose="020B0604020202020204" pitchFamily="34" charset="0"/>
                <a:cs typeface="Arial" panose="020B0604020202020204" pitchFamily="34" charset="0"/>
              </a:rPr>
              <a:t>Une recherche d’efficacité plutôt que d’exhaustivité ;</a:t>
            </a:r>
          </a:p>
          <a:p>
            <a:pPr marL="285750" indent="-285750" algn="just">
              <a:lnSpc>
                <a:spcPct val="150000"/>
              </a:lnSpc>
              <a:buFont typeface="Wingdings" panose="05000000000000000000" pitchFamily="2" charset="2"/>
              <a:buChar char="q"/>
            </a:pPr>
            <a:r>
              <a:rPr lang="fr-FR" dirty="0">
                <a:latin typeface="Arial" panose="020B0604020202020204" pitchFamily="34" charset="0"/>
                <a:cs typeface="Arial" panose="020B0604020202020204" pitchFamily="34" charset="0"/>
              </a:rPr>
              <a:t>La prise en compte de l’écosystème ;</a:t>
            </a:r>
          </a:p>
          <a:p>
            <a:pPr marL="285750" indent="-285750" algn="just">
              <a:lnSpc>
                <a:spcPct val="150000"/>
              </a:lnSpc>
              <a:buFont typeface="Wingdings" panose="05000000000000000000" pitchFamily="2" charset="2"/>
              <a:buChar char="q"/>
            </a:pPr>
            <a:r>
              <a:rPr lang="fr-FR" dirty="0">
                <a:latin typeface="Arial" panose="020B0604020202020204" pitchFamily="34" charset="0"/>
                <a:cs typeface="Arial" panose="020B0604020202020204" pitchFamily="34" charset="0"/>
              </a:rPr>
              <a:t>Une méthode participative ;</a:t>
            </a:r>
          </a:p>
          <a:p>
            <a:pPr marL="285750" indent="-285750" algn="just">
              <a:lnSpc>
                <a:spcPct val="150000"/>
              </a:lnSpc>
              <a:buFont typeface="Wingdings" panose="05000000000000000000" pitchFamily="2" charset="2"/>
              <a:buChar char="q"/>
            </a:pPr>
            <a:r>
              <a:rPr lang="fr-FR" dirty="0">
                <a:latin typeface="Arial" panose="020B0604020202020204" pitchFamily="34" charset="0"/>
                <a:cs typeface="Arial" panose="020B0604020202020204" pitchFamily="34" charset="0"/>
              </a:rPr>
              <a:t>Une approche managériale ;</a:t>
            </a:r>
          </a:p>
          <a:p>
            <a:pPr marL="285750" indent="-285750" algn="just">
              <a:lnSpc>
                <a:spcPct val="150000"/>
              </a:lnSpc>
              <a:buFont typeface="Wingdings" panose="05000000000000000000" pitchFamily="2" charset="2"/>
              <a:buChar char="q"/>
            </a:pPr>
            <a:r>
              <a:rPr lang="fr-FR" dirty="0">
                <a:latin typeface="Arial" panose="020B0604020202020204" pitchFamily="34" charset="0"/>
                <a:cs typeface="Arial" panose="020B0604020202020204" pitchFamily="34" charset="0"/>
              </a:rPr>
              <a:t>Une compréhension et une responsabilité des risques numériques partagée entre décideurs et acteurs opérationnels.</a:t>
            </a:r>
          </a:p>
        </p:txBody>
      </p:sp>
    </p:spTree>
    <p:extLst>
      <p:ext uri="{BB962C8B-B14F-4D97-AF65-F5344CB8AC3E}">
        <p14:creationId xmlns:p14="http://schemas.microsoft.com/office/powerpoint/2010/main" val="141024270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9895080-3843-43DB-6E12-CC1AE207659F}"/>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7A50B480-591D-4946-50C6-871F7B9D8E94}"/>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6031BCE5-4993-1A21-D102-782D1705A5B6}"/>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2. EBIOS Risk Manager et </a:t>
            </a:r>
            <a:r>
              <a:rPr lang="en-US" sz="2600" b="1" dirty="0" err="1">
                <a:solidFill>
                  <a:srgbClr val="161616"/>
                </a:solidFill>
                <a:latin typeface="Arial"/>
              </a:rPr>
              <a:t>ses</a:t>
            </a:r>
            <a:r>
              <a:rPr lang="en-US" sz="2600" b="1" dirty="0">
                <a:solidFill>
                  <a:srgbClr val="161616"/>
                </a:solidFill>
                <a:latin typeface="Arial"/>
              </a:rPr>
              <a:t> Ateliers</a:t>
            </a:r>
          </a:p>
        </p:txBody>
      </p:sp>
      <p:sp>
        <p:nvSpPr>
          <p:cNvPr id="15" name="Rectangle 14">
            <a:extLst>
              <a:ext uri="{FF2B5EF4-FFF2-40B4-BE49-F238E27FC236}">
                <a16:creationId xmlns:a16="http://schemas.microsoft.com/office/drawing/2014/main" id="{7FC13DE3-9D6C-D392-E067-A7260E5B395E}"/>
              </a:ext>
            </a:extLst>
          </p:cNvPr>
          <p:cNvSpPr/>
          <p:nvPr/>
        </p:nvSpPr>
        <p:spPr>
          <a:xfrm>
            <a:off x="3549797" y="1027176"/>
            <a:ext cx="3234493" cy="365760"/>
          </a:xfrm>
          <a:prstGeom prst="rect">
            <a:avLst/>
          </a:prstGeom>
        </p:spPr>
        <p:txBody>
          <a:bodyPr wrap="none" lIns="0" tIns="0" rIns="0" bIns="0">
            <a:noAutofit/>
          </a:bodyPr>
          <a:lstStyle/>
          <a:p>
            <a:pPr indent="0" algn="ctr"/>
            <a:r>
              <a:rPr lang="fr-FR" sz="2800" b="1" dirty="0">
                <a:solidFill>
                  <a:srgbClr val="161616"/>
                </a:solidFill>
                <a:latin typeface="Arial"/>
              </a:rPr>
              <a:t>De quoi s’agit-il ?</a:t>
            </a:r>
            <a:endParaRPr lang="en-US" sz="2800" b="1" dirty="0">
              <a:solidFill>
                <a:srgbClr val="161616"/>
              </a:solidFill>
              <a:latin typeface="Arial"/>
            </a:endParaRPr>
          </a:p>
        </p:txBody>
      </p:sp>
      <p:sp>
        <p:nvSpPr>
          <p:cNvPr id="3" name="ZoneTexte 2">
            <a:extLst>
              <a:ext uri="{FF2B5EF4-FFF2-40B4-BE49-F238E27FC236}">
                <a16:creationId xmlns:a16="http://schemas.microsoft.com/office/drawing/2014/main" id="{9A4C817F-519E-2564-A909-969964213926}"/>
              </a:ext>
            </a:extLst>
          </p:cNvPr>
          <p:cNvSpPr txBox="1"/>
          <p:nvPr/>
        </p:nvSpPr>
        <p:spPr>
          <a:xfrm>
            <a:off x="70103" y="1508760"/>
            <a:ext cx="10458560" cy="5009833"/>
          </a:xfrm>
          <a:prstGeom prst="rect">
            <a:avLst/>
          </a:prstGeom>
          <a:noFill/>
        </p:spPr>
        <p:txBody>
          <a:bodyPr wrap="square" rtlCol="0">
            <a:spAutoFit/>
          </a:bodyPr>
          <a:lstStyle/>
          <a:p>
            <a:pPr algn="just">
              <a:lnSpc>
                <a:spcPct val="150000"/>
              </a:lnSpc>
            </a:pPr>
            <a:r>
              <a:rPr lang="fr-FR" sz="2400" b="1" i="1" dirty="0">
                <a:latin typeface="Arial" panose="020B0604020202020204" pitchFamily="34" charset="0"/>
                <a:cs typeface="Arial" panose="020B0604020202020204" pitchFamily="34" charset="0"/>
              </a:rPr>
              <a:t>«  </a:t>
            </a:r>
            <a:r>
              <a:rPr lang="fr-FR" sz="2400" i="1" dirty="0">
                <a:latin typeface="Arial" panose="020B0604020202020204" pitchFamily="34" charset="0"/>
                <a:cs typeface="Arial" panose="020B0604020202020204" pitchFamily="34" charset="0"/>
              </a:rPr>
              <a:t>EBIOS Risk Manager (EBIOS RM) est la méthode d’appréciation et de traitement des risques numérique publiée par l’Agence Nationale de la Sécurité des Systèmes d’Information (ANSSI) avec le soutien du Club EBIOS</a:t>
            </a:r>
            <a:r>
              <a:rPr lang="fr-FR" sz="2400" b="1" i="1" dirty="0">
                <a:latin typeface="Arial" panose="020B0604020202020204" pitchFamily="34" charset="0"/>
                <a:cs typeface="Arial" panose="020B0604020202020204" pitchFamily="34" charset="0"/>
              </a:rPr>
              <a:t>»</a:t>
            </a:r>
          </a:p>
          <a:p>
            <a:pPr algn="just">
              <a:lnSpc>
                <a:spcPct val="150000"/>
              </a:lnSpc>
            </a:pPr>
            <a:endParaRPr lang="fr-FR" sz="2400" b="1" i="1" dirty="0">
              <a:latin typeface="Arial" panose="020B0604020202020204" pitchFamily="34" charset="0"/>
              <a:cs typeface="Arial" panose="020B0604020202020204" pitchFamily="34" charset="0"/>
            </a:endParaRPr>
          </a:p>
          <a:p>
            <a:pPr algn="just">
              <a:lnSpc>
                <a:spcPct val="150000"/>
              </a:lnSpc>
            </a:pPr>
            <a:endParaRPr lang="fr-FR" sz="2400" b="1" i="1" dirty="0">
              <a:latin typeface="Arial" panose="020B0604020202020204" pitchFamily="34" charset="0"/>
              <a:cs typeface="Arial" panose="020B0604020202020204" pitchFamily="34" charset="0"/>
            </a:endParaRPr>
          </a:p>
          <a:p>
            <a:pPr algn="just">
              <a:lnSpc>
                <a:spcPct val="150000"/>
              </a:lnSpc>
            </a:pPr>
            <a:endParaRPr lang="fr-FR" sz="2400" b="1" i="1" dirty="0">
              <a:latin typeface="Arial" panose="020B0604020202020204" pitchFamily="34" charset="0"/>
              <a:cs typeface="Arial" panose="020B0604020202020204" pitchFamily="34" charset="0"/>
            </a:endParaRPr>
          </a:p>
          <a:p>
            <a:pPr algn="just">
              <a:lnSpc>
                <a:spcPct val="150000"/>
              </a:lnSpc>
            </a:pPr>
            <a:endParaRPr lang="fr-FR" sz="2400" b="1" i="1" dirty="0">
              <a:latin typeface="Arial" panose="020B0604020202020204" pitchFamily="34" charset="0"/>
              <a:cs typeface="Arial" panose="020B0604020202020204" pitchFamily="34" charset="0"/>
            </a:endParaRPr>
          </a:p>
          <a:p>
            <a:pPr algn="just">
              <a:lnSpc>
                <a:spcPct val="150000"/>
              </a:lnSpc>
            </a:pPr>
            <a:r>
              <a:rPr lang="fr-FR" sz="2400" i="1" dirty="0">
                <a:latin typeface="Arial" panose="020B0604020202020204" pitchFamily="34" charset="0"/>
                <a:cs typeface="Arial" panose="020B0604020202020204" pitchFamily="34" charset="0"/>
              </a:rPr>
              <a:t>EBIOS = Expression des Besoins et Identification des Objectifs de Sécurité</a:t>
            </a:r>
            <a:endParaRPr lang="en-US" dirty="0">
              <a:latin typeface="Arial" panose="020B0604020202020204" pitchFamily="34" charset="0"/>
              <a:cs typeface="Arial" panose="020B0604020202020204" pitchFamily="34" charset="0"/>
            </a:endParaRPr>
          </a:p>
        </p:txBody>
      </p:sp>
      <p:pic>
        <p:nvPicPr>
          <p:cNvPr id="7" name="Image 6">
            <a:extLst>
              <a:ext uri="{FF2B5EF4-FFF2-40B4-BE49-F238E27FC236}">
                <a16:creationId xmlns:a16="http://schemas.microsoft.com/office/drawing/2014/main" id="{A3E32EE3-3B07-1A31-63CF-D3C2290AD9B1}"/>
              </a:ext>
            </a:extLst>
          </p:cNvPr>
          <p:cNvPicPr>
            <a:picLocks noChangeAspect="1"/>
          </p:cNvPicPr>
          <p:nvPr/>
        </p:nvPicPr>
        <p:blipFill>
          <a:blip r:embed="rId4"/>
          <a:stretch>
            <a:fillRect/>
          </a:stretch>
        </p:blipFill>
        <p:spPr>
          <a:xfrm>
            <a:off x="3564085" y="3601088"/>
            <a:ext cx="3234493" cy="2381562"/>
          </a:xfrm>
          <a:prstGeom prst="rect">
            <a:avLst/>
          </a:prstGeom>
        </p:spPr>
      </p:pic>
    </p:spTree>
    <p:extLst>
      <p:ext uri="{BB962C8B-B14F-4D97-AF65-F5344CB8AC3E}">
        <p14:creationId xmlns:p14="http://schemas.microsoft.com/office/powerpoint/2010/main" val="4105566778"/>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24F4359-ECD1-2390-4462-21455486AB51}"/>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C3C6B5AB-07EA-6531-0B96-49D4150BF241}"/>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22DBEAEC-7C18-D411-E7C1-CFBCF24B8CEA}"/>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2. EBIOS Risk Manager et </a:t>
            </a:r>
            <a:r>
              <a:rPr lang="en-US" sz="2600" b="1" dirty="0" err="1">
                <a:solidFill>
                  <a:srgbClr val="161616"/>
                </a:solidFill>
                <a:latin typeface="Arial"/>
              </a:rPr>
              <a:t>ses</a:t>
            </a:r>
            <a:r>
              <a:rPr lang="en-US" sz="2600" b="1" dirty="0">
                <a:solidFill>
                  <a:srgbClr val="161616"/>
                </a:solidFill>
                <a:latin typeface="Arial"/>
              </a:rPr>
              <a:t> Ateliers</a:t>
            </a:r>
          </a:p>
        </p:txBody>
      </p:sp>
      <p:sp>
        <p:nvSpPr>
          <p:cNvPr id="15" name="Rectangle 14">
            <a:extLst>
              <a:ext uri="{FF2B5EF4-FFF2-40B4-BE49-F238E27FC236}">
                <a16:creationId xmlns:a16="http://schemas.microsoft.com/office/drawing/2014/main" id="{A8A338D7-A144-6A7D-7B41-EE54D4AA59C5}"/>
              </a:ext>
            </a:extLst>
          </p:cNvPr>
          <p:cNvSpPr/>
          <p:nvPr/>
        </p:nvSpPr>
        <p:spPr>
          <a:xfrm>
            <a:off x="4264172" y="1027176"/>
            <a:ext cx="3234493" cy="365760"/>
          </a:xfrm>
          <a:prstGeom prst="rect">
            <a:avLst/>
          </a:prstGeom>
        </p:spPr>
        <p:txBody>
          <a:bodyPr wrap="none" lIns="0" tIns="0" rIns="0" bIns="0">
            <a:noAutofit/>
          </a:bodyPr>
          <a:lstStyle/>
          <a:p>
            <a:pPr indent="0" algn="ctr"/>
            <a:r>
              <a:rPr lang="fr-FR" sz="2800" b="1" i="1" dirty="0">
                <a:solidFill>
                  <a:srgbClr val="161616"/>
                </a:solidFill>
                <a:latin typeface="Arial"/>
              </a:rPr>
              <a:t>Quels outils ?</a:t>
            </a:r>
            <a:endParaRPr lang="en-US" sz="2800" b="1" i="1" dirty="0">
              <a:solidFill>
                <a:srgbClr val="161616"/>
              </a:solidFill>
              <a:latin typeface="Arial"/>
            </a:endParaRPr>
          </a:p>
        </p:txBody>
      </p:sp>
      <p:sp>
        <p:nvSpPr>
          <p:cNvPr id="3" name="ZoneTexte 2">
            <a:extLst>
              <a:ext uri="{FF2B5EF4-FFF2-40B4-BE49-F238E27FC236}">
                <a16:creationId xmlns:a16="http://schemas.microsoft.com/office/drawing/2014/main" id="{99302EEC-16B8-5191-A76C-7FA10362C610}"/>
              </a:ext>
            </a:extLst>
          </p:cNvPr>
          <p:cNvSpPr txBox="1"/>
          <p:nvPr/>
        </p:nvSpPr>
        <p:spPr>
          <a:xfrm>
            <a:off x="70103" y="1508760"/>
            <a:ext cx="10458560" cy="5563831"/>
          </a:xfrm>
          <a:prstGeom prst="rect">
            <a:avLst/>
          </a:prstGeom>
          <a:noFill/>
        </p:spPr>
        <p:txBody>
          <a:bodyPr wrap="square" rtlCol="0">
            <a:spAutoFit/>
          </a:bodyPr>
          <a:lstStyle/>
          <a:p>
            <a:pPr algn="just">
              <a:lnSpc>
                <a:spcPct val="150000"/>
              </a:lnSpc>
            </a:pPr>
            <a:endParaRPr lang="fr-FR" sz="2400" b="1" i="1" dirty="0">
              <a:latin typeface="Arial" panose="020B0604020202020204" pitchFamily="34" charset="0"/>
              <a:cs typeface="Arial" panose="020B0604020202020204" pitchFamily="34" charset="0"/>
            </a:endParaRPr>
          </a:p>
          <a:p>
            <a:pPr algn="just">
              <a:lnSpc>
                <a:spcPct val="150000"/>
              </a:lnSpc>
            </a:pPr>
            <a:endParaRPr lang="fr-FR" sz="2400" b="1" i="1" dirty="0">
              <a:latin typeface="Arial" panose="020B0604020202020204" pitchFamily="34" charset="0"/>
              <a:cs typeface="Arial" panose="020B0604020202020204" pitchFamily="34" charset="0"/>
            </a:endParaRPr>
          </a:p>
          <a:p>
            <a:pPr algn="just">
              <a:lnSpc>
                <a:spcPct val="150000"/>
              </a:lnSpc>
            </a:pPr>
            <a:endParaRPr lang="fr-FR" sz="2400" b="1" i="1" dirty="0">
              <a:latin typeface="Arial" panose="020B0604020202020204" pitchFamily="34" charset="0"/>
              <a:cs typeface="Arial" panose="020B0604020202020204" pitchFamily="34" charset="0"/>
            </a:endParaRPr>
          </a:p>
          <a:p>
            <a:pPr algn="just">
              <a:lnSpc>
                <a:spcPct val="150000"/>
              </a:lnSpc>
            </a:pPr>
            <a:endParaRPr lang="fr-FR" sz="2400" b="1" i="1" dirty="0">
              <a:latin typeface="Arial" panose="020B0604020202020204" pitchFamily="34" charset="0"/>
              <a:cs typeface="Arial" panose="020B0604020202020204" pitchFamily="34" charset="0"/>
            </a:endParaRPr>
          </a:p>
          <a:p>
            <a:pPr algn="just">
              <a:lnSpc>
                <a:spcPct val="150000"/>
              </a:lnSpc>
            </a:pPr>
            <a:endParaRPr lang="fr-FR" sz="2400" i="1" dirty="0">
              <a:latin typeface="Arial" panose="020B0604020202020204" pitchFamily="34" charset="0"/>
              <a:cs typeface="Arial" panose="020B0604020202020204" pitchFamily="34" charset="0"/>
            </a:endParaRPr>
          </a:p>
          <a:p>
            <a:pPr algn="just">
              <a:lnSpc>
                <a:spcPct val="150000"/>
              </a:lnSpc>
            </a:pPr>
            <a:endParaRPr lang="fr-FR" sz="2400" i="1" dirty="0">
              <a:latin typeface="Arial" panose="020B0604020202020204" pitchFamily="34" charset="0"/>
              <a:cs typeface="Arial" panose="020B0604020202020204" pitchFamily="34" charset="0"/>
            </a:endParaRPr>
          </a:p>
          <a:p>
            <a:pPr algn="just">
              <a:lnSpc>
                <a:spcPct val="150000"/>
              </a:lnSpc>
            </a:pPr>
            <a:endParaRPr lang="fr-FR" sz="2400" i="1" dirty="0">
              <a:latin typeface="Arial" panose="020B0604020202020204" pitchFamily="34" charset="0"/>
              <a:cs typeface="Arial" panose="020B0604020202020204" pitchFamily="34" charset="0"/>
            </a:endParaRPr>
          </a:p>
          <a:p>
            <a:pPr algn="just">
              <a:lnSpc>
                <a:spcPct val="150000"/>
              </a:lnSpc>
            </a:pPr>
            <a:endParaRPr lang="fr-FR" sz="2400" i="1" dirty="0">
              <a:latin typeface="Arial" panose="020B0604020202020204" pitchFamily="34" charset="0"/>
              <a:cs typeface="Arial" panose="020B0604020202020204" pitchFamily="34" charset="0"/>
            </a:endParaRPr>
          </a:p>
          <a:p>
            <a:pPr algn="just">
              <a:lnSpc>
                <a:spcPct val="150000"/>
              </a:lnSpc>
            </a:pPr>
            <a:endParaRPr lang="fr-FR" sz="2400" i="1" dirty="0">
              <a:latin typeface="Arial" panose="020B0604020202020204" pitchFamily="34" charset="0"/>
              <a:cs typeface="Arial" panose="020B0604020202020204" pitchFamily="34" charset="0"/>
            </a:endParaRPr>
          </a:p>
          <a:p>
            <a:pPr algn="ctr">
              <a:lnSpc>
                <a:spcPct val="150000"/>
              </a:lnSpc>
            </a:pPr>
            <a:r>
              <a:rPr lang="fr-FR" sz="2400" i="1" dirty="0">
                <a:latin typeface="Arial" panose="020B0604020202020204" pitchFamily="34" charset="0"/>
                <a:cs typeface="Arial" panose="020B0604020202020204" pitchFamily="34" charset="0"/>
              </a:rPr>
              <a:t>Une logique à 360 et en amélioration continue</a:t>
            </a:r>
            <a:endParaRPr lang="en-US" dirty="0">
              <a:latin typeface="Arial" panose="020B0604020202020204" pitchFamily="34" charset="0"/>
              <a:cs typeface="Arial" panose="020B0604020202020204" pitchFamily="34" charset="0"/>
            </a:endParaRPr>
          </a:p>
        </p:txBody>
      </p:sp>
      <p:graphicFrame>
        <p:nvGraphicFramePr>
          <p:cNvPr id="5" name="Diagramme 4">
            <a:extLst>
              <a:ext uri="{FF2B5EF4-FFF2-40B4-BE49-F238E27FC236}">
                <a16:creationId xmlns:a16="http://schemas.microsoft.com/office/drawing/2014/main" id="{92D8E0C3-467D-2F39-08CC-6CF75168FEA9}"/>
              </a:ext>
            </a:extLst>
          </p:cNvPr>
          <p:cNvGraphicFramePr/>
          <p:nvPr>
            <p:extLst>
              <p:ext uri="{D42A27DB-BD31-4B8C-83A1-F6EECF244321}">
                <p14:modId xmlns:p14="http://schemas.microsoft.com/office/powerpoint/2010/main" val="1746234735"/>
              </p:ext>
            </p:extLst>
          </p:nvPr>
        </p:nvGraphicFramePr>
        <p:xfrm>
          <a:off x="4012324" y="1528354"/>
          <a:ext cx="7990417" cy="513056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Image 7">
            <a:extLst>
              <a:ext uri="{FF2B5EF4-FFF2-40B4-BE49-F238E27FC236}">
                <a16:creationId xmlns:a16="http://schemas.microsoft.com/office/drawing/2014/main" id="{69F0D600-ED7C-BBBA-275D-7E72404841C1}"/>
              </a:ext>
            </a:extLst>
          </p:cNvPr>
          <p:cNvPicPr>
            <a:picLocks noChangeAspect="1"/>
          </p:cNvPicPr>
          <p:nvPr/>
        </p:nvPicPr>
        <p:blipFill>
          <a:blip r:embed="rId9"/>
          <a:stretch>
            <a:fillRect/>
          </a:stretch>
        </p:blipFill>
        <p:spPr>
          <a:xfrm>
            <a:off x="154851" y="2905264"/>
            <a:ext cx="5331550" cy="2528818"/>
          </a:xfrm>
          <a:prstGeom prst="rect">
            <a:avLst/>
          </a:prstGeom>
        </p:spPr>
      </p:pic>
    </p:spTree>
    <p:extLst>
      <p:ext uri="{BB962C8B-B14F-4D97-AF65-F5344CB8AC3E}">
        <p14:creationId xmlns:p14="http://schemas.microsoft.com/office/powerpoint/2010/main" val="2674300695"/>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3843A95-DE83-D83A-005F-B3C0CFBCE32A}"/>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235811AD-F9CC-A529-E520-AF584CB09960}"/>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A05825B0-248E-59D6-2B64-62B3254A414B}"/>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2. EBIOS Risk Manager – Socle de </a:t>
            </a:r>
            <a:r>
              <a:rPr lang="en-US" sz="2600" b="1" dirty="0" err="1">
                <a:solidFill>
                  <a:srgbClr val="161616"/>
                </a:solidFill>
                <a:latin typeface="Arial"/>
              </a:rPr>
              <a:t>sécurité</a:t>
            </a:r>
            <a:endParaRPr lang="en-US" sz="2600" b="1" dirty="0">
              <a:solidFill>
                <a:srgbClr val="161616"/>
              </a:solidFill>
              <a:latin typeface="Arial"/>
            </a:endParaRPr>
          </a:p>
        </p:txBody>
      </p:sp>
      <p:sp>
        <p:nvSpPr>
          <p:cNvPr id="15" name="Rectangle 14">
            <a:extLst>
              <a:ext uri="{FF2B5EF4-FFF2-40B4-BE49-F238E27FC236}">
                <a16:creationId xmlns:a16="http://schemas.microsoft.com/office/drawing/2014/main" id="{6BFFAD83-6571-6296-D892-A5472058DC1D}"/>
              </a:ext>
            </a:extLst>
          </p:cNvPr>
          <p:cNvSpPr/>
          <p:nvPr/>
        </p:nvSpPr>
        <p:spPr>
          <a:xfrm>
            <a:off x="3549797" y="1027176"/>
            <a:ext cx="3234493" cy="365760"/>
          </a:xfrm>
          <a:prstGeom prst="rect">
            <a:avLst/>
          </a:prstGeom>
        </p:spPr>
        <p:txBody>
          <a:bodyPr wrap="none" lIns="0" tIns="0" rIns="0" bIns="0">
            <a:noAutofit/>
          </a:bodyPr>
          <a:lstStyle/>
          <a:p>
            <a:pPr indent="0" algn="ctr"/>
            <a:r>
              <a:rPr lang="fr-FR" sz="2800" b="1" i="1" dirty="0">
                <a:solidFill>
                  <a:srgbClr val="161616"/>
                </a:solidFill>
                <a:latin typeface="Arial"/>
              </a:rPr>
              <a:t>L’hygiène d’abord, les risques ensuite</a:t>
            </a:r>
            <a:endParaRPr lang="en-US" sz="2800" b="1" i="1" dirty="0">
              <a:solidFill>
                <a:srgbClr val="161616"/>
              </a:solidFill>
              <a:latin typeface="Arial"/>
            </a:endParaRPr>
          </a:p>
        </p:txBody>
      </p:sp>
      <p:sp>
        <p:nvSpPr>
          <p:cNvPr id="3" name="ZoneTexte 2">
            <a:extLst>
              <a:ext uri="{FF2B5EF4-FFF2-40B4-BE49-F238E27FC236}">
                <a16:creationId xmlns:a16="http://schemas.microsoft.com/office/drawing/2014/main" id="{AC3EEFE8-AFAD-710F-114F-F546917A3816}"/>
              </a:ext>
            </a:extLst>
          </p:cNvPr>
          <p:cNvSpPr txBox="1"/>
          <p:nvPr/>
        </p:nvSpPr>
        <p:spPr>
          <a:xfrm>
            <a:off x="70104" y="1508760"/>
            <a:ext cx="5802060" cy="5401992"/>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fr-FR" dirty="0">
                <a:latin typeface="Arial" panose="020B0604020202020204" pitchFamily="34" charset="0"/>
                <a:cs typeface="Arial" panose="020B0604020202020204" pitchFamily="34" charset="0"/>
              </a:rPr>
              <a:t>Est-il réellement utile de mener une étude des risques pour finir par dire :</a:t>
            </a:r>
          </a:p>
          <a:p>
            <a:pPr marL="742950" lvl="1" indent="-285750" algn="just">
              <a:lnSpc>
                <a:spcPct val="150000"/>
              </a:lnSpc>
              <a:buFont typeface="Wingdings" panose="05000000000000000000" pitchFamily="2" charset="2"/>
              <a:buChar char="q"/>
            </a:pPr>
            <a:r>
              <a:rPr lang="fr-FR" sz="1600" dirty="0">
                <a:latin typeface="Arial" panose="020B0604020202020204" pitchFamily="34" charset="0"/>
                <a:cs typeface="Arial" panose="020B0604020202020204" pitchFamily="34" charset="0"/>
              </a:rPr>
              <a:t>Mettons à jour nos systèmes d’exploitation ou versions des </a:t>
            </a:r>
            <a:r>
              <a:rPr lang="fr-FR" sz="1600" dirty="0" err="1">
                <a:latin typeface="Arial" panose="020B0604020202020204" pitchFamily="34" charset="0"/>
                <a:cs typeface="Arial" panose="020B0604020202020204" pitchFamily="34" charset="0"/>
              </a:rPr>
              <a:t>firmwares</a:t>
            </a:r>
            <a:r>
              <a:rPr lang="fr-FR" sz="1600" dirty="0">
                <a:latin typeface="Arial" panose="020B0604020202020204" pitchFamily="34" charset="0"/>
                <a:cs typeface="Arial" panose="020B0604020202020204" pitchFamily="34" charset="0"/>
              </a:rPr>
              <a:t> de nos logiciels ?</a:t>
            </a:r>
          </a:p>
          <a:p>
            <a:pPr marL="742950" lvl="1" indent="-285750" algn="just">
              <a:lnSpc>
                <a:spcPct val="150000"/>
              </a:lnSpc>
              <a:buFont typeface="Wingdings" panose="05000000000000000000" pitchFamily="2" charset="2"/>
              <a:buChar char="q"/>
            </a:pPr>
            <a:r>
              <a:rPr lang="fr-FR" sz="1600" dirty="0">
                <a:latin typeface="Arial" panose="020B0604020202020204" pitchFamily="34" charset="0"/>
                <a:cs typeface="Arial" panose="020B0604020202020204" pitchFamily="34" charset="0"/>
              </a:rPr>
              <a:t>Il faudrait peut-être implémenter les mesures de sécurité que nous nous sommes engagés à appliquer selon la PSSI ?</a:t>
            </a:r>
          </a:p>
          <a:p>
            <a:pPr marL="285750" indent="-285750" algn="just">
              <a:lnSpc>
                <a:spcPct val="150000"/>
              </a:lnSpc>
              <a:buFont typeface="Wingdings" panose="05000000000000000000" pitchFamily="2" charset="2"/>
              <a:buChar char="q"/>
            </a:pPr>
            <a:r>
              <a:rPr lang="fr-FR" dirty="0">
                <a:latin typeface="Arial" panose="020B0604020202020204" pitchFamily="34" charset="0"/>
                <a:cs typeface="Arial" panose="020B0604020202020204" pitchFamily="34" charset="0"/>
              </a:rPr>
              <a:t>NON !!</a:t>
            </a:r>
          </a:p>
          <a:p>
            <a:pPr marL="285750" indent="-285750" algn="just">
              <a:lnSpc>
                <a:spcPct val="150000"/>
              </a:lnSpc>
              <a:buFont typeface="Wingdings" panose="05000000000000000000" pitchFamily="2" charset="2"/>
              <a:buChar char="q"/>
            </a:pPr>
            <a:r>
              <a:rPr lang="fr-FR" dirty="0">
                <a:latin typeface="Arial" panose="020B0604020202020204" pitchFamily="34" charset="0"/>
                <a:cs typeface="Arial" panose="020B0604020202020204" pitchFamily="34" charset="0"/>
              </a:rPr>
              <a:t>Soyons plus efficaces qu’exhaustifs</a:t>
            </a:r>
          </a:p>
          <a:p>
            <a:pPr marL="742950" lvl="1" indent="-285750" algn="just">
              <a:lnSpc>
                <a:spcPct val="150000"/>
              </a:lnSpc>
              <a:buFont typeface="Wingdings" panose="05000000000000000000" pitchFamily="2" charset="2"/>
              <a:buChar char="q"/>
            </a:pPr>
            <a:r>
              <a:rPr lang="fr-FR" sz="1600" dirty="0">
                <a:latin typeface="Arial" panose="020B0604020202020204" pitchFamily="34" charset="0"/>
                <a:cs typeface="Arial" panose="020B0604020202020204" pitchFamily="34" charset="0"/>
              </a:rPr>
              <a:t>Vérifions et appliquons le socle : il traitera la plupart des risques, y compris ceux d’origine accidentelle, et il améliorera notre conformité aux règlements/normes</a:t>
            </a:r>
          </a:p>
          <a:p>
            <a:pPr marL="742950" lvl="1" indent="-285750" algn="just">
              <a:lnSpc>
                <a:spcPct val="150000"/>
              </a:lnSpc>
              <a:buFont typeface="Wingdings" panose="05000000000000000000" pitchFamily="2" charset="2"/>
              <a:buChar char="q"/>
            </a:pPr>
            <a:r>
              <a:rPr lang="fr-FR" sz="1600" dirty="0">
                <a:latin typeface="Arial" panose="020B0604020202020204" pitchFamily="34" charset="0"/>
                <a:cs typeface="Arial" panose="020B0604020202020204" pitchFamily="34" charset="0"/>
              </a:rPr>
              <a:t>Puis intéressons-nous à ce qui nous est spécifique et aux attaques sophistiquées</a:t>
            </a:r>
          </a:p>
        </p:txBody>
      </p:sp>
      <p:sp>
        <p:nvSpPr>
          <p:cNvPr id="7" name="ZoneTexte 6">
            <a:extLst>
              <a:ext uri="{FF2B5EF4-FFF2-40B4-BE49-F238E27FC236}">
                <a16:creationId xmlns:a16="http://schemas.microsoft.com/office/drawing/2014/main" id="{C44787A1-05B8-411C-7225-57106DD7EB35}"/>
              </a:ext>
            </a:extLst>
          </p:cNvPr>
          <p:cNvSpPr txBox="1"/>
          <p:nvPr/>
        </p:nvSpPr>
        <p:spPr>
          <a:xfrm>
            <a:off x="1009380" y="6798308"/>
            <a:ext cx="8315325" cy="456535"/>
          </a:xfrm>
          <a:prstGeom prst="rect">
            <a:avLst/>
          </a:prstGeom>
          <a:noFill/>
        </p:spPr>
        <p:txBody>
          <a:bodyPr wrap="square">
            <a:spAutoFit/>
          </a:bodyPr>
          <a:lstStyle/>
          <a:p>
            <a:pPr lvl="1" algn="just">
              <a:lnSpc>
                <a:spcPct val="150000"/>
              </a:lnSpc>
            </a:pPr>
            <a:r>
              <a:rPr lang="en-US" b="1" i="1" dirty="0">
                <a:latin typeface="Arial" panose="020B0604020202020204" pitchFamily="34" charset="0"/>
                <a:cs typeface="Arial" panose="020B0604020202020204" pitchFamily="34" charset="0"/>
              </a:rPr>
              <a:t>On </a:t>
            </a:r>
            <a:r>
              <a:rPr lang="en-US" b="1" i="1" dirty="0" err="1">
                <a:latin typeface="Arial" panose="020B0604020202020204" pitchFamily="34" charset="0"/>
                <a:cs typeface="Arial" panose="020B0604020202020204" pitchFamily="34" charset="0"/>
              </a:rPr>
              <a:t>n’étudie</a:t>
            </a:r>
            <a:r>
              <a:rPr lang="en-US" b="1" i="1" dirty="0">
                <a:latin typeface="Arial" panose="020B0604020202020204" pitchFamily="34" charset="0"/>
                <a:cs typeface="Arial" panose="020B0604020202020204" pitchFamily="34" charset="0"/>
              </a:rPr>
              <a:t> sous </a:t>
            </a:r>
            <a:r>
              <a:rPr lang="en-US" b="1" i="1" dirty="0" err="1">
                <a:latin typeface="Arial" panose="020B0604020202020204" pitchFamily="34" charset="0"/>
                <a:cs typeface="Arial" panose="020B0604020202020204" pitchFamily="34" charset="0"/>
              </a:rPr>
              <a:t>forme</a:t>
            </a:r>
            <a:r>
              <a:rPr lang="en-US" b="1" i="1" dirty="0">
                <a:latin typeface="Arial" panose="020B0604020202020204" pitchFamily="34" charset="0"/>
                <a:cs typeface="Arial" panose="020B0604020202020204" pitchFamily="34" charset="0"/>
              </a:rPr>
              <a:t> de </a:t>
            </a:r>
            <a:r>
              <a:rPr lang="en-US" b="1" i="1" dirty="0" err="1">
                <a:latin typeface="Arial" panose="020B0604020202020204" pitchFamily="34" charset="0"/>
                <a:cs typeface="Arial" panose="020B0604020202020204" pitchFamily="34" charset="0"/>
              </a:rPr>
              <a:t>risques</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que</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ce</a:t>
            </a:r>
            <a:r>
              <a:rPr lang="en-US" b="1" i="1" dirty="0">
                <a:latin typeface="Arial" panose="020B0604020202020204" pitchFamily="34" charset="0"/>
                <a:cs typeface="Arial" panose="020B0604020202020204" pitchFamily="34" charset="0"/>
              </a:rPr>
              <a:t> qui </a:t>
            </a:r>
            <a:r>
              <a:rPr lang="en-US" b="1" i="1" dirty="0" err="1">
                <a:latin typeface="Arial" panose="020B0604020202020204" pitchFamily="34" charset="0"/>
                <a:cs typeface="Arial" panose="020B0604020202020204" pitchFamily="34" charset="0"/>
              </a:rPr>
              <a:t>est</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ciblé</a:t>
            </a:r>
            <a:r>
              <a:rPr lang="en-US" b="1" i="1" dirty="0">
                <a:latin typeface="Arial" panose="020B0604020202020204" pitchFamily="34" charset="0"/>
                <a:cs typeface="Arial" panose="020B0604020202020204" pitchFamily="34" charset="0"/>
              </a:rPr>
              <a:t>/</a:t>
            </a:r>
            <a:r>
              <a:rPr lang="en-US" b="1" i="1" dirty="0" err="1">
                <a:latin typeface="Arial" panose="020B0604020202020204" pitchFamily="34" charset="0"/>
                <a:cs typeface="Arial" panose="020B0604020202020204" pitchFamily="34" charset="0"/>
              </a:rPr>
              <a:t>spécifique</a:t>
            </a:r>
            <a:endParaRPr lang="en-US" b="1" i="1" dirty="0">
              <a:latin typeface="Arial" panose="020B0604020202020204" pitchFamily="34" charset="0"/>
              <a:cs typeface="Arial" panose="020B0604020202020204" pitchFamily="34" charset="0"/>
            </a:endParaRPr>
          </a:p>
        </p:txBody>
      </p:sp>
      <p:pic>
        <p:nvPicPr>
          <p:cNvPr id="9" name="Image 8">
            <a:extLst>
              <a:ext uri="{FF2B5EF4-FFF2-40B4-BE49-F238E27FC236}">
                <a16:creationId xmlns:a16="http://schemas.microsoft.com/office/drawing/2014/main" id="{2E8EF9C6-6577-DEF6-C720-B47FCEDCF865}"/>
              </a:ext>
            </a:extLst>
          </p:cNvPr>
          <p:cNvPicPr>
            <a:picLocks noChangeAspect="1"/>
          </p:cNvPicPr>
          <p:nvPr/>
        </p:nvPicPr>
        <p:blipFill>
          <a:blip r:embed="rId4"/>
          <a:stretch>
            <a:fillRect/>
          </a:stretch>
        </p:blipFill>
        <p:spPr>
          <a:xfrm>
            <a:off x="6110649" y="2159143"/>
            <a:ext cx="4198830" cy="3913045"/>
          </a:xfrm>
          <a:prstGeom prst="rect">
            <a:avLst/>
          </a:prstGeom>
        </p:spPr>
      </p:pic>
    </p:spTree>
    <p:extLst>
      <p:ext uri="{BB962C8B-B14F-4D97-AF65-F5344CB8AC3E}">
        <p14:creationId xmlns:p14="http://schemas.microsoft.com/office/powerpoint/2010/main" val="2921714605"/>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F65F8A1-B8F2-4BF2-4FEC-04BB6284AAA7}"/>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5F2B703D-A35E-C79B-B313-A977D09F16C5}"/>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0E8BDD74-9B59-1C25-0133-0BC52A970B5B}"/>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2. EBIOS Risk Manager – Socle de </a:t>
            </a:r>
            <a:r>
              <a:rPr lang="en-US" sz="2600" b="1" dirty="0" err="1">
                <a:solidFill>
                  <a:srgbClr val="161616"/>
                </a:solidFill>
                <a:latin typeface="Arial"/>
              </a:rPr>
              <a:t>sécurité</a:t>
            </a:r>
            <a:endParaRPr lang="en-US" sz="2600" b="1" dirty="0">
              <a:solidFill>
                <a:srgbClr val="161616"/>
              </a:solidFill>
              <a:latin typeface="Arial"/>
            </a:endParaRPr>
          </a:p>
        </p:txBody>
      </p:sp>
      <p:sp>
        <p:nvSpPr>
          <p:cNvPr id="15" name="Rectangle 14">
            <a:extLst>
              <a:ext uri="{FF2B5EF4-FFF2-40B4-BE49-F238E27FC236}">
                <a16:creationId xmlns:a16="http://schemas.microsoft.com/office/drawing/2014/main" id="{E85748FC-1656-D417-D0CE-B40B724E1352}"/>
              </a:ext>
            </a:extLst>
          </p:cNvPr>
          <p:cNvSpPr/>
          <p:nvPr/>
        </p:nvSpPr>
        <p:spPr>
          <a:xfrm>
            <a:off x="3549797" y="1027176"/>
            <a:ext cx="3234493" cy="365760"/>
          </a:xfrm>
          <a:prstGeom prst="rect">
            <a:avLst/>
          </a:prstGeom>
        </p:spPr>
        <p:txBody>
          <a:bodyPr wrap="none" lIns="0" tIns="0" rIns="0" bIns="0">
            <a:noAutofit/>
          </a:bodyPr>
          <a:lstStyle/>
          <a:p>
            <a:pPr indent="0" algn="ctr"/>
            <a:r>
              <a:rPr lang="fr-FR" sz="2800" b="1" i="1" dirty="0">
                <a:solidFill>
                  <a:srgbClr val="161616"/>
                </a:solidFill>
                <a:latin typeface="Arial"/>
              </a:rPr>
              <a:t>L’hygiène d’abord, les risques ensuite</a:t>
            </a:r>
            <a:endParaRPr lang="en-US" sz="2800" b="1" i="1" dirty="0">
              <a:solidFill>
                <a:srgbClr val="161616"/>
              </a:solidFill>
              <a:latin typeface="Arial"/>
            </a:endParaRPr>
          </a:p>
        </p:txBody>
      </p:sp>
      <p:sp>
        <p:nvSpPr>
          <p:cNvPr id="3" name="ZoneTexte 2">
            <a:extLst>
              <a:ext uri="{FF2B5EF4-FFF2-40B4-BE49-F238E27FC236}">
                <a16:creationId xmlns:a16="http://schemas.microsoft.com/office/drawing/2014/main" id="{A3587201-E6FD-4481-29E6-EC1ED172B48C}"/>
              </a:ext>
            </a:extLst>
          </p:cNvPr>
          <p:cNvSpPr txBox="1"/>
          <p:nvPr/>
        </p:nvSpPr>
        <p:spPr>
          <a:xfrm>
            <a:off x="6529388" y="2306662"/>
            <a:ext cx="4111179" cy="3365024"/>
          </a:xfrm>
          <a:prstGeom prst="rect">
            <a:avLst/>
          </a:prstGeom>
          <a:noFill/>
        </p:spPr>
        <p:txBody>
          <a:bodyPr wrap="square" rtlCol="0">
            <a:spAutoFit/>
          </a:bodyPr>
          <a:lstStyle/>
          <a:p>
            <a:pPr algn="just">
              <a:lnSpc>
                <a:spcPct val="150000"/>
              </a:lnSpc>
            </a:pPr>
            <a:r>
              <a:rPr lang="fr-FR" dirty="0">
                <a:latin typeface="Arial" panose="020B0604020202020204" pitchFamily="34" charset="0"/>
                <a:cs typeface="Arial" panose="020B0604020202020204" pitchFamily="34" charset="0"/>
              </a:rPr>
              <a:t>2. On gère les risques liés aux menaces particulièrement ciblées ou sophistiquées</a:t>
            </a:r>
          </a:p>
          <a:p>
            <a:pPr algn="just">
              <a:lnSpc>
                <a:spcPct val="150000"/>
              </a:lnSpc>
            </a:pPr>
            <a:endParaRPr lang="fr-FR" dirty="0">
              <a:latin typeface="Arial" panose="020B0604020202020204" pitchFamily="34" charset="0"/>
              <a:cs typeface="Arial" panose="020B0604020202020204" pitchFamily="34" charset="0"/>
            </a:endParaRPr>
          </a:p>
          <a:p>
            <a:pPr algn="just">
              <a:lnSpc>
                <a:spcPct val="150000"/>
              </a:lnSpc>
            </a:pPr>
            <a:endParaRPr lang="fr-FR" dirty="0">
              <a:latin typeface="Arial" panose="020B0604020202020204" pitchFamily="34" charset="0"/>
              <a:cs typeface="Arial" panose="020B0604020202020204" pitchFamily="34" charset="0"/>
            </a:endParaRPr>
          </a:p>
          <a:p>
            <a:pPr algn="just">
              <a:lnSpc>
                <a:spcPct val="150000"/>
              </a:lnSpc>
            </a:pPr>
            <a:endParaRPr lang="fr-FR" dirty="0">
              <a:latin typeface="Arial" panose="020B0604020202020204" pitchFamily="34" charset="0"/>
              <a:cs typeface="Arial" panose="020B0604020202020204" pitchFamily="34" charset="0"/>
            </a:endParaRPr>
          </a:p>
          <a:p>
            <a:pPr algn="just">
              <a:lnSpc>
                <a:spcPct val="150000"/>
              </a:lnSpc>
            </a:pPr>
            <a:r>
              <a:rPr lang="fr-FR" dirty="0">
                <a:latin typeface="Arial" panose="020B0604020202020204" pitchFamily="34" charset="0"/>
                <a:cs typeface="Arial" panose="020B0604020202020204" pitchFamily="34" charset="0"/>
              </a:rPr>
              <a:t>1. Un socle solide : on applique les mesures de base et obligatoires </a:t>
            </a:r>
            <a:endParaRPr lang="fr-FR" sz="1600" dirty="0">
              <a:latin typeface="Arial" panose="020B0604020202020204" pitchFamily="34" charset="0"/>
              <a:cs typeface="Arial" panose="020B0604020202020204" pitchFamily="34" charset="0"/>
            </a:endParaRPr>
          </a:p>
        </p:txBody>
      </p:sp>
      <p:sp>
        <p:nvSpPr>
          <p:cNvPr id="7" name="ZoneTexte 6">
            <a:extLst>
              <a:ext uri="{FF2B5EF4-FFF2-40B4-BE49-F238E27FC236}">
                <a16:creationId xmlns:a16="http://schemas.microsoft.com/office/drawing/2014/main" id="{42744962-EA18-DF54-AAF0-9B078B663E80}"/>
              </a:ext>
            </a:extLst>
          </p:cNvPr>
          <p:cNvSpPr txBox="1"/>
          <p:nvPr/>
        </p:nvSpPr>
        <p:spPr>
          <a:xfrm>
            <a:off x="1009380" y="6798308"/>
            <a:ext cx="8315325" cy="496996"/>
          </a:xfrm>
          <a:prstGeom prst="rect">
            <a:avLst/>
          </a:prstGeom>
          <a:noFill/>
        </p:spPr>
        <p:txBody>
          <a:bodyPr wrap="square">
            <a:spAutoFit/>
          </a:bodyPr>
          <a:lstStyle/>
          <a:p>
            <a:pPr lvl="1" algn="ctr">
              <a:lnSpc>
                <a:spcPct val="150000"/>
              </a:lnSpc>
            </a:pPr>
            <a:r>
              <a:rPr lang="en-US" sz="2000" b="1" i="1" dirty="0">
                <a:latin typeface="Arial" panose="020B0604020202020204" pitchFamily="34" charset="0"/>
                <a:cs typeface="Arial" panose="020B0604020202020204" pitchFamily="34" charset="0"/>
              </a:rPr>
              <a:t>La </a:t>
            </a:r>
            <a:r>
              <a:rPr lang="en-US" sz="2000" b="1" i="1" dirty="0" err="1">
                <a:latin typeface="Arial" panose="020B0604020202020204" pitchFamily="34" charset="0"/>
                <a:cs typeface="Arial" panose="020B0604020202020204" pitchFamily="34" charset="0"/>
              </a:rPr>
              <a:t>pyramide</a:t>
            </a:r>
            <a:r>
              <a:rPr lang="en-US" sz="2000" b="1" i="1" dirty="0">
                <a:latin typeface="Arial" panose="020B0604020202020204" pitchFamily="34" charset="0"/>
                <a:cs typeface="Arial" panose="020B0604020202020204" pitchFamily="34" charset="0"/>
              </a:rPr>
              <a:t> </a:t>
            </a:r>
            <a:r>
              <a:rPr lang="en-US" sz="2000" b="1" i="1" dirty="0" err="1">
                <a:latin typeface="Arial" panose="020B0604020202020204" pitchFamily="34" charset="0"/>
                <a:cs typeface="Arial" panose="020B0604020202020204" pitchFamily="34" charset="0"/>
              </a:rPr>
              <a:t>d’EBIOS</a:t>
            </a:r>
            <a:r>
              <a:rPr lang="en-US" sz="2000" b="1" i="1" dirty="0">
                <a:latin typeface="Arial" panose="020B0604020202020204" pitchFamily="34" charset="0"/>
                <a:cs typeface="Arial" panose="020B0604020202020204" pitchFamily="34" charset="0"/>
              </a:rPr>
              <a:t> Risk Manager</a:t>
            </a:r>
          </a:p>
        </p:txBody>
      </p:sp>
      <p:pic>
        <p:nvPicPr>
          <p:cNvPr id="6" name="Image 5">
            <a:extLst>
              <a:ext uri="{FF2B5EF4-FFF2-40B4-BE49-F238E27FC236}">
                <a16:creationId xmlns:a16="http://schemas.microsoft.com/office/drawing/2014/main" id="{1B5EF73D-E601-9DBE-750C-D4F19C5ED3BB}"/>
              </a:ext>
            </a:extLst>
          </p:cNvPr>
          <p:cNvPicPr>
            <a:picLocks noChangeAspect="1"/>
          </p:cNvPicPr>
          <p:nvPr/>
        </p:nvPicPr>
        <p:blipFill>
          <a:blip r:embed="rId4"/>
          <a:stretch>
            <a:fillRect/>
          </a:stretch>
        </p:blipFill>
        <p:spPr>
          <a:xfrm>
            <a:off x="0" y="1690503"/>
            <a:ext cx="6387906" cy="5011856"/>
          </a:xfrm>
          <a:prstGeom prst="rect">
            <a:avLst/>
          </a:prstGeom>
        </p:spPr>
      </p:pic>
    </p:spTree>
    <p:extLst>
      <p:ext uri="{BB962C8B-B14F-4D97-AF65-F5344CB8AC3E}">
        <p14:creationId xmlns:p14="http://schemas.microsoft.com/office/powerpoint/2010/main" val="1304175587"/>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77E6F35-929B-9CD1-7D28-A9BAD8C67DB5}"/>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99EEB71D-35F2-5B24-16AF-60875C560F29}"/>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B93A3D19-914F-3D8D-4345-0B10D79C5002}"/>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2. EBIOS Risk Manager - Toolbox</a:t>
            </a:r>
          </a:p>
        </p:txBody>
      </p:sp>
      <p:sp>
        <p:nvSpPr>
          <p:cNvPr id="15" name="Rectangle 14">
            <a:extLst>
              <a:ext uri="{FF2B5EF4-FFF2-40B4-BE49-F238E27FC236}">
                <a16:creationId xmlns:a16="http://schemas.microsoft.com/office/drawing/2014/main" id="{F0BDC86B-0676-1498-B702-A9F4FA5B9F04}"/>
              </a:ext>
            </a:extLst>
          </p:cNvPr>
          <p:cNvSpPr/>
          <p:nvPr/>
        </p:nvSpPr>
        <p:spPr>
          <a:xfrm>
            <a:off x="3549797" y="1027176"/>
            <a:ext cx="3234493" cy="365760"/>
          </a:xfrm>
          <a:prstGeom prst="rect">
            <a:avLst/>
          </a:prstGeom>
        </p:spPr>
        <p:txBody>
          <a:bodyPr wrap="none" lIns="0" tIns="0" rIns="0" bIns="0">
            <a:noAutofit/>
          </a:bodyPr>
          <a:lstStyle/>
          <a:p>
            <a:pPr indent="0" algn="ctr"/>
            <a:r>
              <a:rPr lang="fr-FR" sz="2400" b="1" i="1" dirty="0">
                <a:solidFill>
                  <a:srgbClr val="161616"/>
                </a:solidFill>
                <a:latin typeface="Arial"/>
              </a:rPr>
              <a:t>Il faut choisir ses outils et la manière de les utiliser selon l’objectif</a:t>
            </a:r>
            <a:endParaRPr lang="en-US" sz="2400" b="1" i="1" dirty="0">
              <a:solidFill>
                <a:srgbClr val="161616"/>
              </a:solidFill>
              <a:latin typeface="Arial"/>
            </a:endParaRPr>
          </a:p>
        </p:txBody>
      </p:sp>
      <p:sp>
        <p:nvSpPr>
          <p:cNvPr id="3" name="ZoneTexte 2">
            <a:extLst>
              <a:ext uri="{FF2B5EF4-FFF2-40B4-BE49-F238E27FC236}">
                <a16:creationId xmlns:a16="http://schemas.microsoft.com/office/drawing/2014/main" id="{ED05CC0C-795E-AC55-8B75-EA6D82B9FBB4}"/>
              </a:ext>
            </a:extLst>
          </p:cNvPr>
          <p:cNvSpPr txBox="1"/>
          <p:nvPr/>
        </p:nvSpPr>
        <p:spPr>
          <a:xfrm>
            <a:off x="4605136" y="2046501"/>
            <a:ext cx="5924752" cy="483664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fr-FR" sz="2000" dirty="0">
                <a:latin typeface="Arial" panose="020B0604020202020204" pitchFamily="34" charset="0"/>
                <a:cs typeface="Arial" panose="020B0604020202020204" pitchFamily="34" charset="0"/>
              </a:rPr>
              <a:t>La souplesse de méthode permet de s’adapter</a:t>
            </a:r>
          </a:p>
          <a:p>
            <a:pPr marL="742950" lvl="1" indent="-285750" algn="just">
              <a:lnSpc>
                <a:spcPct val="150000"/>
              </a:lnSpc>
              <a:buFont typeface="Arial" panose="020B0604020202020204" pitchFamily="34" charset="0"/>
              <a:buChar char="•"/>
            </a:pPr>
            <a:r>
              <a:rPr lang="fr-FR" dirty="0">
                <a:latin typeface="Arial" panose="020B0604020202020204" pitchFamily="34" charset="0"/>
                <a:cs typeface="Arial" panose="020B0604020202020204" pitchFamily="34" charset="0"/>
              </a:rPr>
              <a:t>Objectifs de l’étude (Un CDC, un plan d’action, une PSSI)</a:t>
            </a:r>
          </a:p>
          <a:p>
            <a:pPr marL="742950" lvl="1" indent="-285750" algn="just">
              <a:lnSpc>
                <a:spcPct val="150000"/>
              </a:lnSpc>
              <a:buFont typeface="Arial" panose="020B0604020202020204" pitchFamily="34" charset="0"/>
              <a:buChar char="•"/>
            </a:pPr>
            <a:r>
              <a:rPr lang="fr-FR" dirty="0">
                <a:latin typeface="Arial" panose="020B0604020202020204" pitchFamily="34" charset="0"/>
                <a:cs typeface="Arial" panose="020B0604020202020204" pitchFamily="34" charset="0"/>
              </a:rPr>
              <a:t>Taille et complexité de l’objet de l’étude (Un organisme, un système en particulier comme HELIOS, des composants spécifiques)</a:t>
            </a:r>
          </a:p>
          <a:p>
            <a:pPr marL="285750" indent="-285750" algn="just">
              <a:lnSpc>
                <a:spcPct val="150000"/>
              </a:lnSpc>
              <a:buFont typeface="Arial" panose="020B0604020202020204" pitchFamily="34" charset="0"/>
              <a:buChar char="•"/>
            </a:pPr>
            <a:r>
              <a:rPr lang="fr-FR" dirty="0">
                <a:latin typeface="Arial" panose="020B0604020202020204" pitchFamily="34" charset="0"/>
                <a:cs typeface="Arial" panose="020B0604020202020204" pitchFamily="34" charset="0"/>
              </a:rPr>
              <a:t>Pour ce faire, il faut choisir et ajuster ses outils</a:t>
            </a:r>
          </a:p>
          <a:p>
            <a:pPr marL="742950" lvl="1" indent="-285750" algn="just">
              <a:lnSpc>
                <a:spcPct val="150000"/>
              </a:lnSpc>
              <a:buFont typeface="Arial" panose="020B0604020202020204" pitchFamily="34" charset="0"/>
              <a:buChar char="•"/>
            </a:pPr>
            <a:r>
              <a:rPr lang="fr-FR" dirty="0">
                <a:latin typeface="Arial" panose="020B0604020202020204" pitchFamily="34" charset="0"/>
                <a:cs typeface="Arial" panose="020B0604020202020204" pitchFamily="34" charset="0"/>
              </a:rPr>
              <a:t>La terminologie</a:t>
            </a:r>
          </a:p>
          <a:p>
            <a:pPr marL="742950" lvl="1" indent="-285750" algn="just">
              <a:lnSpc>
                <a:spcPct val="150000"/>
              </a:lnSpc>
              <a:buFont typeface="Arial" panose="020B0604020202020204" pitchFamily="34" charset="0"/>
              <a:buChar char="•"/>
            </a:pPr>
            <a:r>
              <a:rPr lang="fr-FR" dirty="0">
                <a:latin typeface="Arial" panose="020B0604020202020204" pitchFamily="34" charset="0"/>
                <a:cs typeface="Arial" panose="020B0604020202020204" pitchFamily="34" charset="0"/>
              </a:rPr>
              <a:t>Les ateliers à mener</a:t>
            </a:r>
          </a:p>
          <a:p>
            <a:pPr marL="742950" lvl="1" indent="-285750" algn="just">
              <a:lnSpc>
                <a:spcPct val="150000"/>
              </a:lnSpc>
              <a:buFont typeface="Arial" panose="020B0604020202020204" pitchFamily="34" charset="0"/>
              <a:buChar char="•"/>
            </a:pPr>
            <a:r>
              <a:rPr lang="fr-FR" dirty="0">
                <a:latin typeface="Arial" panose="020B0604020202020204" pitchFamily="34" charset="0"/>
                <a:cs typeface="Arial" panose="020B0604020202020204" pitchFamily="34" charset="0"/>
              </a:rPr>
              <a:t>Les techniques et leur séquencement</a:t>
            </a:r>
          </a:p>
          <a:p>
            <a:pPr marL="742950" lvl="1" indent="-285750" algn="just">
              <a:lnSpc>
                <a:spcPct val="150000"/>
              </a:lnSpc>
              <a:buFont typeface="Arial" panose="020B0604020202020204" pitchFamily="34" charset="0"/>
              <a:buChar char="•"/>
            </a:pPr>
            <a:r>
              <a:rPr lang="fr-FR" dirty="0">
                <a:latin typeface="Arial" panose="020B0604020202020204" pitchFamily="34" charset="0"/>
                <a:cs typeface="Arial" panose="020B0604020202020204" pitchFamily="34" charset="0"/>
              </a:rPr>
              <a:t>Les bases de connaissances</a:t>
            </a:r>
          </a:p>
        </p:txBody>
      </p:sp>
      <p:pic>
        <p:nvPicPr>
          <p:cNvPr id="8" name="Image 7">
            <a:extLst>
              <a:ext uri="{FF2B5EF4-FFF2-40B4-BE49-F238E27FC236}">
                <a16:creationId xmlns:a16="http://schemas.microsoft.com/office/drawing/2014/main" id="{81B758C0-CB62-20F9-81B7-338757CAFB43}"/>
              </a:ext>
            </a:extLst>
          </p:cNvPr>
          <p:cNvPicPr>
            <a:picLocks noChangeAspect="1"/>
          </p:cNvPicPr>
          <p:nvPr/>
        </p:nvPicPr>
        <p:blipFill>
          <a:blip r:embed="rId4"/>
          <a:stretch>
            <a:fillRect/>
          </a:stretch>
        </p:blipFill>
        <p:spPr>
          <a:xfrm>
            <a:off x="48768" y="1825078"/>
            <a:ext cx="4556368" cy="4491646"/>
          </a:xfrm>
          <a:prstGeom prst="rect">
            <a:avLst/>
          </a:prstGeom>
        </p:spPr>
      </p:pic>
    </p:spTree>
    <p:extLst>
      <p:ext uri="{BB962C8B-B14F-4D97-AF65-F5344CB8AC3E}">
        <p14:creationId xmlns:p14="http://schemas.microsoft.com/office/powerpoint/2010/main" val="299983081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2403BB1-DC39-2208-2E29-53548D016156}"/>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468CBCC9-C088-A392-FF2B-4B7D7EC0A68B}"/>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7DBC72D4-DA80-E3FE-6AE5-4B93C8A65D97}"/>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2. EBIOS Risk Manager – Concepts du </a:t>
            </a:r>
            <a:r>
              <a:rPr lang="en-US" sz="2600" b="1" dirty="0" err="1">
                <a:solidFill>
                  <a:srgbClr val="161616"/>
                </a:solidFill>
                <a:latin typeface="Arial"/>
              </a:rPr>
              <a:t>risque</a:t>
            </a:r>
            <a:endParaRPr lang="en-US" sz="2600" b="1" dirty="0">
              <a:solidFill>
                <a:srgbClr val="161616"/>
              </a:solidFill>
              <a:latin typeface="Arial"/>
            </a:endParaRPr>
          </a:p>
        </p:txBody>
      </p:sp>
      <p:sp>
        <p:nvSpPr>
          <p:cNvPr id="15" name="Rectangle 14">
            <a:extLst>
              <a:ext uri="{FF2B5EF4-FFF2-40B4-BE49-F238E27FC236}">
                <a16:creationId xmlns:a16="http://schemas.microsoft.com/office/drawing/2014/main" id="{83961F8A-87A1-586A-9261-2946198301BD}"/>
              </a:ext>
            </a:extLst>
          </p:cNvPr>
          <p:cNvSpPr/>
          <p:nvPr/>
        </p:nvSpPr>
        <p:spPr>
          <a:xfrm>
            <a:off x="3549797" y="1027176"/>
            <a:ext cx="3234493" cy="365760"/>
          </a:xfrm>
          <a:prstGeom prst="rect">
            <a:avLst/>
          </a:prstGeom>
        </p:spPr>
        <p:txBody>
          <a:bodyPr wrap="none" lIns="0" tIns="0" rIns="0" bIns="0">
            <a:noAutofit/>
          </a:bodyPr>
          <a:lstStyle/>
          <a:p>
            <a:pPr indent="0" algn="ctr"/>
            <a:endParaRPr lang="en-US" sz="2400" b="1" i="1" dirty="0">
              <a:solidFill>
                <a:srgbClr val="161616"/>
              </a:solidFill>
              <a:latin typeface="Arial"/>
            </a:endParaRPr>
          </a:p>
        </p:txBody>
      </p:sp>
      <p:sp>
        <p:nvSpPr>
          <p:cNvPr id="5" name="Ellipse 4">
            <a:extLst>
              <a:ext uri="{FF2B5EF4-FFF2-40B4-BE49-F238E27FC236}">
                <a16:creationId xmlns:a16="http://schemas.microsoft.com/office/drawing/2014/main" id="{419DCEFE-3522-F5D6-8EE7-B283EF2FB430}"/>
              </a:ext>
            </a:extLst>
          </p:cNvPr>
          <p:cNvSpPr/>
          <p:nvPr/>
        </p:nvSpPr>
        <p:spPr>
          <a:xfrm>
            <a:off x="171445" y="2871787"/>
            <a:ext cx="1800000" cy="1800000"/>
          </a:xfrm>
          <a:prstGeom prst="ellipse">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b="1" i="1" dirty="0">
                <a:solidFill>
                  <a:srgbClr val="002060"/>
                </a:solidFill>
                <a:latin typeface="Arial" panose="020B0604020202020204" pitchFamily="34" charset="0"/>
                <a:cs typeface="Arial" panose="020B0604020202020204" pitchFamily="34" charset="0"/>
              </a:rPr>
              <a:t>Valeur Métier</a:t>
            </a:r>
            <a:endParaRPr lang="en-US" sz="2000" b="1" i="1" dirty="0">
              <a:solidFill>
                <a:srgbClr val="002060"/>
              </a:solidFill>
              <a:latin typeface="Arial" panose="020B0604020202020204" pitchFamily="34" charset="0"/>
              <a:cs typeface="Arial" panose="020B0604020202020204" pitchFamily="34" charset="0"/>
            </a:endParaRPr>
          </a:p>
        </p:txBody>
      </p:sp>
      <p:sp>
        <p:nvSpPr>
          <p:cNvPr id="10" name="Ellipse 9">
            <a:extLst>
              <a:ext uri="{FF2B5EF4-FFF2-40B4-BE49-F238E27FC236}">
                <a16:creationId xmlns:a16="http://schemas.microsoft.com/office/drawing/2014/main" id="{81EABDEB-DC18-3B01-E647-334159C4D3FC}"/>
              </a:ext>
            </a:extLst>
          </p:cNvPr>
          <p:cNvSpPr/>
          <p:nvPr/>
        </p:nvSpPr>
        <p:spPr>
          <a:xfrm>
            <a:off x="2881325" y="2838445"/>
            <a:ext cx="1800000" cy="1800000"/>
          </a:xfrm>
          <a:prstGeom prst="ellipse">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i="1" dirty="0">
                <a:solidFill>
                  <a:srgbClr val="002060"/>
                </a:solidFill>
                <a:latin typeface="Arial" panose="020B0604020202020204" pitchFamily="34" charset="0"/>
                <a:cs typeface="Arial" panose="020B0604020202020204" pitchFamily="34" charset="0"/>
              </a:rPr>
              <a:t>Critère</a:t>
            </a:r>
            <a:endParaRPr lang="en-US" b="1" i="1" dirty="0">
              <a:solidFill>
                <a:srgbClr val="002060"/>
              </a:solidFill>
              <a:latin typeface="Arial" panose="020B0604020202020204" pitchFamily="34" charset="0"/>
              <a:cs typeface="Arial" panose="020B0604020202020204" pitchFamily="34" charset="0"/>
            </a:endParaRPr>
          </a:p>
        </p:txBody>
      </p:sp>
      <p:sp>
        <p:nvSpPr>
          <p:cNvPr id="11" name="Ellipse 10">
            <a:extLst>
              <a:ext uri="{FF2B5EF4-FFF2-40B4-BE49-F238E27FC236}">
                <a16:creationId xmlns:a16="http://schemas.microsoft.com/office/drawing/2014/main" id="{8E3D79C6-26CD-8132-A11F-5DEEE33123C9}"/>
              </a:ext>
            </a:extLst>
          </p:cNvPr>
          <p:cNvSpPr/>
          <p:nvPr/>
        </p:nvSpPr>
        <p:spPr>
          <a:xfrm>
            <a:off x="5700727" y="2871787"/>
            <a:ext cx="1800000" cy="1800000"/>
          </a:xfrm>
          <a:prstGeom prst="ellipse">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i="1" dirty="0">
                <a:solidFill>
                  <a:srgbClr val="002060"/>
                </a:solidFill>
                <a:latin typeface="Arial" panose="020B0604020202020204" pitchFamily="34" charset="0"/>
                <a:cs typeface="Arial" panose="020B0604020202020204" pitchFamily="34" charset="0"/>
              </a:rPr>
              <a:t>Impact</a:t>
            </a:r>
            <a:endParaRPr lang="en-US" b="1" i="1" dirty="0">
              <a:solidFill>
                <a:srgbClr val="002060"/>
              </a:solidFill>
              <a:latin typeface="Arial" panose="020B0604020202020204" pitchFamily="34" charset="0"/>
              <a:cs typeface="Arial" panose="020B0604020202020204" pitchFamily="34" charset="0"/>
            </a:endParaRPr>
          </a:p>
        </p:txBody>
      </p:sp>
      <p:sp>
        <p:nvSpPr>
          <p:cNvPr id="12" name="Ellipse 11">
            <a:extLst>
              <a:ext uri="{FF2B5EF4-FFF2-40B4-BE49-F238E27FC236}">
                <a16:creationId xmlns:a16="http://schemas.microsoft.com/office/drawing/2014/main" id="{B6AD0AF5-4423-B969-0A09-7B3ECBF83479}"/>
              </a:ext>
            </a:extLst>
          </p:cNvPr>
          <p:cNvSpPr/>
          <p:nvPr/>
        </p:nvSpPr>
        <p:spPr>
          <a:xfrm>
            <a:off x="8758250" y="2843211"/>
            <a:ext cx="1800000" cy="1800000"/>
          </a:xfrm>
          <a:prstGeom prst="ellipse">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b="1" i="1" dirty="0">
                <a:solidFill>
                  <a:srgbClr val="002060"/>
                </a:solidFill>
                <a:latin typeface="Arial" panose="020B0604020202020204" pitchFamily="34" charset="0"/>
                <a:cs typeface="Arial" panose="020B0604020202020204" pitchFamily="34" charset="0"/>
              </a:rPr>
              <a:t>Evènement Redouté</a:t>
            </a:r>
            <a:endParaRPr lang="en-US" sz="1600" b="1" i="1" dirty="0">
              <a:solidFill>
                <a:srgbClr val="002060"/>
              </a:solidFill>
              <a:latin typeface="Arial" panose="020B0604020202020204" pitchFamily="34" charset="0"/>
              <a:cs typeface="Arial" panose="020B0604020202020204" pitchFamily="34" charset="0"/>
            </a:endParaRPr>
          </a:p>
          <a:p>
            <a:pPr algn="ctr"/>
            <a:endParaRPr lang="en-US" dirty="0"/>
          </a:p>
        </p:txBody>
      </p:sp>
      <p:sp>
        <p:nvSpPr>
          <p:cNvPr id="13" name="Signe Plus 12">
            <a:extLst>
              <a:ext uri="{FF2B5EF4-FFF2-40B4-BE49-F238E27FC236}">
                <a16:creationId xmlns:a16="http://schemas.microsoft.com/office/drawing/2014/main" id="{5386A62C-FEFB-1D39-031D-8CF839A7A9BA}"/>
              </a:ext>
            </a:extLst>
          </p:cNvPr>
          <p:cNvSpPr/>
          <p:nvPr/>
        </p:nvSpPr>
        <p:spPr>
          <a:xfrm>
            <a:off x="2080996" y="3414713"/>
            <a:ext cx="690780" cy="62865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igne Plus 13">
            <a:extLst>
              <a:ext uri="{FF2B5EF4-FFF2-40B4-BE49-F238E27FC236}">
                <a16:creationId xmlns:a16="http://schemas.microsoft.com/office/drawing/2014/main" id="{EC545BF0-AD8B-F7D7-3D53-78CEA8CEDD5A}"/>
              </a:ext>
            </a:extLst>
          </p:cNvPr>
          <p:cNvSpPr/>
          <p:nvPr/>
        </p:nvSpPr>
        <p:spPr>
          <a:xfrm>
            <a:off x="4933736" y="3352799"/>
            <a:ext cx="690780" cy="62865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Est égal à 15">
            <a:extLst>
              <a:ext uri="{FF2B5EF4-FFF2-40B4-BE49-F238E27FC236}">
                <a16:creationId xmlns:a16="http://schemas.microsoft.com/office/drawing/2014/main" id="{892A5185-B68C-81D8-F6F4-53C1E4647F32}"/>
              </a:ext>
            </a:extLst>
          </p:cNvPr>
          <p:cNvSpPr/>
          <p:nvPr/>
        </p:nvSpPr>
        <p:spPr>
          <a:xfrm>
            <a:off x="7986713" y="3414713"/>
            <a:ext cx="533416" cy="566736"/>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ZoneTexte 16">
            <a:extLst>
              <a:ext uri="{FF2B5EF4-FFF2-40B4-BE49-F238E27FC236}">
                <a16:creationId xmlns:a16="http://schemas.microsoft.com/office/drawing/2014/main" id="{2E6758F7-70D9-909F-86BD-4564007296DD}"/>
              </a:ext>
            </a:extLst>
          </p:cNvPr>
          <p:cNvSpPr txBox="1"/>
          <p:nvPr/>
        </p:nvSpPr>
        <p:spPr>
          <a:xfrm>
            <a:off x="92881" y="4990019"/>
            <a:ext cx="2031873" cy="830997"/>
          </a:xfrm>
          <a:prstGeom prst="rect">
            <a:avLst/>
          </a:prstGeom>
          <a:noFill/>
        </p:spPr>
        <p:txBody>
          <a:bodyPr wrap="square" rtlCol="0">
            <a:spAutoFit/>
          </a:bodyPr>
          <a:lstStyle/>
          <a:p>
            <a:pPr algn="ctr"/>
            <a:r>
              <a:rPr lang="fr-FR" sz="1600" i="1" dirty="0">
                <a:latin typeface="Arial" panose="020B0604020202020204" pitchFamily="34" charset="0"/>
                <a:cs typeface="Arial" panose="020B0604020202020204" pitchFamily="34" charset="0"/>
              </a:rPr>
              <a:t>Ex: Une information, un processus, une mission</a:t>
            </a:r>
            <a:endParaRPr lang="en-US" sz="1600" i="1" dirty="0">
              <a:latin typeface="Arial" panose="020B0604020202020204" pitchFamily="34" charset="0"/>
              <a:cs typeface="Arial" panose="020B0604020202020204" pitchFamily="34" charset="0"/>
            </a:endParaRPr>
          </a:p>
        </p:txBody>
      </p:sp>
      <p:sp>
        <p:nvSpPr>
          <p:cNvPr id="18" name="ZoneTexte 17">
            <a:extLst>
              <a:ext uri="{FF2B5EF4-FFF2-40B4-BE49-F238E27FC236}">
                <a16:creationId xmlns:a16="http://schemas.microsoft.com/office/drawing/2014/main" id="{A674A9D4-9EB9-E316-5CAA-D5C480606F47}"/>
              </a:ext>
            </a:extLst>
          </p:cNvPr>
          <p:cNvSpPr txBox="1"/>
          <p:nvPr/>
        </p:nvSpPr>
        <p:spPr>
          <a:xfrm>
            <a:off x="208819" y="2128166"/>
            <a:ext cx="1799999" cy="584775"/>
          </a:xfrm>
          <a:prstGeom prst="rect">
            <a:avLst/>
          </a:prstGeom>
          <a:noFill/>
        </p:spPr>
        <p:txBody>
          <a:bodyPr wrap="square" rtlCol="0">
            <a:spAutoFit/>
          </a:bodyPr>
          <a:lstStyle/>
          <a:p>
            <a:pPr algn="ctr"/>
            <a:r>
              <a:rPr lang="fr-FR" sz="1600" i="1" dirty="0">
                <a:latin typeface="Arial" panose="020B0604020202020204" pitchFamily="34" charset="0"/>
                <a:cs typeface="Arial" panose="020B0604020202020204" pitchFamily="34" charset="0"/>
              </a:rPr>
              <a:t>Ce qu’on veut protéger</a:t>
            </a:r>
            <a:endParaRPr lang="en-US" sz="1600" i="1" dirty="0">
              <a:latin typeface="Arial" panose="020B0604020202020204" pitchFamily="34" charset="0"/>
              <a:cs typeface="Arial" panose="020B0604020202020204" pitchFamily="34" charset="0"/>
            </a:endParaRPr>
          </a:p>
        </p:txBody>
      </p:sp>
      <p:sp>
        <p:nvSpPr>
          <p:cNvPr id="20" name="ZoneTexte 19">
            <a:extLst>
              <a:ext uri="{FF2B5EF4-FFF2-40B4-BE49-F238E27FC236}">
                <a16:creationId xmlns:a16="http://schemas.microsoft.com/office/drawing/2014/main" id="{8D9BCAC8-648D-DCEE-B2AD-ED33F2B82307}"/>
              </a:ext>
            </a:extLst>
          </p:cNvPr>
          <p:cNvSpPr txBox="1"/>
          <p:nvPr/>
        </p:nvSpPr>
        <p:spPr>
          <a:xfrm>
            <a:off x="2890111" y="1951950"/>
            <a:ext cx="1799999" cy="830997"/>
          </a:xfrm>
          <a:prstGeom prst="rect">
            <a:avLst/>
          </a:prstGeom>
          <a:noFill/>
        </p:spPr>
        <p:txBody>
          <a:bodyPr wrap="square" rtlCol="0">
            <a:spAutoFit/>
          </a:bodyPr>
          <a:lstStyle/>
          <a:p>
            <a:pPr algn="ctr"/>
            <a:r>
              <a:rPr lang="fr-FR" sz="1600" i="1" dirty="0">
                <a:latin typeface="Arial" panose="020B0604020202020204" pitchFamily="34" charset="0"/>
                <a:cs typeface="Arial" panose="020B0604020202020204" pitchFamily="34" charset="0"/>
              </a:rPr>
              <a:t>Manière dont la sécurité pourrait être atteinte</a:t>
            </a:r>
            <a:endParaRPr lang="en-US" sz="1600" i="1" dirty="0">
              <a:latin typeface="Arial" panose="020B0604020202020204" pitchFamily="34" charset="0"/>
              <a:cs typeface="Arial" panose="020B0604020202020204" pitchFamily="34" charset="0"/>
            </a:endParaRPr>
          </a:p>
        </p:txBody>
      </p:sp>
      <p:sp>
        <p:nvSpPr>
          <p:cNvPr id="21" name="ZoneTexte 20">
            <a:extLst>
              <a:ext uri="{FF2B5EF4-FFF2-40B4-BE49-F238E27FC236}">
                <a16:creationId xmlns:a16="http://schemas.microsoft.com/office/drawing/2014/main" id="{829D41B2-CE98-5475-F588-8A1D1C096C44}"/>
              </a:ext>
            </a:extLst>
          </p:cNvPr>
          <p:cNvSpPr txBox="1"/>
          <p:nvPr/>
        </p:nvSpPr>
        <p:spPr>
          <a:xfrm>
            <a:off x="2918691" y="4938049"/>
            <a:ext cx="1799999" cy="1077218"/>
          </a:xfrm>
          <a:prstGeom prst="rect">
            <a:avLst/>
          </a:prstGeom>
          <a:noFill/>
        </p:spPr>
        <p:txBody>
          <a:bodyPr wrap="square" rtlCol="0">
            <a:spAutoFit/>
          </a:bodyPr>
          <a:lstStyle/>
          <a:p>
            <a:pPr algn="ctr"/>
            <a:r>
              <a:rPr lang="fr-FR" sz="1600" i="1" dirty="0">
                <a:latin typeface="Arial" panose="020B0604020202020204" pitchFamily="34" charset="0"/>
                <a:cs typeface="Arial" panose="020B0604020202020204" pitchFamily="34" charset="0"/>
              </a:rPr>
              <a:t>Ex : Confidentialité, Intégrité, Disponibilité</a:t>
            </a:r>
            <a:endParaRPr lang="en-US" sz="1600" i="1" dirty="0">
              <a:latin typeface="Arial" panose="020B0604020202020204" pitchFamily="34" charset="0"/>
              <a:cs typeface="Arial" panose="020B0604020202020204" pitchFamily="34" charset="0"/>
            </a:endParaRPr>
          </a:p>
        </p:txBody>
      </p:sp>
      <p:sp>
        <p:nvSpPr>
          <p:cNvPr id="22" name="ZoneTexte 21">
            <a:extLst>
              <a:ext uri="{FF2B5EF4-FFF2-40B4-BE49-F238E27FC236}">
                <a16:creationId xmlns:a16="http://schemas.microsoft.com/office/drawing/2014/main" id="{86EB82B3-4D1C-2D31-5C80-438FC3C288FE}"/>
              </a:ext>
            </a:extLst>
          </p:cNvPr>
          <p:cNvSpPr txBox="1"/>
          <p:nvPr/>
        </p:nvSpPr>
        <p:spPr>
          <a:xfrm>
            <a:off x="5742853" y="1918611"/>
            <a:ext cx="1799999" cy="830997"/>
          </a:xfrm>
          <a:prstGeom prst="rect">
            <a:avLst/>
          </a:prstGeom>
          <a:noFill/>
        </p:spPr>
        <p:txBody>
          <a:bodyPr wrap="square" rtlCol="0">
            <a:spAutoFit/>
          </a:bodyPr>
          <a:lstStyle/>
          <a:p>
            <a:pPr algn="ctr"/>
            <a:r>
              <a:rPr lang="fr-FR" sz="1600" i="1" dirty="0">
                <a:latin typeface="Arial" panose="020B0604020202020204" pitchFamily="34" charset="0"/>
                <a:cs typeface="Arial" panose="020B0604020202020204" pitchFamily="34" charset="0"/>
              </a:rPr>
              <a:t>Conséquence(s) potentielles sur l’organisme</a:t>
            </a:r>
            <a:endParaRPr lang="en-US" sz="1600" i="1" dirty="0">
              <a:latin typeface="Arial" panose="020B0604020202020204" pitchFamily="34" charset="0"/>
              <a:cs typeface="Arial" panose="020B0604020202020204" pitchFamily="34" charset="0"/>
            </a:endParaRPr>
          </a:p>
        </p:txBody>
      </p:sp>
      <p:sp>
        <p:nvSpPr>
          <p:cNvPr id="23" name="ZoneTexte 22">
            <a:extLst>
              <a:ext uri="{FF2B5EF4-FFF2-40B4-BE49-F238E27FC236}">
                <a16:creationId xmlns:a16="http://schemas.microsoft.com/office/drawing/2014/main" id="{D2511E8A-6162-4B61-9B22-5EC98658AC3D}"/>
              </a:ext>
            </a:extLst>
          </p:cNvPr>
          <p:cNvSpPr txBox="1"/>
          <p:nvPr/>
        </p:nvSpPr>
        <p:spPr>
          <a:xfrm>
            <a:off x="5884290" y="4990019"/>
            <a:ext cx="1799999" cy="1077218"/>
          </a:xfrm>
          <a:prstGeom prst="rect">
            <a:avLst/>
          </a:prstGeom>
          <a:noFill/>
        </p:spPr>
        <p:txBody>
          <a:bodyPr wrap="square" rtlCol="0">
            <a:spAutoFit/>
          </a:bodyPr>
          <a:lstStyle/>
          <a:p>
            <a:pPr algn="ctr"/>
            <a:r>
              <a:rPr lang="fr-FR" sz="1600" i="1" dirty="0">
                <a:latin typeface="Arial" panose="020B0604020202020204" pitchFamily="34" charset="0"/>
                <a:cs typeface="Arial" panose="020B0604020202020204" pitchFamily="34" charset="0"/>
              </a:rPr>
              <a:t>Ex : perte financière, image et réputation, impact juridique</a:t>
            </a:r>
            <a:endParaRPr lang="en-US" sz="1600" i="1" dirty="0">
              <a:latin typeface="Arial" panose="020B0604020202020204" pitchFamily="34" charset="0"/>
              <a:cs typeface="Arial" panose="020B0604020202020204" pitchFamily="34" charset="0"/>
            </a:endParaRPr>
          </a:p>
        </p:txBody>
      </p:sp>
      <p:sp>
        <p:nvSpPr>
          <p:cNvPr id="24" name="ZoneTexte 23">
            <a:extLst>
              <a:ext uri="{FF2B5EF4-FFF2-40B4-BE49-F238E27FC236}">
                <a16:creationId xmlns:a16="http://schemas.microsoft.com/office/drawing/2014/main" id="{3D70ABCA-68F6-F297-70E9-2D59C614E43B}"/>
              </a:ext>
            </a:extLst>
          </p:cNvPr>
          <p:cNvSpPr txBox="1"/>
          <p:nvPr/>
        </p:nvSpPr>
        <p:spPr>
          <a:xfrm>
            <a:off x="8738470" y="1785259"/>
            <a:ext cx="1799999" cy="584775"/>
          </a:xfrm>
          <a:prstGeom prst="rect">
            <a:avLst/>
          </a:prstGeom>
          <a:noFill/>
        </p:spPr>
        <p:txBody>
          <a:bodyPr wrap="square" rtlCol="0">
            <a:spAutoFit/>
          </a:bodyPr>
          <a:lstStyle/>
          <a:p>
            <a:pPr algn="ctr"/>
            <a:r>
              <a:rPr lang="fr-FR" sz="1600" i="1" dirty="0">
                <a:latin typeface="Arial" panose="020B0604020202020204" pitchFamily="34" charset="0"/>
                <a:cs typeface="Arial" panose="020B0604020202020204" pitchFamily="34" charset="0"/>
              </a:rPr>
              <a:t>Ce qu’on craint qu’il arrive</a:t>
            </a:r>
            <a:endParaRPr lang="en-US" sz="1600" i="1" dirty="0">
              <a:latin typeface="Arial" panose="020B0604020202020204" pitchFamily="34" charset="0"/>
              <a:cs typeface="Arial" panose="020B0604020202020204" pitchFamily="34" charset="0"/>
            </a:endParaRPr>
          </a:p>
        </p:txBody>
      </p:sp>
      <p:sp>
        <p:nvSpPr>
          <p:cNvPr id="25" name="ZoneTexte 24">
            <a:extLst>
              <a:ext uri="{FF2B5EF4-FFF2-40B4-BE49-F238E27FC236}">
                <a16:creationId xmlns:a16="http://schemas.microsoft.com/office/drawing/2014/main" id="{1EB78E0E-4890-00A5-8951-4FC974B5606B}"/>
              </a:ext>
            </a:extLst>
          </p:cNvPr>
          <p:cNvSpPr txBox="1"/>
          <p:nvPr/>
        </p:nvSpPr>
        <p:spPr>
          <a:xfrm>
            <a:off x="8253421" y="4913075"/>
            <a:ext cx="2413781" cy="1815882"/>
          </a:xfrm>
          <a:prstGeom prst="rect">
            <a:avLst/>
          </a:prstGeom>
          <a:noFill/>
        </p:spPr>
        <p:txBody>
          <a:bodyPr wrap="square" rtlCol="0">
            <a:spAutoFit/>
          </a:bodyPr>
          <a:lstStyle/>
          <a:p>
            <a:pPr algn="ctr"/>
            <a:r>
              <a:rPr lang="fr-FR" sz="1600" i="1" dirty="0">
                <a:latin typeface="Arial" panose="020B0604020202020204" pitchFamily="34" charset="0"/>
                <a:cs typeface="Arial" panose="020B0604020202020204" pitchFamily="34" charset="0"/>
              </a:rPr>
              <a:t>Ex : Activités bloquées car les données sont inaccessibles, des </a:t>
            </a:r>
            <a:r>
              <a:rPr lang="fr-FR" sz="1600" i="1" dirty="0" err="1">
                <a:latin typeface="Arial" panose="020B0604020202020204" pitchFamily="34" charset="0"/>
                <a:cs typeface="Arial" panose="020B0604020202020204" pitchFamily="34" charset="0"/>
              </a:rPr>
              <a:t>donnnées</a:t>
            </a:r>
            <a:r>
              <a:rPr lang="fr-FR" sz="1600" i="1" dirty="0">
                <a:latin typeface="Arial" panose="020B0604020202020204" pitchFamily="34" charset="0"/>
                <a:cs typeface="Arial" panose="020B0604020202020204" pitchFamily="34" charset="0"/>
              </a:rPr>
              <a:t> sensibles sont diffusées sur Internet et l’entreprise se fait sanctionner</a:t>
            </a:r>
            <a:endParaRPr lang="en-US" sz="1600" i="1" dirty="0">
              <a:latin typeface="Arial" panose="020B0604020202020204" pitchFamily="34" charset="0"/>
              <a:cs typeface="Arial" panose="020B0604020202020204" pitchFamily="34" charset="0"/>
            </a:endParaRPr>
          </a:p>
        </p:txBody>
      </p:sp>
      <p:sp>
        <p:nvSpPr>
          <p:cNvPr id="6" name="ZoneTexte 5">
            <a:extLst>
              <a:ext uri="{FF2B5EF4-FFF2-40B4-BE49-F238E27FC236}">
                <a16:creationId xmlns:a16="http://schemas.microsoft.com/office/drawing/2014/main" id="{4A8EAEE4-317C-22C3-3588-60AEB3C68D9C}"/>
              </a:ext>
            </a:extLst>
          </p:cNvPr>
          <p:cNvSpPr txBox="1"/>
          <p:nvPr/>
        </p:nvSpPr>
        <p:spPr>
          <a:xfrm>
            <a:off x="1828750" y="1319704"/>
            <a:ext cx="7031835" cy="400110"/>
          </a:xfrm>
          <a:prstGeom prst="rect">
            <a:avLst/>
          </a:prstGeom>
          <a:noFill/>
        </p:spPr>
        <p:txBody>
          <a:bodyPr wrap="square">
            <a:spAutoFit/>
          </a:bodyPr>
          <a:lstStyle/>
          <a:p>
            <a:pPr lvl="1"/>
            <a:r>
              <a:rPr lang="fr-FR" sz="2000" b="1" i="1" dirty="0">
                <a:solidFill>
                  <a:srgbClr val="002060"/>
                </a:solidFill>
                <a:latin typeface="Arial" panose="020B0604020202020204" pitchFamily="34" charset="0"/>
                <a:cs typeface="Arial" panose="020B0604020202020204" pitchFamily="34" charset="0"/>
              </a:rPr>
              <a:t>Le point de vue du défenseur – L’évènement redouté</a:t>
            </a:r>
          </a:p>
        </p:txBody>
      </p:sp>
    </p:spTree>
    <p:extLst>
      <p:ext uri="{BB962C8B-B14F-4D97-AF65-F5344CB8AC3E}">
        <p14:creationId xmlns:p14="http://schemas.microsoft.com/office/powerpoint/2010/main" val="2720122435"/>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AA742DC-E329-ABE0-4B1C-85C7EAE15C98}"/>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EEC011AD-7C82-4A1F-C4AE-5B9E4185EADF}"/>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132CB54E-E647-40EE-25FC-1B7E0266922B}"/>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2. EBIOS Risk Manager – Concepts du </a:t>
            </a:r>
            <a:r>
              <a:rPr lang="en-US" sz="2600" b="1" dirty="0" err="1">
                <a:solidFill>
                  <a:srgbClr val="161616"/>
                </a:solidFill>
                <a:latin typeface="Arial"/>
              </a:rPr>
              <a:t>risque</a:t>
            </a:r>
            <a:endParaRPr lang="en-US" sz="2600" b="1" dirty="0">
              <a:solidFill>
                <a:srgbClr val="161616"/>
              </a:solidFill>
              <a:latin typeface="Arial"/>
            </a:endParaRPr>
          </a:p>
        </p:txBody>
      </p:sp>
      <p:sp>
        <p:nvSpPr>
          <p:cNvPr id="10" name="Ellipse 9">
            <a:extLst>
              <a:ext uri="{FF2B5EF4-FFF2-40B4-BE49-F238E27FC236}">
                <a16:creationId xmlns:a16="http://schemas.microsoft.com/office/drawing/2014/main" id="{196E15E1-377E-7D2D-A494-8489AC1A8393}"/>
              </a:ext>
            </a:extLst>
          </p:cNvPr>
          <p:cNvSpPr/>
          <p:nvPr/>
        </p:nvSpPr>
        <p:spPr>
          <a:xfrm>
            <a:off x="1866907" y="2838445"/>
            <a:ext cx="1800000" cy="1800000"/>
          </a:xfrm>
          <a:prstGeom prst="ellipse">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i="1" dirty="0">
                <a:solidFill>
                  <a:srgbClr val="002060"/>
                </a:solidFill>
                <a:latin typeface="Arial" panose="020B0604020202020204" pitchFamily="34" charset="0"/>
                <a:cs typeface="Arial" panose="020B0604020202020204" pitchFamily="34" charset="0"/>
              </a:rPr>
              <a:t>Source de risque</a:t>
            </a:r>
            <a:endParaRPr lang="en-US" b="1" i="1" dirty="0">
              <a:solidFill>
                <a:srgbClr val="002060"/>
              </a:solidFill>
              <a:latin typeface="Arial" panose="020B0604020202020204" pitchFamily="34" charset="0"/>
              <a:cs typeface="Arial" panose="020B0604020202020204" pitchFamily="34" charset="0"/>
            </a:endParaRPr>
          </a:p>
        </p:txBody>
      </p:sp>
      <p:sp>
        <p:nvSpPr>
          <p:cNvPr id="11" name="Ellipse 10">
            <a:extLst>
              <a:ext uri="{FF2B5EF4-FFF2-40B4-BE49-F238E27FC236}">
                <a16:creationId xmlns:a16="http://schemas.microsoft.com/office/drawing/2014/main" id="{F9E7084F-DDF7-D9CA-1B92-65201AB7B1A9}"/>
              </a:ext>
            </a:extLst>
          </p:cNvPr>
          <p:cNvSpPr/>
          <p:nvPr/>
        </p:nvSpPr>
        <p:spPr>
          <a:xfrm>
            <a:off x="6715145" y="2843211"/>
            <a:ext cx="1800000" cy="1800000"/>
          </a:xfrm>
          <a:prstGeom prst="ellipse">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i="1" dirty="0">
                <a:solidFill>
                  <a:srgbClr val="002060"/>
                </a:solidFill>
                <a:latin typeface="Arial" panose="020B0604020202020204" pitchFamily="34" charset="0"/>
                <a:cs typeface="Arial" panose="020B0604020202020204" pitchFamily="34" charset="0"/>
              </a:rPr>
              <a:t>Objectif visé</a:t>
            </a:r>
            <a:endParaRPr lang="en-US" b="1" i="1" dirty="0">
              <a:solidFill>
                <a:srgbClr val="002060"/>
              </a:solidFill>
              <a:latin typeface="Arial" panose="020B0604020202020204" pitchFamily="34" charset="0"/>
              <a:cs typeface="Arial" panose="020B0604020202020204" pitchFamily="34" charset="0"/>
            </a:endParaRPr>
          </a:p>
        </p:txBody>
      </p:sp>
      <p:sp>
        <p:nvSpPr>
          <p:cNvPr id="20" name="ZoneTexte 19">
            <a:extLst>
              <a:ext uri="{FF2B5EF4-FFF2-40B4-BE49-F238E27FC236}">
                <a16:creationId xmlns:a16="http://schemas.microsoft.com/office/drawing/2014/main" id="{56C04EE3-7DB6-E577-CF10-C4C9F832ABFE}"/>
              </a:ext>
            </a:extLst>
          </p:cNvPr>
          <p:cNvSpPr txBox="1"/>
          <p:nvPr/>
        </p:nvSpPr>
        <p:spPr>
          <a:xfrm>
            <a:off x="1875693" y="1951950"/>
            <a:ext cx="1799999" cy="338554"/>
          </a:xfrm>
          <a:prstGeom prst="rect">
            <a:avLst/>
          </a:prstGeom>
          <a:noFill/>
        </p:spPr>
        <p:txBody>
          <a:bodyPr wrap="square" rtlCol="0">
            <a:spAutoFit/>
          </a:bodyPr>
          <a:lstStyle/>
          <a:p>
            <a:pPr algn="ctr"/>
            <a:r>
              <a:rPr lang="fr-FR" sz="1600" i="1" dirty="0">
                <a:latin typeface="Arial" panose="020B0604020202020204" pitchFamily="34" charset="0"/>
                <a:cs typeface="Arial" panose="020B0604020202020204" pitchFamily="34" charset="0"/>
              </a:rPr>
              <a:t>Attaquant</a:t>
            </a:r>
            <a:endParaRPr lang="en-US" sz="1600" i="1" dirty="0">
              <a:latin typeface="Arial" panose="020B0604020202020204" pitchFamily="34" charset="0"/>
              <a:cs typeface="Arial" panose="020B0604020202020204" pitchFamily="34" charset="0"/>
            </a:endParaRPr>
          </a:p>
        </p:txBody>
      </p:sp>
      <p:sp>
        <p:nvSpPr>
          <p:cNvPr id="21" name="ZoneTexte 20">
            <a:extLst>
              <a:ext uri="{FF2B5EF4-FFF2-40B4-BE49-F238E27FC236}">
                <a16:creationId xmlns:a16="http://schemas.microsoft.com/office/drawing/2014/main" id="{A945BB9B-1A4C-C001-727C-9E0898B3755A}"/>
              </a:ext>
            </a:extLst>
          </p:cNvPr>
          <p:cNvSpPr txBox="1"/>
          <p:nvPr/>
        </p:nvSpPr>
        <p:spPr>
          <a:xfrm>
            <a:off x="1904273" y="4938049"/>
            <a:ext cx="1799999" cy="1077218"/>
          </a:xfrm>
          <a:prstGeom prst="rect">
            <a:avLst/>
          </a:prstGeom>
          <a:noFill/>
        </p:spPr>
        <p:txBody>
          <a:bodyPr wrap="square" rtlCol="0">
            <a:spAutoFit/>
          </a:bodyPr>
          <a:lstStyle/>
          <a:p>
            <a:pPr algn="ctr"/>
            <a:r>
              <a:rPr lang="fr-FR" sz="1600" i="1" dirty="0">
                <a:latin typeface="Arial" panose="020B0604020202020204" pitchFamily="34" charset="0"/>
                <a:cs typeface="Arial" panose="020B0604020202020204" pitchFamily="34" charset="0"/>
              </a:rPr>
              <a:t>Ex : Employé, organisation criminelle, concurrent, Etat</a:t>
            </a:r>
            <a:endParaRPr lang="en-US" sz="1600" i="1" dirty="0">
              <a:latin typeface="Arial" panose="020B0604020202020204" pitchFamily="34" charset="0"/>
              <a:cs typeface="Arial" panose="020B0604020202020204" pitchFamily="34" charset="0"/>
            </a:endParaRPr>
          </a:p>
        </p:txBody>
      </p:sp>
      <p:sp>
        <p:nvSpPr>
          <p:cNvPr id="22" name="ZoneTexte 21">
            <a:extLst>
              <a:ext uri="{FF2B5EF4-FFF2-40B4-BE49-F238E27FC236}">
                <a16:creationId xmlns:a16="http://schemas.microsoft.com/office/drawing/2014/main" id="{E9689604-3E9C-567B-C43D-C7D10BCD14CA}"/>
              </a:ext>
            </a:extLst>
          </p:cNvPr>
          <p:cNvSpPr txBox="1"/>
          <p:nvPr/>
        </p:nvSpPr>
        <p:spPr>
          <a:xfrm>
            <a:off x="6757271" y="1918611"/>
            <a:ext cx="1799999" cy="338554"/>
          </a:xfrm>
          <a:prstGeom prst="rect">
            <a:avLst/>
          </a:prstGeom>
          <a:noFill/>
        </p:spPr>
        <p:txBody>
          <a:bodyPr wrap="square" rtlCol="0">
            <a:spAutoFit/>
          </a:bodyPr>
          <a:lstStyle/>
          <a:p>
            <a:pPr algn="ctr"/>
            <a:r>
              <a:rPr lang="fr-FR" sz="1600" i="1" dirty="0">
                <a:latin typeface="Arial" panose="020B0604020202020204" pitchFamily="34" charset="0"/>
                <a:cs typeface="Arial" panose="020B0604020202020204" pitchFamily="34" charset="0"/>
              </a:rPr>
              <a:t>But de l’attaquant</a:t>
            </a:r>
            <a:endParaRPr lang="en-US" sz="1600" i="1" dirty="0">
              <a:latin typeface="Arial" panose="020B0604020202020204" pitchFamily="34" charset="0"/>
              <a:cs typeface="Arial" panose="020B0604020202020204" pitchFamily="34" charset="0"/>
            </a:endParaRPr>
          </a:p>
        </p:txBody>
      </p:sp>
      <p:sp>
        <p:nvSpPr>
          <p:cNvPr id="23" name="ZoneTexte 22">
            <a:extLst>
              <a:ext uri="{FF2B5EF4-FFF2-40B4-BE49-F238E27FC236}">
                <a16:creationId xmlns:a16="http://schemas.microsoft.com/office/drawing/2014/main" id="{407F9BB5-F45B-AAE6-97CC-309F9F7EEA48}"/>
              </a:ext>
            </a:extLst>
          </p:cNvPr>
          <p:cNvSpPr txBox="1"/>
          <p:nvPr/>
        </p:nvSpPr>
        <p:spPr>
          <a:xfrm>
            <a:off x="6898708" y="4990019"/>
            <a:ext cx="1799999" cy="1815882"/>
          </a:xfrm>
          <a:prstGeom prst="rect">
            <a:avLst/>
          </a:prstGeom>
          <a:noFill/>
        </p:spPr>
        <p:txBody>
          <a:bodyPr wrap="square" rtlCol="0">
            <a:spAutoFit/>
          </a:bodyPr>
          <a:lstStyle/>
          <a:p>
            <a:pPr algn="ctr"/>
            <a:r>
              <a:rPr lang="fr-FR" sz="1600" i="1" dirty="0">
                <a:latin typeface="Arial" panose="020B0604020202020204" pitchFamily="34" charset="0"/>
                <a:cs typeface="Arial" panose="020B0604020202020204" pitchFamily="34" charset="0"/>
              </a:rPr>
              <a:t>Ex : Se venger, gagner de l’argent, récupérer des renseignements, déstabiliser l’économie</a:t>
            </a:r>
            <a:endParaRPr lang="en-US" sz="1600" i="1" dirty="0">
              <a:latin typeface="Arial" panose="020B0604020202020204" pitchFamily="34" charset="0"/>
              <a:cs typeface="Arial" panose="020B0604020202020204" pitchFamily="34" charset="0"/>
            </a:endParaRPr>
          </a:p>
        </p:txBody>
      </p:sp>
      <p:sp>
        <p:nvSpPr>
          <p:cNvPr id="6" name="ZoneTexte 5">
            <a:extLst>
              <a:ext uri="{FF2B5EF4-FFF2-40B4-BE49-F238E27FC236}">
                <a16:creationId xmlns:a16="http://schemas.microsoft.com/office/drawing/2014/main" id="{DBB28CA3-CDF8-171B-4FC0-DAD5641B0F64}"/>
              </a:ext>
            </a:extLst>
          </p:cNvPr>
          <p:cNvSpPr txBox="1"/>
          <p:nvPr/>
        </p:nvSpPr>
        <p:spPr>
          <a:xfrm>
            <a:off x="2080996" y="1261562"/>
            <a:ext cx="7291603" cy="400110"/>
          </a:xfrm>
          <a:prstGeom prst="rect">
            <a:avLst/>
          </a:prstGeom>
          <a:noFill/>
        </p:spPr>
        <p:txBody>
          <a:bodyPr wrap="square">
            <a:spAutoFit/>
          </a:bodyPr>
          <a:lstStyle/>
          <a:p>
            <a:pPr lvl="1"/>
            <a:r>
              <a:rPr lang="fr-FR" sz="2000" b="1" i="1" dirty="0">
                <a:solidFill>
                  <a:srgbClr val="002060"/>
                </a:solidFill>
                <a:latin typeface="Arial" panose="020B0604020202020204" pitchFamily="34" charset="0"/>
                <a:cs typeface="Arial" panose="020B0604020202020204" pitchFamily="34" charset="0"/>
              </a:rPr>
              <a:t>Le point de vue de l’attaquant – Le couple SR/OV</a:t>
            </a:r>
          </a:p>
        </p:txBody>
      </p:sp>
      <p:sp>
        <p:nvSpPr>
          <p:cNvPr id="3" name="Flèche : droite 2">
            <a:extLst>
              <a:ext uri="{FF2B5EF4-FFF2-40B4-BE49-F238E27FC236}">
                <a16:creationId xmlns:a16="http://schemas.microsoft.com/office/drawing/2014/main" id="{BE218EE4-B3EB-2C34-9F26-811717D4EC33}"/>
              </a:ext>
            </a:extLst>
          </p:cNvPr>
          <p:cNvSpPr/>
          <p:nvPr/>
        </p:nvSpPr>
        <p:spPr>
          <a:xfrm>
            <a:off x="4470656" y="3614738"/>
            <a:ext cx="1201484" cy="4001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6605612"/>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622A551-723B-230E-41AD-2914A2840EE6}"/>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138FCD1F-DE30-3A06-3267-E24356BEBD51}"/>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C347A391-847C-F1F0-5B06-A03BBE58463D}"/>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2. EBIOS Risk Manager – Concepts du </a:t>
            </a:r>
            <a:r>
              <a:rPr lang="en-US" sz="2600" b="1" dirty="0" err="1">
                <a:solidFill>
                  <a:srgbClr val="161616"/>
                </a:solidFill>
                <a:latin typeface="Arial"/>
              </a:rPr>
              <a:t>risque</a:t>
            </a:r>
            <a:endParaRPr lang="en-US" sz="2600" b="1" dirty="0">
              <a:solidFill>
                <a:srgbClr val="161616"/>
              </a:solidFill>
              <a:latin typeface="Arial"/>
            </a:endParaRPr>
          </a:p>
        </p:txBody>
      </p:sp>
      <p:sp>
        <p:nvSpPr>
          <p:cNvPr id="10" name="Ellipse 9">
            <a:extLst>
              <a:ext uri="{FF2B5EF4-FFF2-40B4-BE49-F238E27FC236}">
                <a16:creationId xmlns:a16="http://schemas.microsoft.com/office/drawing/2014/main" id="{506AB963-01F7-41B4-4199-874C4A5FE412}"/>
              </a:ext>
            </a:extLst>
          </p:cNvPr>
          <p:cNvSpPr/>
          <p:nvPr/>
        </p:nvSpPr>
        <p:spPr>
          <a:xfrm>
            <a:off x="409571" y="2924173"/>
            <a:ext cx="1800000" cy="1800000"/>
          </a:xfrm>
          <a:prstGeom prst="ellipse">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i="1" dirty="0">
                <a:solidFill>
                  <a:srgbClr val="002060"/>
                </a:solidFill>
                <a:latin typeface="Arial" panose="020B0604020202020204" pitchFamily="34" charset="0"/>
                <a:cs typeface="Arial" panose="020B0604020202020204" pitchFamily="34" charset="0"/>
              </a:rPr>
              <a:t>Source de risque</a:t>
            </a:r>
            <a:endParaRPr lang="en-US" b="1" i="1" dirty="0">
              <a:solidFill>
                <a:srgbClr val="002060"/>
              </a:solidFill>
              <a:latin typeface="Arial" panose="020B0604020202020204" pitchFamily="34" charset="0"/>
              <a:cs typeface="Arial" panose="020B0604020202020204" pitchFamily="34" charset="0"/>
            </a:endParaRPr>
          </a:p>
        </p:txBody>
      </p:sp>
      <p:sp>
        <p:nvSpPr>
          <p:cNvPr id="11" name="Ellipse 10">
            <a:extLst>
              <a:ext uri="{FF2B5EF4-FFF2-40B4-BE49-F238E27FC236}">
                <a16:creationId xmlns:a16="http://schemas.microsoft.com/office/drawing/2014/main" id="{D3DA3CCD-78C6-4C70-F38D-D62E42386B74}"/>
              </a:ext>
            </a:extLst>
          </p:cNvPr>
          <p:cNvSpPr/>
          <p:nvPr/>
        </p:nvSpPr>
        <p:spPr>
          <a:xfrm>
            <a:off x="8272489" y="2843211"/>
            <a:ext cx="1800000" cy="1800000"/>
          </a:xfrm>
          <a:prstGeom prst="ellipse">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i="1" dirty="0">
                <a:solidFill>
                  <a:srgbClr val="002060"/>
                </a:solidFill>
                <a:latin typeface="Arial" panose="020B0604020202020204" pitchFamily="34" charset="0"/>
                <a:cs typeface="Arial" panose="020B0604020202020204" pitchFamily="34" charset="0"/>
              </a:rPr>
              <a:t>Objectif visé</a:t>
            </a:r>
            <a:endParaRPr lang="en-US" b="1" i="1" dirty="0">
              <a:solidFill>
                <a:srgbClr val="002060"/>
              </a:solidFill>
              <a:latin typeface="Arial" panose="020B0604020202020204" pitchFamily="34" charset="0"/>
              <a:cs typeface="Arial" panose="020B0604020202020204" pitchFamily="34" charset="0"/>
            </a:endParaRPr>
          </a:p>
        </p:txBody>
      </p:sp>
      <p:sp>
        <p:nvSpPr>
          <p:cNvPr id="6" name="ZoneTexte 5">
            <a:extLst>
              <a:ext uri="{FF2B5EF4-FFF2-40B4-BE49-F238E27FC236}">
                <a16:creationId xmlns:a16="http://schemas.microsoft.com/office/drawing/2014/main" id="{FB9CA1AD-AD8B-92A3-B378-54534A89522F}"/>
              </a:ext>
            </a:extLst>
          </p:cNvPr>
          <p:cNvSpPr txBox="1"/>
          <p:nvPr/>
        </p:nvSpPr>
        <p:spPr>
          <a:xfrm>
            <a:off x="2080996" y="1261562"/>
            <a:ext cx="7291603" cy="400110"/>
          </a:xfrm>
          <a:prstGeom prst="rect">
            <a:avLst/>
          </a:prstGeom>
          <a:noFill/>
        </p:spPr>
        <p:txBody>
          <a:bodyPr wrap="square">
            <a:spAutoFit/>
          </a:bodyPr>
          <a:lstStyle/>
          <a:p>
            <a:pPr lvl="1"/>
            <a:r>
              <a:rPr lang="fr-FR" sz="2000" b="1" i="1" dirty="0">
                <a:solidFill>
                  <a:srgbClr val="002060"/>
                </a:solidFill>
                <a:latin typeface="Arial" panose="020B0604020202020204" pitchFamily="34" charset="0"/>
                <a:cs typeface="Arial" panose="020B0604020202020204" pitchFamily="34" charset="0"/>
              </a:rPr>
              <a:t>Le risque : quand l’attaquant rencontre le défenseur</a:t>
            </a:r>
          </a:p>
        </p:txBody>
      </p:sp>
      <p:sp>
        <p:nvSpPr>
          <p:cNvPr id="3" name="Flèche : droite 2">
            <a:extLst>
              <a:ext uri="{FF2B5EF4-FFF2-40B4-BE49-F238E27FC236}">
                <a16:creationId xmlns:a16="http://schemas.microsoft.com/office/drawing/2014/main" id="{66062028-2A40-93C1-AFD0-55351B1B190D}"/>
              </a:ext>
            </a:extLst>
          </p:cNvPr>
          <p:cNvSpPr/>
          <p:nvPr/>
        </p:nvSpPr>
        <p:spPr>
          <a:xfrm>
            <a:off x="6656660" y="3571874"/>
            <a:ext cx="1201484" cy="4001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Ellipse 4">
            <a:extLst>
              <a:ext uri="{FF2B5EF4-FFF2-40B4-BE49-F238E27FC236}">
                <a16:creationId xmlns:a16="http://schemas.microsoft.com/office/drawing/2014/main" id="{93AE33C7-D4CD-D462-FCB8-DC5B14680FED}"/>
              </a:ext>
            </a:extLst>
          </p:cNvPr>
          <p:cNvSpPr/>
          <p:nvPr/>
        </p:nvSpPr>
        <p:spPr>
          <a:xfrm>
            <a:off x="4476759" y="2919405"/>
            <a:ext cx="1800000" cy="1800000"/>
          </a:xfrm>
          <a:prstGeom prst="ellipse">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i="1" dirty="0">
                <a:solidFill>
                  <a:srgbClr val="002060"/>
                </a:solidFill>
                <a:latin typeface="Arial" panose="020B0604020202020204" pitchFamily="34" charset="0"/>
                <a:cs typeface="Arial" panose="020B0604020202020204" pitchFamily="34" charset="0"/>
              </a:rPr>
              <a:t>Event redouté</a:t>
            </a:r>
            <a:endParaRPr lang="en-US" b="1" i="1" dirty="0">
              <a:solidFill>
                <a:srgbClr val="002060"/>
              </a:solidFill>
              <a:latin typeface="Arial" panose="020B0604020202020204" pitchFamily="34" charset="0"/>
              <a:cs typeface="Arial" panose="020B0604020202020204" pitchFamily="34" charset="0"/>
            </a:endParaRPr>
          </a:p>
        </p:txBody>
      </p:sp>
      <p:sp>
        <p:nvSpPr>
          <p:cNvPr id="7" name="Flèche : droite 6">
            <a:extLst>
              <a:ext uri="{FF2B5EF4-FFF2-40B4-BE49-F238E27FC236}">
                <a16:creationId xmlns:a16="http://schemas.microsoft.com/office/drawing/2014/main" id="{E8B11B49-A1E8-3159-9B11-ABC8247F96DF}"/>
              </a:ext>
            </a:extLst>
          </p:cNvPr>
          <p:cNvSpPr/>
          <p:nvPr/>
        </p:nvSpPr>
        <p:spPr>
          <a:xfrm>
            <a:off x="2679958" y="3567109"/>
            <a:ext cx="1201484" cy="4001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9759579"/>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978AC4C-3AEE-EFAA-819B-F672FC55FB45}"/>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7DA66719-6C7A-8059-7B55-1B0B5F0D8F3A}"/>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7AF00F63-CCCE-B41C-0D5B-F99398C67A37}"/>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2. EBIOS Risk Manager – </a:t>
            </a:r>
            <a:r>
              <a:rPr lang="en-US" sz="2600" b="1" dirty="0" err="1">
                <a:solidFill>
                  <a:srgbClr val="161616"/>
                </a:solidFill>
                <a:latin typeface="Arial"/>
              </a:rPr>
              <a:t>Prise</a:t>
            </a:r>
            <a:r>
              <a:rPr lang="en-US" sz="2600" b="1" dirty="0">
                <a:solidFill>
                  <a:srgbClr val="161616"/>
                </a:solidFill>
                <a:latin typeface="Arial"/>
              </a:rPr>
              <a:t> </a:t>
            </a:r>
            <a:r>
              <a:rPr lang="en-US" sz="2600" b="1" dirty="0" err="1">
                <a:solidFill>
                  <a:srgbClr val="161616"/>
                </a:solidFill>
                <a:latin typeface="Arial"/>
              </a:rPr>
              <a:t>en</a:t>
            </a:r>
            <a:r>
              <a:rPr lang="en-US" sz="2600" b="1" dirty="0">
                <a:solidFill>
                  <a:srgbClr val="161616"/>
                </a:solidFill>
                <a:latin typeface="Arial"/>
              </a:rPr>
              <a:t> </a:t>
            </a:r>
            <a:r>
              <a:rPr lang="en-US" sz="2600" b="1" dirty="0" err="1">
                <a:solidFill>
                  <a:srgbClr val="161616"/>
                </a:solidFill>
                <a:latin typeface="Arial"/>
              </a:rPr>
              <a:t>compte</a:t>
            </a:r>
            <a:r>
              <a:rPr lang="en-US" sz="2600" b="1" dirty="0">
                <a:solidFill>
                  <a:srgbClr val="161616"/>
                </a:solidFill>
                <a:latin typeface="Arial"/>
              </a:rPr>
              <a:t> de </a:t>
            </a:r>
            <a:r>
              <a:rPr lang="en-US" sz="2600" b="1" dirty="0" err="1">
                <a:solidFill>
                  <a:srgbClr val="161616"/>
                </a:solidFill>
                <a:latin typeface="Arial"/>
              </a:rPr>
              <a:t>l’écosystème</a:t>
            </a:r>
            <a:endParaRPr lang="en-US" sz="2600" b="1" dirty="0">
              <a:solidFill>
                <a:srgbClr val="161616"/>
              </a:solidFill>
              <a:latin typeface="Arial"/>
            </a:endParaRPr>
          </a:p>
        </p:txBody>
      </p:sp>
      <p:sp>
        <p:nvSpPr>
          <p:cNvPr id="6" name="ZoneTexte 5">
            <a:extLst>
              <a:ext uri="{FF2B5EF4-FFF2-40B4-BE49-F238E27FC236}">
                <a16:creationId xmlns:a16="http://schemas.microsoft.com/office/drawing/2014/main" id="{1A6170A7-3B55-AF4B-F6ED-5027D91D1D83}"/>
              </a:ext>
            </a:extLst>
          </p:cNvPr>
          <p:cNvSpPr txBox="1"/>
          <p:nvPr/>
        </p:nvSpPr>
        <p:spPr>
          <a:xfrm>
            <a:off x="2080996" y="1261562"/>
            <a:ext cx="7291603" cy="400110"/>
          </a:xfrm>
          <a:prstGeom prst="rect">
            <a:avLst/>
          </a:prstGeom>
          <a:noFill/>
        </p:spPr>
        <p:txBody>
          <a:bodyPr wrap="square">
            <a:spAutoFit/>
          </a:bodyPr>
          <a:lstStyle/>
          <a:p>
            <a:pPr lvl="1"/>
            <a:r>
              <a:rPr lang="fr-FR" sz="2000" b="1" i="1" dirty="0">
                <a:solidFill>
                  <a:srgbClr val="002060"/>
                </a:solidFill>
                <a:latin typeface="Arial" panose="020B0604020202020204" pitchFamily="34" charset="0"/>
                <a:cs typeface="Arial" panose="020B0604020202020204" pitchFamily="34" charset="0"/>
              </a:rPr>
              <a:t>Un attaquant peut passer par les stakeholders</a:t>
            </a:r>
          </a:p>
        </p:txBody>
      </p:sp>
      <p:pic>
        <p:nvPicPr>
          <p:cNvPr id="9" name="Image 8">
            <a:extLst>
              <a:ext uri="{FF2B5EF4-FFF2-40B4-BE49-F238E27FC236}">
                <a16:creationId xmlns:a16="http://schemas.microsoft.com/office/drawing/2014/main" id="{3CB6C73E-2848-A802-6BF5-41483C11D5AC}"/>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4700"/>
                    </a14:imgEffect>
                    <a14:imgEffect>
                      <a14:saturation sat="200000"/>
                    </a14:imgEffect>
                  </a14:imgLayer>
                </a14:imgProps>
              </a:ext>
            </a:extLst>
          </a:blip>
          <a:srcRect r="4180"/>
          <a:stretch>
            <a:fillRect/>
          </a:stretch>
        </p:blipFill>
        <p:spPr>
          <a:xfrm>
            <a:off x="5272095" y="2169044"/>
            <a:ext cx="5386387" cy="4304260"/>
          </a:xfrm>
          <a:prstGeom prst="rect">
            <a:avLst/>
          </a:prstGeom>
        </p:spPr>
      </p:pic>
      <p:sp>
        <p:nvSpPr>
          <p:cNvPr id="12" name="ZoneTexte 11">
            <a:extLst>
              <a:ext uri="{FF2B5EF4-FFF2-40B4-BE49-F238E27FC236}">
                <a16:creationId xmlns:a16="http://schemas.microsoft.com/office/drawing/2014/main" id="{48F00EBA-C643-9761-80DF-7F93D2ECECD7}"/>
              </a:ext>
            </a:extLst>
          </p:cNvPr>
          <p:cNvSpPr txBox="1"/>
          <p:nvPr/>
        </p:nvSpPr>
        <p:spPr>
          <a:xfrm>
            <a:off x="34918" y="1661672"/>
            <a:ext cx="5346701" cy="5478423"/>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fr-FR" sz="2000" dirty="0">
                <a:latin typeface="Arial" panose="020B0604020202020204" pitchFamily="34" charset="0"/>
                <a:cs typeface="Arial" panose="020B0604020202020204" pitchFamily="34" charset="0"/>
              </a:rPr>
              <a:t>L’attaquant va chercher le </a:t>
            </a:r>
            <a:r>
              <a:rPr lang="fr-FR" sz="2000" b="1" dirty="0">
                <a:latin typeface="Arial" panose="020B0604020202020204" pitchFamily="34" charset="0"/>
                <a:cs typeface="Arial" panose="020B0604020202020204" pitchFamily="34" charset="0"/>
              </a:rPr>
              <a:t>chemin le plus facile </a:t>
            </a:r>
            <a:r>
              <a:rPr lang="fr-FR" sz="2000" dirty="0">
                <a:latin typeface="Arial" panose="020B0604020202020204" pitchFamily="34" charset="0"/>
                <a:cs typeface="Arial" panose="020B0604020202020204" pitchFamily="34" charset="0"/>
              </a:rPr>
              <a:t>pour vous atteindre</a:t>
            </a:r>
          </a:p>
          <a:p>
            <a:pPr marL="285750" indent="-285750">
              <a:lnSpc>
                <a:spcPct val="150000"/>
              </a:lnSpc>
              <a:buFont typeface="Wingdings" panose="05000000000000000000" pitchFamily="2" charset="2"/>
              <a:buChar char="v"/>
            </a:pPr>
            <a:r>
              <a:rPr lang="fr-FR" sz="2000" dirty="0">
                <a:latin typeface="Arial" panose="020B0604020202020204" pitchFamily="34" charset="0"/>
                <a:cs typeface="Arial" panose="020B0604020202020204" pitchFamily="34" charset="0"/>
              </a:rPr>
              <a:t>Il peut ainsi passer par l’écosystème</a:t>
            </a:r>
          </a:p>
          <a:p>
            <a:pPr marL="285750" indent="-285750">
              <a:buFont typeface="Wingdings" panose="05000000000000000000" pitchFamily="2" charset="2"/>
              <a:buChar char="v"/>
            </a:pPr>
            <a:endParaRPr lang="fr-FR" sz="20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fr-FR" sz="2000" dirty="0">
                <a:latin typeface="Arial" panose="020B0604020202020204" pitchFamily="34" charset="0"/>
                <a:cs typeface="Arial" panose="020B0604020202020204" pitchFamily="34" charset="0"/>
              </a:rPr>
              <a:t>On peut estimer la </a:t>
            </a:r>
            <a:r>
              <a:rPr lang="fr-FR" sz="2000" b="1" dirty="0">
                <a:latin typeface="Arial" panose="020B0604020202020204" pitchFamily="34" charset="0"/>
                <a:cs typeface="Arial" panose="020B0604020202020204" pitchFamily="34" charset="0"/>
              </a:rPr>
              <a:t>dangerosité</a:t>
            </a:r>
            <a:r>
              <a:rPr lang="fr-FR" sz="2000" dirty="0">
                <a:latin typeface="Arial" panose="020B0604020202020204" pitchFamily="34" charset="0"/>
                <a:cs typeface="Arial" panose="020B0604020202020204" pitchFamily="34" charset="0"/>
              </a:rPr>
              <a:t> des stakeholders</a:t>
            </a:r>
          </a:p>
          <a:p>
            <a:pPr marL="742950" lvl="1" indent="-285750">
              <a:buFont typeface="Wingdings" panose="05000000000000000000" pitchFamily="2" charset="2"/>
              <a:buChar char="Ø"/>
            </a:pPr>
            <a:r>
              <a:rPr lang="fr-FR" sz="2000" b="1" i="1" dirty="0">
                <a:solidFill>
                  <a:srgbClr val="002060"/>
                </a:solidFill>
                <a:latin typeface="Arial" panose="020B0604020202020204" pitchFamily="34" charset="0"/>
                <a:cs typeface="Arial" panose="020B0604020202020204" pitchFamily="34" charset="0"/>
              </a:rPr>
              <a:t>Exposition</a:t>
            </a:r>
          </a:p>
          <a:p>
            <a:pPr marL="1200150" lvl="2" indent="-285750">
              <a:buFont typeface="Wingdings" panose="05000000000000000000" pitchFamily="2" charset="2"/>
              <a:buChar char="§"/>
            </a:pPr>
            <a:r>
              <a:rPr lang="fr-FR" sz="2000" b="1" i="1" dirty="0">
                <a:solidFill>
                  <a:schemeClr val="accent4"/>
                </a:solidFill>
                <a:latin typeface="Arial" panose="020B0604020202020204" pitchFamily="34" charset="0"/>
                <a:cs typeface="Arial" panose="020B0604020202020204" pitchFamily="34" charset="0"/>
              </a:rPr>
              <a:t>Dépendance : </a:t>
            </a:r>
            <a:r>
              <a:rPr lang="fr-FR" sz="2000" dirty="0">
                <a:latin typeface="Arial" panose="020B0604020202020204" pitchFamily="34" charset="0"/>
                <a:cs typeface="Arial" panose="020B0604020202020204" pitchFamily="34" charset="0"/>
              </a:rPr>
              <a:t>la relation est-elle vitale ?</a:t>
            </a:r>
          </a:p>
          <a:p>
            <a:pPr marL="1200150" lvl="2" indent="-285750">
              <a:buFont typeface="Wingdings" panose="05000000000000000000" pitchFamily="2" charset="2"/>
              <a:buChar char="§"/>
            </a:pPr>
            <a:r>
              <a:rPr lang="fr-FR" sz="2000" b="1" i="1" dirty="0">
                <a:solidFill>
                  <a:schemeClr val="accent4"/>
                </a:solidFill>
                <a:latin typeface="Arial" panose="020B0604020202020204" pitchFamily="34" charset="0"/>
                <a:cs typeface="Arial" panose="020B0604020202020204" pitchFamily="34" charset="0"/>
              </a:rPr>
              <a:t>Pénétration : </a:t>
            </a:r>
            <a:r>
              <a:rPr lang="fr-FR" sz="2000" dirty="0">
                <a:latin typeface="Arial" panose="020B0604020202020204" pitchFamily="34" charset="0"/>
                <a:cs typeface="Arial" panose="020B0604020202020204" pitchFamily="34" charset="0"/>
              </a:rPr>
              <a:t>quel accès à nos ressources ?</a:t>
            </a:r>
          </a:p>
          <a:p>
            <a:pPr marL="742950" lvl="1" indent="-285750">
              <a:buFont typeface="Wingdings" panose="05000000000000000000" pitchFamily="2" charset="2"/>
              <a:buChar char="Ø"/>
            </a:pPr>
            <a:r>
              <a:rPr lang="fr-FR" sz="2000" b="1" i="1" dirty="0">
                <a:solidFill>
                  <a:srgbClr val="002060"/>
                </a:solidFill>
                <a:latin typeface="Arial" panose="020B0604020202020204" pitchFamily="34" charset="0"/>
                <a:cs typeface="Arial" panose="020B0604020202020204" pitchFamily="34" charset="0"/>
              </a:rPr>
              <a:t>Fiabilité Cyber</a:t>
            </a:r>
          </a:p>
          <a:p>
            <a:pPr marL="1200150" lvl="2" indent="-285750">
              <a:buFont typeface="Wingdings" panose="05000000000000000000" pitchFamily="2" charset="2"/>
              <a:buChar char="§"/>
            </a:pPr>
            <a:r>
              <a:rPr lang="fr-FR" sz="2000" b="1" i="1" dirty="0">
                <a:solidFill>
                  <a:schemeClr val="accent4"/>
                </a:solidFill>
                <a:latin typeface="Arial" panose="020B0604020202020204" pitchFamily="34" charset="0"/>
                <a:cs typeface="Arial" panose="020B0604020202020204" pitchFamily="34" charset="0"/>
              </a:rPr>
              <a:t>Maturité : </a:t>
            </a:r>
            <a:r>
              <a:rPr lang="fr-FR" sz="2000" dirty="0">
                <a:latin typeface="Arial" panose="020B0604020202020204" pitchFamily="34" charset="0"/>
                <a:cs typeface="Arial" panose="020B0604020202020204" pitchFamily="34" charset="0"/>
              </a:rPr>
              <a:t>quelles capacités en cybersécurité ?</a:t>
            </a:r>
          </a:p>
          <a:p>
            <a:pPr marL="1200150" lvl="2" indent="-285750">
              <a:buFont typeface="Wingdings" panose="05000000000000000000" pitchFamily="2" charset="2"/>
              <a:buChar char="§"/>
            </a:pPr>
            <a:r>
              <a:rPr lang="fr-FR" sz="2000" b="1" i="1" dirty="0">
                <a:solidFill>
                  <a:schemeClr val="accent4"/>
                </a:solidFill>
                <a:latin typeface="Arial" panose="020B0604020202020204" pitchFamily="34" charset="0"/>
                <a:cs typeface="Arial" panose="020B0604020202020204" pitchFamily="34" charset="0"/>
              </a:rPr>
              <a:t>Confiance : </a:t>
            </a:r>
            <a:r>
              <a:rPr lang="fr-FR" sz="2000" dirty="0">
                <a:latin typeface="Arial" panose="020B0604020202020204" pitchFamily="34" charset="0"/>
                <a:cs typeface="Arial" panose="020B0604020202020204" pitchFamily="34" charset="0"/>
              </a:rPr>
              <a:t>quels intérêts contraires ?</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291400"/>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8DD8B58-0B8D-D651-D6C5-013A539F88B5}"/>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EF99D5EC-D2E3-D132-8D23-D5DA088682F1}"/>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67A06D37-6701-5F5E-E049-A5C112D30D9E}"/>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2. EBIOS Risk Manager – Démarche </a:t>
            </a:r>
            <a:r>
              <a:rPr lang="en-US" sz="2600" b="1" dirty="0" err="1">
                <a:solidFill>
                  <a:srgbClr val="161616"/>
                </a:solidFill>
                <a:latin typeface="Arial"/>
              </a:rPr>
              <a:t>itérative</a:t>
            </a:r>
            <a:endParaRPr lang="en-US" sz="2600" b="1" dirty="0">
              <a:solidFill>
                <a:srgbClr val="161616"/>
              </a:solidFill>
              <a:latin typeface="Arial"/>
            </a:endParaRPr>
          </a:p>
        </p:txBody>
      </p:sp>
      <p:sp>
        <p:nvSpPr>
          <p:cNvPr id="6" name="ZoneTexte 5">
            <a:extLst>
              <a:ext uri="{FF2B5EF4-FFF2-40B4-BE49-F238E27FC236}">
                <a16:creationId xmlns:a16="http://schemas.microsoft.com/office/drawing/2014/main" id="{604EAFCD-9A81-2592-48FE-DBC358BAE1C1}"/>
              </a:ext>
            </a:extLst>
          </p:cNvPr>
          <p:cNvSpPr txBox="1"/>
          <p:nvPr/>
        </p:nvSpPr>
        <p:spPr>
          <a:xfrm>
            <a:off x="1128713" y="1027176"/>
            <a:ext cx="8858250" cy="400110"/>
          </a:xfrm>
          <a:prstGeom prst="rect">
            <a:avLst/>
          </a:prstGeom>
          <a:noFill/>
        </p:spPr>
        <p:txBody>
          <a:bodyPr wrap="square">
            <a:spAutoFit/>
          </a:bodyPr>
          <a:lstStyle/>
          <a:p>
            <a:pPr lvl="1"/>
            <a:r>
              <a:rPr lang="fr-FR" sz="2000" b="1" i="1" dirty="0">
                <a:solidFill>
                  <a:srgbClr val="002060"/>
                </a:solidFill>
                <a:latin typeface="Arial" panose="020B0604020202020204" pitchFamily="34" charset="0"/>
                <a:cs typeface="Arial" panose="020B0604020202020204" pitchFamily="34" charset="0"/>
              </a:rPr>
              <a:t>Des rebouclages en cours de travail et une amélioration continue</a:t>
            </a:r>
          </a:p>
        </p:txBody>
      </p:sp>
      <p:sp>
        <p:nvSpPr>
          <p:cNvPr id="12" name="ZoneTexte 11">
            <a:extLst>
              <a:ext uri="{FF2B5EF4-FFF2-40B4-BE49-F238E27FC236}">
                <a16:creationId xmlns:a16="http://schemas.microsoft.com/office/drawing/2014/main" id="{E789438E-CBD5-3D83-3948-D7BAAADA049F}"/>
              </a:ext>
            </a:extLst>
          </p:cNvPr>
          <p:cNvSpPr txBox="1"/>
          <p:nvPr/>
        </p:nvSpPr>
        <p:spPr>
          <a:xfrm>
            <a:off x="-379851" y="1250835"/>
            <a:ext cx="5724519" cy="5632311"/>
          </a:xfrm>
          <a:prstGeom prst="rect">
            <a:avLst/>
          </a:prstGeom>
          <a:noFill/>
        </p:spPr>
        <p:txBody>
          <a:bodyPr wrap="square" rtlCol="0">
            <a:spAutoFit/>
          </a:bodyPr>
          <a:lstStyle/>
          <a:p>
            <a:endParaRPr lang="fr-FR" sz="2000" dirty="0">
              <a:latin typeface="Arial" panose="020B0604020202020204" pitchFamily="34" charset="0"/>
              <a:cs typeface="Arial" panose="020B0604020202020204" pitchFamily="34" charset="0"/>
            </a:endParaRPr>
          </a:p>
          <a:p>
            <a:pPr marL="742950" lvl="1" indent="-285750">
              <a:buFont typeface="Wingdings" panose="05000000000000000000" pitchFamily="2" charset="2"/>
              <a:buChar char="Ø"/>
            </a:pPr>
            <a:r>
              <a:rPr lang="fr-FR" sz="2000" b="1" i="1" dirty="0">
                <a:solidFill>
                  <a:srgbClr val="002060"/>
                </a:solidFill>
                <a:latin typeface="Arial" panose="020B0604020202020204" pitchFamily="34" charset="0"/>
                <a:cs typeface="Arial" panose="020B0604020202020204" pitchFamily="34" charset="0"/>
              </a:rPr>
              <a:t>Cycles opérationnels</a:t>
            </a:r>
          </a:p>
          <a:p>
            <a:pPr marL="1200150" lvl="2" indent="-285750">
              <a:buFont typeface="Wingdings" panose="05000000000000000000" pitchFamily="2" charset="2"/>
              <a:buChar char="§"/>
            </a:pPr>
            <a:r>
              <a:rPr lang="fr-FR" sz="2000" dirty="0">
                <a:latin typeface="Arial" panose="020B0604020202020204" pitchFamily="34" charset="0"/>
                <a:cs typeface="Arial" panose="020B0604020202020204" pitchFamily="34" charset="0"/>
              </a:rPr>
              <a:t>Chaque atelier peut demander plusieurs itérations pour obtenir un résultat pleinement satisfaisant (compris et accepté) par tous les participants ;</a:t>
            </a:r>
          </a:p>
          <a:p>
            <a:pPr marL="1200150" lvl="2" indent="-285750">
              <a:buFont typeface="Wingdings" panose="05000000000000000000" pitchFamily="2" charset="2"/>
              <a:buChar char="§"/>
            </a:pPr>
            <a:r>
              <a:rPr lang="fr-FR" sz="2000" dirty="0">
                <a:latin typeface="Arial" panose="020B0604020202020204" pitchFamily="34" charset="0"/>
                <a:cs typeface="Arial" panose="020B0604020202020204" pitchFamily="34" charset="0"/>
              </a:rPr>
              <a:t>Chaque nouvel atelier peut remettre en cause ou améliorer les ateliers précédents (cohérence, complétude)</a:t>
            </a:r>
          </a:p>
          <a:p>
            <a:pPr lvl="2"/>
            <a:endParaRPr lang="fr-FR" sz="2000" dirty="0">
              <a:latin typeface="Arial" panose="020B0604020202020204" pitchFamily="34" charset="0"/>
              <a:cs typeface="Arial" panose="020B0604020202020204" pitchFamily="34" charset="0"/>
            </a:endParaRPr>
          </a:p>
          <a:p>
            <a:pPr marL="742950" lvl="1" indent="-285750">
              <a:buFont typeface="Wingdings" panose="05000000000000000000" pitchFamily="2" charset="2"/>
              <a:buChar char="Ø"/>
            </a:pPr>
            <a:r>
              <a:rPr lang="fr-FR" sz="2000" b="1" i="1" dirty="0">
                <a:solidFill>
                  <a:srgbClr val="002060"/>
                </a:solidFill>
                <a:latin typeface="Arial" panose="020B0604020202020204" pitchFamily="34" charset="0"/>
                <a:cs typeface="Arial" panose="020B0604020202020204" pitchFamily="34" charset="0"/>
              </a:rPr>
              <a:t>Cycles stratégiques</a:t>
            </a:r>
          </a:p>
          <a:p>
            <a:pPr marL="1200150" lvl="2" indent="-285750">
              <a:buFont typeface="Wingdings" panose="05000000000000000000" pitchFamily="2" charset="2"/>
              <a:buChar char="§"/>
            </a:pPr>
            <a:r>
              <a:rPr lang="fr-FR" sz="2000" dirty="0">
                <a:latin typeface="Arial" panose="020B0604020202020204" pitchFamily="34" charset="0"/>
                <a:cs typeface="Arial" panose="020B0604020202020204" pitchFamily="34" charset="0"/>
              </a:rPr>
              <a:t>Les changements significatifs / substantiels (nouvelles fonctionnalités, évolutions du système, attributions à d’autres stakeholders, et cetera)</a:t>
            </a:r>
          </a:p>
          <a:p>
            <a:pPr marL="1200150" lvl="2" indent="-285750">
              <a:buFont typeface="Wingdings" panose="05000000000000000000" pitchFamily="2" charset="2"/>
              <a:buChar char="§"/>
            </a:pPr>
            <a:r>
              <a:rPr lang="fr-FR" sz="2000" dirty="0">
                <a:latin typeface="Arial" panose="020B0604020202020204" pitchFamily="34" charset="0"/>
                <a:cs typeface="Arial" panose="020B0604020202020204" pitchFamily="34" charset="0"/>
              </a:rPr>
              <a:t>Il convient de prévoir une fréquence maximale de révision des études</a:t>
            </a:r>
          </a:p>
        </p:txBody>
      </p:sp>
      <p:pic>
        <p:nvPicPr>
          <p:cNvPr id="8" name="Image 7">
            <a:extLst>
              <a:ext uri="{FF2B5EF4-FFF2-40B4-BE49-F238E27FC236}">
                <a16:creationId xmlns:a16="http://schemas.microsoft.com/office/drawing/2014/main" id="{62F3B76F-FB32-206A-47BE-E63B058061D1}"/>
              </a:ext>
            </a:extLst>
          </p:cNvPr>
          <p:cNvPicPr>
            <a:picLocks noChangeAspect="1"/>
          </p:cNvPicPr>
          <p:nvPr/>
        </p:nvPicPr>
        <p:blipFill>
          <a:blip r:embed="rId4"/>
          <a:stretch>
            <a:fillRect/>
          </a:stretch>
        </p:blipFill>
        <p:spPr>
          <a:xfrm>
            <a:off x="5344667" y="2231849"/>
            <a:ext cx="5223129" cy="3125099"/>
          </a:xfrm>
          <a:prstGeom prst="rect">
            <a:avLst/>
          </a:prstGeom>
        </p:spPr>
      </p:pic>
    </p:spTree>
    <p:extLst>
      <p:ext uri="{BB962C8B-B14F-4D97-AF65-F5344CB8AC3E}">
        <p14:creationId xmlns:p14="http://schemas.microsoft.com/office/powerpoint/2010/main" val="1609510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272D3D9-8CBB-374F-07F1-47DE4BB50F23}"/>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9AD600FF-9CDA-0C65-2726-292FDF4D7C2E}"/>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C7818323-ACED-5C80-DAFF-E340B8EA77AA}"/>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2. EBIOS Risk Manager – Démarche </a:t>
            </a:r>
            <a:r>
              <a:rPr lang="en-US" sz="2600" b="1" dirty="0" err="1">
                <a:solidFill>
                  <a:srgbClr val="161616"/>
                </a:solidFill>
                <a:latin typeface="Arial"/>
              </a:rPr>
              <a:t>itérative</a:t>
            </a:r>
            <a:endParaRPr lang="en-US" sz="2600" b="1" dirty="0">
              <a:solidFill>
                <a:srgbClr val="161616"/>
              </a:solidFill>
              <a:latin typeface="Arial"/>
            </a:endParaRPr>
          </a:p>
        </p:txBody>
      </p:sp>
      <p:sp>
        <p:nvSpPr>
          <p:cNvPr id="6" name="ZoneTexte 5">
            <a:extLst>
              <a:ext uri="{FF2B5EF4-FFF2-40B4-BE49-F238E27FC236}">
                <a16:creationId xmlns:a16="http://schemas.microsoft.com/office/drawing/2014/main" id="{A05E17B6-BFDA-45EB-36FE-879D010B6938}"/>
              </a:ext>
            </a:extLst>
          </p:cNvPr>
          <p:cNvSpPr txBox="1"/>
          <p:nvPr/>
        </p:nvSpPr>
        <p:spPr>
          <a:xfrm>
            <a:off x="2433828" y="969264"/>
            <a:ext cx="8858250" cy="400110"/>
          </a:xfrm>
          <a:prstGeom prst="rect">
            <a:avLst/>
          </a:prstGeom>
          <a:noFill/>
        </p:spPr>
        <p:txBody>
          <a:bodyPr wrap="square">
            <a:spAutoFit/>
          </a:bodyPr>
          <a:lstStyle/>
          <a:p>
            <a:pPr lvl="1"/>
            <a:r>
              <a:rPr lang="fr-FR" sz="2000" b="1" i="1" dirty="0">
                <a:solidFill>
                  <a:srgbClr val="002060"/>
                </a:solidFill>
                <a:latin typeface="Arial" panose="020B0604020202020204" pitchFamily="34" charset="0"/>
                <a:cs typeface="Arial" panose="020B0604020202020204" pitchFamily="34" charset="0"/>
              </a:rPr>
              <a:t>Une démarche itérative en 05 ateliers</a:t>
            </a:r>
          </a:p>
        </p:txBody>
      </p:sp>
      <p:pic>
        <p:nvPicPr>
          <p:cNvPr id="5" name="Image 4">
            <a:extLst>
              <a:ext uri="{FF2B5EF4-FFF2-40B4-BE49-F238E27FC236}">
                <a16:creationId xmlns:a16="http://schemas.microsoft.com/office/drawing/2014/main" id="{99E9826E-DBDC-BA0C-89C7-A9640E3755C1}"/>
              </a:ext>
            </a:extLst>
          </p:cNvPr>
          <p:cNvPicPr>
            <a:picLocks noChangeAspect="1"/>
          </p:cNvPicPr>
          <p:nvPr/>
        </p:nvPicPr>
        <p:blipFill>
          <a:blip r:embed="rId4"/>
          <a:stretch>
            <a:fillRect/>
          </a:stretch>
        </p:blipFill>
        <p:spPr>
          <a:xfrm>
            <a:off x="885825" y="1427286"/>
            <a:ext cx="8715375" cy="5214577"/>
          </a:xfrm>
          <a:prstGeom prst="rect">
            <a:avLst/>
          </a:prstGeom>
        </p:spPr>
      </p:pic>
    </p:spTree>
    <p:extLst>
      <p:ext uri="{BB962C8B-B14F-4D97-AF65-F5344CB8AC3E}">
        <p14:creationId xmlns:p14="http://schemas.microsoft.com/office/powerpoint/2010/main" val="312291101"/>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FBDF969-B748-2A02-85DA-9A524D1F7838}"/>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1CFC6F4B-9D12-C991-FA03-5D34DB09C5AD}"/>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961376FE-8CE0-2B57-9E73-7563AB868CA7}"/>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2. EBIOS Risk Manager – Plan </a:t>
            </a:r>
            <a:r>
              <a:rPr lang="en-US" sz="2600" b="1" dirty="0" err="1">
                <a:solidFill>
                  <a:srgbClr val="161616"/>
                </a:solidFill>
                <a:latin typeface="Arial"/>
              </a:rPr>
              <a:t>d’action</a:t>
            </a:r>
            <a:endParaRPr lang="en-US" sz="2600" b="1" dirty="0">
              <a:solidFill>
                <a:srgbClr val="161616"/>
              </a:solidFill>
              <a:latin typeface="Arial"/>
            </a:endParaRPr>
          </a:p>
        </p:txBody>
      </p:sp>
      <p:sp>
        <p:nvSpPr>
          <p:cNvPr id="6" name="ZoneTexte 5">
            <a:extLst>
              <a:ext uri="{FF2B5EF4-FFF2-40B4-BE49-F238E27FC236}">
                <a16:creationId xmlns:a16="http://schemas.microsoft.com/office/drawing/2014/main" id="{FF23F366-69F2-4BA7-E3B8-15CCD0EAEAA7}"/>
              </a:ext>
            </a:extLst>
          </p:cNvPr>
          <p:cNvSpPr txBox="1"/>
          <p:nvPr/>
        </p:nvSpPr>
        <p:spPr>
          <a:xfrm>
            <a:off x="1128713" y="1027176"/>
            <a:ext cx="8858250" cy="400110"/>
          </a:xfrm>
          <a:prstGeom prst="rect">
            <a:avLst/>
          </a:prstGeom>
          <a:noFill/>
        </p:spPr>
        <p:txBody>
          <a:bodyPr wrap="square">
            <a:spAutoFit/>
          </a:bodyPr>
          <a:lstStyle/>
          <a:p>
            <a:pPr lvl="1"/>
            <a:r>
              <a:rPr lang="fr-FR" sz="2000" b="1" i="1" dirty="0">
                <a:solidFill>
                  <a:srgbClr val="002060"/>
                </a:solidFill>
                <a:latin typeface="Arial" panose="020B0604020202020204" pitchFamily="34" charset="0"/>
                <a:cs typeface="Arial" panose="020B0604020202020204" pitchFamily="34" charset="0"/>
              </a:rPr>
              <a:t>Des rebouclages en cours de travail et une amélioration continue</a:t>
            </a:r>
          </a:p>
        </p:txBody>
      </p:sp>
      <p:sp>
        <p:nvSpPr>
          <p:cNvPr id="12" name="ZoneTexte 11">
            <a:extLst>
              <a:ext uri="{FF2B5EF4-FFF2-40B4-BE49-F238E27FC236}">
                <a16:creationId xmlns:a16="http://schemas.microsoft.com/office/drawing/2014/main" id="{AC509F59-140E-0B7B-3FF1-35B34A268D8E}"/>
              </a:ext>
            </a:extLst>
          </p:cNvPr>
          <p:cNvSpPr txBox="1"/>
          <p:nvPr/>
        </p:nvSpPr>
        <p:spPr>
          <a:xfrm>
            <a:off x="4257674" y="1027176"/>
            <a:ext cx="6382893" cy="5940088"/>
          </a:xfrm>
          <a:prstGeom prst="rect">
            <a:avLst/>
          </a:prstGeom>
          <a:noFill/>
        </p:spPr>
        <p:txBody>
          <a:bodyPr wrap="square" rtlCol="0">
            <a:spAutoFit/>
          </a:bodyPr>
          <a:lstStyle/>
          <a:p>
            <a:endParaRPr lang="fr-FR" sz="2000" dirty="0">
              <a:latin typeface="Arial" panose="020B0604020202020204" pitchFamily="34" charset="0"/>
              <a:cs typeface="Arial" panose="020B0604020202020204" pitchFamily="34" charset="0"/>
            </a:endParaRPr>
          </a:p>
          <a:p>
            <a:pPr marL="742950" lvl="1" indent="-285750">
              <a:buFont typeface="Wingdings" panose="05000000000000000000" pitchFamily="2" charset="2"/>
              <a:buChar char="Ø"/>
            </a:pPr>
            <a:r>
              <a:rPr lang="fr-FR" sz="2000" b="1" i="1" dirty="0">
                <a:solidFill>
                  <a:srgbClr val="002060"/>
                </a:solidFill>
                <a:latin typeface="Arial" panose="020B0604020202020204" pitchFamily="34" charset="0"/>
                <a:cs typeface="Arial" panose="020B0604020202020204" pitchFamily="34" charset="0"/>
              </a:rPr>
              <a:t>Des mesures à l’issue de toute réflexion</a:t>
            </a:r>
          </a:p>
          <a:p>
            <a:pPr marL="1200150" lvl="2" indent="-285750" algn="just">
              <a:buFont typeface="Wingdings" panose="05000000000000000000" pitchFamily="2" charset="2"/>
              <a:buChar char="§"/>
            </a:pPr>
            <a:r>
              <a:rPr lang="fr-FR" sz="2000" b="1" i="1" dirty="0">
                <a:latin typeface="Arial" panose="020B0604020202020204" pitchFamily="34" charset="0"/>
                <a:cs typeface="Arial" panose="020B0604020202020204" pitchFamily="34" charset="0"/>
              </a:rPr>
              <a:t>Atelier 1 : </a:t>
            </a:r>
            <a:r>
              <a:rPr lang="fr-FR" sz="2000" i="1" dirty="0">
                <a:latin typeface="Arial" panose="020B0604020202020204" pitchFamily="34" charset="0"/>
                <a:cs typeface="Arial" panose="020B0604020202020204" pitchFamily="34" charset="0"/>
              </a:rPr>
              <a:t>agir sur le socle de sécurité (réellement mettre en œuvre ou améliorer ce qu’on s’est engagé à appliquer);</a:t>
            </a:r>
          </a:p>
          <a:p>
            <a:pPr marL="1200150" lvl="2" indent="-285750" algn="just">
              <a:buFont typeface="Wingdings" panose="05000000000000000000" pitchFamily="2" charset="2"/>
              <a:buChar char="§"/>
            </a:pPr>
            <a:r>
              <a:rPr lang="fr-FR" sz="2000" b="1" i="1" dirty="0">
                <a:latin typeface="Arial" panose="020B0604020202020204" pitchFamily="34" charset="0"/>
                <a:cs typeface="Arial" panose="020B0604020202020204" pitchFamily="34" charset="0"/>
              </a:rPr>
              <a:t>Atelier 2 : </a:t>
            </a:r>
            <a:r>
              <a:rPr lang="fr-FR" sz="2000" i="1" dirty="0">
                <a:latin typeface="Arial" panose="020B0604020202020204" pitchFamily="34" charset="0"/>
                <a:cs typeface="Arial" panose="020B0604020202020204" pitchFamily="34" charset="0"/>
              </a:rPr>
              <a:t>agir sur les sources de risques et leurs objectifs (dissuasion, désinformation, adapter l’activité ou sa communication, </a:t>
            </a:r>
            <a:r>
              <a:rPr lang="fr-FR" sz="2000" i="1" dirty="0" err="1">
                <a:latin typeface="Arial" panose="020B0604020202020204" pitchFamily="34" charset="0"/>
                <a:cs typeface="Arial" panose="020B0604020202020204" pitchFamily="34" charset="0"/>
              </a:rPr>
              <a:t>etc</a:t>
            </a:r>
            <a:r>
              <a:rPr lang="fr-FR" sz="2000" i="1" dirty="0">
                <a:latin typeface="Arial" panose="020B0604020202020204" pitchFamily="34" charset="0"/>
                <a:cs typeface="Arial" panose="020B0604020202020204" pitchFamily="34" charset="0"/>
              </a:rPr>
              <a:t>)</a:t>
            </a:r>
          </a:p>
          <a:p>
            <a:pPr marL="1200150" lvl="2" indent="-285750" algn="just">
              <a:buFont typeface="Wingdings" panose="05000000000000000000" pitchFamily="2" charset="2"/>
              <a:buChar char="§"/>
            </a:pPr>
            <a:r>
              <a:rPr lang="fr-FR" sz="2000" b="1" i="1" dirty="0">
                <a:latin typeface="Arial" panose="020B0604020202020204" pitchFamily="34" charset="0"/>
                <a:cs typeface="Arial" panose="020B0604020202020204" pitchFamily="34" charset="0"/>
              </a:rPr>
              <a:t>Atelier 3 : </a:t>
            </a:r>
            <a:r>
              <a:rPr lang="fr-FR" sz="2000" i="1" dirty="0">
                <a:latin typeface="Arial" panose="020B0604020202020204" pitchFamily="34" charset="0"/>
                <a:cs typeface="Arial" panose="020B0604020202020204" pitchFamily="34" charset="0"/>
              </a:rPr>
              <a:t>agir sur les parties prenantes et l’écosystème (changer de partenaires, les former, durcir les contrats, cloisonnement, chiffrement, </a:t>
            </a:r>
            <a:r>
              <a:rPr lang="fr-FR" sz="2000" i="1" dirty="0" err="1">
                <a:latin typeface="Arial" panose="020B0604020202020204" pitchFamily="34" charset="0"/>
                <a:cs typeface="Arial" panose="020B0604020202020204" pitchFamily="34" charset="0"/>
              </a:rPr>
              <a:t>etc</a:t>
            </a:r>
            <a:r>
              <a:rPr lang="fr-FR" sz="2000" i="1" dirty="0">
                <a:latin typeface="Arial" panose="020B0604020202020204" pitchFamily="34" charset="0"/>
                <a:cs typeface="Arial" panose="020B0604020202020204" pitchFamily="34" charset="0"/>
              </a:rPr>
              <a:t>)</a:t>
            </a:r>
          </a:p>
          <a:p>
            <a:pPr marL="1200150" lvl="2" indent="-285750" algn="just">
              <a:buFont typeface="Wingdings" panose="05000000000000000000" pitchFamily="2" charset="2"/>
              <a:buChar char="§"/>
            </a:pPr>
            <a:r>
              <a:rPr lang="fr-FR" sz="2000" b="1" i="1" dirty="0">
                <a:latin typeface="Arial" panose="020B0604020202020204" pitchFamily="34" charset="0"/>
                <a:cs typeface="Arial" panose="020B0604020202020204" pitchFamily="34" charset="0"/>
              </a:rPr>
              <a:t>Atelier 4 : </a:t>
            </a:r>
            <a:r>
              <a:rPr lang="fr-FR" sz="2000" i="1" dirty="0">
                <a:latin typeface="Arial" panose="020B0604020202020204" pitchFamily="34" charset="0"/>
                <a:cs typeface="Arial" panose="020B0604020202020204" pitchFamily="34" charset="0"/>
              </a:rPr>
              <a:t>agir sur les biens supports (réseaux, </a:t>
            </a:r>
            <a:r>
              <a:rPr lang="fr-FR" sz="2000" i="1" dirty="0" err="1">
                <a:latin typeface="Arial" panose="020B0604020202020204" pitchFamily="34" charset="0"/>
                <a:cs typeface="Arial" panose="020B0604020202020204" pitchFamily="34" charset="0"/>
              </a:rPr>
              <a:t>materiels</a:t>
            </a:r>
            <a:r>
              <a:rPr lang="fr-FR" sz="2000" i="1" dirty="0">
                <a:latin typeface="Arial" panose="020B0604020202020204" pitchFamily="34" charset="0"/>
                <a:cs typeface="Arial" panose="020B0604020202020204" pitchFamily="34" charset="0"/>
              </a:rPr>
              <a:t>, logiciels, </a:t>
            </a:r>
            <a:r>
              <a:rPr lang="fr-FR" sz="2000" i="1" dirty="0" err="1">
                <a:latin typeface="Arial" panose="020B0604020202020204" pitchFamily="34" charset="0"/>
                <a:cs typeface="Arial" panose="020B0604020202020204" pitchFamily="34" charset="0"/>
              </a:rPr>
              <a:t>etc</a:t>
            </a:r>
            <a:r>
              <a:rPr lang="fr-FR" sz="2000" i="1" dirty="0">
                <a:latin typeface="Arial" panose="020B0604020202020204" pitchFamily="34" charset="0"/>
                <a:cs typeface="Arial" panose="020B0604020202020204" pitchFamily="34" charset="0"/>
              </a:rPr>
              <a:t>) en profondeur (prévention, protection, récupération)</a:t>
            </a:r>
          </a:p>
          <a:p>
            <a:pPr marL="1200150" lvl="2" indent="-285750" algn="just">
              <a:buFont typeface="Wingdings" panose="05000000000000000000" pitchFamily="2" charset="2"/>
              <a:buChar char="§"/>
            </a:pPr>
            <a:r>
              <a:rPr lang="fr-FR" sz="2000" i="1" dirty="0">
                <a:latin typeface="Arial" panose="020B0604020202020204" pitchFamily="34" charset="0"/>
                <a:cs typeface="Arial" panose="020B0604020202020204" pitchFamily="34" charset="0"/>
              </a:rPr>
              <a:t>Atelier 5 : Vérifier la complétude et la cohérence des mesures dans leur ensemble et au regard de l’ensemble des risques,</a:t>
            </a:r>
          </a:p>
        </p:txBody>
      </p:sp>
      <p:pic>
        <p:nvPicPr>
          <p:cNvPr id="8" name="Image 7">
            <a:extLst>
              <a:ext uri="{FF2B5EF4-FFF2-40B4-BE49-F238E27FC236}">
                <a16:creationId xmlns:a16="http://schemas.microsoft.com/office/drawing/2014/main" id="{35B1A4D1-415D-9DFE-E07E-936ECDC2A14C}"/>
              </a:ext>
            </a:extLst>
          </p:cNvPr>
          <p:cNvPicPr>
            <a:picLocks noChangeAspect="1"/>
          </p:cNvPicPr>
          <p:nvPr/>
        </p:nvPicPr>
        <p:blipFill>
          <a:blip r:embed="rId4"/>
          <a:stretch>
            <a:fillRect/>
          </a:stretch>
        </p:blipFill>
        <p:spPr>
          <a:xfrm>
            <a:off x="48768" y="2298739"/>
            <a:ext cx="5223129" cy="3125099"/>
          </a:xfrm>
          <a:prstGeom prst="rect">
            <a:avLst/>
          </a:prstGeom>
        </p:spPr>
      </p:pic>
    </p:spTree>
    <p:extLst>
      <p:ext uri="{BB962C8B-B14F-4D97-AF65-F5344CB8AC3E}">
        <p14:creationId xmlns:p14="http://schemas.microsoft.com/office/powerpoint/2010/main" val="30544787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C970FBC-5CD8-383C-9292-FD1293176F00}"/>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467BA10D-7E4F-0CFA-AB47-76804EF843A0}"/>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CA904CD8-B7D8-0C8B-5DE4-0D71CB147F2F}"/>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2. EBIOS Risk Manager – Plan </a:t>
            </a:r>
            <a:r>
              <a:rPr lang="en-US" sz="2600" b="1" dirty="0" err="1">
                <a:solidFill>
                  <a:srgbClr val="161616"/>
                </a:solidFill>
                <a:latin typeface="Arial"/>
              </a:rPr>
              <a:t>d’action</a:t>
            </a:r>
            <a:endParaRPr lang="en-US" sz="2600" b="1" dirty="0">
              <a:solidFill>
                <a:srgbClr val="161616"/>
              </a:solidFill>
              <a:latin typeface="Arial"/>
            </a:endParaRPr>
          </a:p>
        </p:txBody>
      </p:sp>
      <p:pic>
        <p:nvPicPr>
          <p:cNvPr id="5" name="Image 4">
            <a:extLst>
              <a:ext uri="{FF2B5EF4-FFF2-40B4-BE49-F238E27FC236}">
                <a16:creationId xmlns:a16="http://schemas.microsoft.com/office/drawing/2014/main" id="{830FECA6-861E-C964-F3C8-81E80C57636B}"/>
              </a:ext>
            </a:extLst>
          </p:cNvPr>
          <p:cNvPicPr>
            <a:picLocks noChangeAspect="1"/>
          </p:cNvPicPr>
          <p:nvPr/>
        </p:nvPicPr>
        <p:blipFill>
          <a:blip r:embed="rId4"/>
          <a:stretch>
            <a:fillRect/>
          </a:stretch>
        </p:blipFill>
        <p:spPr>
          <a:xfrm>
            <a:off x="965339" y="1257300"/>
            <a:ext cx="8577987" cy="3028950"/>
          </a:xfrm>
          <a:prstGeom prst="rect">
            <a:avLst/>
          </a:prstGeom>
        </p:spPr>
      </p:pic>
      <p:pic>
        <p:nvPicPr>
          <p:cNvPr id="9" name="Image 8">
            <a:extLst>
              <a:ext uri="{FF2B5EF4-FFF2-40B4-BE49-F238E27FC236}">
                <a16:creationId xmlns:a16="http://schemas.microsoft.com/office/drawing/2014/main" id="{096CF134-7E67-209D-8DF6-55A6DBB62C06}"/>
              </a:ext>
            </a:extLst>
          </p:cNvPr>
          <p:cNvPicPr>
            <a:picLocks noChangeAspect="1"/>
          </p:cNvPicPr>
          <p:nvPr/>
        </p:nvPicPr>
        <p:blipFill>
          <a:blip r:embed="rId5"/>
          <a:stretch>
            <a:fillRect/>
          </a:stretch>
        </p:blipFill>
        <p:spPr>
          <a:xfrm>
            <a:off x="965339" y="4453128"/>
            <a:ext cx="8583578" cy="2704909"/>
          </a:xfrm>
          <a:prstGeom prst="rect">
            <a:avLst/>
          </a:prstGeom>
        </p:spPr>
      </p:pic>
    </p:spTree>
    <p:extLst>
      <p:ext uri="{BB962C8B-B14F-4D97-AF65-F5344CB8AC3E}">
        <p14:creationId xmlns:p14="http://schemas.microsoft.com/office/powerpoint/2010/main" val="14210298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AE87550-71B6-F71D-7C94-AEF125166DE8}"/>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42ACC32E-36F0-C18F-E265-F42B0F7CE649}"/>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F7F6797E-34A7-5B8C-B765-CF3FF54BB162}"/>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2. EBIOS Risk Manager – Plan </a:t>
            </a:r>
            <a:r>
              <a:rPr lang="en-US" sz="2600" b="1" dirty="0" err="1">
                <a:solidFill>
                  <a:srgbClr val="161616"/>
                </a:solidFill>
                <a:latin typeface="Arial"/>
              </a:rPr>
              <a:t>d’action</a:t>
            </a:r>
            <a:endParaRPr lang="en-US" sz="2600" b="1" dirty="0">
              <a:solidFill>
                <a:srgbClr val="161616"/>
              </a:solidFill>
              <a:latin typeface="Arial"/>
            </a:endParaRPr>
          </a:p>
        </p:txBody>
      </p:sp>
      <p:pic>
        <p:nvPicPr>
          <p:cNvPr id="6" name="Image 5">
            <a:extLst>
              <a:ext uri="{FF2B5EF4-FFF2-40B4-BE49-F238E27FC236}">
                <a16:creationId xmlns:a16="http://schemas.microsoft.com/office/drawing/2014/main" id="{EAD3C49D-41A3-A93E-32BC-49ACE3BE263C}"/>
              </a:ext>
            </a:extLst>
          </p:cNvPr>
          <p:cNvPicPr>
            <a:picLocks noChangeAspect="1"/>
          </p:cNvPicPr>
          <p:nvPr/>
        </p:nvPicPr>
        <p:blipFill>
          <a:blip r:embed="rId4"/>
          <a:stretch>
            <a:fillRect/>
          </a:stretch>
        </p:blipFill>
        <p:spPr>
          <a:xfrm>
            <a:off x="295832" y="1161929"/>
            <a:ext cx="10034319" cy="5153146"/>
          </a:xfrm>
          <a:prstGeom prst="rect">
            <a:avLst/>
          </a:prstGeom>
        </p:spPr>
      </p:pic>
    </p:spTree>
    <p:extLst>
      <p:ext uri="{BB962C8B-B14F-4D97-AF65-F5344CB8AC3E}">
        <p14:creationId xmlns:p14="http://schemas.microsoft.com/office/powerpoint/2010/main" val="3972304317"/>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6711EA5-8F77-A180-C743-6F61634833BD}"/>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CB64A26E-A7D5-A2F5-7F74-0641EA815F4F}"/>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DC1EE5DB-9FC2-74DE-E123-87159FDD9704}"/>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2. EBIOS Risk Manager – Plan </a:t>
            </a:r>
            <a:r>
              <a:rPr lang="en-US" sz="2600" b="1" dirty="0" err="1">
                <a:solidFill>
                  <a:srgbClr val="161616"/>
                </a:solidFill>
                <a:latin typeface="Arial"/>
              </a:rPr>
              <a:t>d’action</a:t>
            </a:r>
            <a:endParaRPr lang="en-US" sz="2600" b="1" dirty="0">
              <a:solidFill>
                <a:srgbClr val="161616"/>
              </a:solidFill>
              <a:latin typeface="Arial"/>
            </a:endParaRPr>
          </a:p>
        </p:txBody>
      </p:sp>
      <p:pic>
        <p:nvPicPr>
          <p:cNvPr id="5" name="Image 4">
            <a:extLst>
              <a:ext uri="{FF2B5EF4-FFF2-40B4-BE49-F238E27FC236}">
                <a16:creationId xmlns:a16="http://schemas.microsoft.com/office/drawing/2014/main" id="{65223C8E-3EFC-AD3A-1113-4C2EC8923D86}"/>
              </a:ext>
            </a:extLst>
          </p:cNvPr>
          <p:cNvPicPr>
            <a:picLocks noChangeAspect="1"/>
          </p:cNvPicPr>
          <p:nvPr/>
        </p:nvPicPr>
        <p:blipFill>
          <a:blip r:embed="rId4"/>
          <a:stretch>
            <a:fillRect/>
          </a:stretch>
        </p:blipFill>
        <p:spPr>
          <a:xfrm>
            <a:off x="585046" y="1027176"/>
            <a:ext cx="9118351" cy="3087625"/>
          </a:xfrm>
          <a:prstGeom prst="rect">
            <a:avLst/>
          </a:prstGeom>
        </p:spPr>
      </p:pic>
      <p:pic>
        <p:nvPicPr>
          <p:cNvPr id="8" name="Image 7">
            <a:extLst>
              <a:ext uri="{FF2B5EF4-FFF2-40B4-BE49-F238E27FC236}">
                <a16:creationId xmlns:a16="http://schemas.microsoft.com/office/drawing/2014/main" id="{B72F73E7-7013-F557-B239-89012BD89D7B}"/>
              </a:ext>
            </a:extLst>
          </p:cNvPr>
          <p:cNvPicPr>
            <a:picLocks noChangeAspect="1"/>
          </p:cNvPicPr>
          <p:nvPr/>
        </p:nvPicPr>
        <p:blipFill>
          <a:blip r:embed="rId5"/>
          <a:stretch>
            <a:fillRect/>
          </a:stretch>
        </p:blipFill>
        <p:spPr>
          <a:xfrm>
            <a:off x="728663" y="4230625"/>
            <a:ext cx="9336325" cy="3212905"/>
          </a:xfrm>
          <a:prstGeom prst="rect">
            <a:avLst/>
          </a:prstGeom>
        </p:spPr>
      </p:pic>
    </p:spTree>
    <p:extLst>
      <p:ext uri="{BB962C8B-B14F-4D97-AF65-F5344CB8AC3E}">
        <p14:creationId xmlns:p14="http://schemas.microsoft.com/office/powerpoint/2010/main" val="409070743"/>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849CB1B-9E8A-99ED-08EF-60CC8838AD79}"/>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35054F6B-67AD-EFB6-C5C5-FAC732E079C0}"/>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621D63DA-6AA7-6C81-5428-6E10B25DDB30}"/>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2. EBIOS Risk Manager – Plan </a:t>
            </a:r>
            <a:r>
              <a:rPr lang="en-US" sz="2600" b="1" dirty="0" err="1">
                <a:solidFill>
                  <a:srgbClr val="161616"/>
                </a:solidFill>
                <a:latin typeface="Arial"/>
              </a:rPr>
              <a:t>d’action</a:t>
            </a:r>
            <a:endParaRPr lang="en-US" sz="2600" b="1" dirty="0">
              <a:solidFill>
                <a:srgbClr val="161616"/>
              </a:solidFill>
              <a:latin typeface="Arial"/>
            </a:endParaRPr>
          </a:p>
        </p:txBody>
      </p:sp>
      <p:pic>
        <p:nvPicPr>
          <p:cNvPr id="6" name="Image 5">
            <a:extLst>
              <a:ext uri="{FF2B5EF4-FFF2-40B4-BE49-F238E27FC236}">
                <a16:creationId xmlns:a16="http://schemas.microsoft.com/office/drawing/2014/main" id="{B836F0EA-1FAF-973C-46C2-9EFA2575F357}"/>
              </a:ext>
            </a:extLst>
          </p:cNvPr>
          <p:cNvPicPr>
            <a:picLocks noChangeAspect="1"/>
          </p:cNvPicPr>
          <p:nvPr/>
        </p:nvPicPr>
        <p:blipFill>
          <a:blip r:embed="rId4"/>
          <a:stretch>
            <a:fillRect/>
          </a:stretch>
        </p:blipFill>
        <p:spPr>
          <a:xfrm>
            <a:off x="866108" y="911352"/>
            <a:ext cx="9192291" cy="5675691"/>
          </a:xfrm>
          <a:prstGeom prst="rect">
            <a:avLst/>
          </a:prstGeom>
        </p:spPr>
      </p:pic>
      <p:sp>
        <p:nvSpPr>
          <p:cNvPr id="9" name="ZoneTexte 8">
            <a:extLst>
              <a:ext uri="{FF2B5EF4-FFF2-40B4-BE49-F238E27FC236}">
                <a16:creationId xmlns:a16="http://schemas.microsoft.com/office/drawing/2014/main" id="{181E6B42-437C-1BE9-F1F1-9864A4C475AA}"/>
              </a:ext>
            </a:extLst>
          </p:cNvPr>
          <p:cNvSpPr txBox="1"/>
          <p:nvPr/>
        </p:nvSpPr>
        <p:spPr>
          <a:xfrm>
            <a:off x="3443288" y="6513814"/>
            <a:ext cx="5343524" cy="369332"/>
          </a:xfrm>
          <a:prstGeom prst="rect">
            <a:avLst/>
          </a:prstGeom>
          <a:noFill/>
        </p:spPr>
        <p:txBody>
          <a:bodyPr wrap="square">
            <a:spAutoFit/>
          </a:bodyPr>
          <a:lstStyle/>
          <a:p>
            <a:r>
              <a:rPr lang="fr-FR" sz="1800" b="1" i="1" u="none" strike="noStrike" baseline="0" dirty="0">
                <a:solidFill>
                  <a:srgbClr val="002B4A"/>
                </a:solidFill>
                <a:latin typeface="Marianne-Regular"/>
              </a:rPr>
              <a:t>Lien entre les différents ateliers</a:t>
            </a:r>
            <a:endParaRPr lang="en-US" b="1" i="1" dirty="0"/>
          </a:p>
        </p:txBody>
      </p:sp>
    </p:spTree>
    <p:extLst>
      <p:ext uri="{BB962C8B-B14F-4D97-AF65-F5344CB8AC3E}">
        <p14:creationId xmlns:p14="http://schemas.microsoft.com/office/powerpoint/2010/main" val="41898296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C38FE24-8CE4-5CBF-0AE8-A70E9A4DF1ED}"/>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FF6B678A-C8CA-5EF1-236C-0AED59342833}"/>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17F5FDC0-2409-289E-810A-259E44926BA7}"/>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2. EBIOS Risk Manager – Plan </a:t>
            </a:r>
            <a:r>
              <a:rPr lang="en-US" sz="2600" b="1" dirty="0" err="1">
                <a:solidFill>
                  <a:srgbClr val="161616"/>
                </a:solidFill>
                <a:latin typeface="Arial"/>
              </a:rPr>
              <a:t>d’action</a:t>
            </a:r>
            <a:endParaRPr lang="en-US" sz="2600" b="1" dirty="0">
              <a:solidFill>
                <a:srgbClr val="161616"/>
              </a:solidFill>
              <a:latin typeface="Arial"/>
            </a:endParaRPr>
          </a:p>
        </p:txBody>
      </p:sp>
      <p:sp>
        <p:nvSpPr>
          <p:cNvPr id="9" name="ZoneTexte 8">
            <a:extLst>
              <a:ext uri="{FF2B5EF4-FFF2-40B4-BE49-F238E27FC236}">
                <a16:creationId xmlns:a16="http://schemas.microsoft.com/office/drawing/2014/main" id="{02422AF8-9018-59BC-5189-603BC9495F67}"/>
              </a:ext>
            </a:extLst>
          </p:cNvPr>
          <p:cNvSpPr txBox="1"/>
          <p:nvPr/>
        </p:nvSpPr>
        <p:spPr>
          <a:xfrm>
            <a:off x="3443288" y="6513814"/>
            <a:ext cx="5343524" cy="369332"/>
          </a:xfrm>
          <a:prstGeom prst="rect">
            <a:avLst/>
          </a:prstGeom>
          <a:noFill/>
        </p:spPr>
        <p:txBody>
          <a:bodyPr wrap="square">
            <a:spAutoFit/>
          </a:bodyPr>
          <a:lstStyle/>
          <a:p>
            <a:r>
              <a:rPr lang="fr-FR" sz="1800" b="1" i="1" u="none" strike="noStrike" baseline="0" dirty="0">
                <a:solidFill>
                  <a:srgbClr val="002B4A"/>
                </a:solidFill>
                <a:latin typeface="Marianne-Regular"/>
              </a:rPr>
              <a:t>Différents usages d’EBIOS RM</a:t>
            </a:r>
            <a:endParaRPr lang="en-US" b="1" i="1" dirty="0"/>
          </a:p>
        </p:txBody>
      </p:sp>
      <p:pic>
        <p:nvPicPr>
          <p:cNvPr id="5" name="Image 4">
            <a:extLst>
              <a:ext uri="{FF2B5EF4-FFF2-40B4-BE49-F238E27FC236}">
                <a16:creationId xmlns:a16="http://schemas.microsoft.com/office/drawing/2014/main" id="{5C9DA312-5F83-7DE2-A3B4-3DAA7ACEC8AF}"/>
              </a:ext>
            </a:extLst>
          </p:cNvPr>
          <p:cNvPicPr>
            <a:picLocks noChangeAspect="1"/>
          </p:cNvPicPr>
          <p:nvPr/>
        </p:nvPicPr>
        <p:blipFill>
          <a:blip r:embed="rId4"/>
          <a:stretch>
            <a:fillRect/>
          </a:stretch>
        </p:blipFill>
        <p:spPr>
          <a:xfrm>
            <a:off x="174109" y="988053"/>
            <a:ext cx="7401958" cy="5449060"/>
          </a:xfrm>
          <a:prstGeom prst="rect">
            <a:avLst/>
          </a:prstGeom>
        </p:spPr>
      </p:pic>
      <p:pic>
        <p:nvPicPr>
          <p:cNvPr id="8" name="Image 7">
            <a:extLst>
              <a:ext uri="{FF2B5EF4-FFF2-40B4-BE49-F238E27FC236}">
                <a16:creationId xmlns:a16="http://schemas.microsoft.com/office/drawing/2014/main" id="{99B59B92-C295-B5AF-50A8-1CBCCE8F9E4A}"/>
              </a:ext>
            </a:extLst>
          </p:cNvPr>
          <p:cNvPicPr>
            <a:picLocks noChangeAspect="1"/>
          </p:cNvPicPr>
          <p:nvPr/>
        </p:nvPicPr>
        <p:blipFill>
          <a:blip r:embed="rId5"/>
          <a:stretch>
            <a:fillRect/>
          </a:stretch>
        </p:blipFill>
        <p:spPr>
          <a:xfrm>
            <a:off x="7399208" y="2634403"/>
            <a:ext cx="3294192" cy="2135479"/>
          </a:xfrm>
          <a:prstGeom prst="rect">
            <a:avLst/>
          </a:prstGeom>
        </p:spPr>
      </p:pic>
    </p:spTree>
    <p:extLst>
      <p:ext uri="{BB962C8B-B14F-4D97-AF65-F5344CB8AC3E}">
        <p14:creationId xmlns:p14="http://schemas.microsoft.com/office/powerpoint/2010/main" val="3976836508"/>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8988A3B-CD69-B3BF-DB1F-D54ABC502C0F}"/>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9BEFB384-9C5E-DF23-18A5-70EEC1D9732F}"/>
              </a:ext>
            </a:extLst>
          </p:cNvPr>
          <p:cNvPicPr>
            <a:picLocks noChangeAspect="1"/>
          </p:cNvPicPr>
          <p:nvPr/>
        </p:nvPicPr>
        <p:blipFill>
          <a:blip r:embed="rId2"/>
          <a:stretch>
            <a:fillRect/>
          </a:stretch>
        </p:blipFill>
        <p:spPr>
          <a:xfrm>
            <a:off x="48768" y="679704"/>
            <a:ext cx="10591800" cy="231648"/>
          </a:xfrm>
          <a:prstGeom prst="rect">
            <a:avLst/>
          </a:prstGeom>
        </p:spPr>
      </p:pic>
      <p:sp>
        <p:nvSpPr>
          <p:cNvPr id="3" name="Rectangle 2">
            <a:extLst>
              <a:ext uri="{FF2B5EF4-FFF2-40B4-BE49-F238E27FC236}">
                <a16:creationId xmlns:a16="http://schemas.microsoft.com/office/drawing/2014/main" id="{5AE47705-0037-EF60-4ACB-FD76EB2C1155}"/>
              </a:ext>
            </a:extLst>
          </p:cNvPr>
          <p:cNvSpPr/>
          <p:nvPr/>
        </p:nvSpPr>
        <p:spPr>
          <a:xfrm>
            <a:off x="435864" y="198120"/>
            <a:ext cx="6019800" cy="365760"/>
          </a:xfrm>
          <a:prstGeom prst="rect">
            <a:avLst/>
          </a:prstGeom>
        </p:spPr>
        <p:txBody>
          <a:bodyPr wrap="none" lIns="0" tIns="0" rIns="0" bIns="0">
            <a:noAutofit/>
          </a:bodyPr>
          <a:lstStyle/>
          <a:p>
            <a:pPr indent="0"/>
            <a:r>
              <a:rPr lang="en-US" sz="2700" b="1" dirty="0">
                <a:solidFill>
                  <a:srgbClr val="161616"/>
                </a:solidFill>
                <a:latin typeface="Arial"/>
              </a:rPr>
              <a:t>Overview of Presentation</a:t>
            </a:r>
          </a:p>
        </p:txBody>
      </p:sp>
      <p:sp>
        <p:nvSpPr>
          <p:cNvPr id="4" name="Rectangle 3">
            <a:extLst>
              <a:ext uri="{FF2B5EF4-FFF2-40B4-BE49-F238E27FC236}">
                <a16:creationId xmlns:a16="http://schemas.microsoft.com/office/drawing/2014/main" id="{D1FADF05-F4EB-4AB8-DD19-E5B641D8D00C}"/>
              </a:ext>
            </a:extLst>
          </p:cNvPr>
          <p:cNvSpPr/>
          <p:nvPr/>
        </p:nvSpPr>
        <p:spPr>
          <a:xfrm>
            <a:off x="2112778" y="3020949"/>
            <a:ext cx="7997941" cy="1520952"/>
          </a:xfrm>
          <a:prstGeom prst="rect">
            <a:avLst/>
          </a:prstGeom>
        </p:spPr>
        <p:txBody>
          <a:bodyPr lIns="0" tIns="0" rIns="0" bIns="0">
            <a:noAutofit/>
          </a:bodyPr>
          <a:lstStyle/>
          <a:p>
            <a:pPr indent="0" algn="just">
              <a:lnSpc>
                <a:spcPts val="4656"/>
              </a:lnSpc>
            </a:pPr>
            <a:r>
              <a:rPr lang="en-US" sz="2800" b="1" i="1" dirty="0">
                <a:latin typeface="Arial"/>
              </a:rPr>
              <a:t>1.  </a:t>
            </a:r>
            <a:r>
              <a:rPr lang="en-US" sz="2800" b="1" i="1" dirty="0" err="1">
                <a:latin typeface="Arial"/>
              </a:rPr>
              <a:t>Contexte</a:t>
            </a:r>
            <a:endParaRPr lang="en-US" sz="2800" b="1" i="1" dirty="0">
              <a:latin typeface="Arial"/>
            </a:endParaRPr>
          </a:p>
          <a:p>
            <a:pPr indent="0" algn="just">
              <a:lnSpc>
                <a:spcPts val="4656"/>
              </a:lnSpc>
            </a:pPr>
            <a:r>
              <a:rPr lang="en-US" sz="2800" b="1" i="1" dirty="0">
                <a:latin typeface="Arial"/>
              </a:rPr>
              <a:t>2.  EBIOS RM et </a:t>
            </a:r>
            <a:r>
              <a:rPr lang="en-US" sz="2800" b="1" i="1" dirty="0" err="1">
                <a:latin typeface="Arial"/>
              </a:rPr>
              <a:t>ses</a:t>
            </a:r>
            <a:r>
              <a:rPr lang="en-US" sz="2800" b="1" i="1" dirty="0">
                <a:latin typeface="Arial"/>
              </a:rPr>
              <a:t> 5 Ateliers</a:t>
            </a:r>
          </a:p>
          <a:p>
            <a:pPr marL="514350" indent="-514350" algn="just">
              <a:lnSpc>
                <a:spcPts val="4656"/>
              </a:lnSpc>
              <a:buAutoNum type="arabicPeriod" startAt="3"/>
            </a:pPr>
            <a:r>
              <a:rPr lang="en-US" sz="2800" b="1" i="1" dirty="0">
                <a:solidFill>
                  <a:srgbClr val="FF0000"/>
                </a:solidFill>
                <a:latin typeface="Arial"/>
              </a:rPr>
              <a:t>Use Case</a:t>
            </a:r>
          </a:p>
        </p:txBody>
      </p:sp>
    </p:spTree>
    <p:extLst>
      <p:ext uri="{BB962C8B-B14F-4D97-AF65-F5344CB8AC3E}">
        <p14:creationId xmlns:p14="http://schemas.microsoft.com/office/powerpoint/2010/main" val="1337394787"/>
      </p:ext>
    </p:extLst>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A83514C-B53A-A516-922B-832221511A29}"/>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D1C4DEA9-F534-A7CE-1D17-59D28EACDD6F}"/>
              </a:ext>
            </a:extLst>
          </p:cNvPr>
          <p:cNvPicPr>
            <a:picLocks noChangeAspect="1"/>
          </p:cNvPicPr>
          <p:nvPr/>
        </p:nvPicPr>
        <p:blipFill>
          <a:blip r:embed="rId3"/>
          <a:stretch>
            <a:fillRect/>
          </a:stretch>
        </p:blipFill>
        <p:spPr>
          <a:xfrm>
            <a:off x="48768" y="679704"/>
            <a:ext cx="10591800" cy="231648"/>
          </a:xfrm>
          <a:prstGeom prst="rect">
            <a:avLst/>
          </a:prstGeom>
        </p:spPr>
      </p:pic>
      <p:sp>
        <p:nvSpPr>
          <p:cNvPr id="3" name="Rectangle 2">
            <a:extLst>
              <a:ext uri="{FF2B5EF4-FFF2-40B4-BE49-F238E27FC236}">
                <a16:creationId xmlns:a16="http://schemas.microsoft.com/office/drawing/2014/main" id="{88812D20-F493-A94A-ECCD-0C864E60C4C3}"/>
              </a:ext>
            </a:extLst>
          </p:cNvPr>
          <p:cNvSpPr/>
          <p:nvPr/>
        </p:nvSpPr>
        <p:spPr>
          <a:xfrm>
            <a:off x="435864" y="198120"/>
            <a:ext cx="6019800" cy="365760"/>
          </a:xfrm>
          <a:prstGeom prst="rect">
            <a:avLst/>
          </a:prstGeom>
        </p:spPr>
        <p:txBody>
          <a:bodyPr wrap="none" lIns="0" tIns="0" rIns="0" bIns="0">
            <a:noAutofit/>
          </a:bodyPr>
          <a:lstStyle/>
          <a:p>
            <a:pPr indent="0"/>
            <a:r>
              <a:rPr lang="en-US" sz="2700" b="1" dirty="0">
                <a:solidFill>
                  <a:srgbClr val="161616"/>
                </a:solidFill>
                <a:latin typeface="Arial"/>
              </a:rPr>
              <a:t>Use Case</a:t>
            </a:r>
          </a:p>
        </p:txBody>
      </p:sp>
      <p:pic>
        <p:nvPicPr>
          <p:cNvPr id="8" name="Image 7">
            <a:extLst>
              <a:ext uri="{FF2B5EF4-FFF2-40B4-BE49-F238E27FC236}">
                <a16:creationId xmlns:a16="http://schemas.microsoft.com/office/drawing/2014/main" id="{01B7E7E8-262A-D706-C3C3-4FD625F1D194}"/>
              </a:ext>
            </a:extLst>
          </p:cNvPr>
          <p:cNvPicPr>
            <a:picLocks noChangeAspect="1"/>
          </p:cNvPicPr>
          <p:nvPr/>
        </p:nvPicPr>
        <p:blipFill>
          <a:blip r:embed="rId4"/>
          <a:stretch>
            <a:fillRect/>
          </a:stretch>
        </p:blipFill>
        <p:spPr>
          <a:xfrm>
            <a:off x="466887" y="1030295"/>
            <a:ext cx="9977275" cy="5384794"/>
          </a:xfrm>
          <a:prstGeom prst="rect">
            <a:avLst/>
          </a:prstGeom>
        </p:spPr>
      </p:pic>
    </p:spTree>
    <p:extLst>
      <p:ext uri="{BB962C8B-B14F-4D97-AF65-F5344CB8AC3E}">
        <p14:creationId xmlns:p14="http://schemas.microsoft.com/office/powerpoint/2010/main" val="569449571"/>
      </p:ext>
    </p:extLst>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0CDA5CF-479F-2B1E-C88B-73AE6952752E}"/>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49BD82BA-4CD4-1561-6CCD-FDE8B3F6E029}"/>
              </a:ext>
            </a:extLst>
          </p:cNvPr>
          <p:cNvPicPr>
            <a:picLocks noChangeAspect="1"/>
          </p:cNvPicPr>
          <p:nvPr/>
        </p:nvPicPr>
        <p:blipFill>
          <a:blip r:embed="rId3"/>
          <a:stretch>
            <a:fillRect/>
          </a:stretch>
        </p:blipFill>
        <p:spPr>
          <a:xfrm>
            <a:off x="48768" y="679704"/>
            <a:ext cx="10591800" cy="231648"/>
          </a:xfrm>
          <a:prstGeom prst="rect">
            <a:avLst/>
          </a:prstGeom>
        </p:spPr>
      </p:pic>
      <p:sp>
        <p:nvSpPr>
          <p:cNvPr id="3" name="Rectangle 2">
            <a:extLst>
              <a:ext uri="{FF2B5EF4-FFF2-40B4-BE49-F238E27FC236}">
                <a16:creationId xmlns:a16="http://schemas.microsoft.com/office/drawing/2014/main" id="{449C357C-8BC4-901F-8A4B-71F757C8F5A2}"/>
              </a:ext>
            </a:extLst>
          </p:cNvPr>
          <p:cNvSpPr/>
          <p:nvPr/>
        </p:nvSpPr>
        <p:spPr>
          <a:xfrm>
            <a:off x="435864" y="198120"/>
            <a:ext cx="6019800" cy="365760"/>
          </a:xfrm>
          <a:prstGeom prst="rect">
            <a:avLst/>
          </a:prstGeom>
        </p:spPr>
        <p:txBody>
          <a:bodyPr wrap="none" lIns="0" tIns="0" rIns="0" bIns="0">
            <a:noAutofit/>
          </a:bodyPr>
          <a:lstStyle/>
          <a:p>
            <a:pPr indent="0"/>
            <a:r>
              <a:rPr lang="en-US" sz="2700" b="1" dirty="0">
                <a:solidFill>
                  <a:srgbClr val="161616"/>
                </a:solidFill>
                <a:latin typeface="Arial"/>
              </a:rPr>
              <a:t>Use Case – Atelier 1</a:t>
            </a:r>
          </a:p>
        </p:txBody>
      </p:sp>
      <p:pic>
        <p:nvPicPr>
          <p:cNvPr id="8" name="Image 7">
            <a:extLst>
              <a:ext uri="{FF2B5EF4-FFF2-40B4-BE49-F238E27FC236}">
                <a16:creationId xmlns:a16="http://schemas.microsoft.com/office/drawing/2014/main" id="{88E07232-620B-8EAF-0DE5-F1425B4BE7CF}"/>
              </a:ext>
            </a:extLst>
          </p:cNvPr>
          <p:cNvPicPr>
            <a:picLocks noChangeAspect="1"/>
          </p:cNvPicPr>
          <p:nvPr/>
        </p:nvPicPr>
        <p:blipFill>
          <a:blip r:embed="rId4"/>
          <a:stretch>
            <a:fillRect/>
          </a:stretch>
        </p:blipFill>
        <p:spPr>
          <a:xfrm>
            <a:off x="755292" y="1235318"/>
            <a:ext cx="4945421" cy="5726761"/>
          </a:xfrm>
          <a:prstGeom prst="rect">
            <a:avLst/>
          </a:prstGeom>
        </p:spPr>
      </p:pic>
      <p:pic>
        <p:nvPicPr>
          <p:cNvPr id="10" name="Image 9">
            <a:extLst>
              <a:ext uri="{FF2B5EF4-FFF2-40B4-BE49-F238E27FC236}">
                <a16:creationId xmlns:a16="http://schemas.microsoft.com/office/drawing/2014/main" id="{3B9FE7C5-5F96-F515-CE5D-3BA49C8DFA42}"/>
              </a:ext>
            </a:extLst>
          </p:cNvPr>
          <p:cNvPicPr>
            <a:picLocks noChangeAspect="1"/>
          </p:cNvPicPr>
          <p:nvPr/>
        </p:nvPicPr>
        <p:blipFill>
          <a:blip r:embed="rId5"/>
          <a:stretch>
            <a:fillRect/>
          </a:stretch>
        </p:blipFill>
        <p:spPr>
          <a:xfrm>
            <a:off x="5700713" y="1692718"/>
            <a:ext cx="4848004" cy="5190428"/>
          </a:xfrm>
          <a:prstGeom prst="rect">
            <a:avLst/>
          </a:prstGeom>
        </p:spPr>
      </p:pic>
    </p:spTree>
    <p:extLst>
      <p:ext uri="{BB962C8B-B14F-4D97-AF65-F5344CB8AC3E}">
        <p14:creationId xmlns:p14="http://schemas.microsoft.com/office/powerpoint/2010/main" val="359592741"/>
      </p:ext>
    </p:extLst>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9ED5B53-9CA9-1C5D-9038-D75ECDC502A5}"/>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2CE7C4CD-B498-9FBE-BD2D-33C0D4AE9FAC}"/>
              </a:ext>
            </a:extLst>
          </p:cNvPr>
          <p:cNvPicPr>
            <a:picLocks noChangeAspect="1"/>
          </p:cNvPicPr>
          <p:nvPr/>
        </p:nvPicPr>
        <p:blipFill>
          <a:blip r:embed="rId3"/>
          <a:stretch>
            <a:fillRect/>
          </a:stretch>
        </p:blipFill>
        <p:spPr>
          <a:xfrm>
            <a:off x="48768" y="679704"/>
            <a:ext cx="10591800" cy="231648"/>
          </a:xfrm>
          <a:prstGeom prst="rect">
            <a:avLst/>
          </a:prstGeom>
        </p:spPr>
      </p:pic>
      <p:sp>
        <p:nvSpPr>
          <p:cNvPr id="3" name="Rectangle 2">
            <a:extLst>
              <a:ext uri="{FF2B5EF4-FFF2-40B4-BE49-F238E27FC236}">
                <a16:creationId xmlns:a16="http://schemas.microsoft.com/office/drawing/2014/main" id="{6A8E6E43-B111-169F-F90B-9231B465539A}"/>
              </a:ext>
            </a:extLst>
          </p:cNvPr>
          <p:cNvSpPr/>
          <p:nvPr/>
        </p:nvSpPr>
        <p:spPr>
          <a:xfrm>
            <a:off x="435864" y="198120"/>
            <a:ext cx="6019800" cy="365760"/>
          </a:xfrm>
          <a:prstGeom prst="rect">
            <a:avLst/>
          </a:prstGeom>
        </p:spPr>
        <p:txBody>
          <a:bodyPr wrap="none" lIns="0" tIns="0" rIns="0" bIns="0">
            <a:noAutofit/>
          </a:bodyPr>
          <a:lstStyle/>
          <a:p>
            <a:pPr indent="0"/>
            <a:r>
              <a:rPr lang="en-US" sz="2700" b="1" dirty="0">
                <a:solidFill>
                  <a:srgbClr val="161616"/>
                </a:solidFill>
                <a:latin typeface="Arial"/>
              </a:rPr>
              <a:t>Use Case – Atelier 1</a:t>
            </a:r>
          </a:p>
        </p:txBody>
      </p:sp>
      <p:pic>
        <p:nvPicPr>
          <p:cNvPr id="5" name="Image 4">
            <a:extLst>
              <a:ext uri="{FF2B5EF4-FFF2-40B4-BE49-F238E27FC236}">
                <a16:creationId xmlns:a16="http://schemas.microsoft.com/office/drawing/2014/main" id="{D9817DAC-ED50-E290-815A-135EA1DE28AB}"/>
              </a:ext>
            </a:extLst>
          </p:cNvPr>
          <p:cNvPicPr>
            <a:picLocks noChangeAspect="1"/>
          </p:cNvPicPr>
          <p:nvPr/>
        </p:nvPicPr>
        <p:blipFill>
          <a:blip r:embed="rId4"/>
          <a:stretch>
            <a:fillRect/>
          </a:stretch>
        </p:blipFill>
        <p:spPr>
          <a:xfrm>
            <a:off x="2856228" y="1396435"/>
            <a:ext cx="5510209" cy="5486711"/>
          </a:xfrm>
          <a:prstGeom prst="rect">
            <a:avLst/>
          </a:prstGeom>
        </p:spPr>
      </p:pic>
    </p:spTree>
    <p:extLst>
      <p:ext uri="{BB962C8B-B14F-4D97-AF65-F5344CB8AC3E}">
        <p14:creationId xmlns:p14="http://schemas.microsoft.com/office/powerpoint/2010/main" val="2164511890"/>
      </p:ext>
    </p:extLst>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8A95474-FD1C-C2F2-A07C-9900F40B1BC1}"/>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AF14A77E-2500-50BC-4D79-C0759B400B14}"/>
              </a:ext>
            </a:extLst>
          </p:cNvPr>
          <p:cNvPicPr>
            <a:picLocks noChangeAspect="1"/>
          </p:cNvPicPr>
          <p:nvPr/>
        </p:nvPicPr>
        <p:blipFill>
          <a:blip r:embed="rId3"/>
          <a:stretch>
            <a:fillRect/>
          </a:stretch>
        </p:blipFill>
        <p:spPr>
          <a:xfrm>
            <a:off x="48768" y="679704"/>
            <a:ext cx="10591800" cy="231648"/>
          </a:xfrm>
          <a:prstGeom prst="rect">
            <a:avLst/>
          </a:prstGeom>
        </p:spPr>
      </p:pic>
      <p:sp>
        <p:nvSpPr>
          <p:cNvPr id="3" name="Rectangle 2">
            <a:extLst>
              <a:ext uri="{FF2B5EF4-FFF2-40B4-BE49-F238E27FC236}">
                <a16:creationId xmlns:a16="http://schemas.microsoft.com/office/drawing/2014/main" id="{7B8A95C8-6A89-65FC-1AA0-B9E696DB22F0}"/>
              </a:ext>
            </a:extLst>
          </p:cNvPr>
          <p:cNvSpPr/>
          <p:nvPr/>
        </p:nvSpPr>
        <p:spPr>
          <a:xfrm>
            <a:off x="435864" y="198120"/>
            <a:ext cx="6019800" cy="365760"/>
          </a:xfrm>
          <a:prstGeom prst="rect">
            <a:avLst/>
          </a:prstGeom>
        </p:spPr>
        <p:txBody>
          <a:bodyPr wrap="none" lIns="0" tIns="0" rIns="0" bIns="0">
            <a:noAutofit/>
          </a:bodyPr>
          <a:lstStyle/>
          <a:p>
            <a:pPr indent="0"/>
            <a:r>
              <a:rPr lang="en-US" sz="2700" b="1" dirty="0">
                <a:solidFill>
                  <a:srgbClr val="161616"/>
                </a:solidFill>
                <a:latin typeface="Arial"/>
              </a:rPr>
              <a:t>Use Case – Atelier 2</a:t>
            </a:r>
          </a:p>
        </p:txBody>
      </p:sp>
      <p:pic>
        <p:nvPicPr>
          <p:cNvPr id="6" name="Image 5">
            <a:extLst>
              <a:ext uri="{FF2B5EF4-FFF2-40B4-BE49-F238E27FC236}">
                <a16:creationId xmlns:a16="http://schemas.microsoft.com/office/drawing/2014/main" id="{0AAA3936-A331-ACE9-EE1A-E335E2CDB2CE}"/>
              </a:ext>
            </a:extLst>
          </p:cNvPr>
          <p:cNvPicPr>
            <a:picLocks noChangeAspect="1"/>
          </p:cNvPicPr>
          <p:nvPr/>
        </p:nvPicPr>
        <p:blipFill>
          <a:blip r:embed="rId4"/>
          <a:stretch>
            <a:fillRect/>
          </a:stretch>
        </p:blipFill>
        <p:spPr>
          <a:xfrm>
            <a:off x="276945" y="1304106"/>
            <a:ext cx="5651106" cy="5268961"/>
          </a:xfrm>
          <a:prstGeom prst="rect">
            <a:avLst/>
          </a:prstGeom>
        </p:spPr>
      </p:pic>
      <p:pic>
        <p:nvPicPr>
          <p:cNvPr id="8" name="Image 7">
            <a:extLst>
              <a:ext uri="{FF2B5EF4-FFF2-40B4-BE49-F238E27FC236}">
                <a16:creationId xmlns:a16="http://schemas.microsoft.com/office/drawing/2014/main" id="{9B77EBDB-C040-BDEB-573D-3A75B8B519DA}"/>
              </a:ext>
            </a:extLst>
          </p:cNvPr>
          <p:cNvPicPr>
            <a:picLocks noChangeAspect="1"/>
          </p:cNvPicPr>
          <p:nvPr/>
        </p:nvPicPr>
        <p:blipFill>
          <a:blip r:embed="rId5"/>
          <a:stretch>
            <a:fillRect/>
          </a:stretch>
        </p:blipFill>
        <p:spPr>
          <a:xfrm>
            <a:off x="6132871" y="2429772"/>
            <a:ext cx="4507697" cy="3017627"/>
          </a:xfrm>
          <a:prstGeom prst="rect">
            <a:avLst/>
          </a:prstGeom>
        </p:spPr>
      </p:pic>
    </p:spTree>
    <p:extLst>
      <p:ext uri="{BB962C8B-B14F-4D97-AF65-F5344CB8AC3E}">
        <p14:creationId xmlns:p14="http://schemas.microsoft.com/office/powerpoint/2010/main" val="2548727221"/>
      </p:ext>
    </p:extLst>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8C49BC7-08A8-908A-BF9B-2E3F701F95E3}"/>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F550C806-45F7-E744-190D-D0C790E8141F}"/>
              </a:ext>
            </a:extLst>
          </p:cNvPr>
          <p:cNvPicPr>
            <a:picLocks noChangeAspect="1"/>
          </p:cNvPicPr>
          <p:nvPr/>
        </p:nvPicPr>
        <p:blipFill>
          <a:blip r:embed="rId3"/>
          <a:stretch>
            <a:fillRect/>
          </a:stretch>
        </p:blipFill>
        <p:spPr>
          <a:xfrm>
            <a:off x="48768" y="679704"/>
            <a:ext cx="10591800" cy="231648"/>
          </a:xfrm>
          <a:prstGeom prst="rect">
            <a:avLst/>
          </a:prstGeom>
        </p:spPr>
      </p:pic>
      <p:sp>
        <p:nvSpPr>
          <p:cNvPr id="3" name="Rectangle 2">
            <a:extLst>
              <a:ext uri="{FF2B5EF4-FFF2-40B4-BE49-F238E27FC236}">
                <a16:creationId xmlns:a16="http://schemas.microsoft.com/office/drawing/2014/main" id="{456C0287-A949-D249-05CA-6DAC0FB0CD6A}"/>
              </a:ext>
            </a:extLst>
          </p:cNvPr>
          <p:cNvSpPr/>
          <p:nvPr/>
        </p:nvSpPr>
        <p:spPr>
          <a:xfrm>
            <a:off x="435864" y="198120"/>
            <a:ext cx="6019800" cy="365760"/>
          </a:xfrm>
          <a:prstGeom prst="rect">
            <a:avLst/>
          </a:prstGeom>
        </p:spPr>
        <p:txBody>
          <a:bodyPr wrap="none" lIns="0" tIns="0" rIns="0" bIns="0">
            <a:noAutofit/>
          </a:bodyPr>
          <a:lstStyle/>
          <a:p>
            <a:pPr indent="0"/>
            <a:r>
              <a:rPr lang="en-US" sz="2700" b="1" dirty="0">
                <a:solidFill>
                  <a:srgbClr val="161616"/>
                </a:solidFill>
                <a:latin typeface="Arial"/>
              </a:rPr>
              <a:t>Use Case – Atelier 3</a:t>
            </a:r>
          </a:p>
        </p:txBody>
      </p:sp>
      <p:pic>
        <p:nvPicPr>
          <p:cNvPr id="5" name="Image 4">
            <a:extLst>
              <a:ext uri="{FF2B5EF4-FFF2-40B4-BE49-F238E27FC236}">
                <a16:creationId xmlns:a16="http://schemas.microsoft.com/office/drawing/2014/main" id="{DD20F746-14BD-50C5-3587-ABBE8F39E194}"/>
              </a:ext>
            </a:extLst>
          </p:cNvPr>
          <p:cNvPicPr>
            <a:picLocks noChangeAspect="1"/>
          </p:cNvPicPr>
          <p:nvPr/>
        </p:nvPicPr>
        <p:blipFill>
          <a:blip r:embed="rId4"/>
          <a:stretch>
            <a:fillRect/>
          </a:stretch>
        </p:blipFill>
        <p:spPr>
          <a:xfrm>
            <a:off x="48767" y="1436270"/>
            <a:ext cx="5709095" cy="4941004"/>
          </a:xfrm>
          <a:prstGeom prst="rect">
            <a:avLst/>
          </a:prstGeom>
        </p:spPr>
      </p:pic>
      <p:pic>
        <p:nvPicPr>
          <p:cNvPr id="9" name="Image 8">
            <a:extLst>
              <a:ext uri="{FF2B5EF4-FFF2-40B4-BE49-F238E27FC236}">
                <a16:creationId xmlns:a16="http://schemas.microsoft.com/office/drawing/2014/main" id="{4B2445DB-A7AD-078A-FBAF-2A14E01B1A5F}"/>
              </a:ext>
            </a:extLst>
          </p:cNvPr>
          <p:cNvPicPr>
            <a:picLocks noChangeAspect="1"/>
          </p:cNvPicPr>
          <p:nvPr/>
        </p:nvPicPr>
        <p:blipFill>
          <a:blip r:embed="rId5"/>
          <a:stretch>
            <a:fillRect/>
          </a:stretch>
        </p:blipFill>
        <p:spPr>
          <a:xfrm>
            <a:off x="6680017" y="1027176"/>
            <a:ext cx="2853137" cy="6177434"/>
          </a:xfrm>
          <a:prstGeom prst="rect">
            <a:avLst/>
          </a:prstGeom>
        </p:spPr>
      </p:pic>
    </p:spTree>
    <p:extLst>
      <p:ext uri="{BB962C8B-B14F-4D97-AF65-F5344CB8AC3E}">
        <p14:creationId xmlns:p14="http://schemas.microsoft.com/office/powerpoint/2010/main" val="2826655984"/>
      </p:ext>
    </p:extLst>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031794A-5C82-B5EC-9C6C-B2A237C122F5}"/>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7B794B44-D75B-8DB7-741C-FB1333CD82E1}"/>
              </a:ext>
            </a:extLst>
          </p:cNvPr>
          <p:cNvPicPr>
            <a:picLocks noChangeAspect="1"/>
          </p:cNvPicPr>
          <p:nvPr/>
        </p:nvPicPr>
        <p:blipFill>
          <a:blip r:embed="rId3"/>
          <a:stretch>
            <a:fillRect/>
          </a:stretch>
        </p:blipFill>
        <p:spPr>
          <a:xfrm>
            <a:off x="48768" y="679704"/>
            <a:ext cx="10591800" cy="231648"/>
          </a:xfrm>
          <a:prstGeom prst="rect">
            <a:avLst/>
          </a:prstGeom>
        </p:spPr>
      </p:pic>
      <p:sp>
        <p:nvSpPr>
          <p:cNvPr id="3" name="Rectangle 2">
            <a:extLst>
              <a:ext uri="{FF2B5EF4-FFF2-40B4-BE49-F238E27FC236}">
                <a16:creationId xmlns:a16="http://schemas.microsoft.com/office/drawing/2014/main" id="{34FA9CB0-CEF7-06F1-A03C-F725774357FB}"/>
              </a:ext>
            </a:extLst>
          </p:cNvPr>
          <p:cNvSpPr/>
          <p:nvPr/>
        </p:nvSpPr>
        <p:spPr>
          <a:xfrm>
            <a:off x="435864" y="198120"/>
            <a:ext cx="6019800" cy="365760"/>
          </a:xfrm>
          <a:prstGeom prst="rect">
            <a:avLst/>
          </a:prstGeom>
        </p:spPr>
        <p:txBody>
          <a:bodyPr wrap="none" lIns="0" tIns="0" rIns="0" bIns="0">
            <a:noAutofit/>
          </a:bodyPr>
          <a:lstStyle/>
          <a:p>
            <a:pPr indent="0"/>
            <a:r>
              <a:rPr lang="en-US" sz="2700" b="1" dirty="0">
                <a:solidFill>
                  <a:srgbClr val="161616"/>
                </a:solidFill>
                <a:latin typeface="Arial"/>
              </a:rPr>
              <a:t>Use Case – Atelier 4</a:t>
            </a:r>
          </a:p>
        </p:txBody>
      </p:sp>
      <p:pic>
        <p:nvPicPr>
          <p:cNvPr id="6" name="Image 5">
            <a:extLst>
              <a:ext uri="{FF2B5EF4-FFF2-40B4-BE49-F238E27FC236}">
                <a16:creationId xmlns:a16="http://schemas.microsoft.com/office/drawing/2014/main" id="{52FAC2C3-5772-BC1A-138E-C0742DE3CB5F}"/>
              </a:ext>
            </a:extLst>
          </p:cNvPr>
          <p:cNvPicPr>
            <a:picLocks noChangeAspect="1"/>
          </p:cNvPicPr>
          <p:nvPr/>
        </p:nvPicPr>
        <p:blipFill>
          <a:blip r:embed="rId4"/>
          <a:stretch>
            <a:fillRect/>
          </a:stretch>
        </p:blipFill>
        <p:spPr>
          <a:xfrm>
            <a:off x="5517841" y="1747553"/>
            <a:ext cx="5175560" cy="4510132"/>
          </a:xfrm>
          <a:prstGeom prst="rect">
            <a:avLst/>
          </a:prstGeom>
        </p:spPr>
      </p:pic>
      <p:pic>
        <p:nvPicPr>
          <p:cNvPr id="8" name="Image 7">
            <a:extLst>
              <a:ext uri="{FF2B5EF4-FFF2-40B4-BE49-F238E27FC236}">
                <a16:creationId xmlns:a16="http://schemas.microsoft.com/office/drawing/2014/main" id="{405A68AD-A80D-9C46-60AC-83A1F7EEC6E8}"/>
              </a:ext>
            </a:extLst>
          </p:cNvPr>
          <p:cNvPicPr>
            <a:picLocks noChangeAspect="1"/>
          </p:cNvPicPr>
          <p:nvPr/>
        </p:nvPicPr>
        <p:blipFill>
          <a:blip r:embed="rId5"/>
          <a:stretch>
            <a:fillRect/>
          </a:stretch>
        </p:blipFill>
        <p:spPr>
          <a:xfrm>
            <a:off x="215423" y="1514475"/>
            <a:ext cx="4960139" cy="4738986"/>
          </a:xfrm>
          <a:prstGeom prst="rect">
            <a:avLst/>
          </a:prstGeom>
        </p:spPr>
      </p:pic>
    </p:spTree>
    <p:extLst>
      <p:ext uri="{BB962C8B-B14F-4D97-AF65-F5344CB8AC3E}">
        <p14:creationId xmlns:p14="http://schemas.microsoft.com/office/powerpoint/2010/main" val="1542094312"/>
      </p:ext>
    </p:extLst>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B19A84A-F68C-77BC-EA8B-6C7C57874313}"/>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205081CC-33E1-948E-1E35-238190E80201}"/>
              </a:ext>
            </a:extLst>
          </p:cNvPr>
          <p:cNvPicPr>
            <a:picLocks noChangeAspect="1"/>
          </p:cNvPicPr>
          <p:nvPr/>
        </p:nvPicPr>
        <p:blipFill>
          <a:blip r:embed="rId3"/>
          <a:stretch>
            <a:fillRect/>
          </a:stretch>
        </p:blipFill>
        <p:spPr>
          <a:xfrm>
            <a:off x="48768" y="679704"/>
            <a:ext cx="10591800" cy="231648"/>
          </a:xfrm>
          <a:prstGeom prst="rect">
            <a:avLst/>
          </a:prstGeom>
        </p:spPr>
      </p:pic>
      <p:sp>
        <p:nvSpPr>
          <p:cNvPr id="3" name="Rectangle 2">
            <a:extLst>
              <a:ext uri="{FF2B5EF4-FFF2-40B4-BE49-F238E27FC236}">
                <a16:creationId xmlns:a16="http://schemas.microsoft.com/office/drawing/2014/main" id="{893754DA-986C-9063-4F92-957ED7FED142}"/>
              </a:ext>
            </a:extLst>
          </p:cNvPr>
          <p:cNvSpPr/>
          <p:nvPr/>
        </p:nvSpPr>
        <p:spPr>
          <a:xfrm>
            <a:off x="435864" y="198120"/>
            <a:ext cx="6019800" cy="365760"/>
          </a:xfrm>
          <a:prstGeom prst="rect">
            <a:avLst/>
          </a:prstGeom>
        </p:spPr>
        <p:txBody>
          <a:bodyPr wrap="none" lIns="0" tIns="0" rIns="0" bIns="0">
            <a:noAutofit/>
          </a:bodyPr>
          <a:lstStyle/>
          <a:p>
            <a:pPr indent="0"/>
            <a:r>
              <a:rPr lang="en-US" sz="2700" b="1" dirty="0">
                <a:solidFill>
                  <a:srgbClr val="161616"/>
                </a:solidFill>
                <a:latin typeface="Arial"/>
              </a:rPr>
              <a:t>Use Case – Atelier 5</a:t>
            </a:r>
          </a:p>
        </p:txBody>
      </p:sp>
      <p:pic>
        <p:nvPicPr>
          <p:cNvPr id="5" name="Image 4">
            <a:extLst>
              <a:ext uri="{FF2B5EF4-FFF2-40B4-BE49-F238E27FC236}">
                <a16:creationId xmlns:a16="http://schemas.microsoft.com/office/drawing/2014/main" id="{314A4666-6522-C73C-A8CD-86FB66B08E02}"/>
              </a:ext>
            </a:extLst>
          </p:cNvPr>
          <p:cNvPicPr>
            <a:picLocks noChangeAspect="1"/>
          </p:cNvPicPr>
          <p:nvPr/>
        </p:nvPicPr>
        <p:blipFill>
          <a:blip r:embed="rId4"/>
          <a:stretch>
            <a:fillRect/>
          </a:stretch>
        </p:blipFill>
        <p:spPr>
          <a:xfrm>
            <a:off x="5779778" y="1080876"/>
            <a:ext cx="4686954" cy="2981741"/>
          </a:xfrm>
          <a:prstGeom prst="rect">
            <a:avLst/>
          </a:prstGeom>
        </p:spPr>
      </p:pic>
      <p:pic>
        <p:nvPicPr>
          <p:cNvPr id="9" name="Image 8">
            <a:extLst>
              <a:ext uri="{FF2B5EF4-FFF2-40B4-BE49-F238E27FC236}">
                <a16:creationId xmlns:a16="http://schemas.microsoft.com/office/drawing/2014/main" id="{16FC0081-2C0B-C132-73D2-BDE00DB1324B}"/>
              </a:ext>
            </a:extLst>
          </p:cNvPr>
          <p:cNvPicPr>
            <a:picLocks noChangeAspect="1"/>
          </p:cNvPicPr>
          <p:nvPr/>
        </p:nvPicPr>
        <p:blipFill>
          <a:blip r:embed="rId5"/>
          <a:stretch>
            <a:fillRect/>
          </a:stretch>
        </p:blipFill>
        <p:spPr>
          <a:xfrm>
            <a:off x="191567" y="1098685"/>
            <a:ext cx="5259731" cy="3133456"/>
          </a:xfrm>
          <a:prstGeom prst="rect">
            <a:avLst/>
          </a:prstGeom>
        </p:spPr>
      </p:pic>
      <p:sp>
        <p:nvSpPr>
          <p:cNvPr id="11" name="ZoneTexte 10">
            <a:extLst>
              <a:ext uri="{FF2B5EF4-FFF2-40B4-BE49-F238E27FC236}">
                <a16:creationId xmlns:a16="http://schemas.microsoft.com/office/drawing/2014/main" id="{014650A0-9E96-665C-7CEB-76D8A6EDADDF}"/>
              </a:ext>
            </a:extLst>
          </p:cNvPr>
          <p:cNvSpPr txBox="1"/>
          <p:nvPr/>
        </p:nvSpPr>
        <p:spPr>
          <a:xfrm>
            <a:off x="470965" y="4232141"/>
            <a:ext cx="10030868" cy="3046988"/>
          </a:xfrm>
          <a:prstGeom prst="rect">
            <a:avLst/>
          </a:prstGeom>
          <a:noFill/>
        </p:spPr>
        <p:txBody>
          <a:bodyPr wrap="square">
            <a:spAutoFit/>
          </a:bodyPr>
          <a:lstStyle/>
          <a:p>
            <a:pPr algn="ctr"/>
            <a:r>
              <a:rPr lang="en-US" sz="1600" b="0" i="1" u="none" strike="noStrike" baseline="0" dirty="0" err="1">
                <a:solidFill>
                  <a:srgbClr val="E53F52"/>
                </a:solidFill>
                <a:latin typeface="Arial" panose="020B0604020202020204" pitchFamily="34" charset="0"/>
                <a:cs typeface="Arial" panose="020B0604020202020204" pitchFamily="34" charset="0"/>
              </a:rPr>
              <a:t>Scénarios</a:t>
            </a:r>
            <a:r>
              <a:rPr lang="en-US" sz="1600" b="0" i="1" u="none" strike="noStrike" baseline="0" dirty="0">
                <a:solidFill>
                  <a:srgbClr val="E53F52"/>
                </a:solidFill>
                <a:latin typeface="Arial" panose="020B0604020202020204" pitchFamily="34" charset="0"/>
                <a:cs typeface="Arial" panose="020B0604020202020204" pitchFamily="34" charset="0"/>
              </a:rPr>
              <a:t> de </a:t>
            </a:r>
            <a:r>
              <a:rPr lang="en-US" sz="1600" b="0" i="1" u="none" strike="noStrike" baseline="0" dirty="0" err="1">
                <a:solidFill>
                  <a:srgbClr val="E53F52"/>
                </a:solidFill>
                <a:latin typeface="Arial" panose="020B0604020202020204" pitchFamily="34" charset="0"/>
                <a:cs typeface="Arial" panose="020B0604020202020204" pitchFamily="34" charset="0"/>
              </a:rPr>
              <a:t>risques</a:t>
            </a:r>
            <a:r>
              <a:rPr lang="en-US" sz="1600" b="0" i="1" u="none" strike="noStrike" baseline="0" dirty="0">
                <a:solidFill>
                  <a:srgbClr val="E53F52"/>
                </a:solidFill>
                <a:latin typeface="Arial" panose="020B0604020202020204" pitchFamily="34" charset="0"/>
                <a:cs typeface="Arial" panose="020B0604020202020204" pitchFamily="34" charset="0"/>
              </a:rPr>
              <a:t> :</a:t>
            </a:r>
          </a:p>
          <a:p>
            <a:pPr algn="ctr"/>
            <a:r>
              <a:rPr lang="fr-FR" sz="1600" b="0" i="0" u="none" strike="noStrike" baseline="0" dirty="0">
                <a:solidFill>
                  <a:srgbClr val="E53F52"/>
                </a:solidFill>
                <a:latin typeface="Arial" panose="020B0604020202020204" pitchFamily="34" charset="0"/>
                <a:cs typeface="Arial" panose="020B0604020202020204" pitchFamily="34" charset="0"/>
              </a:rPr>
              <a:t>R1 :</a:t>
            </a:r>
            <a:r>
              <a:rPr lang="fr-FR" sz="1600" b="0" i="0" u="none" strike="noStrike" baseline="0" dirty="0">
                <a:solidFill>
                  <a:srgbClr val="002B4A"/>
                </a:solidFill>
                <a:latin typeface="Arial" panose="020B0604020202020204" pitchFamily="34" charset="0"/>
                <a:cs typeface="Arial" panose="020B0604020202020204" pitchFamily="34" charset="0"/>
              </a:rPr>
              <a:t>Un concurrent vole des informations de R&amp;D grâce à un canal</a:t>
            </a:r>
          </a:p>
          <a:p>
            <a:pPr algn="ctr"/>
            <a:r>
              <a:rPr lang="en-US" sz="1600" b="0" i="0" u="none" strike="noStrike" baseline="0" dirty="0" err="1">
                <a:solidFill>
                  <a:srgbClr val="002B4A"/>
                </a:solidFill>
                <a:latin typeface="Arial" panose="020B0604020202020204" pitchFamily="34" charset="0"/>
                <a:cs typeface="Arial" panose="020B0604020202020204" pitchFamily="34" charset="0"/>
              </a:rPr>
              <a:t>d’exfiltration</a:t>
            </a:r>
            <a:r>
              <a:rPr lang="en-US" sz="1600" b="0" i="0" u="none" strike="noStrike" baseline="0" dirty="0">
                <a:solidFill>
                  <a:srgbClr val="002B4A"/>
                </a:solidFill>
                <a:latin typeface="Arial" panose="020B0604020202020204" pitchFamily="34" charset="0"/>
                <a:cs typeface="Arial" panose="020B0604020202020204" pitchFamily="34" charset="0"/>
              </a:rPr>
              <a:t> direct</a:t>
            </a:r>
          </a:p>
          <a:p>
            <a:pPr algn="ctr"/>
            <a:r>
              <a:rPr lang="fr-FR" sz="1600" b="0" i="0" u="none" strike="noStrike" baseline="0" dirty="0">
                <a:solidFill>
                  <a:srgbClr val="E53F52"/>
                </a:solidFill>
                <a:latin typeface="Arial" panose="020B0604020202020204" pitchFamily="34" charset="0"/>
                <a:cs typeface="Arial" panose="020B0604020202020204" pitchFamily="34" charset="0"/>
              </a:rPr>
              <a:t>R2 :</a:t>
            </a:r>
            <a:r>
              <a:rPr lang="fr-FR" sz="1600" b="0" i="0" u="none" strike="noStrike" baseline="0" dirty="0">
                <a:solidFill>
                  <a:srgbClr val="002B4A"/>
                </a:solidFill>
                <a:latin typeface="Arial" panose="020B0604020202020204" pitchFamily="34" charset="0"/>
                <a:cs typeface="Arial" panose="020B0604020202020204" pitchFamily="34" charset="0"/>
              </a:rPr>
              <a:t>Un concurrent vole des informations de R&amp;D en exfiltrant</a:t>
            </a:r>
          </a:p>
          <a:p>
            <a:pPr algn="ctr"/>
            <a:r>
              <a:rPr lang="fr-FR" sz="1600" b="0" i="0" u="none" strike="noStrike" baseline="0" dirty="0">
                <a:solidFill>
                  <a:srgbClr val="002B4A"/>
                </a:solidFill>
                <a:latin typeface="Arial" panose="020B0604020202020204" pitchFamily="34" charset="0"/>
                <a:cs typeface="Arial" panose="020B0604020202020204" pitchFamily="34" charset="0"/>
              </a:rPr>
              <a:t>celles détenues par le laboratoire</a:t>
            </a:r>
          </a:p>
          <a:p>
            <a:pPr algn="ctr"/>
            <a:r>
              <a:rPr lang="fr-FR" sz="1600" b="0" i="0" u="none" strike="noStrike" baseline="0" dirty="0">
                <a:solidFill>
                  <a:srgbClr val="E53F52"/>
                </a:solidFill>
                <a:latin typeface="Arial" panose="020B0604020202020204" pitchFamily="34" charset="0"/>
                <a:cs typeface="Arial" panose="020B0604020202020204" pitchFamily="34" charset="0"/>
              </a:rPr>
              <a:t>R3 :</a:t>
            </a:r>
            <a:r>
              <a:rPr lang="fr-FR" sz="1600" b="0" i="0" u="none" strike="noStrike" baseline="0" dirty="0">
                <a:solidFill>
                  <a:srgbClr val="002B4A"/>
                </a:solidFill>
                <a:latin typeface="Arial" panose="020B0604020202020204" pitchFamily="34" charset="0"/>
                <a:cs typeface="Arial" panose="020B0604020202020204" pitchFamily="34" charset="0"/>
              </a:rPr>
              <a:t>Un concurrent vole des informations de R&amp;D grâce à un canal</a:t>
            </a:r>
          </a:p>
          <a:p>
            <a:pPr algn="ctr"/>
            <a:r>
              <a:rPr lang="en-US" sz="1600" b="0" i="0" u="none" strike="noStrike" baseline="0" dirty="0" err="1">
                <a:solidFill>
                  <a:srgbClr val="002B4A"/>
                </a:solidFill>
                <a:latin typeface="Arial" panose="020B0604020202020204" pitchFamily="34" charset="0"/>
                <a:cs typeface="Arial" panose="020B0604020202020204" pitchFamily="34" charset="0"/>
              </a:rPr>
              <a:t>d’exfiltration</a:t>
            </a:r>
            <a:r>
              <a:rPr lang="en-US" sz="1600" b="0" i="0" u="none" strike="noStrike" baseline="0" dirty="0">
                <a:solidFill>
                  <a:srgbClr val="002B4A"/>
                </a:solidFill>
                <a:latin typeface="Arial" panose="020B0604020202020204" pitchFamily="34" charset="0"/>
                <a:cs typeface="Arial" panose="020B0604020202020204" pitchFamily="34" charset="0"/>
              </a:rPr>
              <a:t> via le </a:t>
            </a:r>
            <a:r>
              <a:rPr lang="en-US" sz="1600" b="0" i="0" u="none" strike="noStrike" baseline="0" dirty="0" err="1">
                <a:solidFill>
                  <a:srgbClr val="002B4A"/>
                </a:solidFill>
                <a:latin typeface="Arial" panose="020B0604020202020204" pitchFamily="34" charset="0"/>
                <a:cs typeface="Arial" panose="020B0604020202020204" pitchFamily="34" charset="0"/>
              </a:rPr>
              <a:t>prestataire</a:t>
            </a:r>
            <a:r>
              <a:rPr lang="en-US" sz="1600" b="0" i="0" u="none" strike="noStrike" baseline="0" dirty="0">
                <a:solidFill>
                  <a:srgbClr val="002B4A"/>
                </a:solidFill>
                <a:latin typeface="Arial" panose="020B0604020202020204" pitchFamily="34" charset="0"/>
                <a:cs typeface="Arial" panose="020B0604020202020204" pitchFamily="34" charset="0"/>
              </a:rPr>
              <a:t> </a:t>
            </a:r>
            <a:r>
              <a:rPr lang="en-US" sz="1600" b="0" i="0" u="none" strike="noStrike" baseline="0" dirty="0" err="1">
                <a:solidFill>
                  <a:srgbClr val="002B4A"/>
                </a:solidFill>
                <a:latin typeface="Arial" panose="020B0604020202020204" pitchFamily="34" charset="0"/>
                <a:cs typeface="Arial" panose="020B0604020202020204" pitchFamily="34" charset="0"/>
              </a:rPr>
              <a:t>informatique</a:t>
            </a:r>
            <a:endParaRPr lang="en-US" sz="1600" b="0" i="0" u="none" strike="noStrike" baseline="0" dirty="0">
              <a:solidFill>
                <a:srgbClr val="002B4A"/>
              </a:solidFill>
              <a:latin typeface="Arial" panose="020B0604020202020204" pitchFamily="34" charset="0"/>
              <a:cs typeface="Arial" panose="020B0604020202020204" pitchFamily="34" charset="0"/>
            </a:endParaRPr>
          </a:p>
          <a:p>
            <a:pPr algn="ctr"/>
            <a:r>
              <a:rPr lang="fr-FR" sz="1600" b="0" i="0" u="none" strike="noStrike" baseline="0" dirty="0">
                <a:solidFill>
                  <a:srgbClr val="E53F52"/>
                </a:solidFill>
                <a:latin typeface="Arial" panose="020B0604020202020204" pitchFamily="34" charset="0"/>
                <a:cs typeface="Arial" panose="020B0604020202020204" pitchFamily="34" charset="0"/>
              </a:rPr>
              <a:t>R4 :</a:t>
            </a:r>
            <a:r>
              <a:rPr lang="fr-FR" sz="1600" b="0" i="0" u="none" strike="noStrike" baseline="0" dirty="0">
                <a:solidFill>
                  <a:srgbClr val="002B4A"/>
                </a:solidFill>
                <a:latin typeface="Arial" panose="020B0604020202020204" pitchFamily="34" charset="0"/>
                <a:cs typeface="Arial" panose="020B0604020202020204" pitchFamily="34" charset="0"/>
              </a:rPr>
              <a:t>Un activiste provoque un arrêt de la production des vaccins en</a:t>
            </a:r>
          </a:p>
          <a:p>
            <a:pPr algn="ctr"/>
            <a:r>
              <a:rPr lang="fr-FR" sz="1600" b="0" i="0" u="none" strike="noStrike" baseline="0" dirty="0">
                <a:solidFill>
                  <a:srgbClr val="002B4A"/>
                </a:solidFill>
                <a:latin typeface="Arial" panose="020B0604020202020204" pitchFamily="34" charset="0"/>
                <a:cs typeface="Arial" panose="020B0604020202020204" pitchFamily="34" charset="0"/>
              </a:rPr>
              <a:t>compromettant l’équipement de maintenance du fournisseur</a:t>
            </a:r>
          </a:p>
          <a:p>
            <a:pPr algn="ctr"/>
            <a:r>
              <a:rPr lang="en-US" sz="1600" b="0" i="0" u="none" strike="noStrike" baseline="0" dirty="0">
                <a:solidFill>
                  <a:srgbClr val="002B4A"/>
                </a:solidFill>
                <a:latin typeface="Arial" panose="020B0604020202020204" pitchFamily="34" charset="0"/>
                <a:cs typeface="Arial" panose="020B0604020202020204" pitchFamily="34" charset="0"/>
              </a:rPr>
              <a:t>de matériel</a:t>
            </a:r>
          </a:p>
          <a:p>
            <a:pPr algn="ctr"/>
            <a:r>
              <a:rPr lang="fr-FR" sz="1600" b="0" i="0" u="none" strike="noStrike" baseline="0" dirty="0">
                <a:solidFill>
                  <a:srgbClr val="E53F52"/>
                </a:solidFill>
                <a:latin typeface="Arial" panose="020B0604020202020204" pitchFamily="34" charset="0"/>
                <a:cs typeface="Arial" panose="020B0604020202020204" pitchFamily="34" charset="0"/>
              </a:rPr>
              <a:t>R5 :</a:t>
            </a:r>
            <a:r>
              <a:rPr lang="fr-FR" sz="1600" b="0" i="0" u="none" strike="noStrike" baseline="0" dirty="0">
                <a:solidFill>
                  <a:srgbClr val="002B4A"/>
                </a:solidFill>
                <a:latin typeface="Arial" panose="020B0604020202020204" pitchFamily="34" charset="0"/>
                <a:cs typeface="Arial" panose="020B0604020202020204" pitchFamily="34" charset="0"/>
              </a:rPr>
              <a:t>Un activiste perturbe la distribution de vaccins en modifiant</a:t>
            </a:r>
          </a:p>
          <a:p>
            <a:pPr algn="ctr"/>
            <a:r>
              <a:rPr lang="en-US" sz="1600" b="0" i="0" u="none" strike="noStrike" baseline="0" dirty="0" err="1">
                <a:solidFill>
                  <a:srgbClr val="002B4A"/>
                </a:solidFill>
                <a:latin typeface="Arial" panose="020B0604020202020204" pitchFamily="34" charset="0"/>
                <a:cs typeface="Arial" panose="020B0604020202020204" pitchFamily="34" charset="0"/>
              </a:rPr>
              <a:t>leur</a:t>
            </a:r>
            <a:r>
              <a:rPr lang="en-US" sz="1600" b="0" i="0" u="none" strike="noStrike" baseline="0" dirty="0">
                <a:solidFill>
                  <a:srgbClr val="002B4A"/>
                </a:solidFill>
                <a:latin typeface="Arial" panose="020B0604020202020204" pitchFamily="34" charset="0"/>
                <a:cs typeface="Arial" panose="020B0604020202020204" pitchFamily="34" charset="0"/>
              </a:rPr>
              <a:t> </a:t>
            </a:r>
            <a:r>
              <a:rPr lang="en-US" sz="1600" b="0" i="0" u="none" strike="noStrike" baseline="0" dirty="0" err="1">
                <a:solidFill>
                  <a:srgbClr val="002B4A"/>
                </a:solidFill>
                <a:latin typeface="Arial" panose="020B0604020202020204" pitchFamily="34" charset="0"/>
                <a:cs typeface="Arial" panose="020B0604020202020204" pitchFamily="34" charset="0"/>
              </a:rPr>
              <a:t>étiquetage</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7100591"/>
      </p:ext>
    </p:extLst>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7108C-E74D-4FF0-3601-13841415D909}"/>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D41D6657-B35A-51E6-18F0-59D5331DFD5D}"/>
              </a:ext>
            </a:extLst>
          </p:cNvPr>
          <p:cNvPicPr>
            <a:picLocks noChangeAspect="1"/>
          </p:cNvPicPr>
          <p:nvPr/>
        </p:nvPicPr>
        <p:blipFill>
          <a:blip r:embed="rId3"/>
          <a:stretch>
            <a:fillRect/>
          </a:stretch>
        </p:blipFill>
        <p:spPr>
          <a:xfrm>
            <a:off x="48768" y="679704"/>
            <a:ext cx="10591800" cy="231648"/>
          </a:xfrm>
          <a:prstGeom prst="rect">
            <a:avLst/>
          </a:prstGeom>
        </p:spPr>
      </p:pic>
      <p:sp>
        <p:nvSpPr>
          <p:cNvPr id="4" name="Rectangle 3">
            <a:extLst>
              <a:ext uri="{FF2B5EF4-FFF2-40B4-BE49-F238E27FC236}">
                <a16:creationId xmlns:a16="http://schemas.microsoft.com/office/drawing/2014/main" id="{A4B5EB07-126C-E2B3-DD1D-1C8476A3941C}"/>
              </a:ext>
            </a:extLst>
          </p:cNvPr>
          <p:cNvSpPr/>
          <p:nvPr/>
        </p:nvSpPr>
        <p:spPr>
          <a:xfrm>
            <a:off x="454152" y="198120"/>
            <a:ext cx="3959352" cy="365760"/>
          </a:xfrm>
          <a:prstGeom prst="rect">
            <a:avLst/>
          </a:prstGeom>
        </p:spPr>
        <p:txBody>
          <a:bodyPr wrap="none" lIns="0" tIns="0" rIns="0" bIns="0">
            <a:noAutofit/>
          </a:bodyPr>
          <a:lstStyle/>
          <a:p>
            <a:pPr indent="0"/>
            <a:r>
              <a:rPr lang="en-US" sz="2600" b="1" dirty="0">
                <a:solidFill>
                  <a:srgbClr val="161616"/>
                </a:solidFill>
                <a:latin typeface="Arial"/>
              </a:rPr>
              <a:t>In fine …</a:t>
            </a:r>
          </a:p>
        </p:txBody>
      </p:sp>
      <p:sp>
        <p:nvSpPr>
          <p:cNvPr id="6" name="Rectangle 3">
            <a:extLst>
              <a:ext uri="{FF2B5EF4-FFF2-40B4-BE49-F238E27FC236}">
                <a16:creationId xmlns:a16="http://schemas.microsoft.com/office/drawing/2014/main" id="{BB7E5686-2E68-FFB7-1EEC-E08B8E96BDD5}"/>
              </a:ext>
            </a:extLst>
          </p:cNvPr>
          <p:cNvSpPr>
            <a:spLocks noChangeArrowheads="1"/>
          </p:cNvSpPr>
          <p:nvPr/>
        </p:nvSpPr>
        <p:spPr bwMode="auto">
          <a:xfrm rot="10800000" flipV="1">
            <a:off x="-4064" y="1027176"/>
            <a:ext cx="10644632"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1" u="none" strike="noStrike" cap="none" normalizeH="0" baseline="0" dirty="0">
                <a:ln>
                  <a:noFill/>
                </a:ln>
                <a:solidFill>
                  <a:srgbClr val="002060"/>
                </a:solidFill>
                <a:effectLst/>
                <a:latin typeface="Arial" panose="020B0604020202020204" pitchFamily="34" charset="0"/>
              </a:rPr>
              <a:t>EBIOS </a:t>
            </a:r>
            <a:r>
              <a:rPr kumimoji="0" lang="en-US" altLang="en-US" b="1" i="1" u="none" strike="noStrike" cap="none" normalizeH="0" baseline="0" dirty="0" err="1">
                <a:ln>
                  <a:noFill/>
                </a:ln>
                <a:solidFill>
                  <a:srgbClr val="002060"/>
                </a:solidFill>
                <a:effectLst/>
                <a:latin typeface="Arial" panose="020B0604020202020204" pitchFamily="34" charset="0"/>
              </a:rPr>
              <a:t>est</a:t>
            </a:r>
            <a:r>
              <a:rPr kumimoji="0" lang="en-US" altLang="en-US" b="1" i="1" u="none" strike="noStrike" cap="none" normalizeH="0" baseline="0" dirty="0">
                <a:ln>
                  <a:noFill/>
                </a:ln>
                <a:solidFill>
                  <a:srgbClr val="002060"/>
                </a:solidFill>
                <a:effectLst/>
                <a:latin typeface="Arial" panose="020B0604020202020204" pitchFamily="34" charset="0"/>
              </a:rPr>
              <a:t> </a:t>
            </a:r>
            <a:r>
              <a:rPr kumimoji="0" lang="en-US" altLang="en-US" b="1" i="1" u="none" strike="noStrike" cap="none" normalizeH="0" baseline="0" dirty="0" err="1">
                <a:ln>
                  <a:noFill/>
                </a:ln>
                <a:solidFill>
                  <a:srgbClr val="002060"/>
                </a:solidFill>
                <a:effectLst/>
                <a:latin typeface="Arial" panose="020B0604020202020204" pitchFamily="34" charset="0"/>
              </a:rPr>
              <a:t>une</a:t>
            </a:r>
            <a:r>
              <a:rPr kumimoji="0" lang="en-US" altLang="en-US" b="1" i="1" u="none" strike="noStrike" cap="none" normalizeH="0" baseline="0" dirty="0">
                <a:ln>
                  <a:noFill/>
                </a:ln>
                <a:solidFill>
                  <a:srgbClr val="002060"/>
                </a:solidFill>
                <a:effectLst/>
                <a:latin typeface="Arial" panose="020B0604020202020204" pitchFamily="34" charset="0"/>
              </a:rPr>
              <a:t> </a:t>
            </a:r>
            <a:r>
              <a:rPr kumimoji="0" lang="en-US" altLang="en-US" b="1" i="1" u="none" strike="noStrike" cap="none" normalizeH="0" baseline="0" dirty="0" err="1">
                <a:ln>
                  <a:noFill/>
                </a:ln>
                <a:solidFill>
                  <a:srgbClr val="002060"/>
                </a:solidFill>
                <a:effectLst/>
                <a:latin typeface="Arial" panose="020B0604020202020204" pitchFamily="34" charset="0"/>
              </a:rPr>
              <a:t>méthode</a:t>
            </a:r>
            <a:r>
              <a:rPr kumimoji="0" lang="en-US" altLang="en-US" b="1" i="1" u="none" strike="noStrike" cap="none" normalizeH="0" baseline="0" dirty="0">
                <a:ln>
                  <a:noFill/>
                </a:ln>
                <a:solidFill>
                  <a:srgbClr val="002060"/>
                </a:solidFill>
                <a:effectLst/>
                <a:latin typeface="Arial" panose="020B0604020202020204" pitchFamily="34" charset="0"/>
              </a:rPr>
              <a:t> très flexible</a:t>
            </a: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altLang="en-US" dirty="0" err="1">
                <a:latin typeface="Arial" panose="020B0604020202020204" pitchFamily="34" charset="0"/>
              </a:rPr>
              <a:t>C’est</a:t>
            </a:r>
            <a:r>
              <a:rPr lang="en-US" altLang="en-US" dirty="0">
                <a:latin typeface="Arial" panose="020B0604020202020204" pitchFamily="34" charset="0"/>
              </a:rPr>
              <a:t> </a:t>
            </a:r>
            <a:r>
              <a:rPr lang="en-US" altLang="en-US" dirty="0" err="1">
                <a:latin typeface="Arial" panose="020B0604020202020204" pitchFamily="34" charset="0"/>
              </a:rPr>
              <a:t>une</a:t>
            </a:r>
            <a:r>
              <a:rPr lang="en-US" altLang="en-US" dirty="0">
                <a:latin typeface="Arial" panose="020B0604020202020204" pitchFamily="34" charset="0"/>
              </a:rPr>
              <a:t> veritable </a:t>
            </a:r>
            <a:r>
              <a:rPr lang="en-US" altLang="en-US" dirty="0" err="1">
                <a:latin typeface="Arial" panose="020B0604020202020204" pitchFamily="34" charset="0"/>
              </a:rPr>
              <a:t>boite</a:t>
            </a:r>
            <a:r>
              <a:rPr lang="en-US" altLang="en-US" dirty="0">
                <a:latin typeface="Arial" panose="020B0604020202020204" pitchFamily="34" charset="0"/>
              </a:rPr>
              <a:t> à </a:t>
            </a:r>
            <a:r>
              <a:rPr lang="en-US" altLang="en-US" dirty="0" err="1">
                <a:latin typeface="Arial" panose="020B0604020202020204" pitchFamily="34" charset="0"/>
              </a:rPr>
              <a:t>outils</a:t>
            </a:r>
            <a:r>
              <a:rPr lang="en-US" altLang="en-US" dirty="0">
                <a:latin typeface="Arial" panose="020B0604020202020204" pitchFamily="34" charset="0"/>
              </a:rPr>
              <a:t> </a:t>
            </a:r>
            <a:r>
              <a:rPr lang="en-US" altLang="en-US" dirty="0" err="1">
                <a:latin typeface="Arial" panose="020B0604020202020204" pitchFamily="34" charset="0"/>
              </a:rPr>
              <a:t>permettant</a:t>
            </a:r>
            <a:r>
              <a:rPr lang="en-US" altLang="en-US" dirty="0">
                <a:latin typeface="Arial" panose="020B0604020202020204" pitchFamily="34" charset="0"/>
              </a:rPr>
              <a:t> de </a:t>
            </a:r>
            <a:r>
              <a:rPr lang="en-US" altLang="en-US" dirty="0" err="1">
                <a:latin typeface="Arial" panose="020B0604020202020204" pitchFamily="34" charset="0"/>
              </a:rPr>
              <a:t>traiter</a:t>
            </a:r>
            <a:r>
              <a:rPr lang="en-US" altLang="en-US" dirty="0">
                <a:latin typeface="Arial" panose="020B0604020202020204" pitchFamily="34" charset="0"/>
              </a:rPr>
              <a:t> </a:t>
            </a:r>
            <a:r>
              <a:rPr lang="en-US" altLang="en-US" dirty="0" err="1">
                <a:latin typeface="Arial" panose="020B0604020202020204" pitchFamily="34" charset="0"/>
              </a:rPr>
              <a:t>tous</a:t>
            </a:r>
            <a:r>
              <a:rPr lang="en-US" altLang="en-US" dirty="0">
                <a:latin typeface="Arial" panose="020B0604020202020204" pitchFamily="34" charset="0"/>
              </a:rPr>
              <a:t> les </a:t>
            </a:r>
            <a:r>
              <a:rPr lang="en-US" altLang="en-US" dirty="0" err="1">
                <a:latin typeface="Arial" panose="020B0604020202020204" pitchFamily="34" charset="0"/>
              </a:rPr>
              <a:t>risques</a:t>
            </a:r>
            <a:r>
              <a:rPr lang="en-US" altLang="en-US" dirty="0">
                <a:latin typeface="Arial" panose="020B0604020202020204" pitchFamily="34" charset="0"/>
              </a:rPr>
              <a:t> de </a:t>
            </a:r>
            <a:r>
              <a:rPr lang="en-US" altLang="en-US" dirty="0" err="1">
                <a:latin typeface="Arial" panose="020B0604020202020204" pitchFamily="34" charset="0"/>
              </a:rPr>
              <a:t>n’importe</a:t>
            </a:r>
            <a:r>
              <a:rPr lang="en-US" altLang="en-US" dirty="0">
                <a:latin typeface="Arial" panose="020B0604020202020204" pitchFamily="34" charset="0"/>
              </a:rPr>
              <a:t> </a:t>
            </a:r>
            <a:r>
              <a:rPr lang="en-US" altLang="en-US" dirty="0" err="1">
                <a:latin typeface="Arial" panose="020B0604020202020204" pitchFamily="34" charset="0"/>
              </a:rPr>
              <a:t>quel</a:t>
            </a:r>
            <a:r>
              <a:rPr lang="en-US" altLang="en-US" dirty="0">
                <a:latin typeface="Arial" panose="020B0604020202020204" pitchFamily="34" charset="0"/>
              </a:rPr>
              <a:t> </a:t>
            </a:r>
            <a:r>
              <a:rPr lang="en-US" altLang="en-US" dirty="0" err="1">
                <a:latin typeface="Arial" panose="020B0604020202020204" pitchFamily="34" charset="0"/>
              </a:rPr>
              <a:t>secteur</a:t>
            </a:r>
            <a:endParaRPr kumimoji="0" lang="en-US" altLang="en-US" i="0" u="none" strike="noStrike" cap="none" normalizeH="0" baseline="0" dirty="0">
              <a:ln>
                <a:noFill/>
              </a:ln>
              <a:solidFill>
                <a:schemeClr val="tx1"/>
              </a:solidFill>
              <a:effectLst/>
              <a:latin typeface="Arial" panose="020B0604020202020204" pitchFamily="34" charset="0"/>
            </a:endParaRPr>
          </a:p>
          <a:p>
            <a:pPr marL="342900" lvl="0" indent="-342900" algn="just" eaLnBrk="0" fontAlgn="base" hangingPunct="0">
              <a:lnSpc>
                <a:spcPct val="150000"/>
              </a:lnSpc>
              <a:spcBef>
                <a:spcPct val="0"/>
              </a:spcBef>
              <a:spcAft>
                <a:spcPct val="0"/>
              </a:spcAft>
              <a:buFont typeface="Wingdings" panose="05000000000000000000" pitchFamily="2" charset="2"/>
              <a:buChar char="Ø"/>
            </a:pPr>
            <a:r>
              <a:rPr lang="en-US" altLang="en-US" b="1" i="1" dirty="0">
                <a:solidFill>
                  <a:srgbClr val="002060"/>
                </a:solidFill>
                <a:latin typeface="Arial" panose="020B0604020202020204" pitchFamily="34" charset="0"/>
              </a:rPr>
              <a:t>La </a:t>
            </a:r>
            <a:r>
              <a:rPr lang="en-US" altLang="en-US" b="1" i="1" dirty="0" err="1">
                <a:solidFill>
                  <a:srgbClr val="002060"/>
                </a:solidFill>
                <a:latin typeface="Arial" panose="020B0604020202020204" pitchFamily="34" charset="0"/>
              </a:rPr>
              <a:t>dernière</a:t>
            </a:r>
            <a:r>
              <a:rPr lang="en-US" altLang="en-US" b="1" i="1" dirty="0">
                <a:solidFill>
                  <a:srgbClr val="002060"/>
                </a:solidFill>
                <a:latin typeface="Arial" panose="020B0604020202020204" pitchFamily="34" charset="0"/>
              </a:rPr>
              <a:t> version </a:t>
            </a:r>
            <a:r>
              <a:rPr lang="en-US" altLang="en-US" b="1" i="1" dirty="0" err="1">
                <a:solidFill>
                  <a:srgbClr val="002060"/>
                </a:solidFill>
                <a:latin typeface="Arial" panose="020B0604020202020204" pitchFamily="34" charset="0"/>
              </a:rPr>
              <a:t>est</a:t>
            </a:r>
            <a:r>
              <a:rPr lang="en-US" altLang="en-US" b="1" i="1" dirty="0">
                <a:solidFill>
                  <a:srgbClr val="002060"/>
                </a:solidFill>
                <a:latin typeface="Arial" panose="020B0604020202020204" pitchFamily="34" charset="0"/>
              </a:rPr>
              <a:t> encore plus </a:t>
            </a:r>
            <a:r>
              <a:rPr lang="en-US" altLang="en-US" b="1" i="1" dirty="0" err="1">
                <a:solidFill>
                  <a:srgbClr val="002060"/>
                </a:solidFill>
                <a:latin typeface="Arial" panose="020B0604020202020204" pitchFamily="34" charset="0"/>
              </a:rPr>
              <a:t>pragmatique</a:t>
            </a:r>
            <a:endParaRPr lang="en-US" altLang="en-US" b="1" i="1" dirty="0">
              <a:solidFill>
                <a:srgbClr val="002060"/>
              </a:solidFill>
              <a:latin typeface="Arial" panose="020B0604020202020204" pitchFamily="34" charset="0"/>
            </a:endParaRP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altLang="en-US" dirty="0">
                <a:latin typeface="Arial" panose="020B0604020202020204" pitchFamily="34" charset="0"/>
              </a:rPr>
              <a:t>Elle </a:t>
            </a:r>
            <a:r>
              <a:rPr lang="en-US" altLang="en-US" dirty="0" err="1">
                <a:latin typeface="Arial" panose="020B0604020202020204" pitchFamily="34" charset="0"/>
              </a:rPr>
              <a:t>va</a:t>
            </a:r>
            <a:r>
              <a:rPr lang="en-US" altLang="en-US" dirty="0">
                <a:latin typeface="Arial" panose="020B0604020202020204" pitchFamily="34" charset="0"/>
              </a:rPr>
              <a:t> à </a:t>
            </a:r>
            <a:r>
              <a:rPr lang="en-US" altLang="en-US" dirty="0" err="1">
                <a:latin typeface="Arial" panose="020B0604020202020204" pitchFamily="34" charset="0"/>
              </a:rPr>
              <a:t>l’essential</a:t>
            </a:r>
            <a:r>
              <a:rPr lang="en-US" altLang="en-US" dirty="0">
                <a:latin typeface="Arial" panose="020B0604020202020204" pitchFamily="34" charset="0"/>
              </a:rPr>
              <a:t> : </a:t>
            </a:r>
            <a:r>
              <a:rPr lang="en-US" altLang="en-US" dirty="0" err="1">
                <a:latin typeface="Arial" panose="020B0604020202020204" pitchFamily="34" charset="0"/>
              </a:rPr>
              <a:t>elle</a:t>
            </a:r>
            <a:r>
              <a:rPr lang="en-US" altLang="en-US" dirty="0">
                <a:latin typeface="Arial" panose="020B0604020202020204" pitchFamily="34" charset="0"/>
              </a:rPr>
              <a:t> </a:t>
            </a:r>
            <a:r>
              <a:rPr lang="en-US" altLang="en-US" dirty="0" err="1">
                <a:latin typeface="Arial" panose="020B0604020202020204" pitchFamily="34" charset="0"/>
              </a:rPr>
              <a:t>traite</a:t>
            </a:r>
            <a:r>
              <a:rPr lang="en-US" altLang="en-US" dirty="0">
                <a:latin typeface="Arial" panose="020B0604020202020204" pitchFamily="34" charset="0"/>
              </a:rPr>
              <a:t> </a:t>
            </a:r>
            <a:r>
              <a:rPr lang="en-US" altLang="en-US" dirty="0" err="1">
                <a:latin typeface="Arial" panose="020B0604020202020204" pitchFamily="34" charset="0"/>
              </a:rPr>
              <a:t>ce</a:t>
            </a:r>
            <a:r>
              <a:rPr lang="en-US" altLang="en-US" dirty="0">
                <a:latin typeface="Arial" panose="020B0604020202020204" pitchFamily="34" charset="0"/>
              </a:rPr>
              <a:t> qui </a:t>
            </a:r>
            <a:r>
              <a:rPr lang="en-US" altLang="en-US" dirty="0" err="1">
                <a:latin typeface="Arial" panose="020B0604020202020204" pitchFamily="34" charset="0"/>
              </a:rPr>
              <a:t>est</a:t>
            </a:r>
            <a:r>
              <a:rPr lang="en-US" altLang="en-US" dirty="0">
                <a:latin typeface="Arial" panose="020B0604020202020204" pitchFamily="34" charset="0"/>
              </a:rPr>
              <a:t> le plus critique </a:t>
            </a:r>
            <a:r>
              <a:rPr lang="en-US" altLang="en-US" dirty="0" err="1">
                <a:latin typeface="Arial" panose="020B0604020202020204" pitchFamily="34" charset="0"/>
              </a:rPr>
              <a:t>en</a:t>
            </a:r>
            <a:r>
              <a:rPr lang="en-US" altLang="en-US" dirty="0">
                <a:latin typeface="Arial" panose="020B0604020202020204" pitchFamily="34" charset="0"/>
              </a:rPr>
              <a:t> </a:t>
            </a:r>
            <a:r>
              <a:rPr lang="en-US" altLang="en-US" dirty="0" err="1">
                <a:latin typeface="Arial" panose="020B0604020202020204" pitchFamily="34" charset="0"/>
              </a:rPr>
              <a:t>approfondissant</a:t>
            </a:r>
            <a:r>
              <a:rPr lang="en-US" altLang="en-US" dirty="0">
                <a:latin typeface="Arial" panose="020B0604020202020204" pitchFamily="34" charset="0"/>
              </a:rPr>
              <a:t> </a:t>
            </a:r>
            <a:r>
              <a:rPr lang="en-US" altLang="en-US" dirty="0" err="1">
                <a:latin typeface="Arial" panose="020B0604020202020204" pitchFamily="34" charset="0"/>
              </a:rPr>
              <a:t>l’écosytèmes</a:t>
            </a:r>
            <a:r>
              <a:rPr lang="en-US" altLang="en-US" dirty="0">
                <a:latin typeface="Arial" panose="020B0604020202020204" pitchFamily="34" charset="0"/>
              </a:rPr>
              <a:t> et les sources de </a:t>
            </a:r>
            <a:r>
              <a:rPr lang="en-US" altLang="en-US" dirty="0" err="1">
                <a:latin typeface="Arial" panose="020B0604020202020204" pitchFamily="34" charset="0"/>
              </a:rPr>
              <a:t>risques</a:t>
            </a:r>
            <a:endParaRPr lang="en-US" altLang="en-US" dirty="0">
              <a:latin typeface="Arial" panose="020B0604020202020204" pitchFamily="34" charset="0"/>
            </a:endParaRPr>
          </a:p>
          <a:p>
            <a:pPr marL="342900" lvl="0" indent="-342900" algn="just" eaLnBrk="0" fontAlgn="base" hangingPunct="0">
              <a:lnSpc>
                <a:spcPct val="150000"/>
              </a:lnSpc>
              <a:spcBef>
                <a:spcPct val="0"/>
              </a:spcBef>
              <a:spcAft>
                <a:spcPct val="0"/>
              </a:spcAft>
              <a:buFont typeface="Wingdings" panose="05000000000000000000" pitchFamily="2" charset="2"/>
              <a:buChar char="Ø"/>
            </a:pPr>
            <a:r>
              <a:rPr lang="en-US" altLang="en-US" b="1" i="1" dirty="0" err="1">
                <a:solidFill>
                  <a:srgbClr val="002060"/>
                </a:solidFill>
                <a:latin typeface="Arial" panose="020B0604020202020204" pitchFamily="34" charset="0"/>
              </a:rPr>
              <a:t>Requiert</a:t>
            </a:r>
            <a:r>
              <a:rPr lang="en-US" altLang="en-US" b="1" i="1" dirty="0">
                <a:solidFill>
                  <a:srgbClr val="002060"/>
                </a:solidFill>
                <a:latin typeface="Arial" panose="020B0604020202020204" pitchFamily="34" charset="0"/>
              </a:rPr>
              <a:t> </a:t>
            </a:r>
            <a:r>
              <a:rPr lang="en-US" altLang="en-US" b="1" i="1" dirty="0" err="1">
                <a:solidFill>
                  <a:srgbClr val="002060"/>
                </a:solidFill>
                <a:latin typeface="Arial" panose="020B0604020202020204" pitchFamily="34" charset="0"/>
              </a:rPr>
              <a:t>une</a:t>
            </a:r>
            <a:r>
              <a:rPr lang="en-US" altLang="en-US" b="1" i="1" dirty="0">
                <a:solidFill>
                  <a:srgbClr val="002060"/>
                </a:solidFill>
                <a:latin typeface="Arial" panose="020B0604020202020204" pitchFamily="34" charset="0"/>
              </a:rPr>
              <a:t> </a:t>
            </a:r>
            <a:r>
              <a:rPr lang="en-US" altLang="en-US" b="1" i="1" dirty="0" err="1">
                <a:solidFill>
                  <a:srgbClr val="002060"/>
                </a:solidFill>
                <a:latin typeface="Arial" panose="020B0604020202020204" pitchFamily="34" charset="0"/>
              </a:rPr>
              <a:t>certaine</a:t>
            </a:r>
            <a:r>
              <a:rPr lang="en-US" altLang="en-US" b="1" i="1" dirty="0">
                <a:solidFill>
                  <a:srgbClr val="002060"/>
                </a:solidFill>
                <a:latin typeface="Arial" panose="020B0604020202020204" pitchFamily="34" charset="0"/>
              </a:rPr>
              <a:t> expertise</a:t>
            </a: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altLang="en-US" dirty="0">
                <a:latin typeface="Arial" panose="020B0604020202020204" pitchFamily="34" charset="0"/>
              </a:rPr>
              <a:t>Il faut “</a:t>
            </a:r>
            <a:r>
              <a:rPr lang="en-US" altLang="en-US" dirty="0" err="1">
                <a:latin typeface="Arial" panose="020B0604020202020204" pitchFamily="34" charset="0"/>
              </a:rPr>
              <a:t>penser</a:t>
            </a:r>
            <a:r>
              <a:rPr lang="en-US" altLang="en-US" dirty="0">
                <a:latin typeface="Arial" panose="020B0604020202020204" pitchFamily="34" charset="0"/>
              </a:rPr>
              <a:t> </a:t>
            </a:r>
            <a:r>
              <a:rPr lang="en-US" altLang="en-US" dirty="0" err="1">
                <a:latin typeface="Arial" panose="020B0604020202020204" pitchFamily="34" charset="0"/>
              </a:rPr>
              <a:t>risques</a:t>
            </a:r>
            <a:r>
              <a:rPr lang="en-US" altLang="en-US" dirty="0">
                <a:latin typeface="Arial" panose="020B0604020202020204" pitchFamily="34" charset="0"/>
              </a:rPr>
              <a:t>” et les concepts </a:t>
            </a:r>
            <a:r>
              <a:rPr lang="en-US" altLang="en-US" dirty="0" err="1">
                <a:latin typeface="Arial" panose="020B0604020202020204" pitchFamily="34" charset="0"/>
              </a:rPr>
              <a:t>s’éloignent</a:t>
            </a:r>
            <a:r>
              <a:rPr lang="en-US" altLang="en-US" dirty="0">
                <a:latin typeface="Arial" panose="020B0604020202020204" pitchFamily="34" charset="0"/>
              </a:rPr>
              <a:t> des habitudes, </a:t>
            </a:r>
            <a:r>
              <a:rPr lang="en-US" altLang="en-US" dirty="0" err="1">
                <a:latin typeface="Arial" panose="020B0604020202020204" pitchFamily="34" charset="0"/>
              </a:rPr>
              <a:t>mais</a:t>
            </a:r>
            <a:r>
              <a:rPr lang="en-US" altLang="en-US" dirty="0">
                <a:latin typeface="Arial" panose="020B0604020202020204" pitchFamily="34" charset="0"/>
              </a:rPr>
              <a:t> il faut adopter </a:t>
            </a:r>
            <a:r>
              <a:rPr lang="en-US" altLang="en-US" dirty="0" err="1">
                <a:latin typeface="Arial" panose="020B0604020202020204" pitchFamily="34" charset="0"/>
              </a:rPr>
              <a:t>l’esprit</a:t>
            </a:r>
            <a:r>
              <a:rPr lang="en-US" altLang="en-US" dirty="0">
                <a:latin typeface="Arial" panose="020B0604020202020204" pitchFamily="34" charset="0"/>
              </a:rPr>
              <a:t> et adapter au </a:t>
            </a:r>
            <a:r>
              <a:rPr lang="en-US" altLang="en-US" dirty="0" err="1">
                <a:latin typeface="Arial" panose="020B0604020202020204" pitchFamily="34" charset="0"/>
              </a:rPr>
              <a:t>besoin</a:t>
            </a:r>
            <a:endParaRPr lang="en-US" altLang="en-US" dirty="0">
              <a:latin typeface="Arial" panose="020B0604020202020204" pitchFamily="34"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b="1" i="1" dirty="0">
                <a:solidFill>
                  <a:srgbClr val="002060"/>
                </a:solidFill>
                <a:latin typeface="Arial" panose="020B0604020202020204" pitchFamily="34" charset="0"/>
              </a:rPr>
              <a:t>Un </a:t>
            </a:r>
            <a:r>
              <a:rPr lang="en-US" altLang="en-US" b="1" i="1" dirty="0" err="1">
                <a:solidFill>
                  <a:srgbClr val="002060"/>
                </a:solidFill>
                <a:latin typeface="Arial" panose="020B0604020202020204" pitchFamily="34" charset="0"/>
              </a:rPr>
              <a:t>véritable</a:t>
            </a:r>
            <a:r>
              <a:rPr lang="en-US" altLang="en-US" b="1" i="1" dirty="0">
                <a:solidFill>
                  <a:srgbClr val="002060"/>
                </a:solidFill>
                <a:latin typeface="Arial" panose="020B0604020202020204" pitchFamily="34" charset="0"/>
              </a:rPr>
              <a:t> </a:t>
            </a:r>
            <a:r>
              <a:rPr lang="en-US" altLang="en-US" b="1" i="1" dirty="0" err="1">
                <a:solidFill>
                  <a:srgbClr val="002060"/>
                </a:solidFill>
                <a:latin typeface="Arial" panose="020B0604020202020204" pitchFamily="34" charset="0"/>
              </a:rPr>
              <a:t>outil</a:t>
            </a:r>
            <a:r>
              <a:rPr lang="en-US" altLang="en-US" b="1" i="1" dirty="0">
                <a:solidFill>
                  <a:srgbClr val="002060"/>
                </a:solidFill>
                <a:latin typeface="Arial" panose="020B0604020202020204" pitchFamily="34" charset="0"/>
              </a:rPr>
              <a:t> de risk management</a:t>
            </a: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altLang="en-US" sz="2000" dirty="0" err="1">
                <a:latin typeface="Arial" panose="020B0604020202020204" pitchFamily="34" charset="0"/>
              </a:rPr>
              <a:t>L’implication</a:t>
            </a:r>
            <a:r>
              <a:rPr lang="en-US" altLang="en-US" sz="2000" dirty="0">
                <a:latin typeface="Arial" panose="020B0604020202020204" pitchFamily="34" charset="0"/>
              </a:rPr>
              <a:t> des </a:t>
            </a:r>
            <a:r>
              <a:rPr lang="en-US" altLang="en-US" sz="2000" dirty="0" err="1">
                <a:latin typeface="Arial" panose="020B0604020202020204" pitchFamily="34" charset="0"/>
              </a:rPr>
              <a:t>décideurs</a:t>
            </a:r>
            <a:r>
              <a:rPr lang="en-US" altLang="en-US" sz="2000" dirty="0">
                <a:latin typeface="Arial" panose="020B0604020202020204" pitchFamily="34" charset="0"/>
              </a:rPr>
              <a:t> et des métiers </a:t>
            </a:r>
            <a:r>
              <a:rPr lang="en-US" altLang="en-US" sz="2000" dirty="0" err="1">
                <a:latin typeface="Arial" panose="020B0604020202020204" pitchFamily="34" charset="0"/>
              </a:rPr>
              <a:t>est</a:t>
            </a:r>
            <a:r>
              <a:rPr lang="en-US" altLang="en-US" sz="2000" dirty="0">
                <a:latin typeface="Arial" panose="020B0604020202020204" pitchFamily="34" charset="0"/>
              </a:rPr>
              <a:t> </a:t>
            </a:r>
            <a:r>
              <a:rPr lang="en-US" altLang="en-US" sz="2000" dirty="0" err="1">
                <a:latin typeface="Arial" panose="020B0604020202020204" pitchFamily="34" charset="0"/>
              </a:rPr>
              <a:t>cruciale</a:t>
            </a:r>
            <a:r>
              <a:rPr lang="en-US" altLang="en-US" sz="2000" dirty="0">
                <a:latin typeface="Arial" panose="020B0604020202020204" pitchFamily="34" charset="0"/>
              </a:rPr>
              <a:t>, et </a:t>
            </a:r>
            <a:r>
              <a:rPr lang="en-US" altLang="en-US" sz="2000" dirty="0" err="1">
                <a:latin typeface="Arial" panose="020B0604020202020204" pitchFamily="34" charset="0"/>
              </a:rPr>
              <a:t>ses</a:t>
            </a:r>
            <a:r>
              <a:rPr lang="en-US" altLang="en-US" sz="2000" dirty="0">
                <a:latin typeface="Arial" panose="020B0604020202020204" pitchFamily="34" charset="0"/>
              </a:rPr>
              <a:t> </a:t>
            </a:r>
            <a:r>
              <a:rPr lang="en-US" altLang="en-US" sz="2000" dirty="0" err="1">
                <a:latin typeface="Arial" panose="020B0604020202020204" pitchFamily="34" charset="0"/>
              </a:rPr>
              <a:t>résultats</a:t>
            </a:r>
            <a:r>
              <a:rPr lang="en-US" altLang="en-US" sz="2000" dirty="0">
                <a:latin typeface="Arial" panose="020B0604020202020204" pitchFamily="34" charset="0"/>
              </a:rPr>
              <a:t> les </a:t>
            </a:r>
            <a:r>
              <a:rPr lang="en-US" altLang="en-US" sz="2000" dirty="0" err="1">
                <a:latin typeface="Arial" panose="020B0604020202020204" pitchFamily="34" charset="0"/>
              </a:rPr>
              <a:t>aident</a:t>
            </a:r>
            <a:r>
              <a:rPr lang="en-US" altLang="en-US" sz="2000" dirty="0">
                <a:latin typeface="Arial" panose="020B0604020202020204" pitchFamily="34" charset="0"/>
              </a:rPr>
              <a:t> </a:t>
            </a:r>
            <a:r>
              <a:rPr lang="en-US" altLang="en-US" sz="2000" dirty="0" err="1">
                <a:latin typeface="Arial" panose="020B0604020202020204" pitchFamily="34" charset="0"/>
              </a:rPr>
              <a:t>réellement</a:t>
            </a:r>
            <a:r>
              <a:rPr lang="en-US" altLang="en-US" sz="2000" dirty="0">
                <a:latin typeface="Arial" panose="020B0604020202020204" pitchFamily="34" charset="0"/>
              </a:rPr>
              <a:t> à </a:t>
            </a:r>
            <a:r>
              <a:rPr lang="en-US" altLang="en-US" sz="2000" dirty="0" err="1">
                <a:latin typeface="Arial" panose="020B0604020202020204" pitchFamily="34" charset="0"/>
              </a:rPr>
              <a:t>gérer</a:t>
            </a:r>
            <a:r>
              <a:rPr lang="en-US" altLang="en-US" sz="2000" dirty="0">
                <a:latin typeface="Arial" panose="020B0604020202020204" pitchFamily="34" charset="0"/>
              </a:rPr>
              <a:t> les </a:t>
            </a:r>
            <a:r>
              <a:rPr lang="en-US" altLang="en-US" sz="2000" dirty="0" err="1">
                <a:latin typeface="Arial" panose="020B0604020202020204" pitchFamily="34" charset="0"/>
              </a:rPr>
              <a:t>risques</a:t>
            </a:r>
            <a:endParaRPr lang="en-US" altLang="en-US" sz="2000" dirty="0">
              <a:latin typeface="Arial" panose="020B0604020202020204" pitchFamily="34" charset="0"/>
            </a:endParaRPr>
          </a:p>
          <a:p>
            <a:pPr marL="342900" lvl="0" indent="-342900" algn="just" eaLnBrk="0" fontAlgn="base" hangingPunct="0">
              <a:lnSpc>
                <a:spcPct val="150000"/>
              </a:lnSpc>
              <a:spcBef>
                <a:spcPct val="0"/>
              </a:spcBef>
              <a:spcAft>
                <a:spcPct val="0"/>
              </a:spcAft>
              <a:buFont typeface="Wingdings" panose="05000000000000000000" pitchFamily="2" charset="2"/>
              <a:buChar char="Ø"/>
            </a:pPr>
            <a:r>
              <a:rPr lang="en-US" altLang="en-US" b="1" i="1" dirty="0">
                <a:solidFill>
                  <a:srgbClr val="002060"/>
                </a:solidFill>
                <a:latin typeface="Arial" panose="020B0604020202020204" pitchFamily="34" charset="0"/>
              </a:rPr>
              <a:t>Les </a:t>
            </a:r>
            <a:r>
              <a:rPr lang="en-US" altLang="en-US" b="1" i="1" dirty="0" err="1">
                <a:solidFill>
                  <a:srgbClr val="002060"/>
                </a:solidFill>
                <a:latin typeface="Arial" panose="020B0604020202020204" pitchFamily="34" charset="0"/>
              </a:rPr>
              <a:t>principaux</a:t>
            </a:r>
            <a:r>
              <a:rPr lang="en-US" altLang="en-US" b="1" i="1" dirty="0">
                <a:solidFill>
                  <a:srgbClr val="002060"/>
                </a:solidFill>
                <a:latin typeface="Arial" panose="020B0604020202020204" pitchFamily="34" charset="0"/>
              </a:rPr>
              <a:t> </a:t>
            </a:r>
            <a:r>
              <a:rPr lang="en-US" altLang="en-US" b="1" i="1" dirty="0" err="1">
                <a:solidFill>
                  <a:srgbClr val="002060"/>
                </a:solidFill>
                <a:latin typeface="Arial" panose="020B0604020202020204" pitchFamily="34" charset="0"/>
              </a:rPr>
              <a:t>enjeux</a:t>
            </a:r>
            <a:r>
              <a:rPr lang="en-US" altLang="en-US" b="1" i="1" dirty="0">
                <a:solidFill>
                  <a:srgbClr val="002060"/>
                </a:solidFill>
                <a:latin typeface="Arial" panose="020B0604020202020204" pitchFamily="34" charset="0"/>
              </a:rPr>
              <a:t> </a:t>
            </a:r>
            <a:r>
              <a:rPr lang="en-US" altLang="en-US" b="1" i="1" dirty="0" err="1">
                <a:solidFill>
                  <a:srgbClr val="002060"/>
                </a:solidFill>
                <a:latin typeface="Arial" panose="020B0604020202020204" pitchFamily="34" charset="0"/>
              </a:rPr>
              <a:t>aujourd’hui</a:t>
            </a:r>
            <a:endParaRPr lang="en-US" altLang="en-US" b="1" i="1" dirty="0">
              <a:solidFill>
                <a:srgbClr val="002060"/>
              </a:solidFill>
              <a:latin typeface="Arial" panose="020B0604020202020204" pitchFamily="34" charset="0"/>
            </a:endParaRP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altLang="en-US" dirty="0" err="1">
                <a:latin typeface="Arial" panose="020B0604020202020204" pitchFamily="34" charset="0"/>
              </a:rPr>
              <a:t>Développer</a:t>
            </a:r>
            <a:r>
              <a:rPr lang="en-US" altLang="en-US" dirty="0">
                <a:latin typeface="Arial" panose="020B0604020202020204" pitchFamily="34" charset="0"/>
              </a:rPr>
              <a:t> les </a:t>
            </a:r>
            <a:r>
              <a:rPr lang="en-US" altLang="en-US" dirty="0" err="1">
                <a:latin typeface="Arial" panose="020B0604020202020204" pitchFamily="34" charset="0"/>
              </a:rPr>
              <a:t>outils</a:t>
            </a:r>
            <a:endParaRPr lang="en-US" altLang="en-US" dirty="0">
              <a:latin typeface="Arial" panose="020B0604020202020204" pitchFamily="34" charset="0"/>
            </a:endParaRP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altLang="en-US" dirty="0" err="1">
                <a:latin typeface="Arial" panose="020B0604020202020204" pitchFamily="34" charset="0"/>
              </a:rPr>
              <a:t>Développer</a:t>
            </a:r>
            <a:r>
              <a:rPr lang="en-US" altLang="en-US" dirty="0">
                <a:latin typeface="Arial" panose="020B0604020202020204" pitchFamily="34" charset="0"/>
              </a:rPr>
              <a:t> les </a:t>
            </a:r>
            <a:r>
              <a:rPr lang="en-US" altLang="en-US" dirty="0" err="1">
                <a:latin typeface="Arial" panose="020B0604020202020204" pitchFamily="34" charset="0"/>
              </a:rPr>
              <a:t>compétences</a:t>
            </a:r>
            <a:endParaRPr lang="en-US" altLang="en-US" dirty="0">
              <a:latin typeface="Arial" panose="020B0604020202020204" pitchFamily="34" charset="0"/>
            </a:endParaRPr>
          </a:p>
          <a:p>
            <a:pPr lvl="1" algn="just" eaLnBrk="0" fontAlgn="base" hangingPunct="0">
              <a:lnSpc>
                <a:spcPct val="150000"/>
              </a:lnSpc>
              <a:spcBef>
                <a:spcPct val="0"/>
              </a:spcBef>
              <a:spcAft>
                <a:spcPct val="0"/>
              </a:spcAft>
            </a:pP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130257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1"/>
          <p:cNvPicPr>
            <a:picLocks noChangeAspect="1"/>
          </p:cNvPicPr>
          <p:nvPr/>
        </p:nvPicPr>
        <p:blipFill>
          <a:blip r:embed="rId3"/>
          <a:stretch>
            <a:fillRect/>
          </a:stretch>
        </p:blipFill>
        <p:spPr>
          <a:xfrm>
            <a:off x="50212" y="681835"/>
            <a:ext cx="10589598" cy="229922"/>
          </a:xfrm>
          <a:prstGeom prst="rect">
            <a:avLst/>
          </a:prstGeom>
        </p:spPr>
      </p:pic>
      <p:sp>
        <p:nvSpPr>
          <p:cNvPr id="5" name="Rectangle 4"/>
          <p:cNvSpPr/>
          <p:nvPr/>
        </p:nvSpPr>
        <p:spPr>
          <a:xfrm>
            <a:off x="428129" y="195565"/>
            <a:ext cx="4297151" cy="301276"/>
          </a:xfrm>
          <a:prstGeom prst="rect">
            <a:avLst/>
          </a:prstGeom>
        </p:spPr>
        <p:txBody>
          <a:bodyPr wrap="none" lIns="0" tIns="0" rIns="0" bIns="0">
            <a:noAutofit/>
          </a:bodyPr>
          <a:lstStyle/>
          <a:p>
            <a:pPr indent="0"/>
            <a:r>
              <a:rPr lang="en-US" sz="2600" b="1" dirty="0">
                <a:solidFill>
                  <a:srgbClr val="161616"/>
                </a:solidFill>
                <a:latin typeface="Arial"/>
              </a:rPr>
              <a:t>Textbooks as References</a:t>
            </a:r>
          </a:p>
        </p:txBody>
      </p:sp>
      <p:sp>
        <p:nvSpPr>
          <p:cNvPr id="3" name="ZoneTexte 2">
            <a:extLst>
              <a:ext uri="{FF2B5EF4-FFF2-40B4-BE49-F238E27FC236}">
                <a16:creationId xmlns:a16="http://schemas.microsoft.com/office/drawing/2014/main" id="{279ECEE5-4FE7-6535-AAE4-85CEF46AE366}"/>
              </a:ext>
            </a:extLst>
          </p:cNvPr>
          <p:cNvSpPr txBox="1"/>
          <p:nvPr/>
        </p:nvSpPr>
        <p:spPr>
          <a:xfrm>
            <a:off x="3018264" y="1746892"/>
            <a:ext cx="10211681" cy="461665"/>
          </a:xfrm>
          <a:prstGeom prst="rect">
            <a:avLst/>
          </a:prstGeom>
          <a:noFill/>
        </p:spPr>
        <p:txBody>
          <a:bodyPr wrap="square" rtlCol="0">
            <a:spAutoFit/>
          </a:bodyPr>
          <a:lstStyle/>
          <a:p>
            <a:r>
              <a:rPr lang="fr-FR" sz="2400" i="1" dirty="0"/>
              <a:t> </a:t>
            </a:r>
          </a:p>
        </p:txBody>
      </p:sp>
      <p:sp>
        <p:nvSpPr>
          <p:cNvPr id="7" name="ZoneTexte 6">
            <a:extLst>
              <a:ext uri="{FF2B5EF4-FFF2-40B4-BE49-F238E27FC236}">
                <a16:creationId xmlns:a16="http://schemas.microsoft.com/office/drawing/2014/main" id="{6D1F45E5-3266-985D-0325-62800B71F9BF}"/>
              </a:ext>
            </a:extLst>
          </p:cNvPr>
          <p:cNvSpPr txBox="1"/>
          <p:nvPr/>
        </p:nvSpPr>
        <p:spPr>
          <a:xfrm>
            <a:off x="249051" y="1118883"/>
            <a:ext cx="9698635" cy="2308324"/>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fr-FR" b="1" dirty="0">
                <a:latin typeface="Arial" panose="020B0604020202020204" pitchFamily="34" charset="0"/>
                <a:cs typeface="Arial" panose="020B0604020202020204" pitchFamily="34" charset="0"/>
              </a:rPr>
              <a:t>Images  de Matthieu GRALL</a:t>
            </a:r>
          </a:p>
          <a:p>
            <a:pPr marL="285750" indent="-285750">
              <a:lnSpc>
                <a:spcPct val="150000"/>
              </a:lnSpc>
              <a:buFont typeface="Wingdings" panose="05000000000000000000" pitchFamily="2" charset="2"/>
              <a:buChar char="Ø"/>
            </a:pPr>
            <a:r>
              <a:rPr lang="fr-FR" b="1" dirty="0">
                <a:latin typeface="Arial" panose="020B0604020202020204" pitchFamily="34" charset="0"/>
                <a:cs typeface="Arial" panose="020B0604020202020204" pitchFamily="34" charset="0"/>
              </a:rPr>
              <a:t>Logo du Club EBIOS de Florence GUITTARD</a:t>
            </a:r>
          </a:p>
          <a:p>
            <a:pPr marL="285750" indent="-285750">
              <a:lnSpc>
                <a:spcPct val="150000"/>
              </a:lnSpc>
              <a:buFont typeface="Wingdings" panose="05000000000000000000" pitchFamily="2" charset="2"/>
              <a:buChar char="Ø"/>
            </a:pPr>
            <a:r>
              <a:rPr lang="fr-FR" b="1" dirty="0">
                <a:latin typeface="Arial" panose="020B0604020202020204" pitchFamily="34" charset="0"/>
                <a:cs typeface="Arial" panose="020B0604020202020204" pitchFamily="34" charset="0"/>
              </a:rPr>
              <a:t>Logo EBIOS RM de ANSSI</a:t>
            </a:r>
          </a:p>
          <a:p>
            <a:pPr marL="285750" indent="-285750">
              <a:lnSpc>
                <a:spcPct val="150000"/>
              </a:lnSpc>
              <a:buFont typeface="Wingdings" panose="05000000000000000000" pitchFamily="2" charset="2"/>
              <a:buChar char="Ø"/>
            </a:pPr>
            <a:r>
              <a:rPr lang="fr-FR" b="1" dirty="0">
                <a:latin typeface="Arial" panose="020B0604020202020204" pitchFamily="34" charset="0"/>
                <a:cs typeface="Arial" panose="020B0604020202020204" pitchFamily="34" charset="0"/>
              </a:rPr>
              <a:t>Travaux du  Club EBIOS</a:t>
            </a:r>
            <a:endParaRPr lang="en-US" dirty="0">
              <a:latin typeface="Arial" panose="020B0604020202020204" pitchFamily="34" charset="0"/>
              <a:cs typeface="Arial" panose="020B0604020202020204" pitchFamily="34" charset="0"/>
            </a:endParaRPr>
          </a:p>
          <a:p>
            <a:pPr algn="ctr"/>
            <a:endParaRPr lang="en-US" dirty="0">
              <a:latin typeface="Arial" panose="020B0604020202020204" pitchFamily="34" charset="0"/>
              <a:cs typeface="Arial" panose="020B0604020202020204" pitchFamily="34" charset="0"/>
            </a:endParaRPr>
          </a:p>
          <a:p>
            <a:pPr marL="285750" indent="-285750" algn="ctr">
              <a:buFont typeface="Wingdings" panose="05000000000000000000" pitchFamily="2" charset="2"/>
              <a:buChar char="Ø"/>
            </a:pPr>
            <a:endParaRPr lang="en-US" dirty="0">
              <a:latin typeface="Arial" panose="020B0604020202020204" pitchFamily="34" charset="0"/>
              <a:cs typeface="Arial" panose="020B0604020202020204" pitchFamily="34" charset="0"/>
            </a:endParaRPr>
          </a:p>
        </p:txBody>
      </p:sp>
      <p:pic>
        <p:nvPicPr>
          <p:cNvPr id="8" name="Image 7">
            <a:extLst>
              <a:ext uri="{FF2B5EF4-FFF2-40B4-BE49-F238E27FC236}">
                <a16:creationId xmlns:a16="http://schemas.microsoft.com/office/drawing/2014/main" id="{7FADB019-381E-8382-6C70-92B5F4B57B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092" y="3251283"/>
            <a:ext cx="5682344" cy="3629732"/>
          </a:xfrm>
          <a:prstGeom prst="rect">
            <a:avLst/>
          </a:prstGeom>
        </p:spPr>
      </p:pic>
      <p:sp>
        <p:nvSpPr>
          <p:cNvPr id="13" name="ZoneTexte 12">
            <a:extLst>
              <a:ext uri="{FF2B5EF4-FFF2-40B4-BE49-F238E27FC236}">
                <a16:creationId xmlns:a16="http://schemas.microsoft.com/office/drawing/2014/main" id="{2B1327C1-0C90-45C6-0626-EF7C037A78BE}"/>
              </a:ext>
            </a:extLst>
          </p:cNvPr>
          <p:cNvSpPr txBox="1"/>
          <p:nvPr/>
        </p:nvSpPr>
        <p:spPr>
          <a:xfrm>
            <a:off x="6283234" y="4135643"/>
            <a:ext cx="4153784" cy="2308324"/>
          </a:xfrm>
          <a:prstGeom prst="rect">
            <a:avLst/>
          </a:prstGeom>
          <a:noFill/>
        </p:spPr>
        <p:txBody>
          <a:bodyPr wrap="square">
            <a:spAutoFit/>
          </a:bodyPr>
          <a:lstStyle/>
          <a:p>
            <a:pPr algn="l"/>
            <a:r>
              <a:rPr lang="en-US" sz="3200" b="1" i="0" u="none" strike="noStrike" baseline="0" dirty="0">
                <a:solidFill>
                  <a:srgbClr val="00426C"/>
                </a:solidFill>
                <a:latin typeface="Marianne-Bold"/>
              </a:rPr>
              <a:t>EN SAVOIR PLUS</a:t>
            </a:r>
          </a:p>
          <a:p>
            <a:pPr algn="l"/>
            <a:r>
              <a:rPr lang="fr-FR" sz="1800" b="0" i="0" u="none" strike="noStrike" baseline="0" dirty="0">
                <a:solidFill>
                  <a:srgbClr val="002B4A"/>
                </a:solidFill>
                <a:latin typeface="Marianne-Regular"/>
              </a:rPr>
              <a:t>TÉLÉCHARGEZ TOUTE LA DOCUMENTATION POUR ASSURER VOTRE</a:t>
            </a:r>
          </a:p>
          <a:p>
            <a:pPr algn="l"/>
            <a:r>
              <a:rPr lang="fr-FR" sz="1800" b="0" i="0" u="none" strike="noStrike" baseline="0" dirty="0">
                <a:solidFill>
                  <a:srgbClr val="002B4A"/>
                </a:solidFill>
                <a:latin typeface="Marianne-Regular"/>
              </a:rPr>
              <a:t>SÉCURITÉ NUMÉRIQUE SUR LE SITE DE L'ANSSI.</a:t>
            </a:r>
          </a:p>
          <a:p>
            <a:pPr algn="l"/>
            <a:r>
              <a:rPr lang="fr-FR" sz="2000" b="1" i="0" u="none" strike="noStrike" baseline="0" dirty="0">
                <a:solidFill>
                  <a:srgbClr val="002B4A"/>
                </a:solidFill>
                <a:latin typeface="Marianne-Bold"/>
              </a:rPr>
              <a:t>Plus d'informations sur le site de l'ANSSI </a:t>
            </a:r>
            <a:r>
              <a:rPr lang="fr-FR" sz="2000" b="0" i="0" u="none" strike="noStrike" baseline="0" dirty="0">
                <a:solidFill>
                  <a:srgbClr val="002B4A"/>
                </a:solidFill>
                <a:latin typeface="Marianne-Regular"/>
              </a:rPr>
              <a:t>: www.cyber.gouv.fr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1"/>
          <p:cNvPicPr>
            <a:picLocks noChangeAspect="1"/>
          </p:cNvPicPr>
          <p:nvPr/>
        </p:nvPicPr>
        <p:blipFill>
          <a:blip r:embed="rId3"/>
          <a:stretch>
            <a:fillRect/>
          </a:stretch>
        </p:blipFill>
        <p:spPr>
          <a:xfrm>
            <a:off x="48768" y="679704"/>
            <a:ext cx="10591800" cy="231648"/>
          </a:xfrm>
          <a:prstGeom prst="rect">
            <a:avLst/>
          </a:prstGeom>
        </p:spPr>
      </p:pic>
      <p:pic>
        <p:nvPicPr>
          <p:cNvPr id="3" name="Image 2"/>
          <p:cNvPicPr>
            <a:picLocks noChangeAspect="1"/>
          </p:cNvPicPr>
          <p:nvPr/>
        </p:nvPicPr>
        <p:blipFill>
          <a:blip r:embed="rId4"/>
          <a:stretch>
            <a:fillRect/>
          </a:stretch>
        </p:blipFill>
        <p:spPr>
          <a:xfrm>
            <a:off x="6108640" y="1075944"/>
            <a:ext cx="4453128" cy="4977384"/>
          </a:xfrm>
          <a:prstGeom prst="rect">
            <a:avLst/>
          </a:prstGeom>
        </p:spPr>
      </p:pic>
      <p:sp>
        <p:nvSpPr>
          <p:cNvPr id="4" name="Rectangle 3"/>
          <p:cNvSpPr/>
          <p:nvPr/>
        </p:nvSpPr>
        <p:spPr>
          <a:xfrm>
            <a:off x="4349496" y="198120"/>
            <a:ext cx="1950720" cy="316992"/>
          </a:xfrm>
          <a:prstGeom prst="rect">
            <a:avLst/>
          </a:prstGeom>
        </p:spPr>
        <p:txBody>
          <a:bodyPr wrap="none" lIns="0" tIns="0" rIns="0" bIns="0">
            <a:noAutofit/>
          </a:bodyPr>
          <a:lstStyle/>
          <a:p>
            <a:pPr indent="0"/>
            <a:r>
              <a:rPr lang="en-US" sz="2600" b="1">
                <a:solidFill>
                  <a:srgbClr val="161616"/>
                </a:solidFill>
                <a:latin typeface="Arial"/>
              </a:rPr>
              <a:t>Questions?</a:t>
            </a:r>
          </a:p>
        </p:txBody>
      </p:sp>
      <p:sp>
        <p:nvSpPr>
          <p:cNvPr id="10" name="ZoneTexte 9">
            <a:extLst>
              <a:ext uri="{FF2B5EF4-FFF2-40B4-BE49-F238E27FC236}">
                <a16:creationId xmlns:a16="http://schemas.microsoft.com/office/drawing/2014/main" id="{9148C1A7-40C8-B527-433E-ED5DBC68AFC4}"/>
              </a:ext>
            </a:extLst>
          </p:cNvPr>
          <p:cNvSpPr txBox="1"/>
          <p:nvPr/>
        </p:nvSpPr>
        <p:spPr>
          <a:xfrm>
            <a:off x="2292038" y="3763032"/>
            <a:ext cx="2292723" cy="523220"/>
          </a:xfrm>
          <a:prstGeom prst="rect">
            <a:avLst/>
          </a:prstGeom>
          <a:noFill/>
        </p:spPr>
        <p:txBody>
          <a:bodyPr wrap="square">
            <a:spAutoFit/>
          </a:bodyPr>
          <a:lstStyle/>
          <a:p>
            <a:pPr indent="0"/>
            <a:r>
              <a:rPr lang="en-US" sz="2800" b="1" dirty="0">
                <a:solidFill>
                  <a:srgbClr val="161616"/>
                </a:solidFill>
                <a:latin typeface="Arial"/>
              </a:rPr>
              <a:t>Thank you!</a:t>
            </a:r>
          </a:p>
        </p:txBody>
      </p:sp>
      <p:sp>
        <p:nvSpPr>
          <p:cNvPr id="12" name="ZoneTexte 11">
            <a:extLst>
              <a:ext uri="{FF2B5EF4-FFF2-40B4-BE49-F238E27FC236}">
                <a16:creationId xmlns:a16="http://schemas.microsoft.com/office/drawing/2014/main" id="{A550F48C-A90E-F54F-287D-B0F697497127}"/>
              </a:ext>
            </a:extLst>
          </p:cNvPr>
          <p:cNvSpPr txBox="1"/>
          <p:nvPr/>
        </p:nvSpPr>
        <p:spPr>
          <a:xfrm>
            <a:off x="573743" y="6217920"/>
            <a:ext cx="9834282" cy="923330"/>
          </a:xfrm>
          <a:prstGeom prst="rect">
            <a:avLst/>
          </a:prstGeom>
          <a:noFill/>
        </p:spPr>
        <p:txBody>
          <a:bodyPr wrap="square">
            <a:spAutoFit/>
          </a:bodyPr>
          <a:lstStyle/>
          <a:p>
            <a:pPr algn="ctr"/>
            <a:r>
              <a:rPr lang="fr-FR" sz="5400" b="1" i="1" dirty="0">
                <a:latin typeface="Amiri" panose="00000500000000000000" pitchFamily="2" charset="-78"/>
                <a:ea typeface="Amiri" panose="00000500000000000000" pitchFamily="2" charset="-78"/>
                <a:cs typeface="Amiri" panose="00000500000000000000" pitchFamily="2" charset="-78"/>
              </a:rPr>
              <a:t>F</a:t>
            </a:r>
            <a:r>
              <a:rPr lang="en-CA" sz="5400" b="1" i="1" dirty="0" err="1">
                <a:latin typeface="Amiri" panose="00000500000000000000" pitchFamily="2" charset="-78"/>
                <a:ea typeface="Amiri" panose="00000500000000000000" pitchFamily="2" charset="-78"/>
                <a:cs typeface="Amiri" panose="00000500000000000000" pitchFamily="2" charset="-78"/>
              </a:rPr>
              <a:t>abricando</a:t>
            </a:r>
            <a:r>
              <a:rPr lang="en-CA" sz="5400" b="1" i="1" dirty="0">
                <a:latin typeface="Amiri" panose="00000500000000000000" pitchFamily="2" charset="-78"/>
                <a:ea typeface="Amiri" panose="00000500000000000000" pitchFamily="2" charset="-78"/>
                <a:cs typeface="Amiri" panose="00000500000000000000" pitchFamily="2" charset="-78"/>
              </a:rPr>
              <a:t> Fit Faber</a:t>
            </a:r>
            <a:endParaRPr lang="fr-FR" sz="5400" b="1" i="1" dirty="0">
              <a:latin typeface="Amiri" panose="00000500000000000000" pitchFamily="2" charset="-78"/>
              <a:ea typeface="Amiri" panose="00000500000000000000" pitchFamily="2" charset="-78"/>
              <a:cs typeface="Amiri" panose="00000500000000000000" pitchFamily="2" charset="-78"/>
            </a:endParaRP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7041</TotalTime>
  <Words>4133</Words>
  <Application>Microsoft Office PowerPoint</Application>
  <PresentationFormat>Personnalisé</PresentationFormat>
  <Paragraphs>474</Paragraphs>
  <Slides>47</Slides>
  <Notes>42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47</vt:i4>
      </vt:variant>
    </vt:vector>
  </HeadingPairs>
  <TitlesOfParts>
    <vt:vector size="55" baseType="lpstr">
      <vt:lpstr>Amiri</vt:lpstr>
      <vt:lpstr>Arial</vt:lpstr>
      <vt:lpstr>Arial Black</vt:lpstr>
      <vt:lpstr>Calibri</vt:lpstr>
      <vt:lpstr>Marianne-Bold</vt:lpstr>
      <vt:lpstr>Marianne-Regular</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DMI00-Intro-FSS2024.pptx</dc:title>
  <dc:subject/>
  <dc:creator>Christian Bizer</dc:creator>
  <cp:keywords/>
  <cp:lastModifiedBy>Otis Ange MOAMPANDJ</cp:lastModifiedBy>
  <cp:revision>161</cp:revision>
  <dcterms:modified xsi:type="dcterms:W3CDTF">2025-11-04T08:03:53Z</dcterms:modified>
</cp:coreProperties>
</file>