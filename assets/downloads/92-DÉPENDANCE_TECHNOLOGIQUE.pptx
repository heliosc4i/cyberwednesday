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4" r:id="rId31"/>
    <p:sldId id="286" r:id="rId32"/>
    <p:sldId id="287" r:id="rId33"/>
    <p:sldId id="288"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3" autoAdjust="0"/>
    <p:restoredTop sz="94660"/>
  </p:normalViewPr>
  <p:slideViewPr>
    <p:cSldViewPr snapToGrid="0">
      <p:cViewPr varScale="1">
        <p:scale>
          <a:sx n="52" d="100"/>
          <a:sy n="52" d="100"/>
        </p:scale>
        <p:origin x="8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42C98-3432-4B2B-A8B5-F28F3B390CB4}" type="datetimeFigureOut">
              <a:rPr lang="fr-FR" smtClean="0"/>
              <a:t>08/04/2026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D923A-BB16-4DF6-B183-CAD59C8CC68B}" type="slidenum">
              <a:rPr lang="fr-FR" smtClean="0"/>
              <a:t>‹N°›</a:t>
            </a:fld>
            <a:endParaRPr lang="fr-FR"/>
          </a:p>
        </p:txBody>
      </p:sp>
    </p:spTree>
    <p:extLst>
      <p:ext uri="{BB962C8B-B14F-4D97-AF65-F5344CB8AC3E}">
        <p14:creationId xmlns:p14="http://schemas.microsoft.com/office/powerpoint/2010/main" val="1218846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à tous.</a:t>
            </a:r>
            <a:br>
              <a:rPr lang="fr-FR" dirty="0"/>
            </a:br>
            <a:r>
              <a:rPr lang="fr-FR" dirty="0"/>
              <a:t>Aujourd’hui, nous allons aborder un sujet qui dépasse la simple technique : la dépendance technologique.</a:t>
            </a:r>
          </a:p>
          <a:p>
            <a:r>
              <a:rPr lang="fr-FR" dirty="0"/>
              <a:t>Ce sujet est important parce qu’il touche à la sécurité, mais aussi à la continuité de service, à la souveraineté et au contrôle du système d’information.</a:t>
            </a:r>
          </a:p>
          <a:p>
            <a:r>
              <a:rPr lang="fr-FR" dirty="0"/>
              <a:t>L’idée n’est pas de dire que les technologies étrangères sont mauvaises. L’idée est de comprendre qu’un système moderne peut être très performant, mais en même temps très dépendant. Et cette dépendance peut devenir un risque majeur.</a:t>
            </a:r>
          </a:p>
          <a:p>
            <a:endParaRPr lang="fr-FR" dirty="0"/>
          </a:p>
          <a:p>
            <a:r>
              <a:rPr lang="fr-FR" dirty="0"/>
              <a:t>On parle souvent de cyberattaques, de malware, d’ingénierie sociale, de phishing.</a:t>
            </a:r>
            <a:br>
              <a:rPr lang="fr-FR" dirty="0"/>
            </a:br>
            <a:r>
              <a:rPr lang="fr-FR" dirty="0"/>
              <a:t>Mais il existe une autre catégorie de vulnérabilité : celle qui vient du fait que nous dépendons d’éléments que nous n’avons pas totalement en main.</a:t>
            </a:r>
          </a:p>
          <a:p>
            <a:r>
              <a:rPr lang="fr-FR" dirty="0"/>
              <a:t>Cela peut être un éditeur, un fabricant, un fournisseur cloud, un mécanisme de licence, un support technique, une mise à jour imposée.</a:t>
            </a:r>
          </a:p>
          <a:p>
            <a:r>
              <a:rPr lang="fr-FR" dirty="0"/>
              <a:t>Et dans certains cas, le risque n’est pas qu’un attaquant prenne le contrôle. Le risque, c’est que nous perdions nous-mêmes la capacité de faire fonctionner notre environnement comme nous le voulons.</a:t>
            </a:r>
          </a:p>
          <a:p>
            <a:endParaRPr lang="fr-FR" dirty="0"/>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a:t>
            </a:fld>
            <a:endParaRPr lang="fr-FR"/>
          </a:p>
        </p:txBody>
      </p:sp>
    </p:spTree>
    <p:extLst>
      <p:ext uri="{BB962C8B-B14F-4D97-AF65-F5344CB8AC3E}">
        <p14:creationId xmlns:p14="http://schemas.microsoft.com/office/powerpoint/2010/main" val="1157753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Quand on parle de cybersécurité, on pense immédiatement à la protection :</a:t>
            </a:r>
            <a:br>
              <a:rPr lang="fr-FR" dirty="0"/>
            </a:br>
            <a:r>
              <a:rPr lang="fr-FR" dirty="0"/>
              <a:t>firewall, antivirus, authentification, surveillance, chiffrement.</a:t>
            </a:r>
          </a:p>
          <a:p>
            <a:r>
              <a:rPr lang="fr-FR" dirty="0"/>
              <a:t>Mais ces mécanismes répondent à une question :</a:t>
            </a:r>
            <a:br>
              <a:rPr lang="fr-FR" dirty="0"/>
            </a:br>
            <a:r>
              <a:rPr lang="fr-FR" dirty="0"/>
              <a:t>👉 “Comment empêcher une attaque ?”</a:t>
            </a:r>
          </a:p>
          <a:p>
            <a:r>
              <a:rPr lang="fr-FR" dirty="0"/>
              <a:t>Or, il existe une autre question tout aussi importante :</a:t>
            </a:r>
            <a:br>
              <a:rPr lang="fr-FR" dirty="0"/>
            </a:br>
            <a:r>
              <a:rPr lang="fr-FR" dirty="0"/>
              <a:t>👉 “Est-ce que je contrôle réellement mon système ?”</a:t>
            </a:r>
          </a:p>
          <a:p>
            <a:r>
              <a:rPr lang="fr-FR" dirty="0"/>
              <a:t>Parce qu’un système peut être parfaitement protégé contre un attaquant…</a:t>
            </a:r>
            <a:br>
              <a:rPr lang="fr-FR" dirty="0"/>
            </a:br>
            <a:r>
              <a:rPr lang="fr-FR" dirty="0"/>
              <a:t>mais dépendre entièrement d’un fournisseur, d’un logiciel, d’un service cloud ou d’un mécanisme externe.</a:t>
            </a:r>
          </a:p>
          <a:p>
            <a:r>
              <a:rPr lang="fr-FR" dirty="0"/>
              <a:t>Et dans ce cas, le risque ne vient plus d’un hacker.</a:t>
            </a:r>
            <a:br>
              <a:rPr lang="fr-FR" dirty="0"/>
            </a:br>
            <a:r>
              <a:rPr lang="fr-FR" dirty="0"/>
              <a:t>Il vient du fait que vous ne pouvez plus :</a:t>
            </a:r>
          </a:p>
          <a:p>
            <a:pPr>
              <a:buFont typeface="Arial" panose="020B0604020202020204" pitchFamily="34" charset="0"/>
              <a:buChar char="•"/>
            </a:pPr>
            <a:r>
              <a:rPr lang="fr-FR" dirty="0"/>
              <a:t>modifier le système librement </a:t>
            </a:r>
          </a:p>
          <a:p>
            <a:pPr>
              <a:buFont typeface="Arial" panose="020B0604020202020204" pitchFamily="34" charset="0"/>
              <a:buChar char="•"/>
            </a:pPr>
            <a:r>
              <a:rPr lang="fr-FR" dirty="0"/>
              <a:t>le maintenir sans aide externe </a:t>
            </a:r>
          </a:p>
          <a:p>
            <a:pPr>
              <a:buFont typeface="Arial" panose="020B0604020202020204" pitchFamily="34" charset="0"/>
              <a:buChar char="•"/>
            </a:pPr>
            <a:r>
              <a:rPr lang="fr-FR" dirty="0"/>
              <a:t>le faire fonctionner en cas de rupture </a:t>
            </a:r>
          </a:p>
          <a:p>
            <a:r>
              <a:rPr lang="fr-FR" dirty="0"/>
              <a:t>👉 C’est là que la dépendance devient une vulnérabilité.</a:t>
            </a:r>
          </a:p>
          <a:p>
            <a:r>
              <a:rPr lang="fr-FR" dirty="0"/>
              <a:t>Donc l’idée ici, ce n’est pas de remplacer la cybersécurité classique.</a:t>
            </a:r>
            <a:br>
              <a:rPr lang="fr-FR" dirty="0"/>
            </a:br>
            <a:r>
              <a:rPr lang="fr-FR" dirty="0"/>
              <a:t>C’est de l’élargir.</a:t>
            </a:r>
          </a:p>
          <a:p>
            <a:r>
              <a:rPr lang="fr-FR" dirty="0"/>
              <a:t>Une bonne cybersécurité doit répondre à deux exigences :</a:t>
            </a:r>
          </a:p>
          <a:p>
            <a:pPr>
              <a:buFont typeface="+mj-lt"/>
              <a:buAutoNum type="arabicPeriod"/>
            </a:pPr>
            <a:r>
              <a:rPr lang="fr-FR" b="1" dirty="0"/>
              <a:t>se protéger contre les attaques</a:t>
            </a:r>
            <a:r>
              <a:rPr lang="fr-FR" dirty="0"/>
              <a:t> </a:t>
            </a:r>
          </a:p>
          <a:p>
            <a:pPr>
              <a:buFont typeface="+mj-lt"/>
              <a:buAutoNum type="arabicPeriod"/>
            </a:pPr>
            <a:r>
              <a:rPr lang="fr-FR" b="1" dirty="0"/>
              <a:t>rester capable de fonctionner de manière autonome</a:t>
            </a:r>
            <a:r>
              <a:rPr lang="fr-FR" dirty="0"/>
              <a:t> </a:t>
            </a:r>
          </a:p>
          <a:p>
            <a:r>
              <a:rPr lang="fr-FR" dirty="0"/>
              <a:t>Et c’est cette deuxième partie — la maîtrise — qui est souvent négligée.</a:t>
            </a:r>
          </a:p>
          <a:p>
            <a:endParaRPr lang="fr-FR" dirty="0"/>
          </a:p>
          <a:p>
            <a:r>
              <a:rPr lang="fr-FR" dirty="0"/>
              <a:t>Beaucoup d’organisations pensent être protégées parce qu’elles ont des équipements de sécurité, des politiques, des mots de passe, des journaux, des sauvegardes.</a:t>
            </a:r>
          </a:p>
          <a:p>
            <a:r>
              <a:rPr lang="fr-FR" dirty="0"/>
              <a:t>Mais si l’architecture repose sur des dépendances externes non maîtrisées, la sécurité n’est pas complète.</a:t>
            </a:r>
          </a:p>
          <a:p>
            <a:r>
              <a:rPr lang="fr-FR" dirty="0"/>
              <a:t>En d’autres termes : il faut distinguer la capacité à se défendre et la capacité à se maîtriser. Ce ne sont pas exactement la même chose.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a:t>
            </a:fld>
            <a:endParaRPr lang="fr-FR"/>
          </a:p>
        </p:txBody>
      </p:sp>
    </p:spTree>
    <p:extLst>
      <p:ext uri="{BB962C8B-B14F-4D97-AF65-F5344CB8AC3E}">
        <p14:creationId xmlns:p14="http://schemas.microsoft.com/office/powerpoint/2010/main" val="990491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mot “dépendance” doit être compris au sens large.</a:t>
            </a:r>
          </a:p>
          <a:p>
            <a:r>
              <a:rPr lang="fr-FR" dirty="0"/>
              <a:t>Ce n’est pas seulement “avoir un fournisseur”.</a:t>
            </a:r>
            <a:br>
              <a:rPr lang="fr-FR" dirty="0"/>
            </a:br>
            <a:r>
              <a:rPr lang="fr-FR" dirty="0"/>
              <a:t>C’est aussi :</a:t>
            </a:r>
          </a:p>
          <a:p>
            <a:pPr>
              <a:buFont typeface="Arial" panose="020B0604020202020204" pitchFamily="34" charset="0"/>
              <a:buChar char="•"/>
            </a:pPr>
            <a:r>
              <a:rPr lang="fr-FR" dirty="0"/>
              <a:t>dépendre d’un </a:t>
            </a:r>
            <a:r>
              <a:rPr lang="fr-FR" dirty="0" err="1"/>
              <a:t>firmware</a:t>
            </a:r>
            <a:r>
              <a:rPr lang="fr-FR" dirty="0"/>
              <a:t> </a:t>
            </a:r>
          </a:p>
          <a:p>
            <a:pPr>
              <a:buFont typeface="Arial" panose="020B0604020202020204" pitchFamily="34" charset="0"/>
              <a:buChar char="•"/>
            </a:pPr>
            <a:r>
              <a:rPr lang="fr-FR" dirty="0"/>
              <a:t>dépendre d’un porteur de licence </a:t>
            </a:r>
          </a:p>
          <a:p>
            <a:pPr>
              <a:buFont typeface="Arial" panose="020B0604020202020204" pitchFamily="34" charset="0"/>
              <a:buChar char="•"/>
            </a:pPr>
            <a:r>
              <a:rPr lang="fr-FR" dirty="0"/>
              <a:t>dépendre d’un service de mise à jour </a:t>
            </a:r>
          </a:p>
          <a:p>
            <a:pPr>
              <a:buFont typeface="Arial" panose="020B0604020202020204" pitchFamily="34" charset="0"/>
              <a:buChar char="•"/>
            </a:pPr>
            <a:r>
              <a:rPr lang="fr-FR" dirty="0"/>
              <a:t>dépendre d’un support technique </a:t>
            </a:r>
          </a:p>
          <a:p>
            <a:pPr>
              <a:buFont typeface="Arial" panose="020B0604020202020204" pitchFamily="34" charset="0"/>
              <a:buChar char="•"/>
            </a:pPr>
            <a:r>
              <a:rPr lang="fr-FR" dirty="0"/>
              <a:t>dépendre d’un pays ou d’un cadre réglementaire </a:t>
            </a:r>
          </a:p>
          <a:p>
            <a:r>
              <a:rPr lang="fr-FR" dirty="0"/>
              <a:t>Plus la dépendance touche un élément essentiel, plus elle devient critique.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3</a:t>
            </a:fld>
            <a:endParaRPr lang="fr-FR"/>
          </a:p>
        </p:txBody>
      </p:sp>
    </p:spTree>
    <p:extLst>
      <p:ext uri="{BB962C8B-B14F-4D97-AF65-F5344CB8AC3E}">
        <p14:creationId xmlns:p14="http://schemas.microsoft.com/office/powerpoint/2010/main" val="3014218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 SI n’est pas une seule machine. C’est un empilement de couches qui dépendent les unes des autres.</a:t>
            </a:r>
          </a:p>
          <a:p>
            <a:r>
              <a:rPr lang="fr-FR" dirty="0"/>
              <a:t>Quand on analyse la dépendance, il faut regarder toutes les couches, pas seulement l’équipement le plus visible.</a:t>
            </a:r>
          </a:p>
          <a:p>
            <a:r>
              <a:rPr lang="fr-FR" dirty="0"/>
              <a:t>Dans la pratique, la dépendance la plus dangereuse est souvent celle qu’on oublie de cartographier.</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4</a:t>
            </a:fld>
            <a:endParaRPr lang="fr-FR"/>
          </a:p>
        </p:txBody>
      </p:sp>
    </p:spTree>
    <p:extLst>
      <p:ext uri="{BB962C8B-B14F-4D97-AF65-F5344CB8AC3E}">
        <p14:creationId xmlns:p14="http://schemas.microsoft.com/office/powerpoint/2010/main" val="2999017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matériel donne une impression de maîtrise, parce qu’il est tangible.</a:t>
            </a:r>
            <a:br>
              <a:rPr lang="fr-FR" dirty="0"/>
            </a:br>
            <a:r>
              <a:rPr lang="fr-FR" dirty="0"/>
              <a:t>Mais ce qu’on voit n’est pas tout. La logique interne de l’équipement est souvent fermée.</a:t>
            </a:r>
          </a:p>
          <a:p>
            <a:r>
              <a:rPr lang="fr-FR" dirty="0"/>
              <a:t>On peut administrer la configuration sans contrôler complètement le comportement interne.</a:t>
            </a:r>
            <a:br>
              <a:rPr lang="fr-FR" dirty="0"/>
            </a:br>
            <a:r>
              <a:rPr lang="fr-FR" dirty="0"/>
              <a:t>C’est une limite importante.</a:t>
            </a:r>
          </a:p>
          <a:p>
            <a:r>
              <a:rPr lang="fr-FR" dirty="0"/>
              <a:t>Un firewall peut être correctement configuré et pourtant contenir une fonctionnalité cachée, une faiblesse de </a:t>
            </a:r>
            <a:r>
              <a:rPr lang="fr-FR" dirty="0" err="1"/>
              <a:t>firmware</a:t>
            </a:r>
            <a:r>
              <a:rPr lang="fr-FR" dirty="0"/>
              <a:t>, ou une dépendance forte au constructeur.</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6</a:t>
            </a:fld>
            <a:endParaRPr lang="fr-FR"/>
          </a:p>
        </p:txBody>
      </p:sp>
    </p:spTree>
    <p:extLst>
      <p:ext uri="{BB962C8B-B14F-4D97-AF65-F5344CB8AC3E}">
        <p14:creationId xmlns:p14="http://schemas.microsoft.com/office/powerpoint/2010/main" val="3782947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logiciel est un excellent exemple de dépendance parce qu’il évolue en permanence.</a:t>
            </a:r>
          </a:p>
          <a:p>
            <a:r>
              <a:rPr lang="fr-FR" dirty="0"/>
              <a:t>Une mise à jour peut corriger un problème, mais elle peut aussi casser une fonctionnalité, modifier une interface, changer une politique de sécurité ou introduire une nouvelle dépendance.</a:t>
            </a:r>
          </a:p>
          <a:p>
            <a:r>
              <a:rPr lang="fr-FR" dirty="0"/>
              <a:t>L’organisation qui utilise le logiciel subit souvent le calendrier de l’éditeur.</a:t>
            </a:r>
            <a:br>
              <a:rPr lang="fr-FR" dirty="0"/>
            </a:br>
            <a:r>
              <a:rPr lang="fr-FR" dirty="0"/>
              <a:t>Et plus le logiciel est central dans le SI, plus cette dépendance devient critique.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7</a:t>
            </a:fld>
            <a:endParaRPr lang="fr-FR"/>
          </a:p>
        </p:txBody>
      </p:sp>
    </p:spTree>
    <p:extLst>
      <p:ext uri="{BB962C8B-B14F-4D97-AF65-F5344CB8AC3E}">
        <p14:creationId xmlns:p14="http://schemas.microsoft.com/office/powerpoint/2010/main" val="3664309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Beaucoup de systèmes ne tombent pas à cause d’un bug. Ils tombent parce qu’une condition d’exploitation n’est plus satisfaite.</a:t>
            </a:r>
          </a:p>
          <a:p>
            <a:r>
              <a:rPr lang="fr-FR" dirty="0"/>
              <a:t>Par exemple :</a:t>
            </a:r>
          </a:p>
          <a:p>
            <a:pPr>
              <a:buFont typeface="Arial" panose="020B0604020202020204" pitchFamily="34" charset="0"/>
              <a:buChar char="•"/>
            </a:pPr>
            <a:r>
              <a:rPr lang="fr-FR" dirty="0"/>
              <a:t>licence expirée </a:t>
            </a:r>
          </a:p>
          <a:p>
            <a:pPr>
              <a:buFont typeface="Arial" panose="020B0604020202020204" pitchFamily="34" charset="0"/>
              <a:buChar char="•"/>
            </a:pPr>
            <a:r>
              <a:rPr lang="fr-FR" dirty="0"/>
              <a:t>support non renouvelé </a:t>
            </a:r>
          </a:p>
          <a:p>
            <a:pPr>
              <a:buFont typeface="Arial" panose="020B0604020202020204" pitchFamily="34" charset="0"/>
              <a:buChar char="•"/>
            </a:pPr>
            <a:r>
              <a:rPr lang="fr-FR" dirty="0"/>
              <a:t>compte d’administration inaccessible </a:t>
            </a:r>
          </a:p>
          <a:p>
            <a:pPr>
              <a:buFont typeface="Arial" panose="020B0604020202020204" pitchFamily="34" charset="0"/>
              <a:buChar char="•"/>
            </a:pPr>
            <a:r>
              <a:rPr lang="fr-FR" dirty="0"/>
              <a:t>activation serveur indisponible </a:t>
            </a:r>
          </a:p>
          <a:p>
            <a:pPr>
              <a:buFont typeface="Arial" panose="020B0604020202020204" pitchFamily="34" charset="0"/>
              <a:buChar char="•"/>
            </a:pPr>
            <a:r>
              <a:rPr lang="fr-FR" dirty="0"/>
              <a:t>contrat annulé </a:t>
            </a:r>
          </a:p>
          <a:p>
            <a:r>
              <a:rPr lang="fr-FR" dirty="0"/>
              <a:t>Le risque ici est administratif autant que technique.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8</a:t>
            </a:fld>
            <a:endParaRPr lang="fr-FR"/>
          </a:p>
        </p:txBody>
      </p:sp>
    </p:spTree>
    <p:extLst>
      <p:ext uri="{BB962C8B-B14F-4D97-AF65-F5344CB8AC3E}">
        <p14:creationId xmlns:p14="http://schemas.microsoft.com/office/powerpoint/2010/main" val="302613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cloud est souvent vendu comme une simplification. En réalité, il simplifie certaines choses et en déplace d’autres.</a:t>
            </a:r>
          </a:p>
          <a:p>
            <a:r>
              <a:rPr lang="fr-FR" dirty="0"/>
              <a:t>Vous ne gérez plus l’infrastructure de la même manière, mais vous dépendez davantage de la disponibilité de l’opérateur, de sa politique d’accès, de ses SLA et de ses mécanismes de sécurité.</a:t>
            </a:r>
          </a:p>
          <a:p>
            <a:r>
              <a:rPr lang="fr-FR" dirty="0"/>
              <a:t>Ce n’est pas un problème en soi. C’est un arbitrage. Mais il faut le comprendre.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9</a:t>
            </a:fld>
            <a:endParaRPr lang="fr-FR"/>
          </a:p>
        </p:txBody>
      </p:sp>
    </p:spTree>
    <p:extLst>
      <p:ext uri="{BB962C8B-B14F-4D97-AF65-F5344CB8AC3E}">
        <p14:creationId xmlns:p14="http://schemas.microsoft.com/office/powerpoint/2010/main" val="308296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utilise des solutions de sécurité pour se protéger, mais ces solutions font elles-mêmes partie du paysage de dépendance.</a:t>
            </a:r>
          </a:p>
          <a:p>
            <a:r>
              <a:rPr lang="fr-FR" dirty="0"/>
              <a:t>Si l’outil de sécurité ne fonctionne plus, si sa base de signatures n’est plus mise à jour, si le portail cloud est indisponible, ou si son fonctionnement est opaque, alors la défense se fragilise.</a:t>
            </a:r>
          </a:p>
          <a:p>
            <a:r>
              <a:rPr lang="fr-FR" dirty="0"/>
              <a:t>Le paradoxe est là : la sécurité repose elle aussi sur de la confiance.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10</a:t>
            </a:fld>
            <a:endParaRPr lang="fr-FR"/>
          </a:p>
        </p:txBody>
      </p:sp>
    </p:spTree>
    <p:extLst>
      <p:ext uri="{BB962C8B-B14F-4D97-AF65-F5344CB8AC3E}">
        <p14:creationId xmlns:p14="http://schemas.microsoft.com/office/powerpoint/2010/main" val="1796682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souveraineté numérique consiste à garder un minimum de contrôle sur les choix essentiels.</a:t>
            </a:r>
          </a:p>
          <a:p>
            <a:r>
              <a:rPr lang="fr-FR" dirty="0"/>
              <a:t>On ne parle pas forcément d’indépendance totale. On parle d’autonomie suffisante pour éviter qu’un tiers puisse bloquer, modifier ou interrompre votre fonctionnement essentiel.</a:t>
            </a:r>
          </a:p>
          <a:p>
            <a:r>
              <a:rPr lang="fr-FR" dirty="0"/>
              <a:t>C’est particulièrement sensible pour les environnements critiques.</a:t>
            </a:r>
          </a:p>
        </p:txBody>
      </p:sp>
      <p:sp>
        <p:nvSpPr>
          <p:cNvPr id="4" name="Slide Number Placeholder 3"/>
          <p:cNvSpPr>
            <a:spLocks noGrp="1"/>
          </p:cNvSpPr>
          <p:nvPr>
            <p:ph type="sldNum" sz="quarter" idx="5"/>
          </p:nvPr>
        </p:nvSpPr>
        <p:spPr/>
        <p:txBody>
          <a:bodyPr/>
          <a:lstStyle/>
          <a:p>
            <a:fld id="{6F0D923A-BB16-4DF6-B183-CAD59C8CC68B}" type="slidenum">
              <a:rPr lang="fr-FR" smtClean="0"/>
              <a:t>11</a:t>
            </a:fld>
            <a:endParaRPr lang="fr-FR"/>
          </a:p>
        </p:txBody>
      </p:sp>
    </p:spTree>
    <p:extLst>
      <p:ext uri="{BB962C8B-B14F-4D97-AF65-F5344CB8AC3E}">
        <p14:creationId xmlns:p14="http://schemas.microsoft.com/office/powerpoint/2010/main" val="3977528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Une dépendance n’est pas automatiquement un incident.</a:t>
            </a:r>
            <a:br>
              <a:rPr lang="fr-FR" dirty="0"/>
            </a:br>
            <a:r>
              <a:rPr lang="fr-FR" dirty="0"/>
              <a:t>Mais elle devient un risque dès qu’elle touche un élément critique.</a:t>
            </a:r>
          </a:p>
          <a:p>
            <a:r>
              <a:rPr lang="fr-FR" dirty="0"/>
              <a:t>Le risque n’existe pas seulement au moment où la panne survient. Il existe aussi avant, dans le fait même d’avoir conçu le système de manière dépendante.</a:t>
            </a:r>
          </a:p>
          <a:p>
            <a:r>
              <a:rPr lang="fr-FR" dirty="0"/>
              <a:t>C’est pour cela qu’on parle de vulnérabilité structurelle.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13</a:t>
            </a:fld>
            <a:endParaRPr lang="fr-FR"/>
          </a:p>
        </p:txBody>
      </p:sp>
    </p:spTree>
    <p:extLst>
      <p:ext uri="{BB962C8B-B14F-4D97-AF65-F5344CB8AC3E}">
        <p14:creationId xmlns:p14="http://schemas.microsoft.com/office/powerpoint/2010/main" val="546213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mot “backdoor” est sensible, mais l’idée générale est simple :</a:t>
            </a:r>
            <a:br>
              <a:rPr lang="fr-FR" dirty="0"/>
            </a:br>
            <a:r>
              <a:rPr lang="fr-FR" dirty="0"/>
              <a:t>si une solution est opaque, on ne peut pas exclure l’existence d’un mécanisme qu’on ne voit pas.</a:t>
            </a:r>
          </a:p>
          <a:p>
            <a:r>
              <a:rPr lang="fr-FR" dirty="0"/>
              <a:t>Ce mécanisme peut être volontaire, involontaire, légitime ou dangereux.</a:t>
            </a:r>
            <a:br>
              <a:rPr lang="fr-FR" dirty="0"/>
            </a:br>
            <a:r>
              <a:rPr lang="fr-FR" dirty="0"/>
              <a:t>Dans tous les cas, plus on est dans un environnement critique, plus cette opacité est un problème.</a:t>
            </a:r>
          </a:p>
          <a:p>
            <a:r>
              <a:rPr lang="fr-FR" dirty="0"/>
              <a:t>Le fait de ne pas pouvoir auditer complètement un composant ne signifie pas qu’il est mauvais, mais cela signifie qu’il faut intégrer ce manque de visibilité dans l’analyse du risque.</a:t>
            </a:r>
          </a:p>
        </p:txBody>
      </p:sp>
      <p:sp>
        <p:nvSpPr>
          <p:cNvPr id="4" name="Slide Number Placeholder 3"/>
          <p:cNvSpPr>
            <a:spLocks noGrp="1"/>
          </p:cNvSpPr>
          <p:nvPr>
            <p:ph type="sldNum" sz="quarter" idx="5"/>
          </p:nvPr>
        </p:nvSpPr>
        <p:spPr/>
        <p:txBody>
          <a:bodyPr/>
          <a:lstStyle/>
          <a:p>
            <a:fld id="{6F0D923A-BB16-4DF6-B183-CAD59C8CC68B}" type="slidenum">
              <a:rPr lang="fr-FR" smtClean="0"/>
              <a:t>14</a:t>
            </a:fld>
            <a:endParaRPr lang="fr-FR"/>
          </a:p>
        </p:txBody>
      </p:sp>
    </p:spTree>
    <p:extLst>
      <p:ext uri="{BB962C8B-B14F-4D97-AF65-F5344CB8AC3E}">
        <p14:creationId xmlns:p14="http://schemas.microsoft.com/office/powerpoint/2010/main" val="1535714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L’indisponibilité est souvent sous-estimée parce qu’elle ne ressemble pas à une cyberattaque.</a:t>
            </a:r>
            <a:br>
              <a:rPr lang="fr-FR" dirty="0"/>
            </a:br>
            <a:r>
              <a:rPr lang="fr-FR" dirty="0"/>
              <a:t>Pourtant, pour les utilisateurs, le résultat est le même : le service n’est plus utilisable.</a:t>
            </a:r>
          </a:p>
          <a:p>
            <a:r>
              <a:rPr lang="fr-FR" dirty="0"/>
              <a:t>Et dans un système critique, la disponibilité est un enjeu majeur.</a:t>
            </a:r>
          </a:p>
          <a:p>
            <a:r>
              <a:rPr lang="fr-FR" dirty="0"/>
              <a:t>Si le composant externe n’est plus joignable, la capacité à opérer peut être réduite très rapidement.</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15</a:t>
            </a:fld>
            <a:endParaRPr lang="fr-FR"/>
          </a:p>
        </p:txBody>
      </p:sp>
    </p:spTree>
    <p:extLst>
      <p:ext uri="{BB962C8B-B14F-4D97-AF65-F5344CB8AC3E}">
        <p14:creationId xmlns:p14="http://schemas.microsoft.com/office/powerpoint/2010/main" val="2018448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risque de </a:t>
            </a:r>
            <a:r>
              <a:rPr lang="fr-FR" dirty="0" err="1"/>
              <a:t>supply</a:t>
            </a:r>
            <a:r>
              <a:rPr lang="fr-FR" dirty="0"/>
              <a:t> </a:t>
            </a:r>
            <a:r>
              <a:rPr lang="fr-FR" dirty="0" err="1"/>
              <a:t>chain</a:t>
            </a:r>
            <a:r>
              <a:rPr lang="fr-FR" dirty="0"/>
              <a:t> est redoutable parce qu’il exploite la confiance normale que nous accordons aux fournisseurs.</a:t>
            </a:r>
          </a:p>
          <a:p>
            <a:r>
              <a:rPr lang="fr-FR" dirty="0"/>
              <a:t>On installe une mise à jour signée, on déploie un composant réputé fiable, on récupère une bibliothèque connue… et pourtant le point d’entrée peut se situer en amont.</a:t>
            </a:r>
          </a:p>
          <a:p>
            <a:r>
              <a:rPr lang="fr-FR" dirty="0"/>
              <a:t>Ce risque montre que la défense ne se limite pas au périmètre interne.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16</a:t>
            </a:fld>
            <a:endParaRPr lang="fr-FR"/>
          </a:p>
        </p:txBody>
      </p:sp>
    </p:spTree>
    <p:extLst>
      <p:ext uri="{BB962C8B-B14F-4D97-AF65-F5344CB8AC3E}">
        <p14:creationId xmlns:p14="http://schemas.microsoft.com/office/powerpoint/2010/main" val="679019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sujet devient encore plus sérieux dès qu’on comprend que la technologie n’est pas neutre.</a:t>
            </a:r>
          </a:p>
          <a:p>
            <a:r>
              <a:rPr lang="fr-FR" dirty="0"/>
              <a:t>Un fournisseur peut être soumis à des contraintes légales, commerciales ou politiques qui dépassent complètement votre organisation.</a:t>
            </a:r>
          </a:p>
          <a:p>
            <a:r>
              <a:rPr lang="fr-FR" dirty="0"/>
              <a:t>Cela signifie qu’une crise externe peut se transformer en crise technique chez vous, sans que vous ayez commis la moindre erreur.</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17</a:t>
            </a:fld>
            <a:endParaRPr lang="fr-FR"/>
          </a:p>
        </p:txBody>
      </p:sp>
    </p:spTree>
    <p:extLst>
      <p:ext uri="{BB962C8B-B14F-4D97-AF65-F5344CB8AC3E}">
        <p14:creationId xmlns:p14="http://schemas.microsoft.com/office/powerpoint/2010/main" val="2594750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souveraineté ne signifie pas tout contrôler à 100 %.</a:t>
            </a:r>
            <a:br>
              <a:rPr lang="fr-FR" dirty="0"/>
            </a:br>
            <a:r>
              <a:rPr lang="fr-FR" dirty="0"/>
              <a:t>Elle signifie garder la capacité de choisir, d’arbitrer, d’intervenir et de se réorganiser.</a:t>
            </a:r>
          </a:p>
          <a:p>
            <a:r>
              <a:rPr lang="fr-FR" dirty="0"/>
              <a:t>Si l’on ne peut plus remplacer un outil, si l’on ne peut plus faire évoluer une architecture, si l’on ne peut plus fonctionner sans un fournisseur, alors la souveraineté s’effondre progressivement.</a:t>
            </a:r>
          </a:p>
        </p:txBody>
      </p:sp>
      <p:sp>
        <p:nvSpPr>
          <p:cNvPr id="4" name="Slide Number Placeholder 3"/>
          <p:cNvSpPr>
            <a:spLocks noGrp="1"/>
          </p:cNvSpPr>
          <p:nvPr>
            <p:ph type="sldNum" sz="quarter" idx="5"/>
          </p:nvPr>
        </p:nvSpPr>
        <p:spPr/>
        <p:txBody>
          <a:bodyPr/>
          <a:lstStyle/>
          <a:p>
            <a:fld id="{6F0D923A-BB16-4DF6-B183-CAD59C8CC68B}" type="slidenum">
              <a:rPr lang="fr-FR" smtClean="0"/>
              <a:t>18</a:t>
            </a:fld>
            <a:endParaRPr lang="fr-FR"/>
          </a:p>
        </p:txBody>
      </p:sp>
    </p:spTree>
    <p:extLst>
      <p:ext uri="{BB962C8B-B14F-4D97-AF65-F5344CB8AC3E}">
        <p14:creationId xmlns:p14="http://schemas.microsoft.com/office/powerpoint/2010/main" val="2495946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C’est probablement l’un des points les plus importants du sujet.</a:t>
            </a:r>
          </a:p>
          <a:p>
            <a:r>
              <a:rPr lang="fr-FR" dirty="0"/>
              <a:t>Le danger d’une dépendance, c’est qu’elle reste invisible tant qu’aucun problème n’apparaît.</a:t>
            </a:r>
          </a:p>
          <a:p>
            <a:r>
              <a:rPr lang="fr-FR" dirty="0"/>
              <a:t>Quand tout marche, elle paraît sans conséquence.</a:t>
            </a:r>
            <a:br>
              <a:rPr lang="fr-FR" dirty="0"/>
            </a:br>
            <a:r>
              <a:rPr lang="fr-FR" dirty="0"/>
              <a:t>Mais au moment où une rupture survient, on découvre souvent qu’aucune solution de secours n’avait été préparée.</a:t>
            </a:r>
          </a:p>
          <a:p>
            <a:r>
              <a:rPr lang="fr-FR" dirty="0"/>
              <a:t>Le vrai travail consiste donc à identifier ces dépendances avant la crise.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19</a:t>
            </a:fld>
            <a:endParaRPr lang="fr-FR"/>
          </a:p>
        </p:txBody>
      </p:sp>
    </p:spTree>
    <p:extLst>
      <p:ext uri="{BB962C8B-B14F-4D97-AF65-F5344CB8AC3E}">
        <p14:creationId xmlns:p14="http://schemas.microsoft.com/office/powerpoint/2010/main" val="1319421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21</a:t>
            </a:fld>
            <a:endParaRPr lang="fr-FR"/>
          </a:p>
        </p:txBody>
      </p:sp>
    </p:spTree>
    <p:extLst>
      <p:ext uri="{BB962C8B-B14F-4D97-AF65-F5344CB8AC3E}">
        <p14:creationId xmlns:p14="http://schemas.microsoft.com/office/powerpoint/2010/main" val="4078666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Dans la situation normale, tout semble stable.</a:t>
            </a:r>
            <a:br>
              <a:rPr lang="fr-FR" dirty="0"/>
            </a:br>
            <a:r>
              <a:rPr lang="fr-FR" dirty="0"/>
              <a:t>Les équipes travaillent, les flux passent, les opérations se déroulent.</a:t>
            </a:r>
          </a:p>
          <a:p>
            <a:r>
              <a:rPr lang="fr-FR" dirty="0"/>
              <a:t>C’est précisément dans cet état que l’on oublie souvent la dépendance.</a:t>
            </a:r>
            <a:br>
              <a:rPr lang="fr-FR" dirty="0"/>
            </a:br>
            <a:r>
              <a:rPr lang="fr-FR" dirty="0"/>
              <a:t>Mais c’est aussi dans cet état qu’il faut préparer les plans de secours.</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22</a:t>
            </a:fld>
            <a:endParaRPr lang="fr-FR"/>
          </a:p>
        </p:txBody>
      </p:sp>
    </p:spTree>
    <p:extLst>
      <p:ext uri="{BB962C8B-B14F-4D97-AF65-F5344CB8AC3E}">
        <p14:creationId xmlns:p14="http://schemas.microsoft.com/office/powerpoint/2010/main" val="1499855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Ici, il n’y a pas d’attaque.</a:t>
            </a:r>
            <a:br>
              <a:rPr lang="fr-FR" dirty="0"/>
            </a:br>
            <a:r>
              <a:rPr lang="fr-FR" dirty="0"/>
              <a:t>Il y a simplement une rupture de service.</a:t>
            </a:r>
          </a:p>
          <a:p>
            <a:r>
              <a:rPr lang="fr-FR" dirty="0"/>
              <a:t>C’est important de le répéter, parce que cela montre que le risque ne vient pas toujours d’un adversaire.</a:t>
            </a:r>
            <a:br>
              <a:rPr lang="fr-FR" dirty="0"/>
            </a:br>
            <a:r>
              <a:rPr lang="fr-FR" dirty="0"/>
              <a:t>Il peut venir d’une défaillance, d’une politique commerciale, d’une panne ou d’une interruption de service.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23</a:t>
            </a:fld>
            <a:endParaRPr lang="fr-FR"/>
          </a:p>
        </p:txBody>
      </p:sp>
    </p:spTree>
    <p:extLst>
      <p:ext uri="{BB962C8B-B14F-4D97-AF65-F5344CB8AC3E}">
        <p14:creationId xmlns:p14="http://schemas.microsoft.com/office/powerpoint/2010/main" val="2992917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Dans beaucoup de cas, la dégradation n’est pas brutale.</a:t>
            </a:r>
            <a:br>
              <a:rPr lang="fr-FR" dirty="0"/>
            </a:br>
            <a:r>
              <a:rPr lang="fr-FR" dirty="0"/>
              <a:t>Le système commence par envoyer des signaux faibles.</a:t>
            </a:r>
          </a:p>
          <a:p>
            <a:r>
              <a:rPr lang="fr-FR" dirty="0"/>
              <a:t>Le problème, c’est que si ces signaux ne sont pas remontés ou compris à temps, on perd du temps avant d’agir.</a:t>
            </a:r>
            <a:br>
              <a:rPr lang="fr-FR" dirty="0"/>
            </a:br>
            <a:r>
              <a:rPr lang="fr-FR" dirty="0"/>
              <a:t>Et dans un contexte critique, le temps est souvent la ressource la plus importante.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24</a:t>
            </a:fld>
            <a:endParaRPr lang="fr-FR"/>
          </a:p>
        </p:txBody>
      </p:sp>
    </p:spTree>
    <p:extLst>
      <p:ext uri="{BB962C8B-B14F-4D97-AF65-F5344CB8AC3E}">
        <p14:creationId xmlns:p14="http://schemas.microsoft.com/office/powerpoint/2010/main" val="3150978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L’impact n’est pas seulement technique.</a:t>
            </a:r>
            <a:br>
              <a:rPr lang="fr-FR" dirty="0"/>
            </a:br>
            <a:r>
              <a:rPr lang="fr-FR" dirty="0"/>
              <a:t>Il est aussi organisationnel et humain.</a:t>
            </a:r>
          </a:p>
          <a:p>
            <a:r>
              <a:rPr lang="fr-FR" dirty="0"/>
              <a:t>Dès qu’un service critique est perturbé, les équipes doivent compenser, contournent parfois les procédures, et l’environnement devient plus fragile.</a:t>
            </a:r>
          </a:p>
          <a:p>
            <a:r>
              <a:rPr lang="fr-FR" dirty="0"/>
              <a:t>Cela montre que la dépendance technologique peut devenir un problème de continuité opérationnelle.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25</a:t>
            </a:fld>
            <a:endParaRPr lang="fr-FR"/>
          </a:p>
        </p:txBody>
      </p:sp>
    </p:spTree>
    <p:extLst>
      <p:ext uri="{BB962C8B-B14F-4D97-AF65-F5344CB8AC3E}">
        <p14:creationId xmlns:p14="http://schemas.microsoft.com/office/powerpoint/2010/main" val="3558099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associe souvent un incident cyber à une attaque. Mais ici, la vulnérabilité vient du modèle de dépendance lui-même.</a:t>
            </a:r>
          </a:p>
          <a:p>
            <a:r>
              <a:rPr lang="fr-FR" dirty="0"/>
              <a:t>Cela veut dire qu’une bonne cybersécurité doit intégrer la disponibilité des tiers, la résilience et la capacité de repli.</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26</a:t>
            </a:fld>
            <a:endParaRPr lang="fr-FR"/>
          </a:p>
        </p:txBody>
      </p:sp>
    </p:spTree>
    <p:extLst>
      <p:ext uri="{BB962C8B-B14F-4D97-AF65-F5344CB8AC3E}">
        <p14:creationId xmlns:p14="http://schemas.microsoft.com/office/powerpoint/2010/main" val="2855417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Il faut être réaliste : on ne peut pas éliminer toute dépendance.</a:t>
            </a:r>
          </a:p>
          <a:p>
            <a:r>
              <a:rPr lang="fr-FR" dirty="0"/>
              <a:t>En revanche, on peut éviter les dépendances uniques et critiques.</a:t>
            </a:r>
            <a:br>
              <a:rPr lang="fr-FR" dirty="0"/>
            </a:br>
            <a:r>
              <a:rPr lang="fr-FR" dirty="0"/>
              <a:t>On peut aussi mettre en place des contrôles, des plans de secours et des stratégies de substitution.</a:t>
            </a:r>
          </a:p>
          <a:p>
            <a:r>
              <a:rPr lang="fr-FR" dirty="0"/>
              <a:t>Le but est d’éviter le “tout ou rien”.</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28</a:t>
            </a:fld>
            <a:endParaRPr lang="fr-FR"/>
          </a:p>
        </p:txBody>
      </p:sp>
    </p:spTree>
    <p:extLst>
      <p:ext uri="{BB962C8B-B14F-4D97-AF65-F5344CB8AC3E}">
        <p14:creationId xmlns:p14="http://schemas.microsoft.com/office/powerpoint/2010/main" val="1141177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Ces questions sont très utiles pendant les échanges.</a:t>
            </a:r>
            <a:br>
              <a:rPr lang="fr-FR" dirty="0"/>
            </a:br>
            <a:r>
              <a:rPr lang="fr-FR" dirty="0"/>
              <a:t>Elles montrent qu’on ne parle pas seulement de théorie, mais d’analyse concrète du système.</a:t>
            </a:r>
          </a:p>
          <a:p>
            <a:r>
              <a:rPr lang="fr-FR" dirty="0"/>
              <a:t>Si un participant pose une question technique, tu peux souvent revenir à ces six questions de base pour structurer la réponse.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29</a:t>
            </a:fld>
            <a:endParaRPr lang="fr-FR"/>
          </a:p>
        </p:txBody>
      </p:sp>
    </p:spTree>
    <p:extLst>
      <p:ext uri="{BB962C8B-B14F-4D97-AF65-F5344CB8AC3E}">
        <p14:creationId xmlns:p14="http://schemas.microsoft.com/office/powerpoint/2010/main" val="38663554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point est important pour éviter un discours extrême.</a:t>
            </a:r>
          </a:p>
          <a:p>
            <a:r>
              <a:rPr lang="fr-FR" dirty="0"/>
              <a:t>Il ne faut pas dire “tout étranger est mauvais”.</a:t>
            </a:r>
            <a:br>
              <a:rPr lang="fr-FR" dirty="0"/>
            </a:br>
            <a:r>
              <a:rPr lang="fr-FR" dirty="0"/>
              <a:t>Le vrai sujet est l’équilibre entre efficacité, sécurité et autonomie.</a:t>
            </a:r>
          </a:p>
          <a:p>
            <a:r>
              <a:rPr lang="fr-FR" dirty="0"/>
              <a:t>Certaines dépendances sont acceptables. D’autres doivent être limitées ou compensées. C’est cela, l’approche réaliste.</a:t>
            </a:r>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30</a:t>
            </a:fld>
            <a:endParaRPr lang="fr-FR"/>
          </a:p>
        </p:txBody>
      </p:sp>
    </p:spTree>
    <p:extLst>
      <p:ext uri="{BB962C8B-B14F-4D97-AF65-F5344CB8AC3E}">
        <p14:creationId xmlns:p14="http://schemas.microsoft.com/office/powerpoint/2010/main" val="27332945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il faut retenir que la dépendance technologique n’est pas un détail.</a:t>
            </a:r>
          </a:p>
          <a:p>
            <a:r>
              <a:rPr lang="fr-FR" dirty="0"/>
              <a:t>Elle est aujourd’hui au cœur de la cybersécurité moderne.</a:t>
            </a:r>
            <a:br>
              <a:rPr lang="fr-FR" dirty="0"/>
            </a:br>
            <a:r>
              <a:rPr lang="fr-FR" dirty="0"/>
              <a:t>Un système peut être bien protégé, mais rester fragile s’il dépend trop fortement d’éléments externes qu’il ne maîtrise pas.</a:t>
            </a:r>
          </a:p>
          <a:p>
            <a:r>
              <a:rPr lang="fr-FR" dirty="0"/>
              <a:t>Le vrai objectif n’est donc pas seulement de se défendre, mais de rester capable de fonctionner, de décider et d’agir.</a:t>
            </a:r>
          </a:p>
          <a:p>
            <a:endParaRPr lang="fr-FR" dirty="0"/>
          </a:p>
          <a:p>
            <a:endParaRPr lang="fr-FR" dirty="0"/>
          </a:p>
        </p:txBody>
      </p:sp>
      <p:sp>
        <p:nvSpPr>
          <p:cNvPr id="4" name="Slide Number Placeholder 3"/>
          <p:cNvSpPr>
            <a:spLocks noGrp="1"/>
          </p:cNvSpPr>
          <p:nvPr>
            <p:ph type="sldNum" sz="quarter" idx="5"/>
          </p:nvPr>
        </p:nvSpPr>
        <p:spPr/>
        <p:txBody>
          <a:bodyPr/>
          <a:lstStyle/>
          <a:p>
            <a:fld id="{6F0D923A-BB16-4DF6-B183-CAD59C8CC68B}" type="slidenum">
              <a:rPr lang="fr-FR" smtClean="0"/>
              <a:t>32</a:t>
            </a:fld>
            <a:endParaRPr lang="fr-FR"/>
          </a:p>
        </p:txBody>
      </p:sp>
    </p:spTree>
    <p:extLst>
      <p:ext uri="{BB962C8B-B14F-4D97-AF65-F5344CB8AC3E}">
        <p14:creationId xmlns:p14="http://schemas.microsoft.com/office/powerpoint/2010/main" val="2376048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9480-79B0-4247-AD31-18EF61BDCD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BB2424B7-EE2C-4851-ADE3-D5F2503E2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4F132404-5694-4971-B819-265C665A359A}"/>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5" name="Footer Placeholder 4">
            <a:extLst>
              <a:ext uri="{FF2B5EF4-FFF2-40B4-BE49-F238E27FC236}">
                <a16:creationId xmlns:a16="http://schemas.microsoft.com/office/drawing/2014/main" id="{53DDDFAA-DF3B-4C86-9A3A-224EC0EE851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92753511-9C41-4BC7-92DD-F6D1E4A87AD5}"/>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1290657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E5AB1-C02C-4DB6-BE47-B1E9712552E8}"/>
              </a:ext>
            </a:extLst>
          </p:cNvPr>
          <p:cNvSpPr>
            <a:spLocks noGrp="1"/>
          </p:cNvSpPr>
          <p:nvPr>
            <p:ph type="title"/>
          </p:nvPr>
        </p:nvSpPr>
        <p:spPr>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lvl1pPr algn="ctr">
              <a:defRPr/>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28530706-EE9F-4723-A56F-9E4B17B27822}"/>
              </a:ext>
            </a:extLst>
          </p:cNvPr>
          <p:cNvSpPr>
            <a:spLocks noGrp="1"/>
          </p:cNvSpPr>
          <p:nvPr>
            <p:ph idx="1"/>
          </p:nvPr>
        </p:nvSpPr>
        <p:spPr>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6E0689F-9097-4E22-9CC6-9BAEDE10C062}"/>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5" name="Footer Placeholder 4">
            <a:extLst>
              <a:ext uri="{FF2B5EF4-FFF2-40B4-BE49-F238E27FC236}">
                <a16:creationId xmlns:a16="http://schemas.microsoft.com/office/drawing/2014/main" id="{C4D3CC13-1481-4358-AE4E-A77E02E7155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4A884C3-4C96-4812-8CF8-66BBF8995BA5}"/>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1873698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014E5-577C-40A2-8909-34268B7054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324FE805-978F-4D86-9F50-929F14585E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A4868B-1BF6-4D20-A3CE-12F164D169EB}"/>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5" name="Footer Placeholder 4">
            <a:extLst>
              <a:ext uri="{FF2B5EF4-FFF2-40B4-BE49-F238E27FC236}">
                <a16:creationId xmlns:a16="http://schemas.microsoft.com/office/drawing/2014/main" id="{59D06CE0-E827-4049-84DB-73724FC6CE2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9F166BB-5AD4-4B6E-9546-81DCDE251DCA}"/>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2486135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84B4C-1FD2-485C-8480-D5D30589080D}"/>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D2278605-8F9E-4430-9E0E-4BD62B6B23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B0847BD1-3A51-4DCE-95C6-F005BB5689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60A0CF43-320E-4B58-AED2-64AE3445C2E1}"/>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6" name="Footer Placeholder 5">
            <a:extLst>
              <a:ext uri="{FF2B5EF4-FFF2-40B4-BE49-F238E27FC236}">
                <a16:creationId xmlns:a16="http://schemas.microsoft.com/office/drawing/2014/main" id="{751002CE-2026-4D9E-BCC0-7E44AA05C223}"/>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1103C87-152B-42CA-9CC8-74803AD7553A}"/>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2504184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809E-8203-4B4A-8BFE-EDC3C08B3EA8}"/>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CA87D661-8401-4988-852C-D135694A7E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63463D-61FD-4EBA-9B7A-7A5B6DCFAB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54B06D11-565B-4975-A63A-7E90E28C7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A563CD-AA23-485C-8858-8B584F514E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33F2614D-6B3C-49E5-A39C-C35635D99C23}"/>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8" name="Footer Placeholder 7">
            <a:extLst>
              <a:ext uri="{FF2B5EF4-FFF2-40B4-BE49-F238E27FC236}">
                <a16:creationId xmlns:a16="http://schemas.microsoft.com/office/drawing/2014/main" id="{9AD7A333-30BB-42BA-90C1-CC635D4FC67B}"/>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6F682ABF-E98A-4EC8-93B1-2778B1005C0E}"/>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1605220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C5AA-A555-41A5-9410-FEE4154523F1}"/>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E7C0AC60-05F6-431B-99F2-E2C56D1D5227}"/>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4" name="Footer Placeholder 3">
            <a:extLst>
              <a:ext uri="{FF2B5EF4-FFF2-40B4-BE49-F238E27FC236}">
                <a16:creationId xmlns:a16="http://schemas.microsoft.com/office/drawing/2014/main" id="{F9240612-62BB-4536-8A97-782502D93ED4}"/>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DE56E128-93A9-499A-931E-53FDBFCAE8C6}"/>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700270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869956-6234-40FD-BAB0-261AC72CF11A}"/>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3" name="Footer Placeholder 2">
            <a:extLst>
              <a:ext uri="{FF2B5EF4-FFF2-40B4-BE49-F238E27FC236}">
                <a16:creationId xmlns:a16="http://schemas.microsoft.com/office/drawing/2014/main" id="{ED00210B-2606-436B-A463-8B2C594BF2C7}"/>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3F1A5403-7280-450C-93EE-1F084B604D50}"/>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1114978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2ABA-5B82-4565-835D-BA2A30106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2762189C-DBD9-44FB-893F-6E4AFD29F2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37A050A6-7723-4B99-9FEC-F70FA6A3F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189524-F9DA-458E-BF5F-BB5B87443F4C}"/>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6" name="Footer Placeholder 5">
            <a:extLst>
              <a:ext uri="{FF2B5EF4-FFF2-40B4-BE49-F238E27FC236}">
                <a16:creationId xmlns:a16="http://schemas.microsoft.com/office/drawing/2014/main" id="{54692A21-9AD0-4BBC-B52E-DC9E4974B8F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71375173-E3DF-4A26-8593-C32169149BC1}"/>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2819141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805F-0210-4B11-801F-BD4CFCDAEF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B370F8F6-3798-4E17-8954-F4EA02F3B2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12AA2B8E-2520-4E29-AE07-46CD3952CA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ACA41-5BFC-401E-880B-4FF3A5B403DD}"/>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6" name="Footer Placeholder 5">
            <a:extLst>
              <a:ext uri="{FF2B5EF4-FFF2-40B4-BE49-F238E27FC236}">
                <a16:creationId xmlns:a16="http://schemas.microsoft.com/office/drawing/2014/main" id="{A50D2DAA-DC89-4845-AFA7-994091580B84}"/>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E85D1E5F-CFBE-4741-A93C-E6A074567901}"/>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1208083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31466-A145-4A56-B36D-10B7541CFB00}"/>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ED487322-0231-46C7-8FA2-38CBB541C1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BD26CA6-7D82-4882-874D-716CFAEE1B85}"/>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5" name="Footer Placeholder 4">
            <a:extLst>
              <a:ext uri="{FF2B5EF4-FFF2-40B4-BE49-F238E27FC236}">
                <a16:creationId xmlns:a16="http://schemas.microsoft.com/office/drawing/2014/main" id="{3F59DBD4-939F-4EA4-B311-B9DC53D0AD85}"/>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E6D14D3-DCD1-48B0-A7EC-F1C74A658FD9}"/>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3817888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9E1B47-0D25-4C8C-82BE-BC0CD314D9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08612080-B7C9-4E63-B924-F6527DC749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3BD0B71-C278-4723-9009-20A1B88091CC}"/>
              </a:ext>
            </a:extLst>
          </p:cNvPr>
          <p:cNvSpPr>
            <a:spLocks noGrp="1"/>
          </p:cNvSpPr>
          <p:nvPr>
            <p:ph type="dt" sz="half" idx="10"/>
          </p:nvPr>
        </p:nvSpPr>
        <p:spPr/>
        <p:txBody>
          <a:bodyPr/>
          <a:lstStyle/>
          <a:p>
            <a:fld id="{79684CEC-E1B2-4D5D-93E2-31175B563A29}" type="datetimeFigureOut">
              <a:rPr lang="fr-FR" smtClean="0"/>
              <a:t>08/04/2026</a:t>
            </a:fld>
            <a:endParaRPr lang="fr-FR"/>
          </a:p>
        </p:txBody>
      </p:sp>
      <p:sp>
        <p:nvSpPr>
          <p:cNvPr id="5" name="Footer Placeholder 4">
            <a:extLst>
              <a:ext uri="{FF2B5EF4-FFF2-40B4-BE49-F238E27FC236}">
                <a16:creationId xmlns:a16="http://schemas.microsoft.com/office/drawing/2014/main" id="{C14B272E-0DFC-4102-A712-0A370426376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62EB454-D1F2-43A1-9449-E97BB3D9EFCE}"/>
              </a:ext>
            </a:extLst>
          </p:cNvPr>
          <p:cNvSpPr>
            <a:spLocks noGrp="1"/>
          </p:cNvSpPr>
          <p:nvPr>
            <p:ph type="sldNum" sz="quarter" idx="12"/>
          </p:nvPr>
        </p:nvSpPr>
        <p:spPr/>
        <p:txBody>
          <a:bodyPr/>
          <a:lstStyle/>
          <a:p>
            <a:fld id="{F0590597-717D-441C-9E33-B71AE97A9D32}" type="slidenum">
              <a:rPr lang="fr-FR" smtClean="0"/>
              <a:t>‹N°›</a:t>
            </a:fld>
            <a:endParaRPr lang="fr-FR"/>
          </a:p>
        </p:txBody>
      </p:sp>
    </p:spTree>
    <p:extLst>
      <p:ext uri="{BB962C8B-B14F-4D97-AF65-F5344CB8AC3E}">
        <p14:creationId xmlns:p14="http://schemas.microsoft.com/office/powerpoint/2010/main" val="3613233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9A9127-7F57-4F58-B66B-76441242A4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AE39055D-AD5D-48B9-8700-B375D2DA40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2C0A302C-B988-4024-8E6D-65B3EF076D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ea typeface="Cambria" panose="02040503050406030204" pitchFamily="18" charset="0"/>
              </a:defRPr>
            </a:lvl1pPr>
          </a:lstStyle>
          <a:p>
            <a:fld id="{79684CEC-E1B2-4D5D-93E2-31175B563A29}" type="datetimeFigureOut">
              <a:rPr lang="fr-FR" smtClean="0"/>
              <a:pPr/>
              <a:t>08/04/2026</a:t>
            </a:fld>
            <a:endParaRPr lang="fr-FR"/>
          </a:p>
        </p:txBody>
      </p:sp>
      <p:sp>
        <p:nvSpPr>
          <p:cNvPr id="5" name="Footer Placeholder 4">
            <a:extLst>
              <a:ext uri="{FF2B5EF4-FFF2-40B4-BE49-F238E27FC236}">
                <a16:creationId xmlns:a16="http://schemas.microsoft.com/office/drawing/2014/main" id="{4548AD5A-E13C-42FD-A267-8537B3D89A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ea typeface="Cambria" panose="02040503050406030204" pitchFamily="18" charset="0"/>
              </a:defRPr>
            </a:lvl1pPr>
          </a:lstStyle>
          <a:p>
            <a:endParaRPr lang="fr-FR"/>
          </a:p>
        </p:txBody>
      </p:sp>
      <p:sp>
        <p:nvSpPr>
          <p:cNvPr id="6" name="Slide Number Placeholder 5">
            <a:extLst>
              <a:ext uri="{FF2B5EF4-FFF2-40B4-BE49-F238E27FC236}">
                <a16:creationId xmlns:a16="http://schemas.microsoft.com/office/drawing/2014/main" id="{18C83972-532A-4D8F-821C-26DD4CD377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ea typeface="Cambria" panose="02040503050406030204" pitchFamily="18" charset="0"/>
              </a:defRPr>
            </a:lvl1pPr>
          </a:lstStyle>
          <a:p>
            <a:fld id="{F0590597-717D-441C-9E33-B71AE97A9D32}" type="slidenum">
              <a:rPr lang="fr-FR" smtClean="0"/>
              <a:pPr/>
              <a:t>‹N°›</a:t>
            </a:fld>
            <a:endParaRPr lang="fr-FR"/>
          </a:p>
        </p:txBody>
      </p:sp>
    </p:spTree>
    <p:extLst>
      <p:ext uri="{BB962C8B-B14F-4D97-AF65-F5344CB8AC3E}">
        <p14:creationId xmlns:p14="http://schemas.microsoft.com/office/powerpoint/2010/main" val="1191373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C0D8F-DC2E-46C8-B48D-760326A1F38E}"/>
              </a:ext>
            </a:extLst>
          </p:cNvPr>
          <p:cNvSpPr>
            <a:spLocks noGrp="1"/>
          </p:cNvSpPr>
          <p:nvPr>
            <p:ph type="ctrTitle"/>
          </p:nvPr>
        </p:nvSpPr>
        <p:spPr>
          <a:xfrm>
            <a:off x="1523999" y="1122363"/>
            <a:ext cx="9877425" cy="2387600"/>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fontScale="90000"/>
          </a:bodyPr>
          <a:lstStyle/>
          <a:p>
            <a:r>
              <a:rPr lang="fr-FR" dirty="0"/>
              <a:t>DÉPENDANCE TECHNOLOGIQUE : LA FACE CACHÉE DE LA CYBERSÉCURITÉ</a:t>
            </a:r>
          </a:p>
        </p:txBody>
      </p:sp>
      <p:sp>
        <p:nvSpPr>
          <p:cNvPr id="3" name="Subtitle 2">
            <a:extLst>
              <a:ext uri="{FF2B5EF4-FFF2-40B4-BE49-F238E27FC236}">
                <a16:creationId xmlns:a16="http://schemas.microsoft.com/office/drawing/2014/main" id="{C1E41B18-9F4B-4EE8-BB30-733A5C118B6D}"/>
              </a:ext>
            </a:extLst>
          </p:cNvPr>
          <p:cNvSpPr>
            <a:spLocks noGrp="1"/>
          </p:cNvSpPr>
          <p:nvPr>
            <p:ph type="subTitle" idx="1"/>
          </p:nvPr>
        </p:nvSpPr>
        <p:spPr>
          <a:xfrm>
            <a:off x="7600950" y="3602038"/>
            <a:ext cx="3067050" cy="646112"/>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2026. HELIOS Project.</a:t>
            </a:r>
          </a:p>
        </p:txBody>
      </p:sp>
    </p:spTree>
    <p:extLst>
      <p:ext uri="{BB962C8B-B14F-4D97-AF65-F5344CB8AC3E}">
        <p14:creationId xmlns:p14="http://schemas.microsoft.com/office/powerpoint/2010/main" val="3573061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8E68-7F96-4F66-957F-1EA2882EE294}"/>
              </a:ext>
            </a:extLst>
          </p:cNvPr>
          <p:cNvSpPr>
            <a:spLocks noGrp="1"/>
          </p:cNvSpPr>
          <p:nvPr>
            <p:ph type="title"/>
          </p:nvPr>
        </p:nvSpPr>
        <p:spPr/>
        <p:txBody>
          <a:bodyPr/>
          <a:lstStyle/>
          <a:p>
            <a:r>
              <a:rPr lang="fr-FR" dirty="0"/>
              <a:t>IDÉE MAÎTRESSE</a:t>
            </a:r>
          </a:p>
        </p:txBody>
      </p:sp>
      <p:sp>
        <p:nvSpPr>
          <p:cNvPr id="3" name="Content Placeholder 2">
            <a:extLst>
              <a:ext uri="{FF2B5EF4-FFF2-40B4-BE49-F238E27FC236}">
                <a16:creationId xmlns:a16="http://schemas.microsoft.com/office/drawing/2014/main" id="{419CF98C-B91B-419D-9166-6CE43AA999F0}"/>
              </a:ext>
            </a:extLst>
          </p:cNvPr>
          <p:cNvSpPr>
            <a:spLocks noGrp="1"/>
          </p:cNvSpPr>
          <p:nvPr>
            <p:ph idx="1"/>
          </p:nvPr>
        </p:nvSpPr>
        <p:spPr/>
        <p:txBody>
          <a:bodyPr>
            <a:normAutofit lnSpcReduction="10000"/>
          </a:bodyPr>
          <a:lstStyle/>
          <a:p>
            <a:pPr marL="0" indent="0">
              <a:buNone/>
            </a:pPr>
            <a:r>
              <a:rPr lang="fr-FR" b="1" dirty="0"/>
              <a:t>La cybersécurité ne se limite pas à se protéger contre les attaques. </a:t>
            </a:r>
            <a:r>
              <a:rPr lang="fr-FR" dirty="0"/>
              <a:t>Elle consiste aussi à comprendre ce dont on dépend réellement, garder le contrôle sur les composants critiques, anticiper les ruptures externes, préserver sa capacité à fonctionner en autonomie. Un SI réellement sécurisé n’est pas seulement protégé : il est maîtrisé, résilient et capable de fonctionner même en cas de rupture de dépendance.</a:t>
            </a:r>
          </a:p>
          <a:p>
            <a:endParaRPr lang="fr-FR" dirty="0"/>
          </a:p>
        </p:txBody>
      </p:sp>
    </p:spTree>
    <p:extLst>
      <p:ext uri="{BB962C8B-B14F-4D97-AF65-F5344CB8AC3E}">
        <p14:creationId xmlns:p14="http://schemas.microsoft.com/office/powerpoint/2010/main" val="2842723147"/>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1D6C6-ECDC-46C5-900E-D17E2284BE1D}"/>
              </a:ext>
            </a:extLst>
          </p:cNvPr>
          <p:cNvSpPr>
            <a:spLocks noGrp="1"/>
          </p:cNvSpPr>
          <p:nvPr>
            <p:ph type="title"/>
          </p:nvPr>
        </p:nvSpPr>
        <p:spPr/>
        <p:txBody>
          <a:bodyPr/>
          <a:lstStyle/>
          <a:p>
            <a:r>
              <a:rPr lang="fr-FR" dirty="0"/>
              <a:t>Définition claire de la dépendance technologique</a:t>
            </a:r>
          </a:p>
        </p:txBody>
      </p:sp>
      <p:sp>
        <p:nvSpPr>
          <p:cNvPr id="3" name="Content Placeholder 2">
            <a:extLst>
              <a:ext uri="{FF2B5EF4-FFF2-40B4-BE49-F238E27FC236}">
                <a16:creationId xmlns:a16="http://schemas.microsoft.com/office/drawing/2014/main" id="{9BA7BB3A-2753-4038-B3C1-2294740D8749}"/>
              </a:ext>
            </a:extLst>
          </p:cNvPr>
          <p:cNvSpPr>
            <a:spLocks noGrp="1"/>
          </p:cNvSpPr>
          <p:nvPr>
            <p:ph idx="1"/>
          </p:nvPr>
        </p:nvSpPr>
        <p:spPr/>
        <p:txBody>
          <a:bodyPr>
            <a:normAutofit fontScale="92500" lnSpcReduction="20000"/>
          </a:bodyPr>
          <a:lstStyle/>
          <a:p>
            <a:r>
              <a:rPr lang="fr-FR" b="1" dirty="0"/>
              <a:t>Dépendance technologique :</a:t>
            </a:r>
            <a:r>
              <a:rPr lang="fr-FR" dirty="0"/>
              <a:t/>
            </a:r>
            <a:br>
              <a:rPr lang="fr-FR" dirty="0"/>
            </a:br>
            <a:r>
              <a:rPr lang="fr-FR" dirty="0"/>
              <a:t>Situation dans laquelle un système d’information dépend d’un acteur, d’un produit ou d’un service externe pour fonctionner, évoluer, être maintenu ou être protégé.</a:t>
            </a:r>
          </a:p>
          <a:p>
            <a:pPr lvl="1"/>
            <a:r>
              <a:rPr lang="fr-FR" dirty="0"/>
              <a:t>dépendance matérielle </a:t>
            </a:r>
          </a:p>
          <a:p>
            <a:pPr lvl="1"/>
            <a:r>
              <a:rPr lang="fr-FR" dirty="0"/>
              <a:t>dépendance logicielle </a:t>
            </a:r>
          </a:p>
          <a:p>
            <a:pPr lvl="1"/>
            <a:r>
              <a:rPr lang="fr-FR" dirty="0"/>
              <a:t>dépendance opérationnelle </a:t>
            </a:r>
          </a:p>
          <a:p>
            <a:pPr lvl="1"/>
            <a:r>
              <a:rPr lang="fr-FR" dirty="0"/>
              <a:t>dépendance stratégique</a:t>
            </a:r>
          </a:p>
          <a:p>
            <a:endParaRPr lang="fr-FR" dirty="0"/>
          </a:p>
        </p:txBody>
      </p:sp>
    </p:spTree>
    <p:extLst>
      <p:ext uri="{BB962C8B-B14F-4D97-AF65-F5344CB8AC3E}">
        <p14:creationId xmlns:p14="http://schemas.microsoft.com/office/powerpoint/2010/main" val="3046818538"/>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A5B7-BC7B-4277-8677-BFE5F20739F9}"/>
              </a:ext>
            </a:extLst>
          </p:cNvPr>
          <p:cNvSpPr>
            <a:spLocks noGrp="1"/>
          </p:cNvSpPr>
          <p:nvPr>
            <p:ph type="title"/>
          </p:nvPr>
        </p:nvSpPr>
        <p:spPr/>
        <p:txBody>
          <a:bodyPr/>
          <a:lstStyle/>
          <a:p>
            <a:r>
              <a:rPr lang="fr-FR" dirty="0"/>
              <a:t>Où se cache la dépendance ?</a:t>
            </a:r>
          </a:p>
        </p:txBody>
      </p:sp>
      <p:sp>
        <p:nvSpPr>
          <p:cNvPr id="3" name="Content Placeholder 2">
            <a:extLst>
              <a:ext uri="{FF2B5EF4-FFF2-40B4-BE49-F238E27FC236}">
                <a16:creationId xmlns:a16="http://schemas.microsoft.com/office/drawing/2014/main" id="{C07C3179-B898-49FB-9BBB-217FA879E157}"/>
              </a:ext>
            </a:extLst>
          </p:cNvPr>
          <p:cNvSpPr>
            <a:spLocks noGrp="1"/>
          </p:cNvSpPr>
          <p:nvPr>
            <p:ph idx="1"/>
          </p:nvPr>
        </p:nvSpPr>
        <p:spPr>
          <a:xfrm>
            <a:off x="838200" y="1825625"/>
            <a:ext cx="5191125" cy="4351338"/>
          </a:xfrm>
        </p:spPr>
        <p:txBody>
          <a:bodyPr>
            <a:normAutofit fontScale="85000" lnSpcReduction="20000"/>
          </a:bodyPr>
          <a:lstStyle/>
          <a:p>
            <a:r>
              <a:rPr lang="fr-FR" dirty="0"/>
              <a:t>La dépendance se retrouve dans :</a:t>
            </a:r>
          </a:p>
          <a:p>
            <a:pPr lvl="1"/>
            <a:r>
              <a:rPr lang="fr-FR" dirty="0"/>
              <a:t>les équipements réseau </a:t>
            </a:r>
          </a:p>
          <a:p>
            <a:pPr lvl="1"/>
            <a:r>
              <a:rPr lang="fr-FR" dirty="0"/>
              <a:t>les systèmes d’exploitation </a:t>
            </a:r>
          </a:p>
          <a:p>
            <a:pPr lvl="1"/>
            <a:r>
              <a:rPr lang="fr-FR" dirty="0"/>
              <a:t>les applications métiers </a:t>
            </a:r>
          </a:p>
          <a:p>
            <a:pPr lvl="1"/>
            <a:r>
              <a:rPr lang="fr-FR" dirty="0"/>
              <a:t>le cloud et l’hébergement </a:t>
            </a:r>
          </a:p>
          <a:p>
            <a:pPr lvl="1"/>
            <a:r>
              <a:rPr lang="fr-FR" dirty="0"/>
              <a:t>les outils de sécurité </a:t>
            </a:r>
          </a:p>
          <a:p>
            <a:pPr lvl="1"/>
            <a:r>
              <a:rPr lang="fr-FR" dirty="0"/>
              <a:t>les mises à jour </a:t>
            </a:r>
          </a:p>
          <a:p>
            <a:pPr lvl="1"/>
            <a:r>
              <a:rPr lang="fr-FR" dirty="0"/>
              <a:t>les contrats de maintenance </a:t>
            </a:r>
          </a:p>
          <a:p>
            <a:pPr lvl="1"/>
            <a:r>
              <a:rPr lang="fr-FR" dirty="0"/>
              <a:t>la chaîne d’approvisionnement</a:t>
            </a:r>
          </a:p>
          <a:p>
            <a:endParaRPr lang="fr-FR" dirty="0"/>
          </a:p>
        </p:txBody>
      </p:sp>
      <p:pic>
        <p:nvPicPr>
          <p:cNvPr id="1026" name="Picture 2" descr="Schéma de couches de système d’information">
            <a:extLst>
              <a:ext uri="{FF2B5EF4-FFF2-40B4-BE49-F238E27FC236}">
                <a16:creationId xmlns:a16="http://schemas.microsoft.com/office/drawing/2014/main" id="{3DBC9565-D7CB-4A7D-A80E-1E63C1F63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50" y="2257425"/>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0967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8B6D6-1C1C-4BDC-9493-C612ECB2199E}"/>
              </a:ext>
            </a:extLst>
          </p:cNvPr>
          <p:cNvSpPr>
            <a:spLocks noGrp="1"/>
          </p:cNvSpPr>
          <p:nvPr>
            <p:ph type="title"/>
          </p:nvPr>
        </p:nvSpPr>
        <p:spPr>
          <a:xfrm>
            <a:off x="838200" y="2766218"/>
            <a:ext cx="10515600" cy="1325563"/>
          </a:xfrm>
        </p:spPr>
        <p:txBody>
          <a:bodyPr/>
          <a:lstStyle/>
          <a:p>
            <a:r>
              <a:rPr lang="fr-FR" dirty="0"/>
              <a:t>LES FORMES DE DÉPENDANCE</a:t>
            </a:r>
          </a:p>
        </p:txBody>
      </p:sp>
    </p:spTree>
    <p:extLst>
      <p:ext uri="{BB962C8B-B14F-4D97-AF65-F5344CB8AC3E}">
        <p14:creationId xmlns:p14="http://schemas.microsoft.com/office/powerpoint/2010/main" val="2421106887"/>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25E55-A079-4364-B268-97DAA44D1791}"/>
              </a:ext>
            </a:extLst>
          </p:cNvPr>
          <p:cNvSpPr>
            <a:spLocks noGrp="1"/>
          </p:cNvSpPr>
          <p:nvPr>
            <p:ph type="title"/>
          </p:nvPr>
        </p:nvSpPr>
        <p:spPr/>
        <p:txBody>
          <a:bodyPr/>
          <a:lstStyle/>
          <a:p>
            <a:r>
              <a:rPr lang="fr-FR" dirty="0"/>
              <a:t>Dépendance matérielle</a:t>
            </a:r>
          </a:p>
        </p:txBody>
      </p:sp>
      <p:sp>
        <p:nvSpPr>
          <p:cNvPr id="3" name="Content Placeholder 2">
            <a:extLst>
              <a:ext uri="{FF2B5EF4-FFF2-40B4-BE49-F238E27FC236}">
                <a16:creationId xmlns:a16="http://schemas.microsoft.com/office/drawing/2014/main" id="{54ABC2A2-7EBA-4C3C-9F2B-8B81471A1E4C}"/>
              </a:ext>
            </a:extLst>
          </p:cNvPr>
          <p:cNvSpPr>
            <a:spLocks noGrp="1"/>
          </p:cNvSpPr>
          <p:nvPr>
            <p:ph idx="1"/>
          </p:nvPr>
        </p:nvSpPr>
        <p:spPr>
          <a:xfrm>
            <a:off x="0" y="1825625"/>
            <a:ext cx="6019800" cy="5032375"/>
          </a:xfrm>
        </p:spPr>
        <p:txBody>
          <a:bodyPr>
            <a:normAutofit fontScale="92500" lnSpcReduction="10000"/>
          </a:bodyPr>
          <a:lstStyle/>
          <a:p>
            <a:r>
              <a:rPr lang="fr-FR" sz="1200" b="1" dirty="0"/>
              <a:t>Exemples :</a:t>
            </a:r>
            <a:endParaRPr lang="fr-FR" sz="1200" dirty="0"/>
          </a:p>
          <a:p>
            <a:pPr lvl="1"/>
            <a:r>
              <a:rPr lang="fr-FR" sz="1100" dirty="0"/>
              <a:t>firewalls </a:t>
            </a:r>
          </a:p>
          <a:p>
            <a:pPr lvl="1"/>
            <a:r>
              <a:rPr lang="fr-FR" sz="1100" dirty="0"/>
              <a:t>routeurs </a:t>
            </a:r>
          </a:p>
          <a:p>
            <a:pPr lvl="1"/>
            <a:r>
              <a:rPr lang="fr-FR" sz="1100" dirty="0"/>
              <a:t>switches </a:t>
            </a:r>
          </a:p>
          <a:p>
            <a:pPr lvl="1"/>
            <a:r>
              <a:rPr lang="fr-FR" sz="1100" dirty="0"/>
              <a:t>serveurs </a:t>
            </a:r>
          </a:p>
          <a:p>
            <a:pPr lvl="1"/>
            <a:r>
              <a:rPr lang="fr-FR" sz="1100" dirty="0"/>
              <a:t>équipements de sécurité </a:t>
            </a:r>
          </a:p>
          <a:p>
            <a:r>
              <a:rPr lang="fr-FR" sz="1200" b="1" dirty="0"/>
              <a:t>Ce qui est dépendant :</a:t>
            </a:r>
            <a:endParaRPr lang="fr-FR" sz="1200" dirty="0"/>
          </a:p>
          <a:p>
            <a:pPr lvl="1"/>
            <a:r>
              <a:rPr lang="fr-FR" sz="1100" dirty="0" err="1"/>
              <a:t>firmware</a:t>
            </a:r>
            <a:r>
              <a:rPr lang="fr-FR" sz="1100" dirty="0"/>
              <a:t> propriétaire </a:t>
            </a:r>
          </a:p>
          <a:p>
            <a:pPr lvl="1"/>
            <a:r>
              <a:rPr lang="fr-FR" sz="1100" dirty="0"/>
              <a:t>composants internes </a:t>
            </a:r>
          </a:p>
          <a:p>
            <a:pPr lvl="1"/>
            <a:r>
              <a:rPr lang="fr-FR" sz="1100" dirty="0"/>
              <a:t>mises à jour constructeur </a:t>
            </a:r>
          </a:p>
          <a:p>
            <a:pPr lvl="1"/>
            <a:r>
              <a:rPr lang="fr-FR" sz="1100" dirty="0"/>
              <a:t>pièces de rechange </a:t>
            </a:r>
          </a:p>
          <a:p>
            <a:pPr lvl="1"/>
            <a:r>
              <a:rPr lang="fr-FR" sz="1100" dirty="0"/>
              <a:t>support matériel</a:t>
            </a:r>
          </a:p>
          <a:p>
            <a:r>
              <a:rPr lang="fr-FR" sz="1200" b="1" dirty="0"/>
              <a:t>Risques :</a:t>
            </a:r>
            <a:endParaRPr lang="fr-FR" sz="1200" dirty="0"/>
          </a:p>
          <a:p>
            <a:pPr lvl="1"/>
            <a:r>
              <a:rPr lang="fr-FR" sz="1100" dirty="0"/>
              <a:t>impossibilité d’auditer tout le code embarqué </a:t>
            </a:r>
          </a:p>
          <a:p>
            <a:pPr lvl="1"/>
            <a:r>
              <a:rPr lang="fr-FR" sz="1100" dirty="0"/>
              <a:t>vulnérabilités non visibles </a:t>
            </a:r>
          </a:p>
          <a:p>
            <a:pPr lvl="1"/>
            <a:r>
              <a:rPr lang="fr-FR" sz="1100" dirty="0"/>
              <a:t>arrêt de support </a:t>
            </a:r>
          </a:p>
          <a:p>
            <a:pPr lvl="1"/>
            <a:r>
              <a:rPr lang="fr-FR" sz="1100" dirty="0"/>
              <a:t>remplacement coûteux ou lent</a:t>
            </a:r>
          </a:p>
          <a:p>
            <a:pPr marL="457200" lvl="1" indent="0">
              <a:buNone/>
            </a:pPr>
            <a:endParaRPr lang="fr-FR" sz="1100" dirty="0"/>
          </a:p>
          <a:p>
            <a:endParaRPr lang="fr-FR" sz="1200" dirty="0"/>
          </a:p>
        </p:txBody>
      </p:sp>
      <p:pic>
        <p:nvPicPr>
          <p:cNvPr id="2050" name="Picture 2" descr="Équipement réseau annoté">
            <a:extLst>
              <a:ext uri="{FF2B5EF4-FFF2-40B4-BE49-F238E27FC236}">
                <a16:creationId xmlns:a16="http://schemas.microsoft.com/office/drawing/2014/main" id="{658F2441-9D8F-4108-8480-728A2BBBF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4150" y="2513011"/>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2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5E47-8A42-442A-9E75-60B6560DC0F2}"/>
              </a:ext>
            </a:extLst>
          </p:cNvPr>
          <p:cNvSpPr>
            <a:spLocks noGrp="1"/>
          </p:cNvSpPr>
          <p:nvPr>
            <p:ph type="title"/>
          </p:nvPr>
        </p:nvSpPr>
        <p:spPr/>
        <p:txBody>
          <a:bodyPr/>
          <a:lstStyle/>
          <a:p>
            <a:r>
              <a:rPr lang="fr-FR" dirty="0"/>
              <a:t>Dépendance logicielle</a:t>
            </a:r>
          </a:p>
        </p:txBody>
      </p:sp>
      <p:sp>
        <p:nvSpPr>
          <p:cNvPr id="3" name="Content Placeholder 2">
            <a:extLst>
              <a:ext uri="{FF2B5EF4-FFF2-40B4-BE49-F238E27FC236}">
                <a16:creationId xmlns:a16="http://schemas.microsoft.com/office/drawing/2014/main" id="{53AAA6A1-64B3-4CE7-8ECA-6638B0D60B1E}"/>
              </a:ext>
            </a:extLst>
          </p:cNvPr>
          <p:cNvSpPr>
            <a:spLocks noGrp="1"/>
          </p:cNvSpPr>
          <p:nvPr>
            <p:ph idx="1"/>
          </p:nvPr>
        </p:nvSpPr>
        <p:spPr>
          <a:xfrm>
            <a:off x="0" y="1816100"/>
            <a:ext cx="5010150" cy="5041900"/>
          </a:xfrm>
        </p:spPr>
        <p:txBody>
          <a:bodyPr>
            <a:normAutofit fontScale="92500"/>
          </a:bodyPr>
          <a:lstStyle/>
          <a:p>
            <a:r>
              <a:rPr lang="fr-FR" sz="1400" b="1" dirty="0"/>
              <a:t>Exemples :</a:t>
            </a:r>
            <a:endParaRPr lang="fr-FR" sz="1400" dirty="0"/>
          </a:p>
          <a:p>
            <a:pPr lvl="1"/>
            <a:r>
              <a:rPr lang="fr-FR" sz="1200" dirty="0"/>
              <a:t>systèmes d’exploitation </a:t>
            </a:r>
          </a:p>
          <a:p>
            <a:pPr lvl="1"/>
            <a:r>
              <a:rPr lang="fr-FR" sz="1200" dirty="0"/>
              <a:t>suites bureautiques </a:t>
            </a:r>
          </a:p>
          <a:p>
            <a:pPr lvl="1"/>
            <a:r>
              <a:rPr lang="fr-FR" sz="1200" dirty="0"/>
              <a:t>applications métiers </a:t>
            </a:r>
          </a:p>
          <a:p>
            <a:pPr lvl="1"/>
            <a:r>
              <a:rPr lang="fr-FR" sz="1200" dirty="0"/>
              <a:t>outils de supervision </a:t>
            </a:r>
          </a:p>
          <a:p>
            <a:pPr lvl="1"/>
            <a:r>
              <a:rPr lang="fr-FR" sz="1200" dirty="0"/>
              <a:t>logiciels de sécurité </a:t>
            </a:r>
          </a:p>
          <a:p>
            <a:pPr lvl="1"/>
            <a:r>
              <a:rPr lang="fr-FR" sz="1200" dirty="0"/>
              <a:t>bibliothèques et composants tiers </a:t>
            </a:r>
          </a:p>
          <a:p>
            <a:r>
              <a:rPr lang="fr-FR" sz="1400" b="1" dirty="0"/>
              <a:t>Risque principal :</a:t>
            </a:r>
            <a:endParaRPr lang="fr-FR" sz="1400" dirty="0"/>
          </a:p>
          <a:p>
            <a:pPr lvl="1"/>
            <a:r>
              <a:rPr lang="fr-FR" sz="1200" dirty="0"/>
              <a:t>l’éditeur dicte le rythme de vie du produit </a:t>
            </a:r>
          </a:p>
          <a:p>
            <a:r>
              <a:rPr lang="fr-FR" sz="1400" b="1" dirty="0"/>
              <a:t>Conséquences :</a:t>
            </a:r>
            <a:endParaRPr lang="fr-FR" sz="1400" dirty="0"/>
          </a:p>
          <a:p>
            <a:pPr lvl="1"/>
            <a:r>
              <a:rPr lang="fr-FR" sz="1200" dirty="0"/>
              <a:t>patch imposé </a:t>
            </a:r>
          </a:p>
          <a:p>
            <a:pPr lvl="1"/>
            <a:r>
              <a:rPr lang="fr-FR" sz="1200" dirty="0"/>
              <a:t>incompatibilité </a:t>
            </a:r>
          </a:p>
          <a:p>
            <a:pPr lvl="1"/>
            <a:r>
              <a:rPr lang="fr-FR" sz="1200" dirty="0"/>
              <a:t>fin de support </a:t>
            </a:r>
          </a:p>
          <a:p>
            <a:pPr lvl="1"/>
            <a:r>
              <a:rPr lang="fr-FR" sz="1200" dirty="0"/>
              <a:t>changement de comportement </a:t>
            </a:r>
          </a:p>
          <a:p>
            <a:pPr lvl="1"/>
            <a:r>
              <a:rPr lang="fr-FR" sz="1200" dirty="0"/>
              <a:t>dépendance à l’écosystème</a:t>
            </a:r>
          </a:p>
          <a:p>
            <a:endParaRPr lang="fr-FR" sz="1400" dirty="0"/>
          </a:p>
        </p:txBody>
      </p:sp>
      <p:pic>
        <p:nvPicPr>
          <p:cNvPr id="3074" name="Picture 2" descr="Cycle de vie logiciel">
            <a:extLst>
              <a:ext uri="{FF2B5EF4-FFF2-40B4-BE49-F238E27FC236}">
                <a16:creationId xmlns:a16="http://schemas.microsoft.com/office/drawing/2014/main" id="{7A04A134-A883-4D2C-9F61-2A1DD85D0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6875" y="264795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728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06B80-CD02-4357-B3D9-3817D670241B}"/>
              </a:ext>
            </a:extLst>
          </p:cNvPr>
          <p:cNvSpPr>
            <a:spLocks noGrp="1"/>
          </p:cNvSpPr>
          <p:nvPr>
            <p:ph type="title"/>
          </p:nvPr>
        </p:nvSpPr>
        <p:spPr/>
        <p:txBody>
          <a:bodyPr/>
          <a:lstStyle/>
          <a:p>
            <a:r>
              <a:rPr lang="fr-FR" dirty="0"/>
              <a:t>Dépendance opérationnelle</a:t>
            </a:r>
          </a:p>
        </p:txBody>
      </p:sp>
      <p:sp>
        <p:nvSpPr>
          <p:cNvPr id="3" name="Content Placeholder 2">
            <a:extLst>
              <a:ext uri="{FF2B5EF4-FFF2-40B4-BE49-F238E27FC236}">
                <a16:creationId xmlns:a16="http://schemas.microsoft.com/office/drawing/2014/main" id="{DBB7F8AA-B168-41F2-99FC-BF6DC8051705}"/>
              </a:ext>
            </a:extLst>
          </p:cNvPr>
          <p:cNvSpPr>
            <a:spLocks noGrp="1"/>
          </p:cNvSpPr>
          <p:nvPr>
            <p:ph idx="1"/>
          </p:nvPr>
        </p:nvSpPr>
        <p:spPr>
          <a:xfrm>
            <a:off x="0" y="1882774"/>
            <a:ext cx="5257800" cy="4975225"/>
          </a:xfrm>
        </p:spPr>
        <p:txBody>
          <a:bodyPr>
            <a:normAutofit fontScale="70000" lnSpcReduction="20000"/>
          </a:bodyPr>
          <a:lstStyle/>
          <a:p>
            <a:r>
              <a:rPr lang="fr-FR" dirty="0"/>
              <a:t>La dépendance opérationnelle concerne :</a:t>
            </a:r>
          </a:p>
          <a:p>
            <a:pPr lvl="1"/>
            <a:r>
              <a:rPr lang="fr-FR" dirty="0"/>
              <a:t>le support éditeur </a:t>
            </a:r>
          </a:p>
          <a:p>
            <a:pPr lvl="1"/>
            <a:r>
              <a:rPr lang="fr-FR" dirty="0"/>
              <a:t>les licences </a:t>
            </a:r>
          </a:p>
          <a:p>
            <a:pPr lvl="1"/>
            <a:r>
              <a:rPr lang="fr-FR" dirty="0"/>
              <a:t>les contrats de maintenance </a:t>
            </a:r>
          </a:p>
          <a:p>
            <a:pPr lvl="1"/>
            <a:r>
              <a:rPr lang="fr-FR" dirty="0"/>
              <a:t>l’activation en ligne </a:t>
            </a:r>
          </a:p>
          <a:p>
            <a:pPr lvl="1"/>
            <a:r>
              <a:rPr lang="fr-FR" dirty="0"/>
              <a:t>les portails de gestion </a:t>
            </a:r>
          </a:p>
          <a:p>
            <a:pPr lvl="1"/>
            <a:r>
              <a:rPr lang="fr-FR" dirty="0"/>
              <a:t>l’accès aux correctifs </a:t>
            </a:r>
          </a:p>
          <a:p>
            <a:r>
              <a:rPr lang="fr-FR" b="1" dirty="0"/>
              <a:t>Problème :</a:t>
            </a:r>
            <a:r>
              <a:rPr lang="fr-FR" dirty="0"/>
              <a:t/>
            </a:r>
            <a:br>
              <a:rPr lang="fr-FR" dirty="0"/>
            </a:br>
            <a:r>
              <a:rPr lang="fr-FR" dirty="0"/>
              <a:t>	un système peut être techniquement fonctionnel, mais opérationnellement bloqué.</a:t>
            </a:r>
          </a:p>
          <a:p>
            <a:endParaRPr lang="fr-FR" dirty="0"/>
          </a:p>
        </p:txBody>
      </p:sp>
      <p:pic>
        <p:nvPicPr>
          <p:cNvPr id="4098" name="Picture 2" descr="Cycle de vie logiciel en escalier">
            <a:extLst>
              <a:ext uri="{FF2B5EF4-FFF2-40B4-BE49-F238E27FC236}">
                <a16:creationId xmlns:a16="http://schemas.microsoft.com/office/drawing/2014/main" id="{6B16DDF2-961E-4220-85CA-243A461BA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125" y="27432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0896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35A4-0E11-4D51-B646-AABA9D1E2E68}"/>
              </a:ext>
            </a:extLst>
          </p:cNvPr>
          <p:cNvSpPr>
            <a:spLocks noGrp="1"/>
          </p:cNvSpPr>
          <p:nvPr>
            <p:ph type="title"/>
          </p:nvPr>
        </p:nvSpPr>
        <p:spPr/>
        <p:txBody>
          <a:bodyPr/>
          <a:lstStyle/>
          <a:p>
            <a:r>
              <a:rPr lang="fr-FR" dirty="0"/>
              <a:t>Dépendance cloud et service externe</a:t>
            </a:r>
          </a:p>
        </p:txBody>
      </p:sp>
      <p:sp>
        <p:nvSpPr>
          <p:cNvPr id="3" name="Content Placeholder 2">
            <a:extLst>
              <a:ext uri="{FF2B5EF4-FFF2-40B4-BE49-F238E27FC236}">
                <a16:creationId xmlns:a16="http://schemas.microsoft.com/office/drawing/2014/main" id="{41893F33-CA5B-4E52-A2AB-622C3455D3C5}"/>
              </a:ext>
            </a:extLst>
          </p:cNvPr>
          <p:cNvSpPr>
            <a:spLocks noGrp="1"/>
          </p:cNvSpPr>
          <p:nvPr>
            <p:ph idx="1"/>
          </p:nvPr>
        </p:nvSpPr>
        <p:spPr>
          <a:xfrm>
            <a:off x="0" y="1863724"/>
            <a:ext cx="5810250" cy="4994275"/>
          </a:xfrm>
        </p:spPr>
        <p:txBody>
          <a:bodyPr>
            <a:normAutofit fontScale="70000" lnSpcReduction="20000"/>
          </a:bodyPr>
          <a:lstStyle/>
          <a:p>
            <a:r>
              <a:rPr lang="fr-FR" dirty="0"/>
              <a:t>Le cloud apporte :</a:t>
            </a:r>
          </a:p>
          <a:p>
            <a:pPr lvl="1"/>
            <a:r>
              <a:rPr lang="fr-FR" dirty="0"/>
              <a:t>flexibilité </a:t>
            </a:r>
          </a:p>
          <a:p>
            <a:pPr lvl="1"/>
            <a:r>
              <a:rPr lang="fr-FR" dirty="0"/>
              <a:t>rapidité </a:t>
            </a:r>
          </a:p>
          <a:p>
            <a:pPr lvl="1"/>
            <a:r>
              <a:rPr lang="fr-FR" dirty="0"/>
              <a:t>disponibilité </a:t>
            </a:r>
          </a:p>
          <a:p>
            <a:pPr lvl="1"/>
            <a:r>
              <a:rPr lang="fr-FR" dirty="0"/>
              <a:t>capacité d’évolution </a:t>
            </a:r>
          </a:p>
          <a:p>
            <a:r>
              <a:rPr lang="fr-FR" dirty="0"/>
              <a:t>Mais il crée aussi :</a:t>
            </a:r>
          </a:p>
          <a:p>
            <a:pPr lvl="1"/>
            <a:r>
              <a:rPr lang="fr-FR" dirty="0"/>
              <a:t>dépendance au réseau </a:t>
            </a:r>
          </a:p>
          <a:p>
            <a:pPr lvl="1"/>
            <a:r>
              <a:rPr lang="fr-FR" dirty="0"/>
              <a:t>dépendance au fournisseur </a:t>
            </a:r>
          </a:p>
          <a:p>
            <a:pPr lvl="1"/>
            <a:r>
              <a:rPr lang="fr-FR" dirty="0"/>
              <a:t>dépendance à la connectivité </a:t>
            </a:r>
          </a:p>
          <a:p>
            <a:pPr lvl="1"/>
            <a:r>
              <a:rPr lang="fr-FR" dirty="0"/>
              <a:t>dépendance à la juridiction </a:t>
            </a:r>
          </a:p>
          <a:p>
            <a:pPr lvl="1"/>
            <a:r>
              <a:rPr lang="fr-FR" dirty="0"/>
              <a:t>dépendance à des mécanismes d’authentification externes</a:t>
            </a:r>
          </a:p>
          <a:p>
            <a:endParaRPr lang="fr-FR" dirty="0"/>
          </a:p>
        </p:txBody>
      </p:sp>
      <p:pic>
        <p:nvPicPr>
          <p:cNvPr id="5122" name="Picture 2" descr="Schéma réseau utilisateur vers cloud">
            <a:extLst>
              <a:ext uri="{FF2B5EF4-FFF2-40B4-BE49-F238E27FC236}">
                <a16:creationId xmlns:a16="http://schemas.microsoft.com/office/drawing/2014/main" id="{3B1B5252-5BC2-44FE-AB4C-52D9D0A2B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050" y="2532061"/>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666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1551-964D-452E-8DE1-FFA9DF340DD2}"/>
              </a:ext>
            </a:extLst>
          </p:cNvPr>
          <p:cNvSpPr>
            <a:spLocks noGrp="1"/>
          </p:cNvSpPr>
          <p:nvPr>
            <p:ph type="title"/>
          </p:nvPr>
        </p:nvSpPr>
        <p:spPr/>
        <p:txBody>
          <a:bodyPr/>
          <a:lstStyle/>
          <a:p>
            <a:r>
              <a:rPr lang="fr-FR" dirty="0"/>
              <a:t>Dépendance aux outils de sécurité</a:t>
            </a:r>
          </a:p>
        </p:txBody>
      </p:sp>
      <p:sp>
        <p:nvSpPr>
          <p:cNvPr id="3" name="Content Placeholder 2">
            <a:extLst>
              <a:ext uri="{FF2B5EF4-FFF2-40B4-BE49-F238E27FC236}">
                <a16:creationId xmlns:a16="http://schemas.microsoft.com/office/drawing/2014/main" id="{6758AFA3-1473-45EE-8C69-D1A03A6D5E7A}"/>
              </a:ext>
            </a:extLst>
          </p:cNvPr>
          <p:cNvSpPr>
            <a:spLocks noGrp="1"/>
          </p:cNvSpPr>
          <p:nvPr>
            <p:ph idx="1"/>
          </p:nvPr>
        </p:nvSpPr>
        <p:spPr>
          <a:xfrm>
            <a:off x="0" y="1816100"/>
            <a:ext cx="5848350" cy="5041900"/>
          </a:xfrm>
        </p:spPr>
        <p:txBody>
          <a:bodyPr>
            <a:normAutofit fontScale="62500" lnSpcReduction="20000"/>
          </a:bodyPr>
          <a:lstStyle/>
          <a:p>
            <a:r>
              <a:rPr lang="fr-FR" dirty="0"/>
              <a:t>Paradoxe :</a:t>
            </a:r>
            <a:br>
              <a:rPr lang="fr-FR" dirty="0"/>
            </a:br>
            <a:r>
              <a:rPr lang="fr-FR" dirty="0"/>
              <a:t>	les outils de sécurité eux-mêmes créent de la dépendance.</a:t>
            </a:r>
          </a:p>
          <a:p>
            <a:r>
              <a:rPr lang="fr-FR" dirty="0"/>
              <a:t>Exemples :</a:t>
            </a:r>
          </a:p>
          <a:p>
            <a:pPr lvl="1"/>
            <a:r>
              <a:rPr lang="fr-FR" dirty="0"/>
              <a:t>antivirus </a:t>
            </a:r>
          </a:p>
          <a:p>
            <a:pPr lvl="1"/>
            <a:r>
              <a:rPr lang="fr-FR" dirty="0"/>
              <a:t>EDR </a:t>
            </a:r>
          </a:p>
          <a:p>
            <a:pPr lvl="1"/>
            <a:r>
              <a:rPr lang="fr-FR" dirty="0"/>
              <a:t>firewall </a:t>
            </a:r>
          </a:p>
          <a:p>
            <a:pPr lvl="1"/>
            <a:r>
              <a:rPr lang="fr-FR" dirty="0"/>
              <a:t>SIEM </a:t>
            </a:r>
          </a:p>
          <a:p>
            <a:pPr lvl="1"/>
            <a:r>
              <a:rPr lang="fr-FR" dirty="0"/>
              <a:t>solution de filtrage </a:t>
            </a:r>
          </a:p>
          <a:p>
            <a:pPr lvl="1"/>
            <a:r>
              <a:rPr lang="fr-FR" dirty="0"/>
              <a:t>IAM / SSO </a:t>
            </a:r>
          </a:p>
          <a:p>
            <a:pPr lvl="1"/>
            <a:r>
              <a:rPr lang="fr-FR" dirty="0"/>
              <a:t>MFA </a:t>
            </a:r>
          </a:p>
          <a:p>
            <a:r>
              <a:rPr lang="fr-FR" b="1" dirty="0"/>
              <a:t>Question clé :</a:t>
            </a:r>
            <a:r>
              <a:rPr lang="fr-FR" dirty="0"/>
              <a:t/>
            </a:r>
            <a:br>
              <a:rPr lang="fr-FR" dirty="0"/>
            </a:br>
            <a:r>
              <a:rPr lang="fr-FR" dirty="0"/>
              <a:t>	Qui contrôle vos outils de sécurité ?</a:t>
            </a:r>
          </a:p>
          <a:p>
            <a:endParaRPr lang="fr-FR" dirty="0"/>
          </a:p>
        </p:txBody>
      </p:sp>
      <p:pic>
        <p:nvPicPr>
          <p:cNvPr id="6146" name="Picture 2" descr="Bouclier entouré de fournisseurs et chaînes de dépendance">
            <a:extLst>
              <a:ext uri="{FF2B5EF4-FFF2-40B4-BE49-F238E27FC236}">
                <a16:creationId xmlns:a16="http://schemas.microsoft.com/office/drawing/2014/main" id="{A8D9750B-7D46-4E2D-B817-EB10C0BA3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26670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7562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32E41-70D9-4958-ABA1-3C02950B3985}"/>
              </a:ext>
            </a:extLst>
          </p:cNvPr>
          <p:cNvSpPr>
            <a:spLocks noGrp="1"/>
          </p:cNvSpPr>
          <p:nvPr>
            <p:ph type="title"/>
          </p:nvPr>
        </p:nvSpPr>
        <p:spPr/>
        <p:txBody>
          <a:bodyPr/>
          <a:lstStyle/>
          <a:p>
            <a:r>
              <a:rPr lang="fr-FR" dirty="0"/>
              <a:t>Dépendance stratégique et souveraineté</a:t>
            </a:r>
          </a:p>
        </p:txBody>
      </p:sp>
      <p:sp>
        <p:nvSpPr>
          <p:cNvPr id="3" name="Content Placeholder 2">
            <a:extLst>
              <a:ext uri="{FF2B5EF4-FFF2-40B4-BE49-F238E27FC236}">
                <a16:creationId xmlns:a16="http://schemas.microsoft.com/office/drawing/2014/main" id="{4D376183-DFEA-4E12-8710-4B56D83DF78C}"/>
              </a:ext>
            </a:extLst>
          </p:cNvPr>
          <p:cNvSpPr>
            <a:spLocks noGrp="1"/>
          </p:cNvSpPr>
          <p:nvPr>
            <p:ph idx="1"/>
          </p:nvPr>
        </p:nvSpPr>
        <p:spPr>
          <a:xfrm>
            <a:off x="-1" y="1797050"/>
            <a:ext cx="5553075" cy="5060950"/>
          </a:xfrm>
        </p:spPr>
        <p:txBody>
          <a:bodyPr>
            <a:normAutofit fontScale="92500" lnSpcReduction="10000"/>
          </a:bodyPr>
          <a:lstStyle/>
          <a:p>
            <a:r>
              <a:rPr lang="fr-FR" sz="2400" dirty="0"/>
              <a:t>La dépendance devient stratégique quand :</a:t>
            </a:r>
          </a:p>
          <a:p>
            <a:pPr lvl="1"/>
            <a:r>
              <a:rPr lang="fr-FR" sz="2000" dirty="0"/>
              <a:t>un fournisseur contrôle l’accès </a:t>
            </a:r>
          </a:p>
          <a:p>
            <a:pPr lvl="1"/>
            <a:r>
              <a:rPr lang="fr-FR" sz="2000" dirty="0"/>
              <a:t>un pays contrôle la technologie </a:t>
            </a:r>
          </a:p>
          <a:p>
            <a:pPr lvl="1"/>
            <a:r>
              <a:rPr lang="fr-FR" sz="2000" dirty="0"/>
              <a:t>un éditeur contrôle la licence </a:t>
            </a:r>
          </a:p>
          <a:p>
            <a:pPr lvl="1"/>
            <a:r>
              <a:rPr lang="fr-FR" sz="2000" dirty="0"/>
              <a:t>un écosystème verrouille le marché </a:t>
            </a:r>
          </a:p>
          <a:p>
            <a:r>
              <a:rPr lang="fr-FR" sz="2400" dirty="0"/>
              <a:t>Conséquences :</a:t>
            </a:r>
          </a:p>
          <a:p>
            <a:pPr lvl="1"/>
            <a:r>
              <a:rPr lang="fr-FR" sz="2000" dirty="0"/>
              <a:t>perte de marges de manœuvre </a:t>
            </a:r>
          </a:p>
          <a:p>
            <a:pPr lvl="1"/>
            <a:r>
              <a:rPr lang="fr-FR" sz="2000" dirty="0"/>
              <a:t>difficultés de remplacement </a:t>
            </a:r>
          </a:p>
          <a:p>
            <a:pPr lvl="1"/>
            <a:r>
              <a:rPr lang="fr-FR" sz="2000" dirty="0"/>
              <a:t>vulnérabilité aux décisions externes </a:t>
            </a:r>
          </a:p>
          <a:p>
            <a:pPr lvl="1"/>
            <a:r>
              <a:rPr lang="fr-FR" sz="2000" dirty="0"/>
              <a:t>perte de souveraineté numérique </a:t>
            </a:r>
          </a:p>
          <a:p>
            <a:endParaRPr lang="fr-FR" sz="2400" dirty="0"/>
          </a:p>
        </p:txBody>
      </p:sp>
      <p:pic>
        <p:nvPicPr>
          <p:cNvPr id="7170" name="Picture 2" descr="Carte du monde et graphe de dépendances">
            <a:extLst>
              <a:ext uri="{FF2B5EF4-FFF2-40B4-BE49-F238E27FC236}">
                <a16:creationId xmlns:a16="http://schemas.microsoft.com/office/drawing/2014/main" id="{012A3CA0-DEC1-4FBA-956C-A5C2EF4BF7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695575"/>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530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62BA-6A1A-4FA0-B2BC-8994DE40B948}"/>
              </a:ext>
            </a:extLst>
          </p:cNvPr>
          <p:cNvSpPr>
            <a:spLocks noGrp="1"/>
          </p:cNvSpPr>
          <p:nvPr>
            <p:ph type="title"/>
          </p:nvPr>
        </p:nvSpPr>
        <p:spPr>
          <a:xfrm>
            <a:off x="838200" y="2766218"/>
            <a:ext cx="10515600" cy="1325563"/>
          </a:xfrm>
        </p:spPr>
        <p:txBody>
          <a:bodyPr/>
          <a:lstStyle/>
          <a:p>
            <a:r>
              <a:rPr lang="fr-FR" dirty="0"/>
              <a:t>LES RISQUES MAJEURS</a:t>
            </a:r>
          </a:p>
        </p:txBody>
      </p:sp>
    </p:spTree>
    <p:extLst>
      <p:ext uri="{BB962C8B-B14F-4D97-AF65-F5344CB8AC3E}">
        <p14:creationId xmlns:p14="http://schemas.microsoft.com/office/powerpoint/2010/main" val="11794333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EF2E5-E9DB-4315-8B91-FE3A7F069BCB}"/>
              </a:ext>
            </a:extLst>
          </p:cNvPr>
          <p:cNvSpPr>
            <a:spLocks noGrp="1"/>
          </p:cNvSpPr>
          <p:nvPr>
            <p:ph type="title"/>
          </p:nvPr>
        </p:nvSpPr>
        <p:spPr/>
        <p:txBody>
          <a:bodyPr/>
          <a:lstStyle/>
          <a:p>
            <a:r>
              <a:rPr lang="fr-FR" dirty="0"/>
              <a:t>De la dépendance au risque</a:t>
            </a:r>
          </a:p>
        </p:txBody>
      </p:sp>
      <p:sp>
        <p:nvSpPr>
          <p:cNvPr id="3" name="Content Placeholder 2">
            <a:extLst>
              <a:ext uri="{FF2B5EF4-FFF2-40B4-BE49-F238E27FC236}">
                <a16:creationId xmlns:a16="http://schemas.microsoft.com/office/drawing/2014/main" id="{6D8302E4-C89C-44C5-8B66-9E1433215DD1}"/>
              </a:ext>
            </a:extLst>
          </p:cNvPr>
          <p:cNvSpPr>
            <a:spLocks noGrp="1"/>
          </p:cNvSpPr>
          <p:nvPr>
            <p:ph idx="1"/>
          </p:nvPr>
        </p:nvSpPr>
        <p:spPr>
          <a:xfrm>
            <a:off x="466725" y="1863725"/>
            <a:ext cx="6000750" cy="4351338"/>
          </a:xfrm>
        </p:spPr>
        <p:txBody>
          <a:bodyPr>
            <a:normAutofit/>
          </a:bodyPr>
          <a:lstStyle/>
          <a:p>
            <a:r>
              <a:rPr lang="fr-FR" dirty="0"/>
              <a:t>Toute dépendance peut produire :</a:t>
            </a:r>
          </a:p>
          <a:p>
            <a:pPr lvl="1"/>
            <a:r>
              <a:rPr lang="fr-FR" dirty="0"/>
              <a:t>un risque de rupture </a:t>
            </a:r>
          </a:p>
          <a:p>
            <a:pPr lvl="1"/>
            <a:r>
              <a:rPr lang="fr-FR" dirty="0"/>
              <a:t>un risque de compromission </a:t>
            </a:r>
          </a:p>
          <a:p>
            <a:pPr lvl="1"/>
            <a:r>
              <a:rPr lang="fr-FR" dirty="0"/>
              <a:t>un risque de blocage </a:t>
            </a:r>
          </a:p>
          <a:p>
            <a:pPr lvl="1"/>
            <a:r>
              <a:rPr lang="fr-FR" dirty="0"/>
              <a:t>un risque de perte de contrôle </a:t>
            </a:r>
          </a:p>
          <a:p>
            <a:pPr lvl="1"/>
            <a:r>
              <a:rPr lang="fr-FR" dirty="0"/>
              <a:t>un risque de souveraineté</a:t>
            </a:r>
          </a:p>
          <a:p>
            <a:endParaRPr lang="fr-FR" dirty="0"/>
          </a:p>
        </p:txBody>
      </p:sp>
      <p:pic>
        <p:nvPicPr>
          <p:cNvPr id="8194" name="Picture 2" descr="Schéma réseau utilisateur vers cloud">
            <a:extLst>
              <a:ext uri="{FF2B5EF4-FFF2-40B4-BE49-F238E27FC236}">
                <a16:creationId xmlns:a16="http://schemas.microsoft.com/office/drawing/2014/main" id="{AE1F1A56-85AD-4DF4-9805-8F60A03CF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7475" y="2557463"/>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3482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72FF7-7786-4B26-81FD-021D4D18360D}"/>
              </a:ext>
            </a:extLst>
          </p:cNvPr>
          <p:cNvSpPr>
            <a:spLocks noGrp="1"/>
          </p:cNvSpPr>
          <p:nvPr>
            <p:ph type="title"/>
          </p:nvPr>
        </p:nvSpPr>
        <p:spPr/>
        <p:txBody>
          <a:bodyPr>
            <a:normAutofit/>
          </a:bodyPr>
          <a:lstStyle/>
          <a:p>
            <a:r>
              <a:rPr lang="fr-FR" dirty="0"/>
              <a:t>Le risque de backdoor, d’accès caché ou de fonction opaque</a:t>
            </a:r>
          </a:p>
        </p:txBody>
      </p:sp>
      <p:sp>
        <p:nvSpPr>
          <p:cNvPr id="3" name="Content Placeholder 2">
            <a:extLst>
              <a:ext uri="{FF2B5EF4-FFF2-40B4-BE49-F238E27FC236}">
                <a16:creationId xmlns:a16="http://schemas.microsoft.com/office/drawing/2014/main" id="{D3119CDE-08FF-4B78-9509-8DDBCA665E7C}"/>
              </a:ext>
            </a:extLst>
          </p:cNvPr>
          <p:cNvSpPr>
            <a:spLocks noGrp="1"/>
          </p:cNvSpPr>
          <p:nvPr>
            <p:ph idx="1"/>
          </p:nvPr>
        </p:nvSpPr>
        <p:spPr>
          <a:xfrm>
            <a:off x="1" y="1816100"/>
            <a:ext cx="6705600" cy="5041900"/>
          </a:xfrm>
        </p:spPr>
        <p:txBody>
          <a:bodyPr>
            <a:normAutofit fontScale="92500" lnSpcReduction="20000"/>
          </a:bodyPr>
          <a:lstStyle/>
          <a:p>
            <a:r>
              <a:rPr lang="fr-FR" dirty="0"/>
              <a:t>Dans une solution fermée, on peut trouver :</a:t>
            </a:r>
          </a:p>
          <a:p>
            <a:pPr lvl="1"/>
            <a:r>
              <a:rPr lang="fr-FR" dirty="0"/>
              <a:t>des accès de maintenance </a:t>
            </a:r>
          </a:p>
          <a:p>
            <a:pPr lvl="1"/>
            <a:r>
              <a:rPr lang="fr-FR" dirty="0"/>
              <a:t>des fonctions cachées </a:t>
            </a:r>
          </a:p>
          <a:p>
            <a:pPr lvl="1"/>
            <a:r>
              <a:rPr lang="fr-FR" dirty="0"/>
              <a:t>des mécanismes d’administration à distance </a:t>
            </a:r>
          </a:p>
          <a:p>
            <a:pPr lvl="1"/>
            <a:r>
              <a:rPr lang="fr-FR" dirty="0"/>
              <a:t>des comportements non documentés </a:t>
            </a:r>
          </a:p>
          <a:p>
            <a:pPr lvl="1"/>
            <a:r>
              <a:rPr lang="fr-FR" dirty="0"/>
              <a:t>des dépendances inconnues </a:t>
            </a:r>
          </a:p>
          <a:p>
            <a:r>
              <a:rPr lang="fr-FR" b="1" dirty="0"/>
              <a:t>Problème :</a:t>
            </a:r>
            <a:r>
              <a:rPr lang="fr-FR" dirty="0"/>
              <a:t/>
            </a:r>
            <a:br>
              <a:rPr lang="fr-FR" dirty="0"/>
            </a:br>
            <a:r>
              <a:rPr lang="fr-FR" dirty="0"/>
              <a:t>	on doit faire confiance sans pouvoir tout vérifier.</a:t>
            </a:r>
          </a:p>
          <a:p>
            <a:endParaRPr lang="fr-FR" dirty="0"/>
          </a:p>
        </p:txBody>
      </p:sp>
      <p:pic>
        <p:nvPicPr>
          <p:cNvPr id="9218" name="Picture 2" descr="Boîtier fermé avec porte cachée ou loupe sur code">
            <a:extLst>
              <a:ext uri="{FF2B5EF4-FFF2-40B4-BE49-F238E27FC236}">
                <a16:creationId xmlns:a16="http://schemas.microsoft.com/office/drawing/2014/main" id="{1622A918-8AF1-4633-8FD9-163FF35F8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64795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4628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E3D8-83DB-4A21-A3F5-52FD26E6CE2D}"/>
              </a:ext>
            </a:extLst>
          </p:cNvPr>
          <p:cNvSpPr>
            <a:spLocks noGrp="1"/>
          </p:cNvSpPr>
          <p:nvPr>
            <p:ph type="title"/>
          </p:nvPr>
        </p:nvSpPr>
        <p:spPr/>
        <p:txBody>
          <a:bodyPr/>
          <a:lstStyle/>
          <a:p>
            <a:r>
              <a:rPr lang="fr-FR" dirty="0"/>
              <a:t>Le risque d’indisponibilité</a:t>
            </a:r>
          </a:p>
        </p:txBody>
      </p:sp>
      <p:sp>
        <p:nvSpPr>
          <p:cNvPr id="3" name="Content Placeholder 2">
            <a:extLst>
              <a:ext uri="{FF2B5EF4-FFF2-40B4-BE49-F238E27FC236}">
                <a16:creationId xmlns:a16="http://schemas.microsoft.com/office/drawing/2014/main" id="{90889206-26A2-4AC8-A4AC-746DE4822DB9}"/>
              </a:ext>
            </a:extLst>
          </p:cNvPr>
          <p:cNvSpPr>
            <a:spLocks noGrp="1"/>
          </p:cNvSpPr>
          <p:nvPr>
            <p:ph idx="1"/>
          </p:nvPr>
        </p:nvSpPr>
        <p:spPr>
          <a:xfrm>
            <a:off x="247650" y="1854200"/>
            <a:ext cx="5772150" cy="4351338"/>
          </a:xfrm>
        </p:spPr>
        <p:txBody>
          <a:bodyPr>
            <a:normAutofit fontScale="70000" lnSpcReduction="20000"/>
          </a:bodyPr>
          <a:lstStyle/>
          <a:p>
            <a:r>
              <a:rPr lang="fr-FR" dirty="0"/>
              <a:t>Une dépendance peut faire tomber un service si :</a:t>
            </a:r>
          </a:p>
          <a:p>
            <a:pPr lvl="1"/>
            <a:r>
              <a:rPr lang="fr-FR" dirty="0"/>
              <a:t>le fournisseur est indisponible </a:t>
            </a:r>
          </a:p>
          <a:p>
            <a:pPr lvl="1"/>
            <a:r>
              <a:rPr lang="fr-FR" dirty="0"/>
              <a:t>la licence n’est pas renouvelée </a:t>
            </a:r>
          </a:p>
          <a:p>
            <a:pPr lvl="1"/>
            <a:r>
              <a:rPr lang="fr-FR" dirty="0"/>
              <a:t>le serveur d’activation tombe </a:t>
            </a:r>
          </a:p>
          <a:p>
            <a:pPr lvl="1"/>
            <a:r>
              <a:rPr lang="fr-FR" dirty="0"/>
              <a:t>l’accès au cloud est coupé </a:t>
            </a:r>
          </a:p>
          <a:p>
            <a:pPr lvl="1"/>
            <a:r>
              <a:rPr lang="fr-FR" dirty="0"/>
              <a:t>le support n’est plus accessible </a:t>
            </a:r>
          </a:p>
          <a:p>
            <a:r>
              <a:rPr lang="fr-FR" b="1" dirty="0"/>
              <a:t>Impact :</a:t>
            </a:r>
            <a:endParaRPr lang="fr-FR" dirty="0"/>
          </a:p>
          <a:p>
            <a:pPr lvl="1"/>
            <a:r>
              <a:rPr lang="fr-FR" dirty="0"/>
              <a:t>mode dégradé </a:t>
            </a:r>
          </a:p>
          <a:p>
            <a:pPr lvl="1"/>
            <a:r>
              <a:rPr lang="fr-FR" dirty="0"/>
              <a:t>arrêt de service </a:t>
            </a:r>
          </a:p>
          <a:p>
            <a:pPr lvl="1"/>
            <a:r>
              <a:rPr lang="fr-FR" dirty="0"/>
              <a:t>interruption de production</a:t>
            </a:r>
          </a:p>
          <a:p>
            <a:endParaRPr lang="fr-FR" dirty="0"/>
          </a:p>
        </p:txBody>
      </p:sp>
      <p:pic>
        <p:nvPicPr>
          <p:cNvPr id="10242" name="Picture 2" descr="Courbe de disponibilité avec point de rupture">
            <a:extLst>
              <a:ext uri="{FF2B5EF4-FFF2-40B4-BE49-F238E27FC236}">
                <a16:creationId xmlns:a16="http://schemas.microsoft.com/office/drawing/2014/main" id="{30D2D4A7-CE3F-4865-9BDB-3C7196B3C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5075" y="2547938"/>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7962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9468-100D-47E1-98EA-0338D6660B8B}"/>
              </a:ext>
            </a:extLst>
          </p:cNvPr>
          <p:cNvSpPr>
            <a:spLocks noGrp="1"/>
          </p:cNvSpPr>
          <p:nvPr>
            <p:ph type="title"/>
          </p:nvPr>
        </p:nvSpPr>
        <p:spPr/>
        <p:txBody>
          <a:bodyPr/>
          <a:lstStyle/>
          <a:p>
            <a:r>
              <a:rPr lang="fr-FR" dirty="0"/>
              <a:t>Le risque de </a:t>
            </a:r>
            <a:r>
              <a:rPr lang="fr-FR" dirty="0" err="1"/>
              <a:t>supply</a:t>
            </a:r>
            <a:r>
              <a:rPr lang="fr-FR" dirty="0"/>
              <a:t> </a:t>
            </a:r>
            <a:r>
              <a:rPr lang="fr-FR" dirty="0" err="1"/>
              <a:t>chain</a:t>
            </a:r>
            <a:endParaRPr lang="fr-FR" dirty="0"/>
          </a:p>
        </p:txBody>
      </p:sp>
      <p:sp>
        <p:nvSpPr>
          <p:cNvPr id="3" name="Content Placeholder 2">
            <a:extLst>
              <a:ext uri="{FF2B5EF4-FFF2-40B4-BE49-F238E27FC236}">
                <a16:creationId xmlns:a16="http://schemas.microsoft.com/office/drawing/2014/main" id="{EC2F2610-C8F3-4C94-B528-FD38017F8B84}"/>
              </a:ext>
            </a:extLst>
          </p:cNvPr>
          <p:cNvSpPr>
            <a:spLocks noGrp="1"/>
          </p:cNvSpPr>
          <p:nvPr>
            <p:ph idx="1"/>
          </p:nvPr>
        </p:nvSpPr>
        <p:spPr>
          <a:xfrm>
            <a:off x="0" y="1930400"/>
            <a:ext cx="6381750" cy="4927600"/>
          </a:xfrm>
        </p:spPr>
        <p:txBody>
          <a:bodyPr>
            <a:normAutofit fontScale="85000" lnSpcReduction="20000"/>
          </a:bodyPr>
          <a:lstStyle/>
          <a:p>
            <a:r>
              <a:rPr lang="fr-FR" dirty="0"/>
              <a:t>La chaîne d’approvisionnement numérique peut être attaquée via :</a:t>
            </a:r>
          </a:p>
          <a:p>
            <a:pPr lvl="1"/>
            <a:r>
              <a:rPr lang="fr-FR" dirty="0"/>
              <a:t>le fournisseur </a:t>
            </a:r>
          </a:p>
          <a:p>
            <a:pPr lvl="1"/>
            <a:r>
              <a:rPr lang="fr-FR" dirty="0"/>
              <a:t>la mise à jour </a:t>
            </a:r>
          </a:p>
          <a:p>
            <a:pPr lvl="1"/>
            <a:r>
              <a:rPr lang="fr-FR" dirty="0"/>
              <a:t>la bibliothèque tierce </a:t>
            </a:r>
          </a:p>
          <a:p>
            <a:pPr lvl="1"/>
            <a:r>
              <a:rPr lang="fr-FR" dirty="0"/>
              <a:t>le package logiciel </a:t>
            </a:r>
          </a:p>
          <a:p>
            <a:pPr lvl="1"/>
            <a:r>
              <a:rPr lang="fr-FR" dirty="0"/>
              <a:t>le service cloud </a:t>
            </a:r>
          </a:p>
          <a:p>
            <a:r>
              <a:rPr lang="fr-FR" b="1" dirty="0"/>
              <a:t>Effet :</a:t>
            </a:r>
            <a:r>
              <a:rPr lang="fr-FR" dirty="0"/>
              <a:t/>
            </a:r>
            <a:br>
              <a:rPr lang="fr-FR" dirty="0"/>
            </a:br>
            <a:r>
              <a:rPr lang="fr-FR" dirty="0"/>
              <a:t>	la confiance devient un vecteur d’attaque.</a:t>
            </a:r>
          </a:p>
          <a:p>
            <a:endParaRPr lang="fr-FR" dirty="0"/>
          </a:p>
        </p:txBody>
      </p:sp>
      <p:pic>
        <p:nvPicPr>
          <p:cNvPr id="11266" name="Picture 2" descr="Chaîne de 4 maillons avec un maillon compromis">
            <a:extLst>
              <a:ext uri="{FF2B5EF4-FFF2-40B4-BE49-F238E27FC236}">
                <a16:creationId xmlns:a16="http://schemas.microsoft.com/office/drawing/2014/main" id="{E40F9BB1-A675-402B-8FBB-20CC10FD09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0" y="2695575"/>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1457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ACB9-842C-4E9A-BC2E-AB10E0B0E7AB}"/>
              </a:ext>
            </a:extLst>
          </p:cNvPr>
          <p:cNvSpPr>
            <a:spLocks noGrp="1"/>
          </p:cNvSpPr>
          <p:nvPr>
            <p:ph type="title"/>
          </p:nvPr>
        </p:nvSpPr>
        <p:spPr/>
        <p:txBody>
          <a:bodyPr/>
          <a:lstStyle/>
          <a:p>
            <a:r>
              <a:rPr lang="fr-FR" dirty="0"/>
              <a:t>Le risque géopolitique</a:t>
            </a:r>
          </a:p>
        </p:txBody>
      </p:sp>
      <p:sp>
        <p:nvSpPr>
          <p:cNvPr id="3" name="Content Placeholder 2">
            <a:extLst>
              <a:ext uri="{FF2B5EF4-FFF2-40B4-BE49-F238E27FC236}">
                <a16:creationId xmlns:a16="http://schemas.microsoft.com/office/drawing/2014/main" id="{3E2009A8-7B38-4500-84B6-D04647375980}"/>
              </a:ext>
            </a:extLst>
          </p:cNvPr>
          <p:cNvSpPr>
            <a:spLocks noGrp="1"/>
          </p:cNvSpPr>
          <p:nvPr>
            <p:ph idx="1"/>
          </p:nvPr>
        </p:nvSpPr>
        <p:spPr>
          <a:xfrm>
            <a:off x="0" y="1797050"/>
            <a:ext cx="5372100" cy="5060950"/>
          </a:xfrm>
        </p:spPr>
        <p:txBody>
          <a:bodyPr>
            <a:normAutofit fontScale="77500" lnSpcReduction="20000"/>
          </a:bodyPr>
          <a:lstStyle/>
          <a:p>
            <a:r>
              <a:rPr lang="fr-FR" dirty="0"/>
              <a:t>Les technologies dépendent aussi :</a:t>
            </a:r>
          </a:p>
          <a:p>
            <a:pPr lvl="1"/>
            <a:r>
              <a:rPr lang="fr-FR" dirty="0"/>
              <a:t>du contexte international </a:t>
            </a:r>
          </a:p>
          <a:p>
            <a:pPr lvl="1"/>
            <a:r>
              <a:rPr lang="fr-FR" dirty="0"/>
              <a:t>des sanctions </a:t>
            </a:r>
          </a:p>
          <a:p>
            <a:pPr lvl="1"/>
            <a:r>
              <a:rPr lang="fr-FR" dirty="0"/>
              <a:t>des autorisations d’export </a:t>
            </a:r>
          </a:p>
          <a:p>
            <a:pPr lvl="1"/>
            <a:r>
              <a:rPr lang="fr-FR" dirty="0"/>
              <a:t>des tensions diplomatiques </a:t>
            </a:r>
          </a:p>
          <a:p>
            <a:pPr lvl="1"/>
            <a:r>
              <a:rPr lang="fr-FR" dirty="0"/>
              <a:t>des politiques commerciales </a:t>
            </a:r>
          </a:p>
          <a:p>
            <a:r>
              <a:rPr lang="fr-FR" b="1" dirty="0"/>
              <a:t>Conséquences possibles :</a:t>
            </a:r>
            <a:endParaRPr lang="fr-FR" dirty="0"/>
          </a:p>
          <a:p>
            <a:pPr lvl="1"/>
            <a:r>
              <a:rPr lang="fr-FR" dirty="0"/>
              <a:t>support bloqué </a:t>
            </a:r>
          </a:p>
          <a:p>
            <a:pPr lvl="1"/>
            <a:r>
              <a:rPr lang="fr-FR" dirty="0"/>
              <a:t>mises à jour suspendues </a:t>
            </a:r>
          </a:p>
          <a:p>
            <a:pPr lvl="1"/>
            <a:r>
              <a:rPr lang="fr-FR" dirty="0"/>
              <a:t>accès restreint </a:t>
            </a:r>
          </a:p>
          <a:p>
            <a:pPr lvl="1"/>
            <a:r>
              <a:rPr lang="fr-FR" dirty="0"/>
              <a:t>contrats interrompus</a:t>
            </a:r>
          </a:p>
          <a:p>
            <a:endParaRPr lang="fr-FR" dirty="0"/>
          </a:p>
        </p:txBody>
      </p:sp>
      <p:pic>
        <p:nvPicPr>
          <p:cNvPr id="12290" name="Picture 2" descr="Carte du monde avec zones interdites">
            <a:extLst>
              <a:ext uri="{FF2B5EF4-FFF2-40B4-BE49-F238E27FC236}">
                <a16:creationId xmlns:a16="http://schemas.microsoft.com/office/drawing/2014/main" id="{87261663-388A-4A85-AE33-1585CE2B5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075" y="268605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4543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55F9-27DC-4021-AD7C-8CE45FAEE3DB}"/>
              </a:ext>
            </a:extLst>
          </p:cNvPr>
          <p:cNvSpPr>
            <a:spLocks noGrp="1"/>
          </p:cNvSpPr>
          <p:nvPr>
            <p:ph type="title"/>
          </p:nvPr>
        </p:nvSpPr>
        <p:spPr/>
        <p:txBody>
          <a:bodyPr/>
          <a:lstStyle/>
          <a:p>
            <a:r>
              <a:rPr lang="fr-FR" dirty="0"/>
              <a:t>Le risque de perte de souveraineté</a:t>
            </a:r>
          </a:p>
        </p:txBody>
      </p:sp>
      <p:sp>
        <p:nvSpPr>
          <p:cNvPr id="3" name="Content Placeholder 2">
            <a:extLst>
              <a:ext uri="{FF2B5EF4-FFF2-40B4-BE49-F238E27FC236}">
                <a16:creationId xmlns:a16="http://schemas.microsoft.com/office/drawing/2014/main" id="{35522B61-B209-41C4-9909-6B05A3B20F7D}"/>
              </a:ext>
            </a:extLst>
          </p:cNvPr>
          <p:cNvSpPr>
            <a:spLocks noGrp="1"/>
          </p:cNvSpPr>
          <p:nvPr>
            <p:ph idx="1"/>
          </p:nvPr>
        </p:nvSpPr>
        <p:spPr>
          <a:xfrm>
            <a:off x="0" y="1882774"/>
            <a:ext cx="6772275" cy="4975225"/>
          </a:xfrm>
        </p:spPr>
        <p:txBody>
          <a:bodyPr>
            <a:normAutofit/>
          </a:bodyPr>
          <a:lstStyle/>
          <a:p>
            <a:r>
              <a:rPr lang="fr-FR" sz="3200" dirty="0"/>
              <a:t>Quand la dépendance devient trop forte :</a:t>
            </a:r>
          </a:p>
          <a:p>
            <a:pPr lvl="1"/>
            <a:r>
              <a:rPr lang="fr-FR" sz="2800" dirty="0"/>
              <a:t>l’organisation ne décide plus seule </a:t>
            </a:r>
          </a:p>
          <a:p>
            <a:pPr lvl="1"/>
            <a:r>
              <a:rPr lang="fr-FR" sz="2800" dirty="0"/>
              <a:t>les marges de manœuvre diminuent </a:t>
            </a:r>
          </a:p>
          <a:p>
            <a:pPr lvl="1"/>
            <a:r>
              <a:rPr lang="fr-FR" sz="2800" dirty="0"/>
              <a:t>les options de repli disparaissent </a:t>
            </a:r>
          </a:p>
          <a:p>
            <a:pPr lvl="1"/>
            <a:r>
              <a:rPr lang="fr-FR" sz="2800" dirty="0"/>
              <a:t>le coût du changement augmente</a:t>
            </a:r>
          </a:p>
          <a:p>
            <a:endParaRPr lang="fr-FR" sz="3200" dirty="0"/>
          </a:p>
        </p:txBody>
      </p:sp>
      <p:pic>
        <p:nvPicPr>
          <p:cNvPr id="13314" name="Picture 2" descr="Volant de voiture contrôlé à distance">
            <a:extLst>
              <a:ext uri="{FF2B5EF4-FFF2-40B4-BE49-F238E27FC236}">
                <a16:creationId xmlns:a16="http://schemas.microsoft.com/office/drawing/2014/main" id="{F1FE5536-02B2-41CF-AC0B-E823892C4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60985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0125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B95C-5C10-468C-8B95-89F6932AE8CE}"/>
              </a:ext>
            </a:extLst>
          </p:cNvPr>
          <p:cNvSpPr>
            <a:spLocks noGrp="1"/>
          </p:cNvSpPr>
          <p:nvPr>
            <p:ph type="title"/>
          </p:nvPr>
        </p:nvSpPr>
        <p:spPr/>
        <p:txBody>
          <a:bodyPr/>
          <a:lstStyle/>
          <a:p>
            <a:r>
              <a:rPr lang="fr-FR" dirty="0"/>
              <a:t>Le risque invisible : tout va bien jusqu’au jour où ça casse</a:t>
            </a:r>
          </a:p>
        </p:txBody>
      </p:sp>
      <p:sp>
        <p:nvSpPr>
          <p:cNvPr id="3" name="Content Placeholder 2">
            <a:extLst>
              <a:ext uri="{FF2B5EF4-FFF2-40B4-BE49-F238E27FC236}">
                <a16:creationId xmlns:a16="http://schemas.microsoft.com/office/drawing/2014/main" id="{5169A69F-7FDD-4DC4-BCE8-ED0627EEC05D}"/>
              </a:ext>
            </a:extLst>
          </p:cNvPr>
          <p:cNvSpPr>
            <a:spLocks noGrp="1"/>
          </p:cNvSpPr>
          <p:nvPr>
            <p:ph idx="1"/>
          </p:nvPr>
        </p:nvSpPr>
        <p:spPr>
          <a:xfrm>
            <a:off x="0" y="1778000"/>
            <a:ext cx="5657850" cy="5080000"/>
          </a:xfrm>
        </p:spPr>
        <p:txBody>
          <a:bodyPr>
            <a:normAutofit fontScale="85000" lnSpcReduction="20000"/>
          </a:bodyPr>
          <a:lstStyle/>
          <a:p>
            <a:r>
              <a:rPr lang="fr-FR" dirty="0"/>
              <a:t>Le plus grand danger :</a:t>
            </a:r>
          </a:p>
          <a:p>
            <a:pPr lvl="1"/>
            <a:r>
              <a:rPr lang="fr-FR" dirty="0"/>
              <a:t>aucun symptôme visible </a:t>
            </a:r>
          </a:p>
          <a:p>
            <a:pPr lvl="1"/>
            <a:r>
              <a:rPr lang="fr-FR" dirty="0"/>
              <a:t>aucun signal d’alerte </a:t>
            </a:r>
          </a:p>
          <a:p>
            <a:pPr lvl="1"/>
            <a:r>
              <a:rPr lang="fr-FR" dirty="0"/>
              <a:t>tout fonctionne normalement </a:t>
            </a:r>
          </a:p>
          <a:p>
            <a:pPr lvl="1"/>
            <a:r>
              <a:rPr lang="fr-FR" dirty="0"/>
              <a:t>la dépendance est oubliée </a:t>
            </a:r>
          </a:p>
          <a:p>
            <a:r>
              <a:rPr lang="fr-FR" b="1" dirty="0"/>
              <a:t>Puis :</a:t>
            </a:r>
            <a:endParaRPr lang="fr-FR" dirty="0"/>
          </a:p>
          <a:p>
            <a:pPr lvl="1"/>
            <a:r>
              <a:rPr lang="fr-FR" dirty="0"/>
              <a:t>rupture </a:t>
            </a:r>
          </a:p>
          <a:p>
            <a:pPr lvl="1"/>
            <a:r>
              <a:rPr lang="fr-FR" dirty="0"/>
              <a:t>blocage </a:t>
            </a:r>
          </a:p>
          <a:p>
            <a:pPr lvl="1"/>
            <a:r>
              <a:rPr lang="fr-FR" dirty="0"/>
              <a:t>panique </a:t>
            </a:r>
          </a:p>
          <a:p>
            <a:pPr lvl="1"/>
            <a:r>
              <a:rPr lang="fr-FR" dirty="0"/>
              <a:t>découverte tardive</a:t>
            </a:r>
          </a:p>
          <a:p>
            <a:endParaRPr lang="fr-FR" dirty="0"/>
          </a:p>
        </p:txBody>
      </p:sp>
      <p:pic>
        <p:nvPicPr>
          <p:cNvPr id="14338" name="Picture 2" descr="Iceberg service et dépendances">
            <a:extLst>
              <a:ext uri="{FF2B5EF4-FFF2-40B4-BE49-F238E27FC236}">
                <a16:creationId xmlns:a16="http://schemas.microsoft.com/office/drawing/2014/main" id="{2D93F9E8-9D4E-4C74-86E0-0D0525D22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1778000"/>
            <a:ext cx="36576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494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A1396-8CCA-4EB5-A1AD-E43DAD3B3443}"/>
              </a:ext>
            </a:extLst>
          </p:cNvPr>
          <p:cNvSpPr>
            <a:spLocks noGrp="1"/>
          </p:cNvSpPr>
          <p:nvPr>
            <p:ph type="title"/>
          </p:nvPr>
        </p:nvSpPr>
        <p:spPr>
          <a:xfrm>
            <a:off x="838200" y="2766218"/>
            <a:ext cx="10515600" cy="1325563"/>
          </a:xfrm>
        </p:spPr>
        <p:txBody>
          <a:bodyPr/>
          <a:lstStyle/>
          <a:p>
            <a:r>
              <a:rPr lang="fr-FR" dirty="0"/>
              <a:t>EXEMPLE DE SCÉNARIO</a:t>
            </a:r>
          </a:p>
        </p:txBody>
      </p:sp>
    </p:spTree>
    <p:extLst>
      <p:ext uri="{BB962C8B-B14F-4D97-AF65-F5344CB8AC3E}">
        <p14:creationId xmlns:p14="http://schemas.microsoft.com/office/powerpoint/2010/main" val="33335619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A671-7B33-48BF-9E8D-51AFC6AA2F91}"/>
              </a:ext>
            </a:extLst>
          </p:cNvPr>
          <p:cNvSpPr>
            <a:spLocks noGrp="1"/>
          </p:cNvSpPr>
          <p:nvPr>
            <p:ph type="title"/>
          </p:nvPr>
        </p:nvSpPr>
        <p:spPr/>
        <p:txBody>
          <a:bodyPr/>
          <a:lstStyle/>
          <a:p>
            <a:r>
              <a:rPr lang="fr-FR" dirty="0"/>
              <a:t>Pourquoi un scénario ?</a:t>
            </a:r>
          </a:p>
        </p:txBody>
      </p:sp>
      <p:sp>
        <p:nvSpPr>
          <p:cNvPr id="3" name="Content Placeholder 2">
            <a:extLst>
              <a:ext uri="{FF2B5EF4-FFF2-40B4-BE49-F238E27FC236}">
                <a16:creationId xmlns:a16="http://schemas.microsoft.com/office/drawing/2014/main" id="{19371A2A-740B-4E9E-BCD4-238E5387BB04}"/>
              </a:ext>
            </a:extLst>
          </p:cNvPr>
          <p:cNvSpPr>
            <a:spLocks noGrp="1"/>
          </p:cNvSpPr>
          <p:nvPr>
            <p:ph idx="1"/>
          </p:nvPr>
        </p:nvSpPr>
        <p:spPr>
          <a:xfrm>
            <a:off x="838200" y="1825625"/>
            <a:ext cx="5657850" cy="4351338"/>
          </a:xfrm>
        </p:spPr>
        <p:txBody>
          <a:bodyPr>
            <a:normAutofit/>
          </a:bodyPr>
          <a:lstStyle/>
          <a:p>
            <a:r>
              <a:rPr lang="fr-FR" dirty="0"/>
              <a:t>Un scénario permet de :</a:t>
            </a:r>
          </a:p>
          <a:p>
            <a:pPr lvl="1"/>
            <a:r>
              <a:rPr lang="fr-FR" dirty="0"/>
              <a:t>rendre le risque concret </a:t>
            </a:r>
          </a:p>
          <a:p>
            <a:pPr lvl="1"/>
            <a:r>
              <a:rPr lang="fr-FR" dirty="0"/>
              <a:t>montrer l’effet domino </a:t>
            </a:r>
          </a:p>
          <a:p>
            <a:pPr lvl="1"/>
            <a:r>
              <a:rPr lang="fr-FR" dirty="0"/>
              <a:t>illustrer la vitesse de dégradation </a:t>
            </a:r>
          </a:p>
          <a:p>
            <a:pPr lvl="1"/>
            <a:r>
              <a:rPr lang="fr-FR" dirty="0"/>
              <a:t>parler de continuité de service </a:t>
            </a:r>
          </a:p>
          <a:p>
            <a:pPr lvl="1"/>
            <a:r>
              <a:rPr lang="fr-FR" dirty="0"/>
              <a:t>préparer la discussion</a:t>
            </a:r>
          </a:p>
          <a:p>
            <a:endParaRPr lang="fr-FR" dirty="0"/>
          </a:p>
        </p:txBody>
      </p:sp>
      <p:pic>
        <p:nvPicPr>
          <p:cNvPr id="15362" name="Picture 2">
            <a:extLst>
              <a:ext uri="{FF2B5EF4-FFF2-40B4-BE49-F238E27FC236}">
                <a16:creationId xmlns:a16="http://schemas.microsoft.com/office/drawing/2014/main" id="{B28D20A6-CE3A-4A65-BE76-7D8D7BCFD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8925" y="22479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377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BFB5-E6E8-45F7-B7D2-586EE8469835}"/>
              </a:ext>
            </a:extLst>
          </p:cNvPr>
          <p:cNvSpPr>
            <a:spLocks noGrp="1"/>
          </p:cNvSpPr>
          <p:nvPr>
            <p:ph type="title"/>
          </p:nvPr>
        </p:nvSpPr>
        <p:spPr/>
        <p:txBody>
          <a:bodyPr/>
          <a:lstStyle/>
          <a:p>
            <a:r>
              <a:rPr lang="fr-FR" dirty="0"/>
              <a:t>Scénario HELIOS : état nominal</a:t>
            </a:r>
          </a:p>
        </p:txBody>
      </p:sp>
      <p:sp>
        <p:nvSpPr>
          <p:cNvPr id="3" name="Content Placeholder 2">
            <a:extLst>
              <a:ext uri="{FF2B5EF4-FFF2-40B4-BE49-F238E27FC236}">
                <a16:creationId xmlns:a16="http://schemas.microsoft.com/office/drawing/2014/main" id="{84A7A07E-2293-431A-9875-C7B0BD86C839}"/>
              </a:ext>
            </a:extLst>
          </p:cNvPr>
          <p:cNvSpPr>
            <a:spLocks noGrp="1"/>
          </p:cNvSpPr>
          <p:nvPr>
            <p:ph idx="1"/>
          </p:nvPr>
        </p:nvSpPr>
        <p:spPr>
          <a:xfrm>
            <a:off x="0" y="1797050"/>
            <a:ext cx="6096000" cy="5060950"/>
          </a:xfrm>
        </p:spPr>
        <p:txBody>
          <a:bodyPr>
            <a:normAutofit/>
          </a:bodyPr>
          <a:lstStyle/>
          <a:p>
            <a:r>
              <a:rPr lang="fr-FR" dirty="0"/>
              <a:t>Situation normale :</a:t>
            </a:r>
          </a:p>
          <a:p>
            <a:pPr lvl="1"/>
            <a:r>
              <a:rPr lang="fr-FR" dirty="0"/>
              <a:t>supervision active </a:t>
            </a:r>
          </a:p>
          <a:p>
            <a:pPr lvl="1"/>
            <a:r>
              <a:rPr lang="fr-FR" dirty="0"/>
              <a:t>communications fonctionnelles </a:t>
            </a:r>
          </a:p>
          <a:p>
            <a:pPr lvl="1"/>
            <a:r>
              <a:rPr lang="fr-FR" dirty="0"/>
              <a:t>maintenance disponible </a:t>
            </a:r>
          </a:p>
          <a:p>
            <a:pPr lvl="1"/>
            <a:r>
              <a:rPr lang="fr-FR" dirty="0"/>
              <a:t>systèmes de sécurité opérationnels </a:t>
            </a:r>
          </a:p>
          <a:p>
            <a:pPr lvl="1"/>
            <a:r>
              <a:rPr lang="fr-FR" dirty="0"/>
              <a:t>dépendances externes présentes mais invisibles</a:t>
            </a:r>
          </a:p>
          <a:p>
            <a:endParaRPr lang="fr-FR" dirty="0"/>
          </a:p>
        </p:txBody>
      </p:sp>
      <p:pic>
        <p:nvPicPr>
          <p:cNvPr id="16386" name="Picture 2" descr="Schéma du système d’information en mode normal">
            <a:extLst>
              <a:ext uri="{FF2B5EF4-FFF2-40B4-BE49-F238E27FC236}">
                <a16:creationId xmlns:a16="http://schemas.microsoft.com/office/drawing/2014/main" id="{EB6C7DC4-4AD9-40BA-BEFC-7C869E493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3175" y="272415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5216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0E8AF-30DF-4C9A-8F1C-D65D24B073BF}"/>
              </a:ext>
            </a:extLst>
          </p:cNvPr>
          <p:cNvSpPr>
            <a:spLocks noGrp="1"/>
          </p:cNvSpPr>
          <p:nvPr>
            <p:ph type="title"/>
          </p:nvPr>
        </p:nvSpPr>
        <p:spPr/>
        <p:txBody>
          <a:bodyPr/>
          <a:lstStyle/>
          <a:p>
            <a:r>
              <a:rPr lang="fr-FR" dirty="0"/>
              <a:t>Déclencheur externe</a:t>
            </a:r>
          </a:p>
        </p:txBody>
      </p:sp>
      <p:sp>
        <p:nvSpPr>
          <p:cNvPr id="3" name="Content Placeholder 2">
            <a:extLst>
              <a:ext uri="{FF2B5EF4-FFF2-40B4-BE49-F238E27FC236}">
                <a16:creationId xmlns:a16="http://schemas.microsoft.com/office/drawing/2014/main" id="{926BA3E3-2A87-4A00-9436-DECEDB1A8873}"/>
              </a:ext>
            </a:extLst>
          </p:cNvPr>
          <p:cNvSpPr>
            <a:spLocks noGrp="1"/>
          </p:cNvSpPr>
          <p:nvPr>
            <p:ph idx="1"/>
          </p:nvPr>
        </p:nvSpPr>
        <p:spPr>
          <a:xfrm>
            <a:off x="838200" y="1825625"/>
            <a:ext cx="5000625" cy="4351338"/>
          </a:xfrm>
        </p:spPr>
        <p:txBody>
          <a:bodyPr>
            <a:normAutofit/>
          </a:bodyPr>
          <a:lstStyle/>
          <a:p>
            <a:r>
              <a:rPr lang="fr-FR" dirty="0"/>
              <a:t>Exemple de déclencheur :</a:t>
            </a:r>
          </a:p>
          <a:p>
            <a:pPr lvl="1"/>
            <a:r>
              <a:rPr lang="fr-FR" dirty="0"/>
              <a:t>fournisseur indisponible </a:t>
            </a:r>
          </a:p>
          <a:p>
            <a:pPr lvl="1"/>
            <a:r>
              <a:rPr lang="fr-FR" dirty="0"/>
              <a:t>service cloud perturbé </a:t>
            </a:r>
          </a:p>
          <a:p>
            <a:pPr lvl="1"/>
            <a:r>
              <a:rPr lang="fr-FR" dirty="0"/>
              <a:t>licence bloquée </a:t>
            </a:r>
          </a:p>
          <a:p>
            <a:pPr lvl="1"/>
            <a:r>
              <a:rPr lang="fr-FR" dirty="0"/>
              <a:t>support suspendu </a:t>
            </a:r>
          </a:p>
          <a:p>
            <a:pPr lvl="1"/>
            <a:r>
              <a:rPr lang="fr-FR" dirty="0"/>
              <a:t>mise à jour impossible</a:t>
            </a:r>
          </a:p>
          <a:p>
            <a:endParaRPr lang="fr-FR" dirty="0"/>
          </a:p>
        </p:txBody>
      </p:sp>
      <p:pic>
        <p:nvPicPr>
          <p:cNvPr id="17410" name="Picture 2" descr="Icône d’alerte reliée au fournisseur externe">
            <a:extLst>
              <a:ext uri="{FF2B5EF4-FFF2-40B4-BE49-F238E27FC236}">
                <a16:creationId xmlns:a16="http://schemas.microsoft.com/office/drawing/2014/main" id="{7290E0A3-D465-4AAF-B954-0ECAF9FE1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0775" y="2519363"/>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5284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5554B-E728-40E7-8A46-C91BDD024FE9}"/>
              </a:ext>
            </a:extLst>
          </p:cNvPr>
          <p:cNvSpPr>
            <a:spLocks noGrp="1"/>
          </p:cNvSpPr>
          <p:nvPr>
            <p:ph type="title"/>
          </p:nvPr>
        </p:nvSpPr>
        <p:spPr/>
        <p:txBody>
          <a:bodyPr/>
          <a:lstStyle/>
          <a:p>
            <a:r>
              <a:rPr lang="fr-FR" dirty="0"/>
              <a:t>Dégradation progressive</a:t>
            </a:r>
          </a:p>
        </p:txBody>
      </p:sp>
      <p:sp>
        <p:nvSpPr>
          <p:cNvPr id="3" name="Content Placeholder 2">
            <a:extLst>
              <a:ext uri="{FF2B5EF4-FFF2-40B4-BE49-F238E27FC236}">
                <a16:creationId xmlns:a16="http://schemas.microsoft.com/office/drawing/2014/main" id="{317E8BD9-306C-47DD-BAFC-7B794ED59315}"/>
              </a:ext>
            </a:extLst>
          </p:cNvPr>
          <p:cNvSpPr>
            <a:spLocks noGrp="1"/>
          </p:cNvSpPr>
          <p:nvPr>
            <p:ph idx="1"/>
          </p:nvPr>
        </p:nvSpPr>
        <p:spPr>
          <a:xfrm>
            <a:off x="838200" y="1825625"/>
            <a:ext cx="5334000" cy="4351338"/>
          </a:xfrm>
        </p:spPr>
        <p:txBody>
          <a:bodyPr>
            <a:normAutofit/>
          </a:bodyPr>
          <a:lstStyle/>
          <a:p>
            <a:r>
              <a:rPr lang="fr-FR" dirty="0"/>
              <a:t>Premiers symptômes :</a:t>
            </a:r>
          </a:p>
          <a:p>
            <a:pPr lvl="1"/>
            <a:r>
              <a:rPr lang="fr-FR" dirty="0"/>
              <a:t>alertes </a:t>
            </a:r>
          </a:p>
          <a:p>
            <a:pPr lvl="1"/>
            <a:r>
              <a:rPr lang="fr-FR" dirty="0"/>
              <a:t>décalage dans les mises à jour </a:t>
            </a:r>
          </a:p>
          <a:p>
            <a:pPr lvl="1"/>
            <a:r>
              <a:rPr lang="fr-FR" dirty="0"/>
              <a:t>dysfonctionnements mineurs </a:t>
            </a:r>
          </a:p>
          <a:p>
            <a:pPr lvl="1"/>
            <a:r>
              <a:rPr lang="fr-FR" dirty="0"/>
              <a:t>perte de visibilité </a:t>
            </a:r>
          </a:p>
          <a:p>
            <a:pPr lvl="1"/>
            <a:r>
              <a:rPr lang="fr-FR" dirty="0"/>
              <a:t>limites d’accès au support</a:t>
            </a:r>
          </a:p>
          <a:p>
            <a:endParaRPr lang="fr-FR" dirty="0"/>
          </a:p>
        </p:txBody>
      </p:sp>
      <p:pic>
        <p:nvPicPr>
          <p:cNvPr id="18434" name="Picture 2" descr="Barre de santé du système">
            <a:extLst>
              <a:ext uri="{FF2B5EF4-FFF2-40B4-BE49-F238E27FC236}">
                <a16:creationId xmlns:a16="http://schemas.microsoft.com/office/drawing/2014/main" id="{DF6958AF-78F5-4EFD-8F4B-E5C107F81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275" y="2519363"/>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656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225B-FD48-4B37-BD86-5C35CD3488C8}"/>
              </a:ext>
            </a:extLst>
          </p:cNvPr>
          <p:cNvSpPr>
            <a:spLocks noGrp="1"/>
          </p:cNvSpPr>
          <p:nvPr>
            <p:ph type="title"/>
          </p:nvPr>
        </p:nvSpPr>
        <p:spPr/>
        <p:txBody>
          <a:bodyPr/>
          <a:lstStyle/>
          <a:p>
            <a:r>
              <a:rPr lang="fr-FR" dirty="0"/>
              <a:t>Escalade et impact</a:t>
            </a:r>
          </a:p>
        </p:txBody>
      </p:sp>
      <p:sp>
        <p:nvSpPr>
          <p:cNvPr id="3" name="Content Placeholder 2">
            <a:extLst>
              <a:ext uri="{FF2B5EF4-FFF2-40B4-BE49-F238E27FC236}">
                <a16:creationId xmlns:a16="http://schemas.microsoft.com/office/drawing/2014/main" id="{03E5A0AF-598D-4514-A674-25B77CBDE260}"/>
              </a:ext>
            </a:extLst>
          </p:cNvPr>
          <p:cNvSpPr>
            <a:spLocks noGrp="1"/>
          </p:cNvSpPr>
          <p:nvPr>
            <p:ph idx="1"/>
          </p:nvPr>
        </p:nvSpPr>
        <p:spPr>
          <a:xfrm>
            <a:off x="0" y="1844675"/>
            <a:ext cx="5143500" cy="4351338"/>
          </a:xfrm>
        </p:spPr>
        <p:txBody>
          <a:bodyPr>
            <a:normAutofit/>
          </a:bodyPr>
          <a:lstStyle/>
          <a:p>
            <a:r>
              <a:rPr lang="fr-FR" dirty="0"/>
              <a:t>Conséquences possibles :</a:t>
            </a:r>
          </a:p>
          <a:p>
            <a:pPr lvl="1"/>
            <a:r>
              <a:rPr lang="fr-FR" dirty="0"/>
              <a:t>indisponibilité partielle </a:t>
            </a:r>
          </a:p>
          <a:p>
            <a:pPr lvl="1"/>
            <a:r>
              <a:rPr lang="fr-FR" dirty="0"/>
              <a:t>arrêt d’une fonction critique </a:t>
            </a:r>
          </a:p>
          <a:p>
            <a:pPr lvl="1"/>
            <a:r>
              <a:rPr lang="fr-FR" dirty="0"/>
              <a:t>ralentissement du service </a:t>
            </a:r>
          </a:p>
          <a:p>
            <a:pPr lvl="1"/>
            <a:r>
              <a:rPr lang="fr-FR" dirty="0"/>
              <a:t>perte de coordination </a:t>
            </a:r>
          </a:p>
          <a:p>
            <a:pPr lvl="1"/>
            <a:r>
              <a:rPr lang="fr-FR" dirty="0"/>
              <a:t>surcharge des équipes</a:t>
            </a:r>
          </a:p>
          <a:p>
            <a:endParaRPr lang="fr-FR" dirty="0"/>
          </a:p>
        </p:txBody>
      </p:sp>
      <p:pic>
        <p:nvPicPr>
          <p:cNvPr id="5" name="Picture 4">
            <a:extLst>
              <a:ext uri="{FF2B5EF4-FFF2-40B4-BE49-F238E27FC236}">
                <a16:creationId xmlns:a16="http://schemas.microsoft.com/office/drawing/2014/main" id="{3BB73FC6-19D6-4DB8-966D-6088E789D8AE}"/>
              </a:ext>
            </a:extLst>
          </p:cNvPr>
          <p:cNvPicPr>
            <a:picLocks noChangeAspect="1"/>
          </p:cNvPicPr>
          <p:nvPr/>
        </p:nvPicPr>
        <p:blipFill>
          <a:blip r:embed="rId3"/>
          <a:stretch>
            <a:fillRect/>
          </a:stretch>
        </p:blipFill>
        <p:spPr>
          <a:xfrm>
            <a:off x="5368413" y="2623929"/>
            <a:ext cx="6635863" cy="2981741"/>
          </a:xfrm>
          <a:prstGeom prst="rect">
            <a:avLst/>
          </a:prstGeom>
        </p:spPr>
      </p:pic>
    </p:spTree>
    <p:extLst>
      <p:ext uri="{BB962C8B-B14F-4D97-AF65-F5344CB8AC3E}">
        <p14:creationId xmlns:p14="http://schemas.microsoft.com/office/powerpoint/2010/main" val="41056449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F527-4574-40B5-B8B7-A5A7E1842712}"/>
              </a:ext>
            </a:extLst>
          </p:cNvPr>
          <p:cNvSpPr>
            <a:spLocks noGrp="1"/>
          </p:cNvSpPr>
          <p:nvPr>
            <p:ph type="title"/>
          </p:nvPr>
        </p:nvSpPr>
        <p:spPr/>
        <p:txBody>
          <a:bodyPr/>
          <a:lstStyle/>
          <a:p>
            <a:r>
              <a:rPr lang="fr-FR" dirty="0"/>
              <a:t>Leçon du scénario</a:t>
            </a:r>
          </a:p>
        </p:txBody>
      </p:sp>
      <p:sp>
        <p:nvSpPr>
          <p:cNvPr id="3" name="Content Placeholder 2">
            <a:extLst>
              <a:ext uri="{FF2B5EF4-FFF2-40B4-BE49-F238E27FC236}">
                <a16:creationId xmlns:a16="http://schemas.microsoft.com/office/drawing/2014/main" id="{A2ECFA01-89FA-46C0-B163-95C30ACEEB19}"/>
              </a:ext>
            </a:extLst>
          </p:cNvPr>
          <p:cNvSpPr>
            <a:spLocks noGrp="1"/>
          </p:cNvSpPr>
          <p:nvPr>
            <p:ph idx="1"/>
          </p:nvPr>
        </p:nvSpPr>
        <p:spPr>
          <a:xfrm>
            <a:off x="838200" y="1825625"/>
            <a:ext cx="5362575" cy="4351338"/>
          </a:xfrm>
        </p:spPr>
        <p:txBody>
          <a:bodyPr/>
          <a:lstStyle/>
          <a:p>
            <a:r>
              <a:rPr lang="fr-FR" b="1" dirty="0"/>
              <a:t>Le système peut être interrompu sans être piraté</a:t>
            </a:r>
            <a:endParaRPr lang="fr-FR" dirty="0"/>
          </a:p>
          <a:p>
            <a:pPr lvl="1"/>
            <a:r>
              <a:rPr lang="fr-FR" dirty="0"/>
              <a:t>pas de malware </a:t>
            </a:r>
          </a:p>
          <a:p>
            <a:pPr lvl="1"/>
            <a:r>
              <a:rPr lang="fr-FR" dirty="0"/>
              <a:t>pas d’exploit </a:t>
            </a:r>
          </a:p>
          <a:p>
            <a:pPr lvl="1"/>
            <a:r>
              <a:rPr lang="fr-FR" dirty="0"/>
              <a:t>pas d’intrusion </a:t>
            </a:r>
          </a:p>
          <a:p>
            <a:pPr lvl="1"/>
            <a:r>
              <a:rPr lang="fr-FR" dirty="0"/>
              <a:t>mais un blocage réel</a:t>
            </a:r>
          </a:p>
          <a:p>
            <a:endParaRPr lang="fr-FR" dirty="0"/>
          </a:p>
        </p:txBody>
      </p:sp>
      <p:pic>
        <p:nvPicPr>
          <p:cNvPr id="19458" name="Picture 2" descr="Phrase visible sur fond sombre">
            <a:extLst>
              <a:ext uri="{FF2B5EF4-FFF2-40B4-BE49-F238E27FC236}">
                <a16:creationId xmlns:a16="http://schemas.microsoft.com/office/drawing/2014/main" id="{BA4D268C-519A-456B-88D5-D674FD45AC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25" y="2333625"/>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3025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0B07B-619C-479A-A821-7E1D633B9393}"/>
              </a:ext>
            </a:extLst>
          </p:cNvPr>
          <p:cNvSpPr>
            <a:spLocks noGrp="1"/>
          </p:cNvSpPr>
          <p:nvPr>
            <p:ph type="title"/>
          </p:nvPr>
        </p:nvSpPr>
        <p:spPr>
          <a:xfrm>
            <a:off x="838200" y="2766218"/>
            <a:ext cx="10515600" cy="1325563"/>
          </a:xfrm>
        </p:spPr>
        <p:txBody>
          <a:bodyPr/>
          <a:lstStyle/>
          <a:p>
            <a:r>
              <a:rPr lang="fr-FR" dirty="0"/>
              <a:t>COMMENT RÉPONDRE ?</a:t>
            </a:r>
          </a:p>
        </p:txBody>
      </p:sp>
    </p:spTree>
    <p:extLst>
      <p:ext uri="{BB962C8B-B14F-4D97-AF65-F5344CB8AC3E}">
        <p14:creationId xmlns:p14="http://schemas.microsoft.com/office/powerpoint/2010/main" val="18218766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6113-328C-43E1-8D92-580C2F68E187}"/>
              </a:ext>
            </a:extLst>
          </p:cNvPr>
          <p:cNvSpPr>
            <a:spLocks noGrp="1"/>
          </p:cNvSpPr>
          <p:nvPr>
            <p:ph type="title"/>
          </p:nvPr>
        </p:nvSpPr>
        <p:spPr/>
        <p:txBody>
          <a:bodyPr/>
          <a:lstStyle/>
          <a:p>
            <a:r>
              <a:rPr lang="fr-FR" dirty="0"/>
              <a:t>Réduire la dépendance : que faire ?</a:t>
            </a:r>
          </a:p>
        </p:txBody>
      </p:sp>
      <p:sp>
        <p:nvSpPr>
          <p:cNvPr id="3" name="Content Placeholder 2">
            <a:extLst>
              <a:ext uri="{FF2B5EF4-FFF2-40B4-BE49-F238E27FC236}">
                <a16:creationId xmlns:a16="http://schemas.microsoft.com/office/drawing/2014/main" id="{F9D43175-9618-4166-8A60-C569C5470501}"/>
              </a:ext>
            </a:extLst>
          </p:cNvPr>
          <p:cNvSpPr>
            <a:spLocks noGrp="1"/>
          </p:cNvSpPr>
          <p:nvPr>
            <p:ph idx="1"/>
          </p:nvPr>
        </p:nvSpPr>
        <p:spPr>
          <a:xfrm>
            <a:off x="0" y="1920874"/>
            <a:ext cx="5381625" cy="4937125"/>
          </a:xfrm>
        </p:spPr>
        <p:txBody>
          <a:bodyPr>
            <a:normAutofit fontScale="70000" lnSpcReduction="20000"/>
          </a:bodyPr>
          <a:lstStyle/>
          <a:p>
            <a:r>
              <a:rPr lang="fr-FR" dirty="0"/>
              <a:t>On ne supprime pas toujours la dépendance.</a:t>
            </a:r>
            <a:br>
              <a:rPr lang="fr-FR" dirty="0"/>
            </a:br>
            <a:r>
              <a:rPr lang="fr-FR" dirty="0"/>
              <a:t>	On la </a:t>
            </a:r>
            <a:r>
              <a:rPr lang="fr-FR" b="1" dirty="0"/>
              <a:t>réduit</a:t>
            </a:r>
            <a:r>
              <a:rPr lang="fr-FR" dirty="0"/>
              <a:t>, on la </a:t>
            </a:r>
            <a:r>
              <a:rPr lang="fr-FR" b="1" dirty="0"/>
              <a:t>diversifie</a:t>
            </a:r>
            <a:r>
              <a:rPr lang="fr-FR" dirty="0"/>
              <a:t> et on la </a:t>
            </a:r>
            <a:r>
              <a:rPr lang="fr-FR" b="1" dirty="0"/>
              <a:t>maîtrise</a:t>
            </a:r>
            <a:r>
              <a:rPr lang="fr-FR" dirty="0"/>
              <a:t>.</a:t>
            </a:r>
          </a:p>
          <a:p>
            <a:r>
              <a:rPr lang="fr-FR" dirty="0"/>
              <a:t>Axes :</a:t>
            </a:r>
          </a:p>
          <a:p>
            <a:pPr lvl="1"/>
            <a:r>
              <a:rPr lang="fr-FR" dirty="0"/>
              <a:t>cartographier </a:t>
            </a:r>
          </a:p>
          <a:p>
            <a:pPr lvl="1"/>
            <a:r>
              <a:rPr lang="fr-FR" dirty="0"/>
              <a:t>diversifier </a:t>
            </a:r>
          </a:p>
          <a:p>
            <a:pPr lvl="1"/>
            <a:r>
              <a:rPr lang="fr-FR" dirty="0"/>
              <a:t>tester </a:t>
            </a:r>
          </a:p>
          <a:p>
            <a:pPr lvl="1"/>
            <a:r>
              <a:rPr lang="fr-FR" dirty="0"/>
              <a:t>documenter </a:t>
            </a:r>
          </a:p>
          <a:p>
            <a:pPr lvl="1"/>
            <a:r>
              <a:rPr lang="fr-FR" dirty="0"/>
              <a:t>prévoir des alternatives </a:t>
            </a:r>
          </a:p>
          <a:p>
            <a:pPr lvl="1"/>
            <a:r>
              <a:rPr lang="fr-FR" dirty="0"/>
              <a:t>surveiller les dépendances critiques</a:t>
            </a:r>
          </a:p>
          <a:p>
            <a:endParaRPr lang="fr-FR" dirty="0"/>
          </a:p>
        </p:txBody>
      </p:sp>
      <p:pic>
        <p:nvPicPr>
          <p:cNvPr id="20482" name="Picture 2" descr="Roue de résilience avec bouclier et blocs">
            <a:extLst>
              <a:ext uri="{FF2B5EF4-FFF2-40B4-BE49-F238E27FC236}">
                <a16:creationId xmlns:a16="http://schemas.microsoft.com/office/drawing/2014/main" id="{94608998-C8A3-41FC-AEAD-0F3F9AC05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172494"/>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7307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930B9-F38C-43E9-8BC5-1A00C7DBC616}"/>
              </a:ext>
            </a:extLst>
          </p:cNvPr>
          <p:cNvSpPr>
            <a:spLocks noGrp="1"/>
          </p:cNvSpPr>
          <p:nvPr>
            <p:ph type="title"/>
          </p:nvPr>
        </p:nvSpPr>
        <p:spPr/>
        <p:txBody>
          <a:bodyPr/>
          <a:lstStyle/>
          <a:p>
            <a:r>
              <a:rPr lang="fr-FR" dirty="0"/>
              <a:t>Questions à poser à son propre SI</a:t>
            </a:r>
          </a:p>
        </p:txBody>
      </p:sp>
      <p:sp>
        <p:nvSpPr>
          <p:cNvPr id="3" name="Content Placeholder 2">
            <a:extLst>
              <a:ext uri="{FF2B5EF4-FFF2-40B4-BE49-F238E27FC236}">
                <a16:creationId xmlns:a16="http://schemas.microsoft.com/office/drawing/2014/main" id="{0E6ABF8E-B89D-4BC7-BFEF-8C9B70CDA68F}"/>
              </a:ext>
            </a:extLst>
          </p:cNvPr>
          <p:cNvSpPr>
            <a:spLocks noGrp="1"/>
          </p:cNvSpPr>
          <p:nvPr>
            <p:ph idx="1"/>
          </p:nvPr>
        </p:nvSpPr>
        <p:spPr>
          <a:xfrm>
            <a:off x="0" y="1866798"/>
            <a:ext cx="5257800" cy="4991202"/>
          </a:xfrm>
        </p:spPr>
        <p:txBody>
          <a:bodyPr>
            <a:normAutofit fontScale="85000" lnSpcReduction="10000"/>
          </a:bodyPr>
          <a:lstStyle/>
          <a:p>
            <a:r>
              <a:rPr lang="fr-FR" dirty="0"/>
              <a:t>Qui contrôle cette technologie ?</a:t>
            </a:r>
          </a:p>
          <a:p>
            <a:r>
              <a:rPr lang="fr-FR" dirty="0"/>
              <a:t>Que se passe-t-il si le fournisseur disparaît ?</a:t>
            </a:r>
          </a:p>
          <a:p>
            <a:r>
              <a:rPr lang="fr-FR" dirty="0"/>
              <a:t>Existe-t-il une alternative ?</a:t>
            </a:r>
          </a:p>
          <a:p>
            <a:r>
              <a:rPr lang="fr-FR" dirty="0"/>
              <a:t>Quelle est la dépendance au réseau ?</a:t>
            </a:r>
          </a:p>
          <a:p>
            <a:r>
              <a:rPr lang="fr-FR" dirty="0"/>
              <a:t>Quel est l’impact d’une mise à jour ratée ?</a:t>
            </a:r>
          </a:p>
          <a:p>
            <a:r>
              <a:rPr lang="fr-FR" dirty="0"/>
              <a:t>Qui peut intervenir en cas de crise ?</a:t>
            </a:r>
          </a:p>
        </p:txBody>
      </p:sp>
      <p:pic>
        <p:nvPicPr>
          <p:cNvPr id="21507" name="Picture 3" descr="Checklist avec cases à cocher">
            <a:extLst>
              <a:ext uri="{FF2B5EF4-FFF2-40B4-BE49-F238E27FC236}">
                <a16:creationId xmlns:a16="http://schemas.microsoft.com/office/drawing/2014/main" id="{CE0D4BAD-D6B4-456E-A551-D330359F9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3716" y="2533599"/>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97381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A6B94-29A5-4158-9527-B0A0813163D2}"/>
              </a:ext>
            </a:extLst>
          </p:cNvPr>
          <p:cNvSpPr>
            <a:spLocks noGrp="1"/>
          </p:cNvSpPr>
          <p:nvPr>
            <p:ph type="title"/>
          </p:nvPr>
        </p:nvSpPr>
        <p:spPr/>
        <p:txBody>
          <a:bodyPr/>
          <a:lstStyle/>
          <a:p>
            <a:r>
              <a:rPr lang="fr-FR" dirty="0"/>
              <a:t>Limites et réalisme</a:t>
            </a:r>
          </a:p>
        </p:txBody>
      </p:sp>
      <p:sp>
        <p:nvSpPr>
          <p:cNvPr id="3" name="Content Placeholder 2">
            <a:extLst>
              <a:ext uri="{FF2B5EF4-FFF2-40B4-BE49-F238E27FC236}">
                <a16:creationId xmlns:a16="http://schemas.microsoft.com/office/drawing/2014/main" id="{6150B176-7B97-4C51-B781-A0E7E6FF1B95}"/>
              </a:ext>
            </a:extLst>
          </p:cNvPr>
          <p:cNvSpPr>
            <a:spLocks noGrp="1"/>
          </p:cNvSpPr>
          <p:nvPr>
            <p:ph idx="1"/>
          </p:nvPr>
        </p:nvSpPr>
        <p:spPr>
          <a:xfrm>
            <a:off x="838200" y="1825625"/>
            <a:ext cx="5857875" cy="4351338"/>
          </a:xfrm>
        </p:spPr>
        <p:txBody>
          <a:bodyPr/>
          <a:lstStyle/>
          <a:p>
            <a:r>
              <a:rPr lang="fr-FR" dirty="0"/>
              <a:t>Il faut accepter que :</a:t>
            </a:r>
          </a:p>
          <a:p>
            <a:pPr lvl="1"/>
            <a:r>
              <a:rPr lang="fr-FR" dirty="0"/>
              <a:t>l’indépendance totale est rare </a:t>
            </a:r>
          </a:p>
          <a:p>
            <a:pPr lvl="1"/>
            <a:r>
              <a:rPr lang="fr-FR" dirty="0"/>
              <a:t>le coût de souveraineté peut être élevé </a:t>
            </a:r>
          </a:p>
          <a:p>
            <a:pPr lvl="1"/>
            <a:r>
              <a:rPr lang="fr-FR" dirty="0"/>
              <a:t>la compatibilité est parfois un compromis </a:t>
            </a:r>
          </a:p>
          <a:p>
            <a:pPr lvl="1"/>
            <a:r>
              <a:rPr lang="fr-FR" dirty="0"/>
              <a:t>la maîtrise absolue n’existe pas</a:t>
            </a:r>
          </a:p>
          <a:p>
            <a:endParaRPr lang="fr-FR" dirty="0"/>
          </a:p>
        </p:txBody>
      </p:sp>
      <p:pic>
        <p:nvPicPr>
          <p:cNvPr id="23554" name="Picture 2" descr="Balance entre sécurité, coût, performance et souveraineté">
            <a:extLst>
              <a:ext uri="{FF2B5EF4-FFF2-40B4-BE49-F238E27FC236}">
                <a16:creationId xmlns:a16="http://schemas.microsoft.com/office/drawing/2014/main" id="{30CF9D41-664A-4110-9119-488A579472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612923"/>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4165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0511-1C4A-449F-8806-B3A92CC28AB5}"/>
              </a:ext>
            </a:extLst>
          </p:cNvPr>
          <p:cNvSpPr>
            <a:spLocks noGrp="1"/>
          </p:cNvSpPr>
          <p:nvPr>
            <p:ph type="title"/>
          </p:nvPr>
        </p:nvSpPr>
        <p:spPr>
          <a:xfrm>
            <a:off x="838200" y="2766218"/>
            <a:ext cx="10515600" cy="1325563"/>
          </a:xfrm>
        </p:spPr>
        <p:txBody>
          <a:bodyPr/>
          <a:lstStyle/>
          <a:p>
            <a:r>
              <a:rPr lang="fr-FR" dirty="0"/>
              <a:t>CONCLUSION</a:t>
            </a:r>
          </a:p>
        </p:txBody>
      </p:sp>
    </p:spTree>
    <p:extLst>
      <p:ext uri="{BB962C8B-B14F-4D97-AF65-F5344CB8AC3E}">
        <p14:creationId xmlns:p14="http://schemas.microsoft.com/office/powerpoint/2010/main" val="26391926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21F28-6DD8-4E97-A10C-FD90BE088FCC}"/>
              </a:ext>
            </a:extLst>
          </p:cNvPr>
          <p:cNvSpPr>
            <a:spLocks noGrp="1"/>
          </p:cNvSpPr>
          <p:nvPr>
            <p:ph type="title"/>
          </p:nvPr>
        </p:nvSpPr>
        <p:spPr/>
        <p:txBody>
          <a:bodyPr/>
          <a:lstStyle/>
          <a:p>
            <a:r>
              <a:rPr lang="fr-FR" dirty="0"/>
              <a:t>Synthèse finale</a:t>
            </a:r>
          </a:p>
        </p:txBody>
      </p:sp>
      <p:sp>
        <p:nvSpPr>
          <p:cNvPr id="3" name="Content Placeholder 2">
            <a:extLst>
              <a:ext uri="{FF2B5EF4-FFF2-40B4-BE49-F238E27FC236}">
                <a16:creationId xmlns:a16="http://schemas.microsoft.com/office/drawing/2014/main" id="{37D8E35E-5A05-4222-9FC9-D0DE1F74BD9E}"/>
              </a:ext>
            </a:extLst>
          </p:cNvPr>
          <p:cNvSpPr>
            <a:spLocks noGrp="1"/>
          </p:cNvSpPr>
          <p:nvPr>
            <p:ph idx="1"/>
          </p:nvPr>
        </p:nvSpPr>
        <p:spPr>
          <a:xfrm>
            <a:off x="838200" y="1825625"/>
            <a:ext cx="6753225" cy="4351338"/>
          </a:xfrm>
        </p:spPr>
        <p:txBody>
          <a:bodyPr/>
          <a:lstStyle/>
          <a:p>
            <a:r>
              <a:rPr lang="fr-FR" b="1" dirty="0"/>
              <a:t>À retenir :</a:t>
            </a:r>
            <a:endParaRPr lang="fr-FR" dirty="0"/>
          </a:p>
          <a:p>
            <a:pPr lvl="1"/>
            <a:r>
              <a:rPr lang="fr-FR" dirty="0"/>
              <a:t>la dépendance est inévitable </a:t>
            </a:r>
          </a:p>
          <a:p>
            <a:pPr lvl="1"/>
            <a:r>
              <a:rPr lang="fr-FR" dirty="0"/>
              <a:t>la dépendance critique doit être maîtrisée </a:t>
            </a:r>
          </a:p>
          <a:p>
            <a:pPr lvl="1"/>
            <a:r>
              <a:rPr lang="fr-FR" dirty="0"/>
              <a:t>la sécurité ne remplace pas la souveraineté </a:t>
            </a:r>
          </a:p>
          <a:p>
            <a:pPr lvl="1"/>
            <a:r>
              <a:rPr lang="fr-FR" dirty="0"/>
              <a:t>un SI moderne doit être résilient</a:t>
            </a:r>
          </a:p>
          <a:p>
            <a:endParaRPr lang="fr-FR" dirty="0"/>
          </a:p>
        </p:txBody>
      </p:sp>
    </p:spTree>
    <p:extLst>
      <p:ext uri="{BB962C8B-B14F-4D97-AF65-F5344CB8AC3E}">
        <p14:creationId xmlns:p14="http://schemas.microsoft.com/office/powerpoint/2010/main" val="4510981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The Art of Asking Questions">
            <a:extLst>
              <a:ext uri="{FF2B5EF4-FFF2-40B4-BE49-F238E27FC236}">
                <a16:creationId xmlns:a16="http://schemas.microsoft.com/office/drawing/2014/main" id="{625B3A54-14C3-421F-B5DB-0D28B28D0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9048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1669</Words>
  <Application>Microsoft Office PowerPoint</Application>
  <PresentationFormat>Grand écran</PresentationFormat>
  <Paragraphs>363</Paragraphs>
  <Slides>33</Slides>
  <Notes>27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33</vt:i4>
      </vt:variant>
    </vt:vector>
  </HeadingPairs>
  <TitlesOfParts>
    <vt:vector size="37" baseType="lpstr">
      <vt:lpstr>Arial</vt:lpstr>
      <vt:lpstr>Calibri</vt:lpstr>
      <vt:lpstr>Cambria</vt:lpstr>
      <vt:lpstr>Office Theme</vt:lpstr>
      <vt:lpstr>DÉPENDANCE TECHNOLOGIQUE : LA FACE CACHÉE DE LA CYBERSÉCURITÉ</vt:lpstr>
      <vt:lpstr>IDÉE MAÎTRESSE</vt:lpstr>
      <vt:lpstr>Définition claire de la dépendance technologique</vt:lpstr>
      <vt:lpstr>Où se cache la dépendance ?</vt:lpstr>
      <vt:lpstr>LES FORMES DE DÉPENDANCE</vt:lpstr>
      <vt:lpstr>Dépendance matérielle</vt:lpstr>
      <vt:lpstr>Dépendance logicielle</vt:lpstr>
      <vt:lpstr>Dépendance opérationnelle</vt:lpstr>
      <vt:lpstr>Dépendance cloud et service externe</vt:lpstr>
      <vt:lpstr>Dépendance aux outils de sécurité</vt:lpstr>
      <vt:lpstr>Dépendance stratégique et souveraineté</vt:lpstr>
      <vt:lpstr>LES RISQUES MAJEURS</vt:lpstr>
      <vt:lpstr>De la dépendance au risque</vt:lpstr>
      <vt:lpstr>Le risque de backdoor, d’accès caché ou de fonction opaque</vt:lpstr>
      <vt:lpstr>Le risque d’indisponibilité</vt:lpstr>
      <vt:lpstr>Le risque de supply chain</vt:lpstr>
      <vt:lpstr>Le risque géopolitique</vt:lpstr>
      <vt:lpstr>Le risque de perte de souveraineté</vt:lpstr>
      <vt:lpstr>Le risque invisible : tout va bien jusqu’au jour où ça casse</vt:lpstr>
      <vt:lpstr>EXEMPLE DE SCÉNARIO</vt:lpstr>
      <vt:lpstr>Pourquoi un scénario ?</vt:lpstr>
      <vt:lpstr>Scénario HELIOS : état nominal</vt:lpstr>
      <vt:lpstr>Déclencheur externe</vt:lpstr>
      <vt:lpstr>Dégradation progressive</vt:lpstr>
      <vt:lpstr>Escalade et impact</vt:lpstr>
      <vt:lpstr>Leçon du scénario</vt:lpstr>
      <vt:lpstr>COMMENT RÉPONDRE ?</vt:lpstr>
      <vt:lpstr>Réduire la dépendance : que faire ?</vt:lpstr>
      <vt:lpstr>Questions à poser à son propre SI</vt:lpstr>
      <vt:lpstr>Limites et réalisme</vt:lpstr>
      <vt:lpstr>CONCLUSION</vt:lpstr>
      <vt:lpstr>Synthèse finale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DÉPENDANCE TECHNOLOGIQUE : LA FACE CACHÉE DE LA CYBERSÉCURITÉ</dc:title>
  <dc:creator>Stephane Mekoua</dc:creator>
  <cp:lastModifiedBy>TCHATCHOUANG</cp:lastModifiedBy>
  <cp:revision>17</cp:revision>
  <dcterms:created xsi:type="dcterms:W3CDTF">2026-04-08T06:35:04Z</dcterms:created>
  <dcterms:modified xsi:type="dcterms:W3CDTF">2026-04-08T13:10:07Z</dcterms:modified>
</cp:coreProperties>
</file>